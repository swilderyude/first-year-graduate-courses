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23" d="100"/>
          <a:sy n="123" d="100"/>
        </p:scale>
        <p:origin x="102" y="3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blip>
          <a:srcRect l="160" r="160"/>
          <a:stretch>
            <a:fillRect/>
          </a:stretch>
        </p:blipFill>
        <p:spPr>
          <a:xfrm>
            <a:off x="0" y="0"/>
            <a:ext cx="12192000" cy="6858000"/>
          </a:xfrm>
          <a:prstGeom prst="rect">
            <a:avLst/>
          </a:prstGeom>
          <a:ln>
            <a:headEnd type="none"/>
            <a:tailEnd type="none"/>
          </a:ln>
        </p:spPr>
      </p:pic>
      <p:sp>
        <p:nvSpPr>
          <p:cNvPr id="3" name="AutoShape 3"/>
          <p:cNvSpPr/>
          <p:nvPr/>
        </p:nvSpPr>
        <p:spPr>
          <a:xfrm>
            <a:off x="0" y="0"/>
            <a:ext cx="12192000" cy="6858000"/>
          </a:xfrm>
          <a:prstGeom prst="rect">
            <a:avLst/>
          </a:prstGeom>
          <a:gradFill>
            <a:gsLst>
              <a:gs pos="0">
                <a:srgbClr val="FF6100">
                  <a:alpha val="100000"/>
                </a:srgbClr>
              </a:gs>
              <a:gs pos="85000">
                <a:srgbClr val="F28217">
                  <a:alpha val="0"/>
                  <a:lumMod val="20000"/>
                  <a:lumOff val="80000"/>
                </a:srgbClr>
              </a:gs>
            </a:gsLst>
            <a:lin ang="5400000"/>
          </a:gradFill>
          <a:ln>
            <a:prstDash val="solid"/>
            <a:headEnd type="none"/>
            <a:tailEnd type="none"/>
          </a:ln>
        </p:spPr>
      </p:sp>
      <p:sp>
        <p:nvSpPr>
          <p:cNvPr id="4" name="AutoShape 4"/>
          <p:cNvSpPr/>
          <p:nvPr/>
        </p:nvSpPr>
        <p:spPr>
          <a:xfrm>
            <a:off x="0" y="0"/>
            <a:ext cx="9830540" cy="6858000"/>
          </a:xfrm>
          <a:custGeom>
            <a:avLst/>
            <a:gdLst/>
            <a:ahLst/>
            <a:cxnLst/>
            <a:rect l="l" t="t" r="r" b="b"/>
            <a:pathLst>
              <a:path w="9830540" h="6858000">
                <a:moveTo>
                  <a:pt x="0" y="0"/>
                </a:moveTo>
                <a:lnTo>
                  <a:pt x="9830540" y="0"/>
                </a:lnTo>
                <a:lnTo>
                  <a:pt x="9830540" y="6858000"/>
                </a:lnTo>
                <a:lnTo>
                  <a:pt x="0" y="6858000"/>
                </a:lnTo>
                <a:close/>
              </a:path>
            </a:pathLst>
          </a:custGeom>
          <a:gradFill>
            <a:gsLst>
              <a:gs pos="15999">
                <a:srgbClr val="FF6100">
                  <a:alpha val="100000"/>
                </a:srgbClr>
              </a:gs>
              <a:gs pos="100000">
                <a:srgbClr val="F28217">
                  <a:alpha val="0"/>
                  <a:lumMod val="20000"/>
                  <a:lumOff val="80000"/>
                </a:srgbClr>
              </a:gs>
            </a:gsLst>
            <a:lin ang="18900000"/>
          </a:gradFill>
          <a:ln>
            <a:prstDash val="solid"/>
            <a:headEnd type="none"/>
            <a:tailEnd type="none"/>
          </a:ln>
        </p:spPr>
      </p:sp>
      <p:sp>
        <p:nvSpPr>
          <p:cNvPr id="5" name="AutoShape 5"/>
          <p:cNvSpPr/>
          <p:nvPr/>
        </p:nvSpPr>
        <p:spPr>
          <a:xfrm flipH="1">
            <a:off x="321428" y="4359795"/>
            <a:ext cx="2044700" cy="1769543"/>
          </a:xfrm>
          <a:custGeom>
            <a:avLst/>
            <a:gdLst/>
            <a:ahLst/>
            <a:cxnLst/>
            <a:rect l="l" t="t" r="r" b="b"/>
            <a:pathLst>
              <a:path w="862" h="746">
                <a:moveTo>
                  <a:pt x="646" y="0"/>
                </a:moveTo>
                <a:lnTo>
                  <a:pt x="216" y="0"/>
                </a:lnTo>
                <a:lnTo>
                  <a:pt x="0" y="373"/>
                </a:lnTo>
                <a:lnTo>
                  <a:pt x="216" y="746"/>
                </a:lnTo>
                <a:lnTo>
                  <a:pt x="646" y="746"/>
                </a:lnTo>
                <a:lnTo>
                  <a:pt x="862" y="373"/>
                </a:lnTo>
                <a:lnTo>
                  <a:pt x="646" y="0"/>
                </a:lnTo>
                <a:close/>
              </a:path>
            </a:pathLst>
          </a:custGeom>
          <a:gradFill>
            <a:gsLst>
              <a:gs pos="0">
                <a:srgbClr val="FFAD12">
                  <a:alpha val="0"/>
                  <a:lumMod val="20000"/>
                  <a:lumOff val="80000"/>
                </a:srgbClr>
              </a:gs>
              <a:gs pos="100000">
                <a:srgbClr val="FF6100">
                  <a:alpha val="100000"/>
                </a:srgbClr>
              </a:gs>
            </a:gsLst>
            <a:lin ang="5400000"/>
          </a:gradFill>
          <a:ln>
            <a:prstDash val="solid"/>
            <a:headEnd type="none"/>
            <a:tailEnd type="none"/>
          </a:ln>
        </p:spPr>
      </p:sp>
      <p:sp>
        <p:nvSpPr>
          <p:cNvPr id="6" name="AutoShape 6"/>
          <p:cNvSpPr/>
          <p:nvPr/>
        </p:nvSpPr>
        <p:spPr>
          <a:xfrm flipH="1">
            <a:off x="1" y="5704225"/>
            <a:ext cx="2323971" cy="1153775"/>
          </a:xfrm>
          <a:custGeom>
            <a:avLst/>
            <a:gdLst/>
            <a:ahLst/>
            <a:cxnLst/>
            <a:rect l="l" t="t" r="r" b="b"/>
            <a:pathLst>
              <a:path w="2323971" h="1153775">
                <a:moveTo>
                  <a:pt x="1421912" y="659735"/>
                </a:moveTo>
                <a:lnTo>
                  <a:pt x="419935" y="659735"/>
                </a:lnTo>
                <a:lnTo>
                  <a:pt x="0" y="1153775"/>
                </a:lnTo>
                <a:lnTo>
                  <a:pt x="1841847" y="1153775"/>
                </a:lnTo>
                <a:close/>
                <a:moveTo>
                  <a:pt x="2323971" y="0"/>
                </a:moveTo>
                <a:lnTo>
                  <a:pt x="2013777" y="0"/>
                </a:lnTo>
                <a:lnTo>
                  <a:pt x="1510459" y="592138"/>
                </a:lnTo>
                <a:lnTo>
                  <a:pt x="1987852" y="1153775"/>
                </a:lnTo>
                <a:lnTo>
                  <a:pt x="2323971" y="1153775"/>
                </a:lnTo>
                <a:close/>
              </a:path>
            </a:pathLst>
          </a:custGeom>
          <a:solidFill>
            <a:srgbClr val="FF6100">
              <a:alpha val="14901"/>
              <a:lumMod val="20000"/>
              <a:lumOff val="80000"/>
            </a:srgbClr>
          </a:solidFill>
          <a:ln>
            <a:prstDash val="solid"/>
            <a:headEnd type="none"/>
            <a:tailEnd type="none"/>
          </a:ln>
        </p:spPr>
      </p:sp>
      <p:sp>
        <p:nvSpPr>
          <p:cNvPr id="7" name="AutoShape 7"/>
          <p:cNvSpPr/>
          <p:nvPr/>
        </p:nvSpPr>
        <p:spPr>
          <a:xfrm flipH="1">
            <a:off x="8250460" y="4731"/>
            <a:ext cx="3938588" cy="5750751"/>
          </a:xfrm>
          <a:custGeom>
            <a:avLst/>
            <a:gdLst/>
            <a:ahLst/>
            <a:cxnLst/>
            <a:rect l="l" t="t" r="r" b="b"/>
            <a:pathLst>
              <a:path w="3938588" h="5750751">
                <a:moveTo>
                  <a:pt x="1276351" y="4646644"/>
                </a:moveTo>
                <a:lnTo>
                  <a:pt x="1588" y="4646644"/>
                </a:lnTo>
                <a:lnTo>
                  <a:pt x="0" y="4649390"/>
                </a:lnTo>
                <a:lnTo>
                  <a:pt x="0" y="4650977"/>
                </a:lnTo>
                <a:lnTo>
                  <a:pt x="1588" y="4648231"/>
                </a:lnTo>
                <a:lnTo>
                  <a:pt x="1276351" y="4648231"/>
                </a:lnTo>
                <a:lnTo>
                  <a:pt x="1912480" y="5750751"/>
                </a:lnTo>
                <a:lnTo>
                  <a:pt x="1912938" y="5749957"/>
                </a:lnTo>
                <a:close/>
                <a:moveTo>
                  <a:pt x="3300413" y="3473482"/>
                </a:moveTo>
                <a:lnTo>
                  <a:pt x="2025650" y="3473482"/>
                </a:lnTo>
                <a:lnTo>
                  <a:pt x="1387475" y="4576794"/>
                </a:lnTo>
                <a:lnTo>
                  <a:pt x="2025650" y="5680107"/>
                </a:lnTo>
                <a:lnTo>
                  <a:pt x="3300413" y="5680107"/>
                </a:lnTo>
                <a:lnTo>
                  <a:pt x="3938588" y="4576794"/>
                </a:lnTo>
                <a:close/>
                <a:moveTo>
                  <a:pt x="1271588" y="2308257"/>
                </a:moveTo>
                <a:lnTo>
                  <a:pt x="1" y="2308257"/>
                </a:lnTo>
                <a:lnTo>
                  <a:pt x="0" y="2308258"/>
                </a:lnTo>
                <a:lnTo>
                  <a:pt x="0" y="4510119"/>
                </a:lnTo>
                <a:lnTo>
                  <a:pt x="1" y="4510120"/>
                </a:lnTo>
                <a:lnTo>
                  <a:pt x="1271588" y="4510120"/>
                </a:lnTo>
                <a:lnTo>
                  <a:pt x="1908176" y="3408395"/>
                </a:lnTo>
                <a:close/>
                <a:moveTo>
                  <a:pt x="1276351" y="0"/>
                </a:moveTo>
                <a:lnTo>
                  <a:pt x="1588" y="0"/>
                </a:lnTo>
                <a:lnTo>
                  <a:pt x="0" y="2746"/>
                </a:lnTo>
                <a:lnTo>
                  <a:pt x="0" y="2202297"/>
                </a:lnTo>
                <a:lnTo>
                  <a:pt x="1588" y="2205038"/>
                </a:lnTo>
                <a:lnTo>
                  <a:pt x="1276351" y="2205038"/>
                </a:lnTo>
                <a:lnTo>
                  <a:pt x="1912938" y="1103313"/>
                </a:lnTo>
                <a:close/>
              </a:path>
            </a:pathLst>
          </a:custGeom>
          <a:gradFill>
            <a:gsLst>
              <a:gs pos="0">
                <a:srgbClr val="FFAD12">
                  <a:alpha val="0"/>
                </a:srgbClr>
              </a:gs>
              <a:gs pos="100000">
                <a:srgbClr val="FF6100">
                  <a:alpha val="100000"/>
                </a:srgbClr>
              </a:gs>
            </a:gsLst>
            <a:lin ang="8100000"/>
          </a:gradFill>
          <a:ln>
            <a:prstDash val="solid"/>
            <a:headEnd type="none"/>
            <a:tailEnd type="none"/>
          </a:ln>
        </p:spPr>
      </p:sp>
      <p:sp>
        <p:nvSpPr>
          <p:cNvPr id="8" name="AutoShape 8"/>
          <p:cNvSpPr/>
          <p:nvPr/>
        </p:nvSpPr>
        <p:spPr>
          <a:xfrm flipH="1">
            <a:off x="7797339" y="-9557"/>
            <a:ext cx="4391709" cy="6867556"/>
          </a:xfrm>
          <a:custGeom>
            <a:avLst/>
            <a:gdLst/>
            <a:ahLst/>
            <a:cxnLst/>
            <a:rect l="l" t="t" r="r" b="b"/>
            <a:pathLst>
              <a:path w="4391709" h="6867556">
                <a:moveTo>
                  <a:pt x="4155172" y="5297566"/>
                </a:moveTo>
                <a:lnTo>
                  <a:pt x="3685271" y="5297566"/>
                </a:lnTo>
                <a:lnTo>
                  <a:pt x="3450321" y="5705554"/>
                </a:lnTo>
                <a:lnTo>
                  <a:pt x="3685271" y="6111954"/>
                </a:lnTo>
                <a:lnTo>
                  <a:pt x="4155172" y="6111954"/>
                </a:lnTo>
                <a:lnTo>
                  <a:pt x="4391709" y="5705554"/>
                </a:lnTo>
                <a:close/>
                <a:moveTo>
                  <a:pt x="1276351" y="4662518"/>
                </a:moveTo>
                <a:lnTo>
                  <a:pt x="1588" y="4662518"/>
                </a:lnTo>
                <a:lnTo>
                  <a:pt x="0" y="4665264"/>
                </a:lnTo>
                <a:lnTo>
                  <a:pt x="0" y="6864815"/>
                </a:lnTo>
                <a:lnTo>
                  <a:pt x="1588" y="6867556"/>
                </a:lnTo>
                <a:lnTo>
                  <a:pt x="1276351" y="6867556"/>
                </a:lnTo>
                <a:lnTo>
                  <a:pt x="1912938" y="5765831"/>
                </a:lnTo>
                <a:close/>
                <a:moveTo>
                  <a:pt x="2714626" y="2116105"/>
                </a:moveTo>
                <a:lnTo>
                  <a:pt x="2019301" y="2116105"/>
                </a:lnTo>
                <a:lnTo>
                  <a:pt x="1671638" y="2719356"/>
                </a:lnTo>
                <a:lnTo>
                  <a:pt x="2019301" y="3321018"/>
                </a:lnTo>
                <a:lnTo>
                  <a:pt x="2714626" y="3321018"/>
                </a:lnTo>
                <a:lnTo>
                  <a:pt x="3063876" y="2719356"/>
                </a:lnTo>
                <a:close/>
                <a:moveTo>
                  <a:pt x="3894736" y="0"/>
                </a:moveTo>
                <a:lnTo>
                  <a:pt x="1420127" y="0"/>
                </a:lnTo>
                <a:lnTo>
                  <a:pt x="2020889" y="1038225"/>
                </a:lnTo>
                <a:lnTo>
                  <a:pt x="3292476" y="1038225"/>
                </a:lnTo>
                <a:close/>
              </a:path>
            </a:pathLst>
          </a:custGeom>
          <a:gradFill>
            <a:gsLst>
              <a:gs pos="0">
                <a:srgbClr val="FFAD12">
                  <a:alpha val="100000"/>
                </a:srgbClr>
              </a:gs>
              <a:gs pos="100000">
                <a:srgbClr val="FFAD12">
                  <a:alpha val="43137"/>
                  <a:lumMod val="20000"/>
                  <a:lumOff val="80000"/>
                </a:srgbClr>
              </a:gs>
            </a:gsLst>
            <a:lin ang="16200000"/>
          </a:gradFill>
          <a:ln>
            <a:prstDash val="solid"/>
            <a:headEnd type="none"/>
            <a:tailEnd type="none"/>
          </a:ln>
        </p:spPr>
      </p:sp>
      <p:sp>
        <p:nvSpPr>
          <p:cNvPr id="9" name="AutoShape 9"/>
          <p:cNvSpPr/>
          <p:nvPr/>
        </p:nvSpPr>
        <p:spPr>
          <a:xfrm>
            <a:off x="666750" y="4044516"/>
            <a:ext cx="666524" cy="666524"/>
          </a:xfrm>
          <a:prstGeom prst="rect">
            <a:avLst/>
          </a:prstGeom>
          <a:solidFill>
            <a:srgbClr val="FFAD12">
              <a:alpha val="100000"/>
            </a:srgbClr>
          </a:solidFill>
          <a:ln>
            <a:prstDash val="solid"/>
            <a:headEnd type="none"/>
            <a:tailEnd type="none"/>
          </a:ln>
        </p:spPr>
      </p:sp>
      <p:sp>
        <p:nvSpPr>
          <p:cNvPr id="10" name="AutoShape 10"/>
          <p:cNvSpPr/>
          <p:nvPr/>
        </p:nvSpPr>
        <p:spPr>
          <a:xfrm rot="5400000">
            <a:off x="942181" y="4321060"/>
            <a:ext cx="121186" cy="121186"/>
          </a:xfrm>
          <a:prstGeom prst="triangle">
            <a:avLst/>
          </a:prstGeom>
          <a:solidFill>
            <a:srgbClr val="FFFFFF">
              <a:alpha val="100000"/>
            </a:srgbClr>
          </a:solidFill>
          <a:ln>
            <a:prstDash val="solid"/>
            <a:headEnd type="none"/>
            <a:tailEnd type="none"/>
          </a:ln>
        </p:spPr>
      </p:sp>
      <p:sp>
        <p:nvSpPr>
          <p:cNvPr id="11" name="AutoShape 11"/>
          <p:cNvSpPr/>
          <p:nvPr/>
        </p:nvSpPr>
        <p:spPr>
          <a:xfrm flipH="1">
            <a:off x="3165475" y="238294"/>
            <a:ext cx="1368425" cy="1184275"/>
          </a:xfrm>
          <a:custGeom>
            <a:avLst/>
            <a:gdLst/>
            <a:ahLst/>
            <a:cxnLst/>
            <a:rect l="l" t="t" r="r" b="b"/>
            <a:pathLst>
              <a:path w="862" h="746">
                <a:moveTo>
                  <a:pt x="646" y="0"/>
                </a:moveTo>
                <a:lnTo>
                  <a:pt x="216" y="0"/>
                </a:lnTo>
                <a:lnTo>
                  <a:pt x="0" y="373"/>
                </a:lnTo>
                <a:lnTo>
                  <a:pt x="216" y="746"/>
                </a:lnTo>
                <a:lnTo>
                  <a:pt x="646" y="746"/>
                </a:lnTo>
                <a:lnTo>
                  <a:pt x="862" y="373"/>
                </a:lnTo>
                <a:lnTo>
                  <a:pt x="646" y="0"/>
                </a:lnTo>
                <a:close/>
              </a:path>
            </a:pathLst>
          </a:custGeom>
          <a:gradFill>
            <a:gsLst>
              <a:gs pos="0">
                <a:srgbClr val="F28217">
                  <a:alpha val="0"/>
                  <a:lumMod val="60000"/>
                  <a:lumOff val="40000"/>
                </a:srgbClr>
              </a:gs>
              <a:gs pos="100000">
                <a:srgbClr val="FF6100">
                  <a:alpha val="100000"/>
                </a:srgbClr>
              </a:gs>
            </a:gsLst>
            <a:lin ang="8100000"/>
          </a:gradFill>
          <a:ln>
            <a:prstDash val="solid"/>
            <a:headEnd type="none"/>
            <a:tailEnd type="none"/>
          </a:ln>
        </p:spPr>
      </p:sp>
      <p:sp>
        <p:nvSpPr>
          <p:cNvPr id="12" name="AutoShape 12"/>
          <p:cNvSpPr/>
          <p:nvPr/>
        </p:nvSpPr>
        <p:spPr>
          <a:xfrm flipH="1" flipV="1">
            <a:off x="0" y="0"/>
            <a:ext cx="1884362" cy="1480472"/>
          </a:xfrm>
          <a:custGeom>
            <a:avLst/>
            <a:gdLst/>
            <a:ahLst/>
            <a:cxnLst/>
            <a:rect l="l" t="t" r="r" b="b"/>
            <a:pathLst>
              <a:path w="1884362" h="1480472">
                <a:moveTo>
                  <a:pt x="1025525" y="659735"/>
                </a:moveTo>
                <a:lnTo>
                  <a:pt x="342900" y="659735"/>
                </a:lnTo>
                <a:lnTo>
                  <a:pt x="0" y="1251873"/>
                </a:lnTo>
                <a:lnTo>
                  <a:pt x="132379" y="1480472"/>
                </a:lnTo>
                <a:lnTo>
                  <a:pt x="1236046" y="1480472"/>
                </a:lnTo>
                <a:lnTo>
                  <a:pt x="1368425" y="1251873"/>
                </a:lnTo>
                <a:close/>
                <a:moveTo>
                  <a:pt x="1884362" y="0"/>
                </a:moveTo>
                <a:lnTo>
                  <a:pt x="1428750" y="0"/>
                </a:lnTo>
                <a:lnTo>
                  <a:pt x="1085850" y="592138"/>
                </a:lnTo>
                <a:lnTo>
                  <a:pt x="1428750" y="1184275"/>
                </a:lnTo>
                <a:lnTo>
                  <a:pt x="1884362" y="1184275"/>
                </a:lnTo>
                <a:close/>
              </a:path>
            </a:pathLst>
          </a:custGeom>
          <a:gradFill>
            <a:gsLst>
              <a:gs pos="0">
                <a:srgbClr val="FF6100">
                  <a:alpha val="0"/>
                  <a:lumMod val="60000"/>
                  <a:lumOff val="40000"/>
                </a:srgbClr>
              </a:gs>
              <a:gs pos="100000">
                <a:srgbClr val="FF6100">
                  <a:alpha val="100000"/>
                  <a:lumMod val="20000"/>
                  <a:lumOff val="80000"/>
                </a:srgbClr>
              </a:gs>
            </a:gsLst>
            <a:lin ang="8100000"/>
          </a:gradFill>
          <a:ln>
            <a:prstDash val="solid"/>
            <a:headEnd type="none"/>
            <a:tailEnd type="none"/>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a:gsLst>
            <a:gs pos="0">
              <a:srgbClr val="FFAD12">
                <a:alpha val="5882"/>
              </a:srgbClr>
            </a:gs>
            <a:gs pos="100000">
              <a:srgbClr val="FFAD12">
                <a:alpha val="43137"/>
                <a:lumMod val="20000"/>
                <a:lumOff val="80000"/>
              </a:srgbClr>
            </a:gs>
          </a:gsLst>
          <a:lin ang="1620000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blip>
          <a:srcRect l="160" r="160"/>
          <a:stretch>
            <a:fillRect/>
          </a:stretch>
        </p:blipFill>
        <p:spPr>
          <a:xfrm>
            <a:off x="0" y="0"/>
            <a:ext cx="12192000" cy="6858000"/>
          </a:xfrm>
          <a:prstGeom prst="rect">
            <a:avLst/>
          </a:prstGeom>
          <a:ln>
            <a:headEnd type="none"/>
            <a:tailEnd type="none"/>
          </a:ln>
        </p:spPr>
      </p:pic>
      <p:sp>
        <p:nvSpPr>
          <p:cNvPr id="3" name="AutoShape 3"/>
          <p:cNvSpPr/>
          <p:nvPr/>
        </p:nvSpPr>
        <p:spPr>
          <a:xfrm>
            <a:off x="0" y="0"/>
            <a:ext cx="12192000" cy="6858000"/>
          </a:xfrm>
          <a:prstGeom prst="rect">
            <a:avLst/>
          </a:prstGeom>
          <a:gradFill>
            <a:gsLst>
              <a:gs pos="0">
                <a:srgbClr val="FF6100">
                  <a:alpha val="100000"/>
                </a:srgbClr>
              </a:gs>
              <a:gs pos="82999">
                <a:srgbClr val="F28217">
                  <a:alpha val="0"/>
                  <a:lumMod val="20000"/>
                  <a:lumOff val="80000"/>
                </a:srgbClr>
              </a:gs>
            </a:gsLst>
            <a:lin ang="5400000"/>
          </a:gradFill>
          <a:ln>
            <a:prstDash val="solid"/>
            <a:headEnd type="none"/>
            <a:tailEnd type="none"/>
          </a:ln>
        </p:spPr>
      </p:sp>
      <p:sp>
        <p:nvSpPr>
          <p:cNvPr id="4" name="AutoShape 4"/>
          <p:cNvSpPr/>
          <p:nvPr/>
        </p:nvSpPr>
        <p:spPr>
          <a:xfrm>
            <a:off x="0" y="4731"/>
            <a:ext cx="3938588" cy="5750751"/>
          </a:xfrm>
          <a:custGeom>
            <a:avLst/>
            <a:gdLst/>
            <a:ahLst/>
            <a:cxnLst/>
            <a:rect l="l" t="t" r="r" b="b"/>
            <a:pathLst>
              <a:path w="3938588" h="5750751">
                <a:moveTo>
                  <a:pt x="1276351" y="4646644"/>
                </a:moveTo>
                <a:lnTo>
                  <a:pt x="1588" y="4646644"/>
                </a:lnTo>
                <a:lnTo>
                  <a:pt x="0" y="4649390"/>
                </a:lnTo>
                <a:lnTo>
                  <a:pt x="0" y="4650977"/>
                </a:lnTo>
                <a:lnTo>
                  <a:pt x="1588" y="4648231"/>
                </a:lnTo>
                <a:lnTo>
                  <a:pt x="1276351" y="4648231"/>
                </a:lnTo>
                <a:lnTo>
                  <a:pt x="1912480" y="5750751"/>
                </a:lnTo>
                <a:lnTo>
                  <a:pt x="1912938" y="5749957"/>
                </a:lnTo>
                <a:close/>
                <a:moveTo>
                  <a:pt x="3300413" y="3473482"/>
                </a:moveTo>
                <a:lnTo>
                  <a:pt x="2025650" y="3473482"/>
                </a:lnTo>
                <a:lnTo>
                  <a:pt x="1387475" y="4576794"/>
                </a:lnTo>
                <a:lnTo>
                  <a:pt x="2025650" y="5680107"/>
                </a:lnTo>
                <a:lnTo>
                  <a:pt x="3300413" y="5680107"/>
                </a:lnTo>
                <a:lnTo>
                  <a:pt x="3938588" y="4576794"/>
                </a:lnTo>
                <a:close/>
                <a:moveTo>
                  <a:pt x="1271588" y="2308257"/>
                </a:moveTo>
                <a:lnTo>
                  <a:pt x="1" y="2308257"/>
                </a:lnTo>
                <a:lnTo>
                  <a:pt x="0" y="2308258"/>
                </a:lnTo>
                <a:lnTo>
                  <a:pt x="0" y="4510119"/>
                </a:lnTo>
                <a:lnTo>
                  <a:pt x="1" y="4510120"/>
                </a:lnTo>
                <a:lnTo>
                  <a:pt x="1271588" y="4510120"/>
                </a:lnTo>
                <a:lnTo>
                  <a:pt x="1908176" y="3408395"/>
                </a:lnTo>
                <a:close/>
                <a:moveTo>
                  <a:pt x="1276351" y="0"/>
                </a:moveTo>
                <a:lnTo>
                  <a:pt x="1588" y="0"/>
                </a:lnTo>
                <a:lnTo>
                  <a:pt x="0" y="2746"/>
                </a:lnTo>
                <a:lnTo>
                  <a:pt x="0" y="2202297"/>
                </a:lnTo>
                <a:lnTo>
                  <a:pt x="1588" y="2205038"/>
                </a:lnTo>
                <a:lnTo>
                  <a:pt x="1276351" y="2205038"/>
                </a:lnTo>
                <a:lnTo>
                  <a:pt x="1912938" y="1103313"/>
                </a:lnTo>
                <a:close/>
              </a:path>
            </a:pathLst>
          </a:custGeom>
          <a:gradFill>
            <a:gsLst>
              <a:gs pos="0">
                <a:srgbClr val="FFAD12">
                  <a:alpha val="100000"/>
                  <a:lumMod val="20000"/>
                  <a:lumOff val="80000"/>
                </a:srgbClr>
              </a:gs>
              <a:gs pos="100000">
                <a:srgbClr val="FF6100">
                  <a:alpha val="100000"/>
                </a:srgbClr>
              </a:gs>
            </a:gsLst>
            <a:lin ang="8100000"/>
          </a:gradFill>
          <a:ln>
            <a:prstDash val="solid"/>
            <a:headEnd type="none"/>
            <a:tailEnd type="none"/>
          </a:ln>
        </p:spPr>
      </p:sp>
      <p:sp>
        <p:nvSpPr>
          <p:cNvPr id="5" name="AutoShape 5"/>
          <p:cNvSpPr/>
          <p:nvPr/>
        </p:nvSpPr>
        <p:spPr>
          <a:xfrm>
            <a:off x="0" y="-9557"/>
            <a:ext cx="4391709" cy="6867556"/>
          </a:xfrm>
          <a:custGeom>
            <a:avLst/>
            <a:gdLst/>
            <a:ahLst/>
            <a:cxnLst/>
            <a:rect l="l" t="t" r="r" b="b"/>
            <a:pathLst>
              <a:path w="4391709" h="6867556">
                <a:moveTo>
                  <a:pt x="4155172" y="5297566"/>
                </a:moveTo>
                <a:lnTo>
                  <a:pt x="3685271" y="5297566"/>
                </a:lnTo>
                <a:lnTo>
                  <a:pt x="3450321" y="5705554"/>
                </a:lnTo>
                <a:lnTo>
                  <a:pt x="3685271" y="6111954"/>
                </a:lnTo>
                <a:lnTo>
                  <a:pt x="4155172" y="6111954"/>
                </a:lnTo>
                <a:lnTo>
                  <a:pt x="4391709" y="5705554"/>
                </a:lnTo>
                <a:close/>
                <a:moveTo>
                  <a:pt x="1276351" y="4662518"/>
                </a:moveTo>
                <a:lnTo>
                  <a:pt x="1588" y="4662518"/>
                </a:lnTo>
                <a:lnTo>
                  <a:pt x="0" y="4665264"/>
                </a:lnTo>
                <a:lnTo>
                  <a:pt x="0" y="6864815"/>
                </a:lnTo>
                <a:lnTo>
                  <a:pt x="1588" y="6867556"/>
                </a:lnTo>
                <a:lnTo>
                  <a:pt x="1276351" y="6867556"/>
                </a:lnTo>
                <a:lnTo>
                  <a:pt x="1912938" y="5765831"/>
                </a:lnTo>
                <a:close/>
                <a:moveTo>
                  <a:pt x="2714626" y="2116105"/>
                </a:moveTo>
                <a:lnTo>
                  <a:pt x="2019301" y="2116105"/>
                </a:lnTo>
                <a:lnTo>
                  <a:pt x="1671638" y="2719356"/>
                </a:lnTo>
                <a:lnTo>
                  <a:pt x="2019301" y="3321018"/>
                </a:lnTo>
                <a:lnTo>
                  <a:pt x="2714626" y="3321018"/>
                </a:lnTo>
                <a:lnTo>
                  <a:pt x="3063876" y="2719356"/>
                </a:lnTo>
                <a:close/>
                <a:moveTo>
                  <a:pt x="3894736" y="0"/>
                </a:moveTo>
                <a:lnTo>
                  <a:pt x="1420127" y="0"/>
                </a:lnTo>
                <a:lnTo>
                  <a:pt x="2020889" y="1038225"/>
                </a:lnTo>
                <a:lnTo>
                  <a:pt x="3292476" y="1038225"/>
                </a:lnTo>
                <a:close/>
              </a:path>
            </a:pathLst>
          </a:custGeom>
          <a:gradFill>
            <a:gsLst>
              <a:gs pos="0">
                <a:srgbClr val="FFAD12">
                  <a:alpha val="100000"/>
                </a:srgbClr>
              </a:gs>
              <a:gs pos="100000">
                <a:srgbClr val="FFAD12">
                  <a:alpha val="43137"/>
                  <a:lumMod val="20000"/>
                  <a:lumOff val="80000"/>
                </a:srgbClr>
              </a:gs>
            </a:gsLst>
            <a:lin ang="16200000"/>
          </a:gradFill>
          <a:ln>
            <a:prstDash val="solid"/>
            <a:headEnd type="none"/>
            <a:tailEnd type="none"/>
          </a:ln>
        </p:spPr>
      </p:sp>
      <p:grpSp>
        <p:nvGrpSpPr>
          <p:cNvPr id="6" name="Group 6"/>
          <p:cNvGrpSpPr/>
          <p:nvPr/>
        </p:nvGrpSpPr>
        <p:grpSpPr>
          <a:xfrm flipH="1">
            <a:off x="10983954" y="1130300"/>
            <a:ext cx="534946" cy="536652"/>
            <a:chOff x="4349179" y="4252802"/>
            <a:chExt cx="534946" cy="536652"/>
          </a:xfrm>
        </p:grpSpPr>
        <p:sp>
          <p:nvSpPr>
            <p:cNvPr id="7" name="AutoShape 7"/>
            <p:cNvSpPr/>
            <p:nvPr/>
          </p:nvSpPr>
          <p:spPr>
            <a:xfrm flipH="1">
              <a:off x="4349179" y="4252802"/>
              <a:ext cx="329414" cy="329412"/>
            </a:xfrm>
            <a:prstGeom prst="roundRect">
              <a:avLst>
                <a:gd name="adj" fmla="val 0"/>
              </a:avLst>
            </a:prstGeom>
            <a:solidFill>
              <a:srgbClr val="FFFFFF">
                <a:alpha val="100000"/>
                <a:lumMod val="100000"/>
              </a:srgbClr>
            </a:solidFill>
            <a:ln>
              <a:prstDash val="solid"/>
              <a:headEnd type="none"/>
              <a:tailEnd type="none"/>
            </a:ln>
          </p:spPr>
        </p:sp>
        <p:sp>
          <p:nvSpPr>
            <p:cNvPr id="8" name="AutoShape 8"/>
            <p:cNvSpPr/>
            <p:nvPr/>
          </p:nvSpPr>
          <p:spPr>
            <a:xfrm flipH="1">
              <a:off x="4676884" y="4582214"/>
              <a:ext cx="207241" cy="207240"/>
            </a:xfrm>
            <a:prstGeom prst="roundRect">
              <a:avLst>
                <a:gd name="adj" fmla="val 0"/>
              </a:avLst>
            </a:prstGeom>
            <a:solidFill>
              <a:srgbClr val="FFFFFF">
                <a:alpha val="50196"/>
                <a:lumMod val="100000"/>
              </a:srgbClr>
            </a:solidFill>
            <a:ln>
              <a:prstDash val="solid"/>
              <a:headEnd type="none"/>
              <a:tailEnd type="none"/>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a:gsLst>
            <a:gs pos="0">
              <a:srgbClr val="FFAD12">
                <a:alpha val="5882"/>
              </a:srgbClr>
            </a:gs>
            <a:gs pos="100000">
              <a:srgbClr val="FFAD12">
                <a:alpha val="43137"/>
                <a:lumMod val="20000"/>
                <a:lumOff val="80000"/>
              </a:srgbClr>
            </a:gs>
          </a:gsLst>
          <a:lin ang="1620000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rgbClr val="FFAD12">
                <a:alpha val="5882"/>
              </a:srgbClr>
            </a:gs>
            <a:gs pos="100000">
              <a:srgbClr val="FFAD12">
                <a:alpha val="43137"/>
                <a:lumMod val="20000"/>
                <a:lumOff val="80000"/>
              </a:srgbClr>
            </a:gs>
          </a:gsLst>
          <a:lin ang="1620000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Agenda">
    <p:bg>
      <p:bgPr>
        <a:gradFill>
          <a:gsLst>
            <a:gs pos="0">
              <a:srgbClr val="FFAD12">
                <a:alpha val="5882"/>
              </a:srgbClr>
            </a:gs>
            <a:gs pos="100000">
              <a:srgbClr val="FFAD12">
                <a:alpha val="43137"/>
                <a:lumMod val="20000"/>
                <a:lumOff val="80000"/>
              </a:srgbClr>
            </a:gs>
          </a:gsLst>
          <a:lin ang="16200000"/>
        </a:gradFill>
        <a:effectLst/>
      </p:bgPr>
    </p:bg>
    <p:spTree>
      <p:nvGrpSpPr>
        <p:cNvPr id="1" name=""/>
        <p:cNvGrpSpPr/>
        <p:nvPr/>
      </p:nvGrpSpPr>
      <p:grpSpPr>
        <a:xfrm>
          <a:off x="0" y="0"/>
          <a:ext cx="0" cy="0"/>
          <a:chOff x="0" y="0"/>
          <a:chExt cx="0" cy="0"/>
        </a:xfrm>
      </p:grpSpPr>
      <p:grpSp>
        <p:nvGrpSpPr>
          <p:cNvPr id="2" name="Group 2"/>
          <p:cNvGrpSpPr/>
          <p:nvPr/>
        </p:nvGrpSpPr>
        <p:grpSpPr>
          <a:xfrm>
            <a:off x="2626456" y="1500188"/>
            <a:ext cx="994563" cy="4634686"/>
            <a:chOff x="2626456" y="1500188"/>
            <a:chExt cx="994563" cy="4634686"/>
          </a:xfrm>
        </p:grpSpPr>
        <p:sp>
          <p:nvSpPr>
            <p:cNvPr id="3" name="AutoShape 3"/>
            <p:cNvSpPr/>
            <p:nvPr/>
          </p:nvSpPr>
          <p:spPr>
            <a:xfrm>
              <a:off x="3621019" y="1500188"/>
              <a:ext cx="0" cy="4633913"/>
            </a:xfrm>
            <a:prstGeom prst="line">
              <a:avLst/>
            </a:prstGeom>
            <a:ln w="3175">
              <a:solidFill>
                <a:srgbClr val="000000">
                  <a:alpha val="50196"/>
                </a:srgbClr>
              </a:solidFill>
              <a:prstDash val="solid"/>
              <a:headEnd type="none"/>
              <a:tailEnd type="none"/>
            </a:ln>
          </p:spPr>
        </p:sp>
        <p:sp>
          <p:nvSpPr>
            <p:cNvPr id="4" name="AutoShape 4"/>
            <p:cNvSpPr/>
            <p:nvPr/>
          </p:nvSpPr>
          <p:spPr>
            <a:xfrm>
              <a:off x="2626456" y="5219207"/>
              <a:ext cx="870506" cy="915667"/>
            </a:xfrm>
            <a:custGeom>
              <a:avLst/>
              <a:gdLst/>
              <a:ahLst/>
              <a:cxnLst/>
              <a:rect l="l" t="t"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000000">
                <a:alpha val="14901"/>
              </a:srgbClr>
            </a:solidFill>
            <a:ln>
              <a:headEnd type="none"/>
              <a:tailEnd type="none"/>
            </a:ln>
          </p:spPr>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losing">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blip>
          <a:srcRect l="160" r="160"/>
          <a:stretch>
            <a:fillRect/>
          </a:stretch>
        </p:blipFill>
        <p:spPr>
          <a:xfrm>
            <a:off x="0" y="0"/>
            <a:ext cx="12192000" cy="6858000"/>
          </a:xfrm>
          <a:prstGeom prst="rect">
            <a:avLst/>
          </a:prstGeom>
          <a:ln>
            <a:headEnd type="none"/>
            <a:tailEnd type="none"/>
          </a:ln>
        </p:spPr>
      </p:pic>
      <p:sp>
        <p:nvSpPr>
          <p:cNvPr id="3" name="AutoShape 3"/>
          <p:cNvSpPr/>
          <p:nvPr/>
        </p:nvSpPr>
        <p:spPr>
          <a:xfrm>
            <a:off x="0" y="0"/>
            <a:ext cx="12192000" cy="6858000"/>
          </a:xfrm>
          <a:prstGeom prst="rect">
            <a:avLst/>
          </a:prstGeom>
          <a:gradFill>
            <a:gsLst>
              <a:gs pos="0">
                <a:srgbClr val="FF6100">
                  <a:alpha val="100000"/>
                </a:srgbClr>
              </a:gs>
              <a:gs pos="82999">
                <a:srgbClr val="F28217">
                  <a:alpha val="0"/>
                  <a:lumMod val="20000"/>
                  <a:lumOff val="80000"/>
                </a:srgbClr>
              </a:gs>
            </a:gsLst>
            <a:lin ang="5400000"/>
          </a:gradFill>
          <a:ln>
            <a:prstDash val="solid"/>
            <a:headEnd type="none"/>
            <a:tailEnd type="none"/>
          </a:ln>
        </p:spPr>
      </p:sp>
      <p:sp>
        <p:nvSpPr>
          <p:cNvPr id="4" name="AutoShape 4"/>
          <p:cNvSpPr/>
          <p:nvPr/>
        </p:nvSpPr>
        <p:spPr>
          <a:xfrm>
            <a:off x="0" y="0"/>
            <a:ext cx="9830540" cy="6858000"/>
          </a:xfrm>
          <a:custGeom>
            <a:avLst/>
            <a:gdLst/>
            <a:ahLst/>
            <a:cxnLst/>
            <a:rect l="l" t="t" r="r" b="b"/>
            <a:pathLst>
              <a:path w="9830540" h="6858000">
                <a:moveTo>
                  <a:pt x="0" y="0"/>
                </a:moveTo>
                <a:lnTo>
                  <a:pt x="9830540" y="0"/>
                </a:lnTo>
                <a:lnTo>
                  <a:pt x="9830540" y="6858000"/>
                </a:lnTo>
                <a:lnTo>
                  <a:pt x="0" y="6858000"/>
                </a:lnTo>
                <a:close/>
              </a:path>
            </a:pathLst>
          </a:custGeom>
          <a:gradFill>
            <a:gsLst>
              <a:gs pos="0">
                <a:srgbClr val="FF6100">
                  <a:alpha val="100000"/>
                </a:srgbClr>
              </a:gs>
              <a:gs pos="100000">
                <a:srgbClr val="F28217">
                  <a:alpha val="0"/>
                  <a:lumMod val="20000"/>
                  <a:lumOff val="80000"/>
                </a:srgbClr>
              </a:gs>
            </a:gsLst>
            <a:lin ang="0"/>
          </a:gradFill>
          <a:ln>
            <a:prstDash val="solid"/>
            <a:headEnd type="none"/>
            <a:tailEnd type="none"/>
          </a:ln>
        </p:spPr>
      </p:sp>
      <p:sp>
        <p:nvSpPr>
          <p:cNvPr id="5" name="AutoShape 5"/>
          <p:cNvSpPr/>
          <p:nvPr/>
        </p:nvSpPr>
        <p:spPr>
          <a:xfrm flipH="1">
            <a:off x="364627" y="4466157"/>
            <a:ext cx="2044700" cy="1769543"/>
          </a:xfrm>
          <a:custGeom>
            <a:avLst/>
            <a:gdLst/>
            <a:ahLst/>
            <a:cxnLst/>
            <a:rect l="l" t="t" r="r" b="b"/>
            <a:pathLst>
              <a:path w="862" h="746">
                <a:moveTo>
                  <a:pt x="646" y="0"/>
                </a:moveTo>
                <a:lnTo>
                  <a:pt x="216" y="0"/>
                </a:lnTo>
                <a:lnTo>
                  <a:pt x="0" y="373"/>
                </a:lnTo>
                <a:lnTo>
                  <a:pt x="216" y="746"/>
                </a:lnTo>
                <a:lnTo>
                  <a:pt x="646" y="746"/>
                </a:lnTo>
                <a:lnTo>
                  <a:pt x="862" y="373"/>
                </a:lnTo>
                <a:lnTo>
                  <a:pt x="646" y="0"/>
                </a:lnTo>
                <a:close/>
              </a:path>
            </a:pathLst>
          </a:custGeom>
          <a:gradFill>
            <a:gsLst>
              <a:gs pos="0">
                <a:srgbClr val="FFAD12">
                  <a:alpha val="0"/>
                  <a:lumMod val="20000"/>
                  <a:lumOff val="80000"/>
                </a:srgbClr>
              </a:gs>
              <a:gs pos="100000">
                <a:srgbClr val="FF6100">
                  <a:alpha val="100000"/>
                </a:srgbClr>
              </a:gs>
            </a:gsLst>
            <a:lin ang="5400000"/>
          </a:gradFill>
          <a:ln>
            <a:prstDash val="solid"/>
            <a:headEnd type="none"/>
            <a:tailEnd type="none"/>
          </a:ln>
        </p:spPr>
      </p:sp>
      <p:sp>
        <p:nvSpPr>
          <p:cNvPr id="6" name="AutoShape 6"/>
          <p:cNvSpPr/>
          <p:nvPr/>
        </p:nvSpPr>
        <p:spPr>
          <a:xfrm flipH="1">
            <a:off x="1" y="5704225"/>
            <a:ext cx="2323971" cy="1153775"/>
          </a:xfrm>
          <a:custGeom>
            <a:avLst/>
            <a:gdLst/>
            <a:ahLst/>
            <a:cxnLst/>
            <a:rect l="l" t="t" r="r" b="b"/>
            <a:pathLst>
              <a:path w="2323971" h="1153775">
                <a:moveTo>
                  <a:pt x="1421912" y="659735"/>
                </a:moveTo>
                <a:lnTo>
                  <a:pt x="419935" y="659735"/>
                </a:lnTo>
                <a:lnTo>
                  <a:pt x="0" y="1153775"/>
                </a:lnTo>
                <a:lnTo>
                  <a:pt x="1841847" y="1153775"/>
                </a:lnTo>
                <a:close/>
                <a:moveTo>
                  <a:pt x="2323971" y="0"/>
                </a:moveTo>
                <a:lnTo>
                  <a:pt x="2013777" y="0"/>
                </a:lnTo>
                <a:lnTo>
                  <a:pt x="1510459" y="592138"/>
                </a:lnTo>
                <a:lnTo>
                  <a:pt x="1987852" y="1153775"/>
                </a:lnTo>
                <a:lnTo>
                  <a:pt x="2323971" y="1153775"/>
                </a:lnTo>
                <a:close/>
              </a:path>
            </a:pathLst>
          </a:custGeom>
          <a:solidFill>
            <a:srgbClr val="FF6100">
              <a:alpha val="40000"/>
              <a:lumMod val="20000"/>
              <a:lumOff val="80000"/>
            </a:srgbClr>
          </a:solidFill>
          <a:ln>
            <a:prstDash val="solid"/>
            <a:headEnd type="none"/>
            <a:tailEnd type="none"/>
          </a:ln>
        </p:spPr>
      </p:sp>
      <p:sp>
        <p:nvSpPr>
          <p:cNvPr id="7" name="AutoShape 7"/>
          <p:cNvSpPr/>
          <p:nvPr/>
        </p:nvSpPr>
        <p:spPr>
          <a:xfrm flipH="1">
            <a:off x="8250460" y="4731"/>
            <a:ext cx="3938588" cy="5750751"/>
          </a:xfrm>
          <a:custGeom>
            <a:avLst/>
            <a:gdLst/>
            <a:ahLst/>
            <a:cxnLst/>
            <a:rect l="l" t="t" r="r" b="b"/>
            <a:pathLst>
              <a:path w="3938588" h="5750751">
                <a:moveTo>
                  <a:pt x="1276351" y="4646644"/>
                </a:moveTo>
                <a:lnTo>
                  <a:pt x="1588" y="4646644"/>
                </a:lnTo>
                <a:lnTo>
                  <a:pt x="0" y="4649390"/>
                </a:lnTo>
                <a:lnTo>
                  <a:pt x="0" y="4650977"/>
                </a:lnTo>
                <a:lnTo>
                  <a:pt x="1588" y="4648231"/>
                </a:lnTo>
                <a:lnTo>
                  <a:pt x="1276351" y="4648231"/>
                </a:lnTo>
                <a:lnTo>
                  <a:pt x="1912480" y="5750751"/>
                </a:lnTo>
                <a:lnTo>
                  <a:pt x="1912938" y="5749957"/>
                </a:lnTo>
                <a:close/>
                <a:moveTo>
                  <a:pt x="3300413" y="3473482"/>
                </a:moveTo>
                <a:lnTo>
                  <a:pt x="2025650" y="3473482"/>
                </a:lnTo>
                <a:lnTo>
                  <a:pt x="1387475" y="4576794"/>
                </a:lnTo>
                <a:lnTo>
                  <a:pt x="2025650" y="5680107"/>
                </a:lnTo>
                <a:lnTo>
                  <a:pt x="3300413" y="5680107"/>
                </a:lnTo>
                <a:lnTo>
                  <a:pt x="3938588" y="4576794"/>
                </a:lnTo>
                <a:close/>
                <a:moveTo>
                  <a:pt x="1271588" y="2308257"/>
                </a:moveTo>
                <a:lnTo>
                  <a:pt x="1" y="2308257"/>
                </a:lnTo>
                <a:lnTo>
                  <a:pt x="0" y="2308258"/>
                </a:lnTo>
                <a:lnTo>
                  <a:pt x="0" y="4510119"/>
                </a:lnTo>
                <a:lnTo>
                  <a:pt x="1" y="4510120"/>
                </a:lnTo>
                <a:lnTo>
                  <a:pt x="1271588" y="4510120"/>
                </a:lnTo>
                <a:lnTo>
                  <a:pt x="1908176" y="3408395"/>
                </a:lnTo>
                <a:close/>
                <a:moveTo>
                  <a:pt x="1276351" y="0"/>
                </a:moveTo>
                <a:lnTo>
                  <a:pt x="1588" y="0"/>
                </a:lnTo>
                <a:lnTo>
                  <a:pt x="0" y="2746"/>
                </a:lnTo>
                <a:lnTo>
                  <a:pt x="0" y="2202297"/>
                </a:lnTo>
                <a:lnTo>
                  <a:pt x="1588" y="2205038"/>
                </a:lnTo>
                <a:lnTo>
                  <a:pt x="1276351" y="2205038"/>
                </a:lnTo>
                <a:lnTo>
                  <a:pt x="1912938" y="1103313"/>
                </a:lnTo>
                <a:close/>
              </a:path>
            </a:pathLst>
          </a:custGeom>
          <a:gradFill>
            <a:gsLst>
              <a:gs pos="0">
                <a:srgbClr val="FFAD12">
                  <a:alpha val="0"/>
                </a:srgbClr>
              </a:gs>
              <a:gs pos="100000">
                <a:srgbClr val="FF6100">
                  <a:alpha val="100000"/>
                </a:srgbClr>
              </a:gs>
            </a:gsLst>
            <a:lin ang="8100000"/>
          </a:gradFill>
          <a:ln>
            <a:prstDash val="solid"/>
            <a:headEnd type="none"/>
            <a:tailEnd type="none"/>
          </a:ln>
        </p:spPr>
      </p:sp>
      <p:sp>
        <p:nvSpPr>
          <p:cNvPr id="8" name="AutoShape 8"/>
          <p:cNvSpPr/>
          <p:nvPr/>
        </p:nvSpPr>
        <p:spPr>
          <a:xfrm flipH="1">
            <a:off x="7797339" y="-9557"/>
            <a:ext cx="4391709" cy="6867556"/>
          </a:xfrm>
          <a:custGeom>
            <a:avLst/>
            <a:gdLst/>
            <a:ahLst/>
            <a:cxnLst/>
            <a:rect l="l" t="t" r="r" b="b"/>
            <a:pathLst>
              <a:path w="4391709" h="6867556">
                <a:moveTo>
                  <a:pt x="4155172" y="5297566"/>
                </a:moveTo>
                <a:lnTo>
                  <a:pt x="3685271" y="5297566"/>
                </a:lnTo>
                <a:lnTo>
                  <a:pt x="3450321" y="5705554"/>
                </a:lnTo>
                <a:lnTo>
                  <a:pt x="3685271" y="6111954"/>
                </a:lnTo>
                <a:lnTo>
                  <a:pt x="4155172" y="6111954"/>
                </a:lnTo>
                <a:lnTo>
                  <a:pt x="4391709" y="5705554"/>
                </a:lnTo>
                <a:close/>
                <a:moveTo>
                  <a:pt x="1276351" y="4662518"/>
                </a:moveTo>
                <a:lnTo>
                  <a:pt x="1588" y="4662518"/>
                </a:lnTo>
                <a:lnTo>
                  <a:pt x="0" y="4665264"/>
                </a:lnTo>
                <a:lnTo>
                  <a:pt x="0" y="6864815"/>
                </a:lnTo>
                <a:lnTo>
                  <a:pt x="1588" y="6867556"/>
                </a:lnTo>
                <a:lnTo>
                  <a:pt x="1276351" y="6867556"/>
                </a:lnTo>
                <a:lnTo>
                  <a:pt x="1912938" y="5765831"/>
                </a:lnTo>
                <a:close/>
                <a:moveTo>
                  <a:pt x="2714626" y="2116105"/>
                </a:moveTo>
                <a:lnTo>
                  <a:pt x="2019301" y="2116105"/>
                </a:lnTo>
                <a:lnTo>
                  <a:pt x="1671638" y="2719356"/>
                </a:lnTo>
                <a:lnTo>
                  <a:pt x="2019301" y="3321018"/>
                </a:lnTo>
                <a:lnTo>
                  <a:pt x="2714626" y="3321018"/>
                </a:lnTo>
                <a:lnTo>
                  <a:pt x="3063876" y="2719356"/>
                </a:lnTo>
                <a:close/>
                <a:moveTo>
                  <a:pt x="3894736" y="0"/>
                </a:moveTo>
                <a:lnTo>
                  <a:pt x="1420127" y="0"/>
                </a:lnTo>
                <a:lnTo>
                  <a:pt x="2020889" y="1038225"/>
                </a:lnTo>
                <a:lnTo>
                  <a:pt x="3292476" y="1038225"/>
                </a:lnTo>
                <a:close/>
              </a:path>
            </a:pathLst>
          </a:custGeom>
          <a:gradFill>
            <a:gsLst>
              <a:gs pos="0">
                <a:srgbClr val="FFAD12">
                  <a:alpha val="100000"/>
                </a:srgbClr>
              </a:gs>
              <a:gs pos="100000">
                <a:srgbClr val="FFAD12">
                  <a:alpha val="43137"/>
                  <a:lumMod val="20000"/>
                  <a:lumOff val="80000"/>
                </a:srgbClr>
              </a:gs>
            </a:gsLst>
            <a:lin ang="16200000"/>
          </a:gradFill>
          <a:ln>
            <a:prstDash val="solid"/>
            <a:headEnd type="none"/>
            <a:tailEnd type="none"/>
          </a:ln>
        </p:spPr>
      </p:sp>
      <p:sp>
        <p:nvSpPr>
          <p:cNvPr id="9" name="AutoShape 9"/>
          <p:cNvSpPr/>
          <p:nvPr/>
        </p:nvSpPr>
        <p:spPr>
          <a:xfrm flipH="1">
            <a:off x="3165475" y="238294"/>
            <a:ext cx="1368425" cy="1184275"/>
          </a:xfrm>
          <a:custGeom>
            <a:avLst/>
            <a:gdLst/>
            <a:ahLst/>
            <a:cxnLst/>
            <a:rect l="l" t="t" r="r" b="b"/>
            <a:pathLst>
              <a:path w="862" h="746">
                <a:moveTo>
                  <a:pt x="646" y="0"/>
                </a:moveTo>
                <a:lnTo>
                  <a:pt x="216" y="0"/>
                </a:lnTo>
                <a:lnTo>
                  <a:pt x="0" y="373"/>
                </a:lnTo>
                <a:lnTo>
                  <a:pt x="216" y="746"/>
                </a:lnTo>
                <a:lnTo>
                  <a:pt x="646" y="746"/>
                </a:lnTo>
                <a:lnTo>
                  <a:pt x="862" y="373"/>
                </a:lnTo>
                <a:lnTo>
                  <a:pt x="646" y="0"/>
                </a:lnTo>
                <a:close/>
              </a:path>
            </a:pathLst>
          </a:custGeom>
          <a:gradFill>
            <a:gsLst>
              <a:gs pos="0">
                <a:srgbClr val="F28217">
                  <a:alpha val="0"/>
                  <a:lumMod val="60000"/>
                  <a:lumOff val="40000"/>
                </a:srgbClr>
              </a:gs>
              <a:gs pos="100000">
                <a:srgbClr val="FF6100">
                  <a:alpha val="100000"/>
                </a:srgbClr>
              </a:gs>
            </a:gsLst>
            <a:lin ang="8100000"/>
          </a:gradFill>
          <a:ln>
            <a:prstDash val="solid"/>
            <a:headEnd type="none"/>
            <a:tailEnd type="none"/>
          </a:ln>
        </p:spPr>
      </p:sp>
      <p:sp>
        <p:nvSpPr>
          <p:cNvPr id="10" name="AutoShape 10"/>
          <p:cNvSpPr/>
          <p:nvPr/>
        </p:nvSpPr>
        <p:spPr>
          <a:xfrm flipH="1" flipV="1">
            <a:off x="0" y="0"/>
            <a:ext cx="1884362" cy="1480472"/>
          </a:xfrm>
          <a:custGeom>
            <a:avLst/>
            <a:gdLst/>
            <a:ahLst/>
            <a:cxnLst/>
            <a:rect l="l" t="t" r="r" b="b"/>
            <a:pathLst>
              <a:path w="1884362" h="1480472">
                <a:moveTo>
                  <a:pt x="1025525" y="659735"/>
                </a:moveTo>
                <a:lnTo>
                  <a:pt x="342900" y="659735"/>
                </a:lnTo>
                <a:lnTo>
                  <a:pt x="0" y="1251873"/>
                </a:lnTo>
                <a:lnTo>
                  <a:pt x="132379" y="1480472"/>
                </a:lnTo>
                <a:lnTo>
                  <a:pt x="1236046" y="1480472"/>
                </a:lnTo>
                <a:lnTo>
                  <a:pt x="1368425" y="1251873"/>
                </a:lnTo>
                <a:close/>
                <a:moveTo>
                  <a:pt x="1884362" y="0"/>
                </a:moveTo>
                <a:lnTo>
                  <a:pt x="1428750" y="0"/>
                </a:lnTo>
                <a:lnTo>
                  <a:pt x="1085850" y="592138"/>
                </a:lnTo>
                <a:lnTo>
                  <a:pt x="1428750" y="1184275"/>
                </a:lnTo>
                <a:lnTo>
                  <a:pt x="1884362" y="1184275"/>
                </a:lnTo>
                <a:close/>
              </a:path>
            </a:pathLst>
          </a:custGeom>
          <a:gradFill>
            <a:gsLst>
              <a:gs pos="0">
                <a:srgbClr val="FF6100">
                  <a:alpha val="0"/>
                  <a:lumMod val="60000"/>
                  <a:lumOff val="40000"/>
                </a:srgbClr>
              </a:gs>
              <a:gs pos="100000">
                <a:srgbClr val="FF6100">
                  <a:alpha val="100000"/>
                  <a:lumMod val="20000"/>
                  <a:lumOff val="80000"/>
                </a:srgbClr>
              </a:gs>
            </a:gsLst>
            <a:lin ang="8100000"/>
          </a:gradFill>
          <a:ln>
            <a:prstDash val="solid"/>
            <a:headEnd type="none"/>
            <a:tailEnd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pt/slideMasters/slideMaster1.xml">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1781383"/>
            <a:ext cx="7580758" cy="2127884"/>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5400" b="1" i="0">
                <a:ln/>
                <a:solidFill>
                  <a:srgbClr val="FFFFFF">
                    <a:alpha val="100000"/>
                  </a:srgbClr>
                </a:solidFill>
                <a:latin typeface="微软雅黑"/>
                <a:ea typeface="微软雅黑"/>
                <a:cs typeface="微软雅黑"/>
              </a:rPr>
              <a:t>社交媒体推荐算法与信息茧房</a:t>
            </a:r>
            <a:endParaRPr lang="en-US" sz="1100"/>
          </a:p>
        </p:txBody>
      </p:sp>
      <p:sp>
        <p:nvSpPr>
          <p:cNvPr id="3" name="TextBox 3"/>
          <p:cNvSpPr txBox="1"/>
          <p:nvPr/>
        </p:nvSpPr>
        <p:spPr>
          <a:xfrm>
            <a:off x="1333274" y="3957475"/>
            <a:ext cx="5343075" cy="837234"/>
          </a:xfrm>
          <a:prstGeom prst="rect">
            <a:avLst/>
          </a:prstGeom>
          <a:solidFill>
            <a:srgbClr val="FFFFFF">
              <a:alpha val="100000"/>
            </a:srgbClr>
          </a:solidFill>
          <a:ln>
            <a:headEnd type="none"/>
            <a:tailEnd type="none"/>
          </a:ln>
        </p:spPr>
        <p:txBody>
          <a:bodyPr vert="horz" wrap="square" lIns="91440" tIns="45720" rIns="91440" bIns="45720" rtlCol="0" anchor="ctr" anchorCtr="0"/>
          <a:lstStyle/>
          <a:p>
            <a:pPr algn="ctr">
              <a:lnSpc>
                <a:spcPct val="120000"/>
              </a:lnSpc>
              <a:spcBef>
                <a:spcPts val="1000"/>
              </a:spcBef>
              <a:defRPr/>
            </a:pPr>
            <a:r>
              <a:rPr lang="en-US" sz="1800" b="0" i="0">
                <a:ln/>
                <a:solidFill>
                  <a:srgbClr val="FFAD12">
                    <a:alpha val="100000"/>
                  </a:srgbClr>
                </a:solidFill>
                <a:latin typeface="微软雅黑"/>
                <a:ea typeface="微软雅黑"/>
                <a:cs typeface="微软雅黑"/>
              </a:rPr>
              <a:t>剖析技术中立性背后的伦理困境与社会影响</a:t>
            </a:r>
            <a:endParaRPr lang="en-US" sz="1100"/>
          </a:p>
        </p:txBody>
      </p:sp>
      <p:sp>
        <p:nvSpPr>
          <p:cNvPr id="4" name="TextBox 4"/>
          <p:cNvSpPr txBox="1"/>
          <p:nvPr/>
        </p:nvSpPr>
        <p:spPr>
          <a:xfrm>
            <a:off x="676275" y="5781674"/>
            <a:ext cx="1666875" cy="342900"/>
          </a:xfrm>
          <a:prstGeom prst="rect">
            <a:avLst/>
          </a:prstGeom>
          <a:ln>
            <a:headEnd type="none"/>
            <a:tailEnd type="none"/>
          </a:ln>
        </p:spPr>
        <p:txBody>
          <a:bodyPr vert="horz" wrap="square" lIns="91440" tIns="45720" rIns="91440" bIns="45720" rtlCol="0" anchor="ctr" anchorCtr="0"/>
          <a:lstStyle/>
          <a:p>
            <a:pPr algn="l">
              <a:lnSpc>
                <a:spcPct val="100000"/>
              </a:lnSpc>
              <a:spcBef>
                <a:spcPts val="1000"/>
              </a:spcBef>
              <a:defRPr/>
            </a:pPr>
            <a:r>
              <a:rPr lang="en-US" sz="1200" b="0" i="0">
                <a:ln/>
                <a:solidFill>
                  <a:srgbClr val="FFFFFF">
                    <a:alpha val="100000"/>
                  </a:srgbClr>
                </a:solidFill>
                <a:latin typeface="微软雅黑"/>
                <a:ea typeface="微软雅黑"/>
                <a:cs typeface="微软雅黑"/>
              </a:rPr>
              <a:t>报告人名称</a:t>
            </a:r>
            <a:endParaRPr lang="en-US" sz="1100"/>
          </a:p>
        </p:txBody>
      </p:sp>
      <p:sp>
        <p:nvSpPr>
          <p:cNvPr id="5" name="TextBox 5"/>
          <p:cNvSpPr txBox="1"/>
          <p:nvPr/>
        </p:nvSpPr>
        <p:spPr>
          <a:xfrm>
            <a:off x="10001250" y="5781674"/>
            <a:ext cx="1514475" cy="342900"/>
          </a:xfrm>
          <a:prstGeom prst="rect">
            <a:avLst/>
          </a:prstGeom>
          <a:ln>
            <a:headEnd type="none"/>
            <a:tailEnd type="none"/>
          </a:ln>
        </p:spPr>
        <p:txBody>
          <a:bodyPr vert="horz" wrap="square" lIns="91440" tIns="45720" rIns="91440" bIns="45720" rtlCol="0" anchor="ctr" anchorCtr="0"/>
          <a:lstStyle/>
          <a:p>
            <a:pPr algn="r">
              <a:lnSpc>
                <a:spcPct val="100000"/>
              </a:lnSpc>
              <a:spcBef>
                <a:spcPts val="1000"/>
              </a:spcBef>
              <a:defRPr/>
            </a:pPr>
            <a:r>
              <a:rPr lang="en-US" sz="1200" b="0" i="0" dirty="0">
                <a:ln/>
                <a:solidFill>
                  <a:srgbClr val="FFFFFF">
                    <a:alpha val="100000"/>
                  </a:srgbClr>
                </a:solidFill>
                <a:latin typeface="微软雅黑"/>
                <a:ea typeface="微软雅黑"/>
                <a:cs typeface="微软雅黑"/>
              </a:rPr>
              <a:t>2026.4.20</a:t>
            </a:r>
            <a:endParaRPr lang="en-US" sz="1100" dirty="0"/>
          </a:p>
        </p:txBody>
      </p:sp>
      <p:pic>
        <p:nvPicPr>
          <p:cNvPr id="6" name="Picture 6"/>
          <p:cNvPicPr>
            <a:picLocks noChangeAspect="1"/>
          </p:cNvPicPr>
          <p:nvPr/>
        </p:nvPicPr>
        <p:blipFill>
          <a:blip r:embed="rId2"/>
          <a:stretch>
            <a:fillRect/>
          </a:stretch>
        </p:blipFill>
        <p:spPr>
          <a:xfrm>
            <a:off x="10807700" y="6413500"/>
            <a:ext cx="11938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f91457dc-fb24-4abd-a5d5-67a6f69c832b"/>
          <p:cNvGrpSpPr/>
          <p:nvPr/>
        </p:nvGrpSpPr>
        <p:grpSpPr>
          <a:xfrm>
            <a:off x="660399" y="0"/>
            <a:ext cx="11531601" cy="6858000"/>
            <a:chOff x="660399" y="0"/>
            <a:chExt cx="11531601" cy="6858000"/>
          </a:xfrm>
        </p:grpSpPr>
        <p:sp>
          <p:nvSpPr>
            <p:cNvPr id="3" name="AutoShape 3"/>
            <p:cNvSpPr/>
            <p:nvPr/>
          </p:nvSpPr>
          <p:spPr>
            <a:xfrm>
              <a:off x="5778502" y="1606550"/>
              <a:ext cx="6413498" cy="4051300"/>
            </a:xfrm>
            <a:custGeom>
              <a:avLst/>
              <a:gdLst/>
              <a:ahLst/>
              <a:cxnLst/>
              <a:rect l="l" t="t" r="r" b="b"/>
              <a:pathLst>
                <a:path w="12192000" h="4051300">
                  <a:moveTo>
                    <a:pt x="0" y="0"/>
                  </a:moveTo>
                  <a:lnTo>
                    <a:pt x="12192000" y="0"/>
                  </a:lnTo>
                  <a:lnTo>
                    <a:pt x="12192000" y="4051300"/>
                  </a:lnTo>
                  <a:lnTo>
                    <a:pt x="0" y="4051300"/>
                  </a:lnTo>
                  <a:close/>
                </a:path>
              </a:pathLst>
            </a:custGeom>
            <a:solidFill>
              <a:srgbClr val="FF6100">
                <a:alpha val="20000"/>
              </a:srgbClr>
            </a:solidFill>
            <a:ln>
              <a:prstDash val="solid"/>
              <a:headEnd type="none"/>
              <a:tailEnd type="none"/>
            </a:ln>
          </p:spPr>
        </p:sp>
        <p:sp>
          <p:nvSpPr>
            <p:cNvPr id="4" name="AutoShape 4"/>
            <p:cNvSpPr/>
            <p:nvPr/>
          </p:nvSpPr>
          <p:spPr>
            <a:xfrm>
              <a:off x="5198041" y="0"/>
              <a:ext cx="404163" cy="1592664"/>
            </a:xfrm>
            <a:custGeom>
              <a:avLst/>
              <a:gdLst/>
              <a:ahLst/>
              <a:cxnLst/>
              <a:rect l="l" t="t" r="r" b="b"/>
              <a:pathLst>
                <a:path w="404163" h="1592664">
                  <a:moveTo>
                    <a:pt x="0" y="0"/>
                  </a:moveTo>
                  <a:lnTo>
                    <a:pt x="404163" y="0"/>
                  </a:lnTo>
                  <a:lnTo>
                    <a:pt x="404163" y="1592664"/>
                  </a:lnTo>
                  <a:lnTo>
                    <a:pt x="0" y="1592664"/>
                  </a:lnTo>
                  <a:close/>
                </a:path>
              </a:pathLst>
            </a:custGeom>
            <a:solidFill>
              <a:srgbClr val="000000">
                <a:alpha val="100000"/>
              </a:srgbClr>
            </a:solidFill>
            <a:ln>
              <a:prstDash val="solid"/>
              <a:headEnd type="none"/>
              <a:tailEnd type="none"/>
            </a:ln>
          </p:spPr>
        </p:sp>
        <p:sp>
          <p:nvSpPr>
            <p:cNvPr id="5" name="AutoShape 5"/>
            <p:cNvSpPr/>
            <p:nvPr/>
          </p:nvSpPr>
          <p:spPr>
            <a:xfrm>
              <a:off x="5198041" y="4886001"/>
              <a:ext cx="404163" cy="1971999"/>
            </a:xfrm>
            <a:custGeom>
              <a:avLst/>
              <a:gdLst/>
              <a:ahLst/>
              <a:cxnLst/>
              <a:rect l="l" t="t" r="r" b="b"/>
              <a:pathLst>
                <a:path w="404163" h="1971999">
                  <a:moveTo>
                    <a:pt x="0" y="0"/>
                  </a:moveTo>
                  <a:lnTo>
                    <a:pt x="404163" y="0"/>
                  </a:lnTo>
                  <a:lnTo>
                    <a:pt x="404163" y="1971999"/>
                  </a:lnTo>
                  <a:lnTo>
                    <a:pt x="0" y="1971999"/>
                  </a:lnTo>
                  <a:close/>
                </a:path>
              </a:pathLst>
            </a:custGeom>
            <a:solidFill>
              <a:srgbClr val="FFFFFF">
                <a:alpha val="100000"/>
                <a:lumMod val="50000"/>
              </a:srgbClr>
            </a:solidFill>
            <a:ln>
              <a:prstDash val="solid"/>
              <a:headEnd type="none"/>
              <a:tailEnd type="none"/>
            </a:ln>
          </p:spPr>
        </p:sp>
        <p:sp>
          <p:nvSpPr>
            <p:cNvPr id="6" name="AutoShape 6"/>
            <p:cNvSpPr/>
            <p:nvPr/>
          </p:nvSpPr>
          <p:spPr>
            <a:xfrm>
              <a:off x="5602205" y="0"/>
              <a:ext cx="0" cy="6858000"/>
            </a:xfrm>
            <a:prstGeom prst="line">
              <a:avLst/>
            </a:prstGeom>
            <a:ln w="6350">
              <a:solidFill>
                <a:srgbClr val="000000">
                  <a:alpha val="50196"/>
                </a:srgbClr>
              </a:solidFill>
              <a:prstDash val="solid"/>
              <a:headEnd type="none"/>
              <a:tailEnd type="none"/>
            </a:ln>
          </p:spPr>
        </p:sp>
        <p:sp>
          <p:nvSpPr>
            <p:cNvPr id="7" name="AutoShape 7"/>
            <p:cNvSpPr/>
            <p:nvPr/>
          </p:nvSpPr>
          <p:spPr>
            <a:xfrm>
              <a:off x="5198041" y="0"/>
              <a:ext cx="0" cy="6858000"/>
            </a:xfrm>
            <a:prstGeom prst="line">
              <a:avLst/>
            </a:prstGeom>
            <a:ln w="6350">
              <a:solidFill>
                <a:srgbClr val="000000">
                  <a:alpha val="50196"/>
                </a:srgbClr>
              </a:solidFill>
              <a:prstDash val="solid"/>
              <a:headEnd type="none"/>
              <a:tailEnd type="none"/>
            </a:ln>
          </p:spPr>
        </p:sp>
        <p:sp>
          <p:nvSpPr>
            <p:cNvPr id="8" name="AutoShape 8"/>
            <p:cNvSpPr/>
            <p:nvPr/>
          </p:nvSpPr>
          <p:spPr>
            <a:xfrm>
              <a:off x="4589195" y="1129132"/>
              <a:ext cx="342899" cy="328236"/>
            </a:xfrm>
            <a:custGeom>
              <a:avLst/>
              <a:gdLst/>
              <a:ahLst/>
              <a:cxnLst/>
              <a:rect l="l" t="t" r="r" b="b"/>
              <a:pathLst>
                <a:path w="1930397" h="1847850">
                  <a:moveTo>
                    <a:pt x="0" y="0"/>
                  </a:moveTo>
                  <a:lnTo>
                    <a:pt x="1930397" y="0"/>
                  </a:lnTo>
                  <a:lnTo>
                    <a:pt x="1930397" y="1847850"/>
                  </a:lnTo>
                </a:path>
              </a:pathLst>
            </a:custGeom>
            <a:ln w="6350">
              <a:solidFill>
                <a:srgbClr val="000000">
                  <a:alpha val="50196"/>
                </a:srgbClr>
              </a:solidFill>
              <a:prstDash val="solid"/>
              <a:headEnd type="none"/>
              <a:tailEnd type="none"/>
            </a:ln>
          </p:spPr>
        </p:sp>
        <p:sp>
          <p:nvSpPr>
            <p:cNvPr id="9" name="AutoShape 9"/>
            <p:cNvSpPr/>
            <p:nvPr/>
          </p:nvSpPr>
          <p:spPr>
            <a:xfrm>
              <a:off x="665145" y="5659364"/>
              <a:ext cx="360000" cy="360000"/>
            </a:xfrm>
            <a:prstGeom prst="ellipse">
              <a:avLst/>
            </a:prstGeom>
            <a:ln w="6350">
              <a:solidFill>
                <a:srgbClr val="000000">
                  <a:alpha val="100000"/>
                </a:srgbClr>
              </a:solidFill>
              <a:prstDash val="solid"/>
              <a:headEnd type="none"/>
              <a:tailEnd type="none"/>
            </a:ln>
          </p:spPr>
        </p:sp>
        <p:sp>
          <p:nvSpPr>
            <p:cNvPr id="10" name="AutoShape 10"/>
            <p:cNvSpPr/>
            <p:nvPr/>
          </p:nvSpPr>
          <p:spPr>
            <a:xfrm>
              <a:off x="766606" y="5760972"/>
              <a:ext cx="157076" cy="156784"/>
            </a:xfrm>
            <a:custGeom>
              <a:avLst/>
              <a:gdLst/>
              <a:ahLst/>
              <a:cxnLst/>
              <a:rect l="l" t="t" r="r" b="b"/>
              <a:pathLst>
                <a:path w="606721" h="605592">
                  <a:moveTo>
                    <a:pt x="194875" y="393044"/>
                  </a:moveTo>
                  <a:cubicBezTo>
                    <a:pt x="114846" y="423911"/>
                    <a:pt x="63225" y="484441"/>
                    <a:pt x="52827" y="555259"/>
                  </a:cubicBezTo>
                  <a:lnTo>
                    <a:pt x="554916" y="555259"/>
                  </a:lnTo>
                  <a:cubicBezTo>
                    <a:pt x="544703" y="485738"/>
                    <a:pt x="491690" y="423911"/>
                    <a:pt x="412960" y="393044"/>
                  </a:cubicBezTo>
                  <a:lnTo>
                    <a:pt x="322625" y="496120"/>
                  </a:lnTo>
                  <a:cubicBezTo>
                    <a:pt x="313527" y="507707"/>
                    <a:pt x="294216" y="507707"/>
                    <a:pt x="285210" y="496120"/>
                  </a:cubicBezTo>
                  <a:close/>
                  <a:moveTo>
                    <a:pt x="193575" y="338910"/>
                  </a:moveTo>
                  <a:cubicBezTo>
                    <a:pt x="202674" y="336408"/>
                    <a:pt x="214279" y="338910"/>
                    <a:pt x="220685" y="346697"/>
                  </a:cubicBezTo>
                  <a:lnTo>
                    <a:pt x="303314" y="440689"/>
                  </a:lnTo>
                  <a:lnTo>
                    <a:pt x="385851" y="346697"/>
                  </a:lnTo>
                  <a:cubicBezTo>
                    <a:pt x="392257" y="338910"/>
                    <a:pt x="402655" y="336315"/>
                    <a:pt x="412960" y="338910"/>
                  </a:cubicBezTo>
                  <a:cubicBezTo>
                    <a:pt x="530405" y="377564"/>
                    <a:pt x="606536" y="472854"/>
                    <a:pt x="606721" y="579730"/>
                  </a:cubicBezTo>
                  <a:cubicBezTo>
                    <a:pt x="606721" y="594005"/>
                    <a:pt x="595023" y="605592"/>
                    <a:pt x="580818" y="605592"/>
                  </a:cubicBezTo>
                  <a:lnTo>
                    <a:pt x="25903" y="605592"/>
                  </a:lnTo>
                  <a:cubicBezTo>
                    <a:pt x="11605" y="605592"/>
                    <a:pt x="0" y="594005"/>
                    <a:pt x="0" y="579730"/>
                  </a:cubicBezTo>
                  <a:cubicBezTo>
                    <a:pt x="0" y="472854"/>
                    <a:pt x="76131" y="377564"/>
                    <a:pt x="193575" y="338910"/>
                  </a:cubicBezTo>
                  <a:close/>
                  <a:moveTo>
                    <a:pt x="303326" y="50250"/>
                  </a:moveTo>
                  <a:cubicBezTo>
                    <a:pt x="241389" y="50250"/>
                    <a:pt x="190967" y="100500"/>
                    <a:pt x="190967" y="161041"/>
                  </a:cubicBezTo>
                  <a:cubicBezTo>
                    <a:pt x="190967" y="221582"/>
                    <a:pt x="241389" y="271924"/>
                    <a:pt x="303326" y="271924"/>
                  </a:cubicBezTo>
                  <a:cubicBezTo>
                    <a:pt x="365170" y="271924"/>
                    <a:pt x="415592" y="221767"/>
                    <a:pt x="415592" y="161133"/>
                  </a:cubicBezTo>
                  <a:cubicBezTo>
                    <a:pt x="415592" y="100592"/>
                    <a:pt x="365170" y="50250"/>
                    <a:pt x="303326" y="50250"/>
                  </a:cubicBezTo>
                  <a:close/>
                  <a:moveTo>
                    <a:pt x="303326" y="0"/>
                  </a:moveTo>
                  <a:cubicBezTo>
                    <a:pt x="392284" y="0"/>
                    <a:pt x="466014" y="72130"/>
                    <a:pt x="466014" y="162431"/>
                  </a:cubicBezTo>
                  <a:cubicBezTo>
                    <a:pt x="466014" y="252640"/>
                    <a:pt x="392284" y="323472"/>
                    <a:pt x="303326" y="323472"/>
                  </a:cubicBezTo>
                  <a:cubicBezTo>
                    <a:pt x="214274" y="323472"/>
                    <a:pt x="140637" y="251249"/>
                    <a:pt x="140637" y="161041"/>
                  </a:cubicBezTo>
                  <a:cubicBezTo>
                    <a:pt x="140637" y="70832"/>
                    <a:pt x="214274" y="0"/>
                    <a:pt x="303326" y="0"/>
                  </a:cubicBezTo>
                  <a:close/>
                </a:path>
              </a:pathLst>
            </a:custGeom>
            <a:solidFill>
              <a:srgbClr val="000000">
                <a:alpha val="100000"/>
              </a:srgbClr>
            </a:solidFill>
            <a:ln>
              <a:prstDash val="solid"/>
              <a:headEnd type="none"/>
              <a:tailEnd type="none"/>
            </a:ln>
          </p:spPr>
        </p:sp>
        <p:sp>
          <p:nvSpPr>
            <p:cNvPr id="11" name="AutoShape 11"/>
            <p:cNvSpPr/>
            <p:nvPr/>
          </p:nvSpPr>
          <p:spPr>
            <a:xfrm>
              <a:off x="1142761" y="5659364"/>
              <a:ext cx="360000" cy="360000"/>
            </a:xfrm>
            <a:prstGeom prst="ellipse">
              <a:avLst/>
            </a:prstGeom>
            <a:ln w="6350">
              <a:solidFill>
                <a:srgbClr val="000000">
                  <a:alpha val="100000"/>
                </a:srgbClr>
              </a:solidFill>
              <a:prstDash val="solid"/>
              <a:headEnd type="none"/>
              <a:tailEnd type="none"/>
            </a:ln>
          </p:spPr>
        </p:sp>
        <p:sp>
          <p:nvSpPr>
            <p:cNvPr id="12" name="AutoShape 12"/>
            <p:cNvSpPr/>
            <p:nvPr/>
          </p:nvSpPr>
          <p:spPr>
            <a:xfrm>
              <a:off x="1244222" y="5763111"/>
              <a:ext cx="157076" cy="152505"/>
            </a:xfrm>
            <a:custGeom>
              <a:avLst/>
              <a:gdLst/>
              <a:ahLst/>
              <a:cxnLst/>
              <a:rect l="l" t="t" r="r" b="b"/>
              <a:pathLst>
                <a:path w="6739" h="6553">
                  <a:moveTo>
                    <a:pt x="5933" y="597"/>
                  </a:moveTo>
                  <a:cubicBezTo>
                    <a:pt x="5544" y="223"/>
                    <a:pt x="5044" y="0"/>
                    <a:pt x="4544" y="0"/>
                  </a:cubicBezTo>
                  <a:cubicBezTo>
                    <a:pt x="4127" y="0"/>
                    <a:pt x="3752" y="153"/>
                    <a:pt x="3488" y="417"/>
                  </a:cubicBezTo>
                  <a:lnTo>
                    <a:pt x="328" y="3591"/>
                  </a:lnTo>
                  <a:cubicBezTo>
                    <a:pt x="299" y="3611"/>
                    <a:pt x="195" y="3709"/>
                    <a:pt x="195" y="3808"/>
                  </a:cubicBezTo>
                  <a:lnTo>
                    <a:pt x="0" y="6239"/>
                  </a:lnTo>
                  <a:cubicBezTo>
                    <a:pt x="28" y="6553"/>
                    <a:pt x="292" y="6531"/>
                    <a:pt x="292" y="6531"/>
                  </a:cubicBezTo>
                  <a:cubicBezTo>
                    <a:pt x="292" y="6531"/>
                    <a:pt x="2741" y="6335"/>
                    <a:pt x="2743" y="6335"/>
                  </a:cubicBezTo>
                  <a:cubicBezTo>
                    <a:pt x="2751" y="6333"/>
                    <a:pt x="2851" y="6305"/>
                    <a:pt x="2904" y="6253"/>
                  </a:cubicBezTo>
                  <a:lnTo>
                    <a:pt x="6113" y="3029"/>
                  </a:lnTo>
                  <a:cubicBezTo>
                    <a:pt x="6739" y="2417"/>
                    <a:pt x="6655" y="1320"/>
                    <a:pt x="5933" y="597"/>
                  </a:cubicBezTo>
                  <a:close/>
                  <a:moveTo>
                    <a:pt x="3876" y="807"/>
                  </a:moveTo>
                  <a:cubicBezTo>
                    <a:pt x="4043" y="627"/>
                    <a:pt x="4279" y="543"/>
                    <a:pt x="4543" y="543"/>
                  </a:cubicBezTo>
                  <a:cubicBezTo>
                    <a:pt x="4808" y="543"/>
                    <a:pt x="5089" y="640"/>
                    <a:pt x="5332" y="809"/>
                  </a:cubicBezTo>
                  <a:lnTo>
                    <a:pt x="1967" y="4175"/>
                  </a:lnTo>
                  <a:cubicBezTo>
                    <a:pt x="1687" y="3948"/>
                    <a:pt x="1360" y="3777"/>
                    <a:pt x="1003" y="3680"/>
                  </a:cubicBezTo>
                  <a:lnTo>
                    <a:pt x="3876" y="807"/>
                  </a:lnTo>
                  <a:close/>
                  <a:moveTo>
                    <a:pt x="717" y="4169"/>
                  </a:moveTo>
                  <a:lnTo>
                    <a:pt x="819" y="4196"/>
                  </a:lnTo>
                  <a:cubicBezTo>
                    <a:pt x="1555" y="4391"/>
                    <a:pt x="2139" y="4975"/>
                    <a:pt x="2333" y="5711"/>
                  </a:cubicBezTo>
                  <a:lnTo>
                    <a:pt x="2360" y="5812"/>
                  </a:lnTo>
                  <a:lnTo>
                    <a:pt x="569" y="5961"/>
                  </a:lnTo>
                  <a:lnTo>
                    <a:pt x="717" y="4169"/>
                  </a:lnTo>
                  <a:close/>
                  <a:moveTo>
                    <a:pt x="5724" y="2653"/>
                  </a:moveTo>
                  <a:lnTo>
                    <a:pt x="2851" y="5528"/>
                  </a:lnTo>
                  <a:cubicBezTo>
                    <a:pt x="2753" y="5171"/>
                    <a:pt x="2583" y="4844"/>
                    <a:pt x="2356" y="4564"/>
                  </a:cubicBezTo>
                  <a:lnTo>
                    <a:pt x="5720" y="1200"/>
                  </a:lnTo>
                  <a:cubicBezTo>
                    <a:pt x="6057" y="1692"/>
                    <a:pt x="6075" y="2304"/>
                    <a:pt x="5724" y="2653"/>
                  </a:cubicBezTo>
                  <a:close/>
                </a:path>
              </a:pathLst>
            </a:custGeom>
            <a:solidFill>
              <a:srgbClr val="000000">
                <a:alpha val="100000"/>
              </a:srgbClr>
            </a:solidFill>
            <a:ln>
              <a:prstDash val="solid"/>
              <a:headEnd type="none"/>
              <a:tailEnd type="none"/>
            </a:ln>
          </p:spPr>
        </p:sp>
        <p:sp>
          <p:nvSpPr>
            <p:cNvPr id="13" name="AutoShape 13"/>
            <p:cNvSpPr/>
            <p:nvPr/>
          </p:nvSpPr>
          <p:spPr>
            <a:xfrm>
              <a:off x="1620378" y="5659364"/>
              <a:ext cx="360000" cy="360000"/>
            </a:xfrm>
            <a:prstGeom prst="ellipse">
              <a:avLst/>
            </a:prstGeom>
            <a:ln w="6350">
              <a:solidFill>
                <a:srgbClr val="000000">
                  <a:alpha val="100000"/>
                </a:srgbClr>
              </a:solidFill>
              <a:prstDash val="solid"/>
              <a:headEnd type="none"/>
              <a:tailEnd type="none"/>
            </a:ln>
          </p:spPr>
        </p:sp>
        <p:sp>
          <p:nvSpPr>
            <p:cNvPr id="14" name="AutoShape 14"/>
            <p:cNvSpPr/>
            <p:nvPr/>
          </p:nvSpPr>
          <p:spPr>
            <a:xfrm>
              <a:off x="1721839" y="5760953"/>
              <a:ext cx="157076" cy="156821"/>
            </a:xfrm>
            <a:custGeom>
              <a:avLst/>
              <a:gdLst/>
              <a:ahLst/>
              <a:cxnLst/>
              <a:rect l="l" t="t" r="r" b="b"/>
              <a:pathLst>
                <a:path w="6557" h="6556">
                  <a:moveTo>
                    <a:pt x="6445" y="6058"/>
                  </a:moveTo>
                  <a:lnTo>
                    <a:pt x="4828" y="4440"/>
                  </a:lnTo>
                  <a:cubicBezTo>
                    <a:pt x="5211" y="3970"/>
                    <a:pt x="5441" y="3373"/>
                    <a:pt x="5441" y="2721"/>
                  </a:cubicBezTo>
                  <a:cubicBezTo>
                    <a:pt x="5441" y="1221"/>
                    <a:pt x="4221" y="0"/>
                    <a:pt x="2720" y="0"/>
                  </a:cubicBezTo>
                  <a:cubicBezTo>
                    <a:pt x="1219" y="0"/>
                    <a:pt x="0" y="1221"/>
                    <a:pt x="0" y="2721"/>
                  </a:cubicBezTo>
                  <a:cubicBezTo>
                    <a:pt x="0" y="4221"/>
                    <a:pt x="1220" y="5441"/>
                    <a:pt x="2721" y="5441"/>
                  </a:cubicBezTo>
                  <a:cubicBezTo>
                    <a:pt x="3372" y="5441"/>
                    <a:pt x="3971" y="5210"/>
                    <a:pt x="4440" y="4828"/>
                  </a:cubicBezTo>
                  <a:lnTo>
                    <a:pt x="6057" y="6445"/>
                  </a:lnTo>
                  <a:cubicBezTo>
                    <a:pt x="6168" y="6556"/>
                    <a:pt x="6336" y="6556"/>
                    <a:pt x="6447" y="6445"/>
                  </a:cubicBezTo>
                  <a:cubicBezTo>
                    <a:pt x="6557" y="6334"/>
                    <a:pt x="6557" y="6169"/>
                    <a:pt x="6445" y="6058"/>
                  </a:cubicBezTo>
                  <a:close/>
                  <a:moveTo>
                    <a:pt x="543" y="2721"/>
                  </a:moveTo>
                  <a:cubicBezTo>
                    <a:pt x="543" y="1520"/>
                    <a:pt x="1519" y="544"/>
                    <a:pt x="2720" y="544"/>
                  </a:cubicBezTo>
                  <a:cubicBezTo>
                    <a:pt x="3921" y="544"/>
                    <a:pt x="4899" y="1521"/>
                    <a:pt x="4899" y="2722"/>
                  </a:cubicBezTo>
                  <a:cubicBezTo>
                    <a:pt x="4899" y="3924"/>
                    <a:pt x="3921" y="4901"/>
                    <a:pt x="2720" y="4901"/>
                  </a:cubicBezTo>
                  <a:cubicBezTo>
                    <a:pt x="1519" y="4901"/>
                    <a:pt x="543" y="3922"/>
                    <a:pt x="543" y="2721"/>
                  </a:cubicBezTo>
                  <a:close/>
                </a:path>
              </a:pathLst>
            </a:custGeom>
            <a:solidFill>
              <a:srgbClr val="000000">
                <a:alpha val="100000"/>
              </a:srgbClr>
            </a:solidFill>
            <a:ln>
              <a:prstDash val="solid"/>
              <a:headEnd type="none"/>
              <a:tailEnd type="none"/>
            </a:ln>
          </p:spPr>
        </p:sp>
        <p:sp>
          <p:nvSpPr>
            <p:cNvPr id="15" name="AutoShape 15"/>
            <p:cNvSpPr/>
            <p:nvPr/>
          </p:nvSpPr>
          <p:spPr>
            <a:xfrm>
              <a:off x="665145" y="6134100"/>
              <a:ext cx="477616" cy="0"/>
            </a:xfrm>
            <a:prstGeom prst="straightConnector1">
              <a:avLst/>
            </a:prstGeom>
            <a:ln w="6350">
              <a:solidFill>
                <a:srgbClr val="000000">
                  <a:alpha val="100000"/>
                </a:srgbClr>
              </a:solidFill>
              <a:prstDash val="solid"/>
              <a:headEnd type="none"/>
              <a:tailEnd type="triangle"/>
            </a:ln>
          </p:spPr>
        </p:sp>
        <p:sp>
          <p:nvSpPr>
            <p:cNvPr id="16" name="AutoShape 16"/>
            <p:cNvSpPr/>
            <p:nvPr/>
          </p:nvSpPr>
          <p:spPr>
            <a:xfrm>
              <a:off x="11374900" y="160656"/>
              <a:ext cx="144000" cy="144000"/>
            </a:xfrm>
            <a:prstGeom prst="ellipse">
              <a:avLst/>
            </a:prstGeom>
            <a:solidFill>
              <a:srgbClr val="000000">
                <a:alpha val="100000"/>
              </a:srgbClr>
            </a:solidFill>
            <a:ln>
              <a:prstDash val="solid"/>
              <a:headEnd type="none"/>
              <a:tailEnd type="none"/>
            </a:ln>
          </p:spPr>
        </p:sp>
        <p:sp>
          <p:nvSpPr>
            <p:cNvPr id="17" name="AutoShape 17"/>
            <p:cNvSpPr/>
            <p:nvPr/>
          </p:nvSpPr>
          <p:spPr>
            <a:xfrm>
              <a:off x="11374900" y="626134"/>
              <a:ext cx="144000" cy="144000"/>
            </a:xfrm>
            <a:prstGeom prst="ellipse">
              <a:avLst/>
            </a:prstGeom>
            <a:solidFill>
              <a:srgbClr val="000000">
                <a:alpha val="100000"/>
              </a:srgbClr>
            </a:solidFill>
            <a:ln>
              <a:prstDash val="solid"/>
              <a:headEnd type="none"/>
              <a:tailEnd type="none"/>
            </a:ln>
          </p:spPr>
        </p:sp>
        <p:sp>
          <p:nvSpPr>
            <p:cNvPr id="18" name="AutoShape 18"/>
            <p:cNvSpPr/>
            <p:nvPr/>
          </p:nvSpPr>
          <p:spPr>
            <a:xfrm>
              <a:off x="11374900" y="6087866"/>
              <a:ext cx="144000" cy="144000"/>
            </a:xfrm>
            <a:prstGeom prst="ellipse">
              <a:avLst/>
            </a:prstGeom>
            <a:ln w="6350">
              <a:solidFill>
                <a:srgbClr val="000000">
                  <a:alpha val="100000"/>
                </a:srgbClr>
              </a:solidFill>
              <a:prstDash val="solid"/>
              <a:headEnd type="none"/>
              <a:tailEnd type="none"/>
            </a:ln>
          </p:spPr>
        </p:sp>
        <p:sp>
          <p:nvSpPr>
            <p:cNvPr id="19" name="AutoShape 19"/>
            <p:cNvSpPr/>
            <p:nvPr/>
          </p:nvSpPr>
          <p:spPr>
            <a:xfrm>
              <a:off x="11374900" y="6553344"/>
              <a:ext cx="144000" cy="144000"/>
            </a:xfrm>
            <a:prstGeom prst="ellipse">
              <a:avLst/>
            </a:prstGeom>
            <a:ln w="6350">
              <a:solidFill>
                <a:srgbClr val="000000">
                  <a:alpha val="100000"/>
                </a:srgbClr>
              </a:solidFill>
              <a:prstDash val="solid"/>
              <a:headEnd type="none"/>
              <a:tailEnd type="none"/>
            </a:ln>
          </p:spPr>
        </p:sp>
        <p:sp>
          <p:nvSpPr>
            <p:cNvPr id="20" name="AutoShape 20"/>
            <p:cNvSpPr/>
            <p:nvPr/>
          </p:nvSpPr>
          <p:spPr>
            <a:xfrm rot="5400000">
              <a:off x="10776338" y="2048024"/>
              <a:ext cx="1339168" cy="134168"/>
            </a:xfrm>
            <a:prstGeom prst="roundRect">
              <a:avLst>
                <a:gd name="adj" fmla="val 50000"/>
              </a:avLst>
            </a:prstGeom>
            <a:solidFill>
              <a:srgbClr val="000000">
                <a:alpha val="100000"/>
              </a:srgbClr>
            </a:solidFill>
            <a:ln>
              <a:prstDash val="solid"/>
              <a:headEnd type="none"/>
              <a:tailEnd type="none"/>
            </a:ln>
          </p:spPr>
        </p:sp>
        <p:sp>
          <p:nvSpPr>
            <p:cNvPr id="21" name="AutoShape 21"/>
            <p:cNvSpPr/>
            <p:nvPr/>
          </p:nvSpPr>
          <p:spPr>
            <a:xfrm rot="5400000">
              <a:off x="10776338" y="4675808"/>
              <a:ext cx="1339168" cy="134168"/>
            </a:xfrm>
            <a:prstGeom prst="roundRect">
              <a:avLst>
                <a:gd name="adj" fmla="val 50000"/>
              </a:avLst>
            </a:prstGeom>
            <a:solidFill>
              <a:srgbClr val="000000">
                <a:alpha val="100000"/>
              </a:srgbClr>
            </a:solidFill>
            <a:ln>
              <a:prstDash val="solid"/>
              <a:headEnd type="none"/>
              <a:tailEnd type="none"/>
            </a:ln>
          </p:spPr>
        </p:sp>
        <p:sp>
          <p:nvSpPr>
            <p:cNvPr id="22" name="AutoShape 22"/>
            <p:cNvSpPr/>
            <p:nvPr/>
          </p:nvSpPr>
          <p:spPr>
            <a:xfrm rot="5400000">
              <a:off x="10771187" y="3429000"/>
              <a:ext cx="1495425" cy="0"/>
            </a:xfrm>
            <a:prstGeom prst="line">
              <a:avLst/>
            </a:prstGeom>
            <a:ln w="6350">
              <a:solidFill>
                <a:srgbClr val="000000">
                  <a:alpha val="50196"/>
                </a:srgbClr>
              </a:solidFill>
              <a:prstDash val="solid"/>
              <a:headEnd type="none"/>
              <a:tailEnd type="none"/>
            </a:ln>
          </p:spPr>
        </p:sp>
        <p:sp>
          <p:nvSpPr>
            <p:cNvPr id="23" name="AutoShape 23"/>
            <p:cNvSpPr/>
            <p:nvPr/>
          </p:nvSpPr>
          <p:spPr>
            <a:xfrm rot="5400000">
              <a:off x="10625231" y="3429000"/>
              <a:ext cx="1495425" cy="0"/>
            </a:xfrm>
            <a:prstGeom prst="line">
              <a:avLst/>
            </a:prstGeom>
            <a:ln w="6350">
              <a:solidFill>
                <a:srgbClr val="000000">
                  <a:alpha val="50196"/>
                </a:srgbClr>
              </a:solidFill>
              <a:prstDash val="solid"/>
              <a:headEnd type="none"/>
              <a:tailEnd type="none"/>
            </a:ln>
          </p:spPr>
        </p:sp>
        <p:sp>
          <p:nvSpPr>
            <p:cNvPr id="24" name="AutoShape 24"/>
            <p:cNvSpPr/>
            <p:nvPr/>
          </p:nvSpPr>
          <p:spPr>
            <a:xfrm rot="5400000">
              <a:off x="11391922" y="3101077"/>
              <a:ext cx="108000" cy="108000"/>
            </a:xfrm>
            <a:prstGeom prst="ellipse">
              <a:avLst/>
            </a:prstGeom>
            <a:solidFill>
              <a:srgbClr val="000000">
                <a:alpha val="40000"/>
              </a:srgbClr>
            </a:solidFill>
            <a:ln>
              <a:prstDash val="solid"/>
              <a:headEnd type="none"/>
              <a:tailEnd type="none"/>
            </a:ln>
          </p:spPr>
        </p:sp>
        <p:sp>
          <p:nvSpPr>
            <p:cNvPr id="25" name="AutoShape 25"/>
            <p:cNvSpPr/>
            <p:nvPr/>
          </p:nvSpPr>
          <p:spPr>
            <a:xfrm rot="5400000">
              <a:off x="11391922" y="3375000"/>
              <a:ext cx="108000" cy="108000"/>
            </a:xfrm>
            <a:prstGeom prst="ellipse">
              <a:avLst/>
            </a:prstGeom>
            <a:solidFill>
              <a:srgbClr val="000000">
                <a:alpha val="100000"/>
              </a:srgbClr>
            </a:solidFill>
            <a:ln>
              <a:prstDash val="solid"/>
              <a:headEnd type="none"/>
              <a:tailEnd type="none"/>
            </a:ln>
          </p:spPr>
        </p:sp>
        <p:sp>
          <p:nvSpPr>
            <p:cNvPr id="26" name="AutoShape 26"/>
            <p:cNvSpPr/>
            <p:nvPr/>
          </p:nvSpPr>
          <p:spPr>
            <a:xfrm rot="5400000">
              <a:off x="11391922" y="3648923"/>
              <a:ext cx="108000" cy="108000"/>
            </a:xfrm>
            <a:prstGeom prst="ellipse">
              <a:avLst/>
            </a:prstGeom>
            <a:solidFill>
              <a:srgbClr val="000000">
                <a:alpha val="40000"/>
              </a:srgbClr>
            </a:solidFill>
            <a:ln>
              <a:prstDash val="solid"/>
              <a:headEnd type="none"/>
              <a:tailEnd type="none"/>
            </a:ln>
          </p:spPr>
        </p:sp>
        <p:grpSp>
          <p:nvGrpSpPr>
            <p:cNvPr id="27" name="Group 27"/>
            <p:cNvGrpSpPr/>
            <p:nvPr/>
          </p:nvGrpSpPr>
          <p:grpSpPr>
            <a:xfrm>
              <a:off x="660399" y="1258572"/>
              <a:ext cx="10623551" cy="4304636"/>
              <a:chOff x="660399" y="1258572"/>
              <a:chExt cx="10623551" cy="4304636"/>
            </a:xfrm>
          </p:grpSpPr>
          <p:sp>
            <p:nvSpPr>
              <p:cNvPr id="28" name="TextBox 28"/>
              <p:cNvSpPr txBox="1"/>
              <p:nvPr/>
            </p:nvSpPr>
            <p:spPr>
              <a:xfrm>
                <a:off x="7273450" y="2017755"/>
                <a:ext cx="4010500" cy="740502"/>
              </a:xfrm>
              <a:prstGeom prst="rect">
                <a:avLst/>
              </a:prstGeom>
              <a:ln>
                <a:headEnd type="none"/>
                <a:tailEnd type="none"/>
              </a:ln>
            </p:spPr>
            <p:txBody>
              <a:bodyPr vert="horz" wrap="square" lIns="91440" tIns="45720" rIns="91440" bIns="45720" rtlCol="0" anchor="ctr" anchorCtr="0"/>
              <a:lstStyle/>
              <a:p>
                <a:pPr algn="l">
                  <a:defRPr/>
                </a:pPr>
                <a:r>
                  <a:rPr lang="en-US" sz="1800" b="1" i="0">
                    <a:ln/>
                    <a:solidFill>
                      <a:srgbClr val="000000">
                        <a:alpha val="100000"/>
                      </a:srgbClr>
                    </a:solidFill>
                    <a:latin typeface="微软雅黑"/>
                    <a:ea typeface="微软雅黑"/>
                    <a:cs typeface="微软雅黑"/>
                  </a:rPr>
                  <a:t>案例背景与事件经过</a:t>
                </a:r>
                <a:endParaRPr lang="en-US" sz="1100"/>
              </a:p>
            </p:txBody>
          </p:sp>
          <p:sp>
            <p:nvSpPr>
              <p:cNvPr id="29" name="TextBox 29"/>
              <p:cNvSpPr txBox="1"/>
              <p:nvPr/>
            </p:nvSpPr>
            <p:spPr>
              <a:xfrm>
                <a:off x="6307193" y="2017754"/>
                <a:ext cx="927098" cy="715859"/>
              </a:xfrm>
              <a:prstGeom prst="rect">
                <a:avLst/>
              </a:prstGeom>
              <a:ln>
                <a:headEnd type="none"/>
                <a:tailEnd type="none"/>
              </a:ln>
            </p:spPr>
            <p:txBody>
              <a:bodyPr vert="horz" wrap="square" lIns="91440" tIns="45720" rIns="91440" bIns="45720" rtlCol="0" anchor="ctr" anchorCtr="0"/>
              <a:lstStyle/>
              <a:p>
                <a:pPr algn="l">
                  <a:spcBef>
                    <a:spcPts val="0"/>
                  </a:spcBef>
                  <a:spcAft>
                    <a:spcPts val="0"/>
                  </a:spcAft>
                  <a:defRPr/>
                </a:pPr>
                <a:r>
                  <a:rPr lang="en-US" sz="2800" b="1" i="0">
                    <a:ln/>
                    <a:solidFill>
                      <a:srgbClr val="000000">
                        <a:alpha val="100000"/>
                      </a:srgbClr>
                    </a:solidFill>
                    <a:latin typeface="Arial"/>
                    <a:ea typeface="Arial"/>
                    <a:cs typeface="Arial"/>
                  </a:rPr>
                  <a:t>01  </a:t>
                </a:r>
                <a:r>
                  <a:rPr sz="2800" b="0" i="0">
                    <a:ln/>
                    <a:solidFill>
                      <a:srgbClr val="000000">
                        <a:alpha val="100000"/>
                      </a:srgbClr>
                    </a:solidFill>
                    <a:latin typeface="Arial"/>
                    <a:ea typeface="Arial"/>
                    <a:cs typeface="Arial"/>
                  </a:rPr>
                  <a:t>/</a:t>
                </a:r>
                <a:endParaRPr lang="en-US" sz="1100"/>
              </a:p>
            </p:txBody>
          </p:sp>
          <p:sp>
            <p:nvSpPr>
              <p:cNvPr id="30" name="AutoShape 30"/>
              <p:cNvSpPr/>
              <p:nvPr/>
            </p:nvSpPr>
            <p:spPr>
              <a:xfrm>
                <a:off x="660399" y="1258572"/>
                <a:ext cx="4151845" cy="4304636"/>
              </a:xfrm>
              <a:prstGeom prst="roundRect">
                <a:avLst>
                  <a:gd name="adj" fmla="val 7581"/>
                </a:avLst>
              </a:prstGeom>
              <a:blipFill rotWithShape="1">
                <a:blip r:embed="rId2">
                  <a:alphaModFix/>
                  <a:alphaModFix/>
                </a:blip>
                <a:stretch>
                  <a:fillRect/>
                </a:stretch>
              </a:blipFill>
              <a:ln>
                <a:prstDash val="solid"/>
                <a:headEnd type="none"/>
                <a:tailEnd type="none"/>
              </a:ln>
            </p:spPr>
          </p:sp>
        </p:grpSp>
        <p:grpSp>
          <p:nvGrpSpPr>
            <p:cNvPr id="31" name="Group 31"/>
            <p:cNvGrpSpPr/>
            <p:nvPr/>
          </p:nvGrpSpPr>
          <p:grpSpPr>
            <a:xfrm>
              <a:off x="6307193" y="2847218"/>
              <a:ext cx="4976757" cy="740502"/>
              <a:chOff x="6307193" y="2821506"/>
              <a:chExt cx="4976757" cy="740502"/>
            </a:xfrm>
          </p:grpSpPr>
          <p:sp>
            <p:nvSpPr>
              <p:cNvPr id="32" name="TextBox 32"/>
              <p:cNvSpPr txBox="1"/>
              <p:nvPr/>
            </p:nvSpPr>
            <p:spPr>
              <a:xfrm>
                <a:off x="7273450" y="2821506"/>
                <a:ext cx="4010500" cy="740502"/>
              </a:xfrm>
              <a:prstGeom prst="rect">
                <a:avLst/>
              </a:prstGeom>
              <a:ln>
                <a:headEnd type="none"/>
                <a:tailEnd type="none"/>
              </a:ln>
            </p:spPr>
            <p:txBody>
              <a:bodyPr vert="horz" wrap="square" lIns="91440" tIns="45720" rIns="91440" bIns="45720" rtlCol="0" anchor="ctr" anchorCtr="0"/>
              <a:lstStyle/>
              <a:p>
                <a:pPr algn="l">
                  <a:defRPr/>
                </a:pPr>
                <a:r>
                  <a:rPr lang="en-US" sz="1800" b="1" i="0">
                    <a:ln/>
                    <a:solidFill>
                      <a:srgbClr val="000000">
                        <a:alpha val="100000"/>
                      </a:srgbClr>
                    </a:solidFill>
                    <a:latin typeface="微软雅黑"/>
                    <a:ea typeface="微软雅黑"/>
                    <a:cs typeface="微软雅黑"/>
                  </a:rPr>
                  <a:t>事故影响与技术原因</a:t>
                </a:r>
                <a:endParaRPr lang="en-US" sz="1100"/>
              </a:p>
            </p:txBody>
          </p:sp>
          <p:sp>
            <p:nvSpPr>
              <p:cNvPr id="33" name="TextBox 33"/>
              <p:cNvSpPr txBox="1"/>
              <p:nvPr/>
            </p:nvSpPr>
            <p:spPr>
              <a:xfrm>
                <a:off x="6307193" y="2821507"/>
                <a:ext cx="927098" cy="715859"/>
              </a:xfrm>
              <a:prstGeom prst="rect">
                <a:avLst/>
              </a:prstGeom>
              <a:ln>
                <a:headEnd type="none"/>
                <a:tailEnd type="none"/>
              </a:ln>
            </p:spPr>
            <p:txBody>
              <a:bodyPr vert="horz" wrap="square" lIns="91440" tIns="45720" rIns="91440" bIns="45720" rtlCol="0" anchor="ctr" anchorCtr="0"/>
              <a:lstStyle/>
              <a:p>
                <a:pPr algn="l">
                  <a:spcBef>
                    <a:spcPts val="0"/>
                  </a:spcBef>
                  <a:spcAft>
                    <a:spcPts val="0"/>
                  </a:spcAft>
                  <a:defRPr/>
                </a:pPr>
                <a:r>
                  <a:rPr lang="en-US" sz="2800" b="1" i="0">
                    <a:ln/>
                    <a:solidFill>
                      <a:srgbClr val="000000">
                        <a:alpha val="100000"/>
                      </a:srgbClr>
                    </a:solidFill>
                    <a:latin typeface="Arial"/>
                    <a:ea typeface="Arial"/>
                    <a:cs typeface="Arial"/>
                  </a:rPr>
                  <a:t>02  </a:t>
                </a:r>
                <a:r>
                  <a:rPr sz="2800" b="0" i="0">
                    <a:ln/>
                    <a:solidFill>
                      <a:srgbClr val="000000">
                        <a:alpha val="100000"/>
                      </a:srgbClr>
                    </a:solidFill>
                    <a:latin typeface="Arial"/>
                    <a:ea typeface="Arial"/>
                    <a:cs typeface="Arial"/>
                  </a:rPr>
                  <a:t>/</a:t>
                </a:r>
                <a:endParaRPr lang="en-US" sz="1100"/>
              </a:p>
            </p:txBody>
          </p:sp>
        </p:grpSp>
        <p:grpSp>
          <p:nvGrpSpPr>
            <p:cNvPr id="34" name="Group 34"/>
            <p:cNvGrpSpPr/>
            <p:nvPr/>
          </p:nvGrpSpPr>
          <p:grpSpPr>
            <a:xfrm>
              <a:off x="6307193" y="3676681"/>
              <a:ext cx="4976757" cy="740502"/>
              <a:chOff x="6307193" y="3650804"/>
              <a:chExt cx="4976757" cy="740502"/>
            </a:xfrm>
          </p:grpSpPr>
          <p:sp>
            <p:nvSpPr>
              <p:cNvPr id="35" name="TextBox 35"/>
              <p:cNvSpPr txBox="1"/>
              <p:nvPr/>
            </p:nvSpPr>
            <p:spPr>
              <a:xfrm>
                <a:off x="7273450" y="3650804"/>
                <a:ext cx="4010500" cy="740502"/>
              </a:xfrm>
              <a:prstGeom prst="rect">
                <a:avLst/>
              </a:prstGeom>
              <a:ln>
                <a:headEnd type="none"/>
                <a:tailEnd type="none"/>
              </a:ln>
            </p:spPr>
            <p:txBody>
              <a:bodyPr vert="horz" wrap="square" lIns="91440" tIns="45720" rIns="91440" bIns="45720" rtlCol="0" anchor="ctr" anchorCtr="0"/>
              <a:lstStyle/>
              <a:p>
                <a:pPr algn="l">
                  <a:defRPr/>
                </a:pPr>
                <a:r>
                  <a:rPr lang="en-US" sz="1800" b="1" i="0">
                    <a:ln/>
                    <a:solidFill>
                      <a:srgbClr val="000000">
                        <a:alpha val="100000"/>
                      </a:srgbClr>
                    </a:solidFill>
                    <a:latin typeface="微软雅黑"/>
                    <a:ea typeface="微软雅黑"/>
                    <a:cs typeface="微软雅黑"/>
                  </a:rPr>
                  <a:t>工程伦理问题分析</a:t>
                </a:r>
                <a:endParaRPr lang="en-US" sz="1100"/>
              </a:p>
            </p:txBody>
          </p:sp>
          <p:sp>
            <p:nvSpPr>
              <p:cNvPr id="36" name="TextBox 36"/>
              <p:cNvSpPr txBox="1"/>
              <p:nvPr/>
            </p:nvSpPr>
            <p:spPr>
              <a:xfrm>
                <a:off x="6307193" y="3650804"/>
                <a:ext cx="927098" cy="715859"/>
              </a:xfrm>
              <a:prstGeom prst="rect">
                <a:avLst/>
              </a:prstGeom>
              <a:ln>
                <a:headEnd type="none"/>
                <a:tailEnd type="none"/>
              </a:ln>
            </p:spPr>
            <p:txBody>
              <a:bodyPr vert="horz" wrap="square" lIns="91440" tIns="45720" rIns="91440" bIns="45720" rtlCol="0" anchor="ctr" anchorCtr="0"/>
              <a:lstStyle/>
              <a:p>
                <a:pPr algn="l">
                  <a:spcBef>
                    <a:spcPts val="0"/>
                  </a:spcBef>
                  <a:spcAft>
                    <a:spcPts val="0"/>
                  </a:spcAft>
                  <a:defRPr/>
                </a:pPr>
                <a:r>
                  <a:rPr lang="en-US" sz="2800" b="1" i="0">
                    <a:ln/>
                    <a:solidFill>
                      <a:srgbClr val="000000">
                        <a:alpha val="100000"/>
                      </a:srgbClr>
                    </a:solidFill>
                    <a:latin typeface="Arial"/>
                    <a:ea typeface="Arial"/>
                    <a:cs typeface="Arial"/>
                  </a:rPr>
                  <a:t>03  </a:t>
                </a:r>
                <a:r>
                  <a:rPr sz="2800" b="0" i="0">
                    <a:ln/>
                    <a:solidFill>
                      <a:srgbClr val="000000">
                        <a:alpha val="100000"/>
                      </a:srgbClr>
                    </a:solidFill>
                    <a:latin typeface="Arial"/>
                    <a:ea typeface="Arial"/>
                    <a:cs typeface="Arial"/>
                  </a:rPr>
                  <a:t>/</a:t>
                </a:r>
                <a:endParaRPr lang="en-US" sz="1100"/>
              </a:p>
            </p:txBody>
          </p:sp>
        </p:grpSp>
        <p:grpSp>
          <p:nvGrpSpPr>
            <p:cNvPr id="37" name="Group 37"/>
            <p:cNvGrpSpPr/>
            <p:nvPr/>
          </p:nvGrpSpPr>
          <p:grpSpPr>
            <a:xfrm>
              <a:off x="6307193" y="4506144"/>
              <a:ext cx="4976757" cy="740502"/>
              <a:chOff x="6307193" y="4506144"/>
              <a:chExt cx="4976757" cy="740502"/>
            </a:xfrm>
          </p:grpSpPr>
          <p:sp>
            <p:nvSpPr>
              <p:cNvPr id="38" name="TextBox 38"/>
              <p:cNvSpPr txBox="1"/>
              <p:nvPr/>
            </p:nvSpPr>
            <p:spPr>
              <a:xfrm>
                <a:off x="7273450" y="4506144"/>
                <a:ext cx="4010500" cy="740502"/>
              </a:xfrm>
              <a:prstGeom prst="rect">
                <a:avLst/>
              </a:prstGeom>
              <a:ln>
                <a:headEnd type="none"/>
                <a:tailEnd type="none"/>
              </a:ln>
            </p:spPr>
            <p:txBody>
              <a:bodyPr vert="horz" wrap="square" lIns="91440" tIns="45720" rIns="91440" bIns="45720" rtlCol="0" anchor="ctr" anchorCtr="0"/>
              <a:lstStyle/>
              <a:p>
                <a:pPr algn="l">
                  <a:defRPr/>
                </a:pPr>
                <a:r>
                  <a:rPr lang="en-US" sz="1800" b="1" i="0">
                    <a:ln/>
                    <a:solidFill>
                      <a:srgbClr val="000000">
                        <a:alpha val="100000"/>
                      </a:srgbClr>
                    </a:solidFill>
                    <a:latin typeface="微软雅黑"/>
                    <a:ea typeface="微软雅黑"/>
                    <a:cs typeface="微软雅黑"/>
                  </a:rPr>
                  <a:t>启示与未来思考</a:t>
                </a:r>
                <a:endParaRPr lang="en-US" sz="1100"/>
              </a:p>
            </p:txBody>
          </p:sp>
          <p:sp>
            <p:nvSpPr>
              <p:cNvPr id="39" name="TextBox 39"/>
              <p:cNvSpPr txBox="1"/>
              <p:nvPr/>
            </p:nvSpPr>
            <p:spPr>
              <a:xfrm>
                <a:off x="6307193" y="4506144"/>
                <a:ext cx="927098" cy="715859"/>
              </a:xfrm>
              <a:prstGeom prst="rect">
                <a:avLst/>
              </a:prstGeom>
              <a:ln>
                <a:headEnd type="none"/>
                <a:tailEnd type="none"/>
              </a:ln>
            </p:spPr>
            <p:txBody>
              <a:bodyPr vert="horz" wrap="square" lIns="91440" tIns="45720" rIns="91440" bIns="45720" rtlCol="0" anchor="ctr" anchorCtr="0"/>
              <a:lstStyle/>
              <a:p>
                <a:pPr algn="l">
                  <a:spcBef>
                    <a:spcPts val="0"/>
                  </a:spcBef>
                  <a:spcAft>
                    <a:spcPts val="0"/>
                  </a:spcAft>
                  <a:defRPr/>
                </a:pPr>
                <a:r>
                  <a:rPr lang="en-US" sz="2800" b="1" i="0">
                    <a:ln/>
                    <a:solidFill>
                      <a:srgbClr val="000000">
                        <a:alpha val="100000"/>
                      </a:srgbClr>
                    </a:solidFill>
                    <a:latin typeface="Arial"/>
                    <a:ea typeface="Arial"/>
                    <a:cs typeface="Arial"/>
                  </a:rPr>
                  <a:t>04  </a:t>
                </a:r>
                <a:r>
                  <a:rPr sz="2800" b="0" i="0">
                    <a:ln/>
                    <a:solidFill>
                      <a:srgbClr val="000000">
                        <a:alpha val="100000"/>
                      </a:srgbClr>
                    </a:solidFill>
                    <a:latin typeface="Arial"/>
                    <a:ea typeface="Arial"/>
                    <a:cs typeface="Arial"/>
                  </a:rPr>
                  <a:t>/</a:t>
                </a:r>
                <a:endParaRPr lang="en-US" sz="1100"/>
              </a:p>
            </p:txBody>
          </p:sp>
        </p:grpSp>
        <p:sp>
          <p:nvSpPr>
            <p:cNvPr id="40" name="AutoShape 40"/>
            <p:cNvSpPr/>
            <p:nvPr/>
          </p:nvSpPr>
          <p:spPr>
            <a:xfrm>
              <a:off x="5778502" y="1130300"/>
              <a:ext cx="5740394" cy="462364"/>
            </a:xfrm>
            <a:prstGeom prst="rect">
              <a:avLst/>
            </a:prstGeom>
            <a:ln>
              <a:headEnd type="none"/>
              <a:tailEnd type="none"/>
            </a:ln>
          </p:spPr>
        </p:sp>
      </p:grpSp>
      <p:sp>
        <p:nvSpPr>
          <p:cNvPr id="41" name="TextBox 41"/>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目录</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756400" y="2571750"/>
            <a:ext cx="4762500" cy="857250"/>
          </a:xfrm>
          <a:prstGeom prst="rect">
            <a:avLst/>
          </a:prstGeom>
          <a:ln>
            <a:headEnd type="none"/>
            <a:tailEnd type="none"/>
          </a:ln>
        </p:spPr>
        <p:txBody>
          <a:bodyPr vert="horz" wrap="square" lIns="91440" tIns="45720" rIns="91440" bIns="45720" rtlCol="0" anchor="b" anchorCtr="0"/>
          <a:lstStyle/>
          <a:p>
            <a:pPr algn="r">
              <a:lnSpc>
                <a:spcPct val="100000"/>
              </a:lnSpc>
              <a:spcBef>
                <a:spcPts val="0"/>
              </a:spcBef>
              <a:defRPr/>
            </a:pPr>
            <a:r>
              <a:rPr lang="en-US" sz="3600" b="1" i="0">
                <a:ln/>
                <a:solidFill>
                  <a:srgbClr val="FFFFFF">
                    <a:alpha val="100000"/>
                  </a:srgbClr>
                </a:solidFill>
                <a:latin typeface="微软雅黑"/>
                <a:ea typeface="微软雅黑"/>
                <a:cs typeface="微软雅黑"/>
              </a:rPr>
              <a:t>案例背景与事件经过</a:t>
            </a:r>
            <a:endParaRPr lang="en-US" sz="1100"/>
          </a:p>
        </p:txBody>
      </p:sp>
      <p:sp>
        <p:nvSpPr>
          <p:cNvPr id="3" name="TextBox 3"/>
          <p:cNvSpPr txBox="1"/>
          <p:nvPr/>
        </p:nvSpPr>
        <p:spPr>
          <a:xfrm>
            <a:off x="6756400" y="3429000"/>
            <a:ext cx="4762500" cy="952500"/>
          </a:xfrm>
          <a:prstGeom prst="rect">
            <a:avLst/>
          </a:prstGeom>
          <a:ln>
            <a:headEnd type="none"/>
            <a:tailEnd type="none"/>
          </a:ln>
        </p:spPr>
        <p:txBody>
          <a:bodyPr vert="horz" wrap="square" lIns="91440" tIns="45720" rIns="91440" bIns="45720" rtlCol="0" anchor="t" anchorCtr="0"/>
          <a:lstStyle/>
          <a:p>
            <a:pPr algn="r">
              <a:lnSpc>
                <a:spcPct val="120000"/>
              </a:lnSpc>
              <a:spcBef>
                <a:spcPts val="1000"/>
              </a:spcBef>
              <a:defRPr/>
            </a:pPr>
            <a:r>
              <a:rPr lang="en-US" sz="1600" b="0" i="0">
                <a:ln/>
                <a:solidFill>
                  <a:srgbClr val="FFFFFF">
                    <a:alpha val="100000"/>
                  </a:srgbClr>
                </a:solidFill>
                <a:latin typeface="微软雅黑"/>
                <a:ea typeface="微软雅黑"/>
                <a:cs typeface="微软雅黑"/>
              </a:rPr>
              <a:t>聚焦YouTube、Facebook、今日头条和Twitter四大平台，回顾其推荐算法引发“信息茧房”与极端化的典型事件，揭示技术应用背后的社会隐忧。</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dc14d3db-efb9-4c14-9065-23c95d6e6904"/>
          <p:cNvGrpSpPr/>
          <p:nvPr/>
        </p:nvGrpSpPr>
        <p:grpSpPr>
          <a:xfrm>
            <a:off x="660399" y="1130300"/>
            <a:ext cx="10858500" cy="5003800"/>
            <a:chOff x="660399" y="1130300"/>
            <a:chExt cx="10858500" cy="5003800"/>
          </a:xfrm>
        </p:grpSpPr>
        <p:sp>
          <p:nvSpPr>
            <p:cNvPr id="3" name="TextBox 3"/>
            <p:cNvSpPr txBox="1"/>
            <p:nvPr/>
          </p:nvSpPr>
          <p:spPr>
            <a:xfrm>
              <a:off x="660399" y="1905000"/>
              <a:ext cx="3581401" cy="3454400"/>
            </a:xfrm>
            <a:prstGeom prst="rect">
              <a:avLst/>
            </a:prstGeom>
            <a:ln>
              <a:headEnd type="none"/>
              <a:tailEnd type="none"/>
            </a:ln>
          </p:spPr>
          <p:txBody>
            <a:bodyPr vert="horz" wrap="square" lIns="91440" tIns="45720" rIns="91440" bIns="45720" rtlCol="0" anchor="ctr" anchorCtr="0"/>
            <a:lstStyle/>
            <a:p>
              <a:pPr algn="l">
                <a:spcBef>
                  <a:spcPts val="0"/>
                </a:spcBef>
                <a:spcAft>
                  <a:spcPts val="0"/>
                </a:spcAft>
                <a:defRPr/>
              </a:pPr>
              <a:r>
                <a:rPr lang="en-US" sz="2400" b="1" i="0" strike="noStrike">
                  <a:ln/>
                  <a:solidFill>
                    <a:srgbClr val="000000">
                      <a:alpha val="100000"/>
                    </a:srgbClr>
                  </a:solidFill>
                  <a:latin typeface="微软雅黑"/>
                  <a:ea typeface="微软雅黑"/>
                  <a:cs typeface="微软雅黑"/>
                </a:rPr>
                <a:t>从主流新闻到阴谋论的危险滑坡</a:t>
              </a:r>
              <a:endParaRPr lang="en-US" sz="1100"/>
            </a:p>
          </p:txBody>
        </p:sp>
        <p:grpSp>
          <p:nvGrpSpPr>
            <p:cNvPr id="4" name="Group 4"/>
            <p:cNvGrpSpPr/>
            <p:nvPr/>
          </p:nvGrpSpPr>
          <p:grpSpPr>
            <a:xfrm>
              <a:off x="730674" y="5577840"/>
              <a:ext cx="556260" cy="556260"/>
              <a:chOff x="730674" y="5577840"/>
              <a:chExt cx="556260" cy="556260"/>
            </a:xfrm>
          </p:grpSpPr>
          <p:sp>
            <p:nvSpPr>
              <p:cNvPr id="5" name="AutoShape 5"/>
              <p:cNvSpPr/>
              <p:nvPr/>
            </p:nvSpPr>
            <p:spPr>
              <a:xfrm>
                <a:off x="730674" y="5577840"/>
                <a:ext cx="556260" cy="556260"/>
              </a:xfrm>
              <a:prstGeom prst="ellipse">
                <a:avLst/>
              </a:prstGeom>
              <a:solidFill>
                <a:srgbClr val="F28217">
                  <a:alpha val="100000"/>
                </a:srgbClr>
              </a:solidFill>
              <a:ln>
                <a:prstDash val="solid"/>
                <a:headEnd type="none"/>
                <a:tailEnd type="none"/>
              </a:ln>
            </p:spPr>
          </p:sp>
          <p:sp>
            <p:nvSpPr>
              <p:cNvPr id="6" name="AutoShape 6"/>
              <p:cNvSpPr/>
              <p:nvPr/>
            </p:nvSpPr>
            <p:spPr>
              <a:xfrm flipH="1">
                <a:off x="852801" y="5708585"/>
                <a:ext cx="312006" cy="266244"/>
              </a:xfrm>
              <a:custGeom>
                <a:avLst/>
                <a:gdLst/>
                <a:ahLst/>
                <a:cxnLst/>
                <a:rect l="l" t="t" r="r" b="b"/>
                <a:pathLst>
                  <a:path w="3509" h="2999">
                    <a:moveTo>
                      <a:pt x="1621" y="2999"/>
                    </a:moveTo>
                    <a:cubicBezTo>
                      <a:pt x="1601" y="2999"/>
                      <a:pt x="1582" y="2992"/>
                      <a:pt x="1567" y="2978"/>
                    </a:cubicBezTo>
                    <a:lnTo>
                      <a:pt x="26" y="1561"/>
                    </a:lnTo>
                    <a:cubicBezTo>
                      <a:pt x="9" y="1546"/>
                      <a:pt x="0" y="1525"/>
                      <a:pt x="0" y="1503"/>
                    </a:cubicBezTo>
                    <a:cubicBezTo>
                      <a:pt x="0" y="1480"/>
                      <a:pt x="9" y="1459"/>
                      <a:pt x="26" y="1444"/>
                    </a:cubicBezTo>
                    <a:lnTo>
                      <a:pt x="1567" y="27"/>
                    </a:lnTo>
                    <a:cubicBezTo>
                      <a:pt x="1590" y="5"/>
                      <a:pt x="1624" y="0"/>
                      <a:pt x="1653" y="13"/>
                    </a:cubicBezTo>
                    <a:cubicBezTo>
                      <a:pt x="1682" y="25"/>
                      <a:pt x="1701" y="54"/>
                      <a:pt x="1701" y="86"/>
                    </a:cubicBezTo>
                    <a:lnTo>
                      <a:pt x="1701" y="856"/>
                    </a:lnTo>
                    <a:cubicBezTo>
                      <a:pt x="2753" y="1058"/>
                      <a:pt x="3509" y="1829"/>
                      <a:pt x="3509" y="2710"/>
                    </a:cubicBezTo>
                    <a:cubicBezTo>
                      <a:pt x="3509" y="2753"/>
                      <a:pt x="3507" y="2797"/>
                      <a:pt x="3502" y="2849"/>
                    </a:cubicBezTo>
                    <a:cubicBezTo>
                      <a:pt x="3499" y="2890"/>
                      <a:pt x="3465" y="2921"/>
                      <a:pt x="3424" y="2922"/>
                    </a:cubicBezTo>
                    <a:cubicBezTo>
                      <a:pt x="3384" y="2923"/>
                      <a:pt x="3349" y="2892"/>
                      <a:pt x="3344" y="2852"/>
                    </a:cubicBezTo>
                    <a:cubicBezTo>
                      <a:pt x="3285" y="2372"/>
                      <a:pt x="2630" y="2093"/>
                      <a:pt x="2061" y="2114"/>
                    </a:cubicBezTo>
                    <a:cubicBezTo>
                      <a:pt x="1934" y="2119"/>
                      <a:pt x="1813" y="2133"/>
                      <a:pt x="1701" y="2156"/>
                    </a:cubicBezTo>
                    <a:lnTo>
                      <a:pt x="1701" y="2920"/>
                    </a:lnTo>
                    <a:cubicBezTo>
                      <a:pt x="1701" y="2951"/>
                      <a:pt x="1682" y="2980"/>
                      <a:pt x="1653" y="2993"/>
                    </a:cubicBezTo>
                    <a:cubicBezTo>
                      <a:pt x="1643" y="2997"/>
                      <a:pt x="1632" y="2999"/>
                      <a:pt x="1621" y="2999"/>
                    </a:cubicBezTo>
                    <a:close/>
                  </a:path>
                </a:pathLst>
              </a:custGeom>
              <a:solidFill>
                <a:srgbClr val="000000">
                  <a:alpha val="100000"/>
                </a:srgbClr>
              </a:solidFill>
              <a:ln>
                <a:prstDash val="solid"/>
                <a:headEnd type="none"/>
                <a:tailEnd type="none"/>
              </a:ln>
            </p:spPr>
          </p:sp>
        </p:grpSp>
        <p:grpSp>
          <p:nvGrpSpPr>
            <p:cNvPr id="7" name="Group 7"/>
            <p:cNvGrpSpPr/>
            <p:nvPr/>
          </p:nvGrpSpPr>
          <p:grpSpPr>
            <a:xfrm>
              <a:off x="4762498" y="1130300"/>
              <a:ext cx="6756401" cy="1373988"/>
              <a:chOff x="4762499" y="1837166"/>
              <a:chExt cx="6756401" cy="1373988"/>
            </a:xfrm>
          </p:grpSpPr>
          <p:sp>
            <p:nvSpPr>
              <p:cNvPr id="8" name="AutoShape 8"/>
              <p:cNvSpPr/>
              <p:nvPr/>
            </p:nvSpPr>
            <p:spPr>
              <a:xfrm rot="5400000">
                <a:off x="4751661" y="2196152"/>
                <a:ext cx="157141" cy="135466"/>
              </a:xfrm>
              <a:prstGeom prst="triangle">
                <a:avLst/>
              </a:prstGeom>
              <a:solidFill>
                <a:srgbClr val="FF6100">
                  <a:alpha val="100000"/>
                </a:srgbClr>
              </a:solidFill>
              <a:ln>
                <a:prstDash val="solid"/>
                <a:headEnd type="none"/>
                <a:tailEnd type="none"/>
              </a:ln>
            </p:spPr>
          </p:sp>
          <p:grpSp>
            <p:nvGrpSpPr>
              <p:cNvPr id="9" name="Group 9"/>
              <p:cNvGrpSpPr/>
              <p:nvPr/>
            </p:nvGrpSpPr>
            <p:grpSpPr>
              <a:xfrm>
                <a:off x="5028599" y="1837166"/>
                <a:ext cx="6490301" cy="1373988"/>
                <a:chOff x="5028599" y="1837166"/>
                <a:chExt cx="6490301" cy="1373988"/>
              </a:xfrm>
            </p:grpSpPr>
            <p:sp>
              <p:nvSpPr>
                <p:cNvPr id="10" name="TextBox 10"/>
                <p:cNvSpPr txBox="1"/>
                <p:nvPr/>
              </p:nvSpPr>
              <p:spPr>
                <a:xfrm>
                  <a:off x="5791200" y="1837166"/>
                  <a:ext cx="5727700" cy="509794"/>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000000">
                          <a:alpha val="100000"/>
                        </a:srgbClr>
                      </a:solidFill>
                      <a:latin typeface="微软雅黑"/>
                      <a:ea typeface="微软雅黑"/>
                      <a:cs typeface="微软雅黑"/>
                    </a:rPr>
                    <a:t>案例背景</a:t>
                  </a:r>
                  <a:endParaRPr lang="en-US" sz="1100"/>
                </a:p>
              </p:txBody>
            </p:sp>
            <p:sp>
              <p:nvSpPr>
                <p:cNvPr id="11" name="TextBox 11"/>
                <p:cNvSpPr txBox="1"/>
                <p:nvPr/>
              </p:nvSpPr>
              <p:spPr>
                <a:xfrm>
                  <a:off x="5791200" y="2346962"/>
                  <a:ext cx="5727700" cy="864192"/>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Arial"/>
                      <a:ea typeface="Arial"/>
                      <a:cs typeface="Arial"/>
                    </a:rPr>
                    <a:t>YouTube拥有全球海量用户，其推荐算法以最大化用户观看时长为核心目标之一。这种以“用户黏性”为先的设计，为后续内容导向埋下隐患。</a:t>
                  </a:r>
                  <a:endParaRPr lang="en-US" sz="1100"/>
                </a:p>
              </p:txBody>
            </p:sp>
            <p:sp>
              <p:nvSpPr>
                <p:cNvPr id="12" name="TextBox 12"/>
                <p:cNvSpPr txBox="1"/>
                <p:nvPr/>
              </p:nvSpPr>
              <p:spPr>
                <a:xfrm>
                  <a:off x="5028599" y="1837166"/>
                  <a:ext cx="762602" cy="853439"/>
                </a:xfrm>
                <a:prstGeom prst="rect">
                  <a:avLst/>
                </a:prstGeom>
                <a:ln>
                  <a:prstDash val="solid"/>
                  <a:headEnd type="none"/>
                  <a:tailEnd type="none"/>
                </a:ln>
              </p:spPr>
              <p:txBody>
                <a:bodyPr vert="horz" wrap="none" lIns="91440" tIns="45720" rIns="91440" bIns="45720" rtlCol="0" anchor="ctr" anchorCtr="0"/>
                <a:lstStyle/>
                <a:p>
                  <a:pPr algn="ctr">
                    <a:defRPr/>
                  </a:pPr>
                  <a:r>
                    <a:rPr lang="en-US" sz="3600" b="1" i="0">
                      <a:ln/>
                      <a:solidFill>
                        <a:srgbClr val="000000">
                          <a:alpha val="100000"/>
                        </a:srgbClr>
                      </a:solidFill>
                      <a:latin typeface="Arial"/>
                      <a:ea typeface="Arial"/>
                      <a:cs typeface="Arial"/>
                    </a:rPr>
                    <a:t>01</a:t>
                  </a:r>
                  <a:endParaRPr lang="en-US" sz="1100"/>
                </a:p>
              </p:txBody>
            </p:sp>
          </p:grpSp>
        </p:grpSp>
        <p:grpSp>
          <p:nvGrpSpPr>
            <p:cNvPr id="13" name="Group 13"/>
            <p:cNvGrpSpPr/>
            <p:nvPr/>
          </p:nvGrpSpPr>
          <p:grpSpPr>
            <a:xfrm>
              <a:off x="4762498" y="2945206"/>
              <a:ext cx="6756401" cy="1373988"/>
              <a:chOff x="4762499" y="1837166"/>
              <a:chExt cx="6756401" cy="1373988"/>
            </a:xfrm>
          </p:grpSpPr>
          <p:sp>
            <p:nvSpPr>
              <p:cNvPr id="14" name="AutoShape 14"/>
              <p:cNvSpPr/>
              <p:nvPr/>
            </p:nvSpPr>
            <p:spPr>
              <a:xfrm rot="5400000">
                <a:off x="4751661" y="2196152"/>
                <a:ext cx="157141" cy="135466"/>
              </a:xfrm>
              <a:prstGeom prst="triangle">
                <a:avLst/>
              </a:prstGeom>
              <a:solidFill>
                <a:srgbClr val="FF6100">
                  <a:alpha val="100000"/>
                </a:srgbClr>
              </a:solidFill>
              <a:ln>
                <a:prstDash val="solid"/>
                <a:headEnd type="none"/>
                <a:tailEnd type="none"/>
              </a:ln>
            </p:spPr>
          </p:sp>
          <p:grpSp>
            <p:nvGrpSpPr>
              <p:cNvPr id="15" name="Group 15"/>
              <p:cNvGrpSpPr/>
              <p:nvPr/>
            </p:nvGrpSpPr>
            <p:grpSpPr>
              <a:xfrm>
                <a:off x="5028599" y="1837166"/>
                <a:ext cx="6490301" cy="1373988"/>
                <a:chOff x="5028599" y="1837166"/>
                <a:chExt cx="6490301" cy="1373988"/>
              </a:xfrm>
            </p:grpSpPr>
            <p:sp>
              <p:nvSpPr>
                <p:cNvPr id="16" name="TextBox 16"/>
                <p:cNvSpPr txBox="1"/>
                <p:nvPr/>
              </p:nvSpPr>
              <p:spPr>
                <a:xfrm>
                  <a:off x="5791200" y="1837166"/>
                  <a:ext cx="5727700" cy="509794"/>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000000">
                          <a:alpha val="100000"/>
                        </a:srgbClr>
                      </a:solidFill>
                      <a:latin typeface="微软雅黑"/>
                      <a:ea typeface="微软雅黑"/>
                      <a:cs typeface="微软雅黑"/>
                    </a:rPr>
                    <a:t>事件经过</a:t>
                  </a:r>
                  <a:endParaRPr lang="en-US" sz="1100"/>
                </a:p>
              </p:txBody>
            </p:sp>
            <p:sp>
              <p:nvSpPr>
                <p:cNvPr id="17" name="TextBox 17"/>
                <p:cNvSpPr txBox="1"/>
                <p:nvPr/>
              </p:nvSpPr>
              <p:spPr>
                <a:xfrm>
                  <a:off x="5791200" y="2346962"/>
                  <a:ext cx="5727700" cy="864192"/>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用户最初观看主流政治新闻或温和评论。算法为追求更高点击率和更长停留时间，逐步推荐更具煽动性、边缘化的政治解读。最终，部分用户被导向充满阴谋论和极端主义观点的视频内容。</a:t>
                  </a:r>
                  <a:endParaRPr lang="en-US" sz="1100"/>
                </a:p>
              </p:txBody>
            </p:sp>
            <p:sp>
              <p:nvSpPr>
                <p:cNvPr id="18" name="TextBox 18"/>
                <p:cNvSpPr txBox="1"/>
                <p:nvPr/>
              </p:nvSpPr>
              <p:spPr>
                <a:xfrm>
                  <a:off x="5028599" y="1837166"/>
                  <a:ext cx="762602" cy="853439"/>
                </a:xfrm>
                <a:prstGeom prst="rect">
                  <a:avLst/>
                </a:prstGeom>
                <a:ln>
                  <a:prstDash val="solid"/>
                  <a:headEnd type="none"/>
                  <a:tailEnd type="none"/>
                </a:ln>
              </p:spPr>
              <p:txBody>
                <a:bodyPr vert="horz" wrap="none" lIns="91440" tIns="45720" rIns="91440" bIns="45720" rtlCol="0" anchor="ctr" anchorCtr="0"/>
                <a:lstStyle/>
                <a:p>
                  <a:pPr algn="ctr">
                    <a:defRPr/>
                  </a:pPr>
                  <a:r>
                    <a:rPr lang="en-US" sz="3600" b="1" i="0">
                      <a:ln/>
                      <a:solidFill>
                        <a:srgbClr val="000000">
                          <a:alpha val="100000"/>
                        </a:srgbClr>
                      </a:solidFill>
                      <a:latin typeface="Arial"/>
                      <a:ea typeface="Arial"/>
                      <a:cs typeface="Arial"/>
                    </a:rPr>
                    <a:t>02</a:t>
                  </a:r>
                  <a:endParaRPr lang="en-US" sz="1100"/>
                </a:p>
              </p:txBody>
            </p:sp>
          </p:grpSp>
        </p:grpSp>
        <p:grpSp>
          <p:nvGrpSpPr>
            <p:cNvPr id="19" name="Group 19"/>
            <p:cNvGrpSpPr/>
            <p:nvPr/>
          </p:nvGrpSpPr>
          <p:grpSpPr>
            <a:xfrm>
              <a:off x="4762498" y="4760112"/>
              <a:ext cx="6756401" cy="1373988"/>
              <a:chOff x="4762499" y="1837166"/>
              <a:chExt cx="6756401" cy="1373988"/>
            </a:xfrm>
          </p:grpSpPr>
          <p:sp>
            <p:nvSpPr>
              <p:cNvPr id="20" name="AutoShape 20"/>
              <p:cNvSpPr/>
              <p:nvPr/>
            </p:nvSpPr>
            <p:spPr>
              <a:xfrm rot="5400000">
                <a:off x="4751661" y="2196152"/>
                <a:ext cx="157141" cy="135466"/>
              </a:xfrm>
              <a:prstGeom prst="triangle">
                <a:avLst/>
              </a:prstGeom>
              <a:solidFill>
                <a:srgbClr val="FF6100">
                  <a:alpha val="100000"/>
                </a:srgbClr>
              </a:solidFill>
              <a:ln>
                <a:prstDash val="solid"/>
                <a:headEnd type="none"/>
                <a:tailEnd type="none"/>
              </a:ln>
            </p:spPr>
          </p:sp>
          <p:grpSp>
            <p:nvGrpSpPr>
              <p:cNvPr id="21" name="Group 21"/>
              <p:cNvGrpSpPr/>
              <p:nvPr/>
            </p:nvGrpSpPr>
            <p:grpSpPr>
              <a:xfrm>
                <a:off x="5028599" y="1837166"/>
                <a:ext cx="6490301" cy="1373988"/>
                <a:chOff x="5028599" y="1837166"/>
                <a:chExt cx="6490301" cy="1373988"/>
              </a:xfrm>
            </p:grpSpPr>
            <p:sp>
              <p:nvSpPr>
                <p:cNvPr id="22" name="TextBox 22"/>
                <p:cNvSpPr txBox="1"/>
                <p:nvPr/>
              </p:nvSpPr>
              <p:spPr>
                <a:xfrm>
                  <a:off x="5791200" y="1837166"/>
                  <a:ext cx="5727700" cy="509794"/>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000000">
                          <a:alpha val="100000"/>
                        </a:srgbClr>
                      </a:solidFill>
                      <a:latin typeface="微软雅黑"/>
                      <a:ea typeface="微软雅黑"/>
                      <a:cs typeface="微软雅黑"/>
                    </a:rPr>
                    <a:t>核心冲突</a:t>
                  </a:r>
                  <a:endParaRPr lang="en-US" sz="1100"/>
                </a:p>
              </p:txBody>
            </p:sp>
            <p:sp>
              <p:nvSpPr>
                <p:cNvPr id="23" name="TextBox 23"/>
                <p:cNvSpPr txBox="1"/>
                <p:nvPr/>
              </p:nvSpPr>
              <p:spPr>
                <a:xfrm>
                  <a:off x="5791200" y="2346962"/>
                  <a:ext cx="5727700" cy="864192"/>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平台的工程目标（提升用户参与度）与社会责任（防止思想极化、维护社会稳定）之间产生了根本性的伦理冲突。</a:t>
                  </a:r>
                  <a:endParaRPr lang="en-US" sz="1100"/>
                </a:p>
              </p:txBody>
            </p:sp>
            <p:sp>
              <p:nvSpPr>
                <p:cNvPr id="24" name="TextBox 24"/>
                <p:cNvSpPr txBox="1"/>
                <p:nvPr/>
              </p:nvSpPr>
              <p:spPr>
                <a:xfrm>
                  <a:off x="5028599" y="1837166"/>
                  <a:ext cx="762602" cy="853439"/>
                </a:xfrm>
                <a:prstGeom prst="rect">
                  <a:avLst/>
                </a:prstGeom>
                <a:ln>
                  <a:prstDash val="solid"/>
                  <a:headEnd type="none"/>
                  <a:tailEnd type="none"/>
                </a:ln>
              </p:spPr>
              <p:txBody>
                <a:bodyPr vert="horz" wrap="none" lIns="91440" tIns="45720" rIns="91440" bIns="45720" rtlCol="0" anchor="ctr" anchorCtr="0"/>
                <a:lstStyle/>
                <a:p>
                  <a:pPr algn="ctr">
                    <a:defRPr/>
                  </a:pPr>
                  <a:r>
                    <a:rPr lang="en-US" sz="3600" b="1" i="0">
                      <a:ln/>
                      <a:solidFill>
                        <a:srgbClr val="000000">
                          <a:alpha val="100000"/>
                        </a:srgbClr>
                      </a:solidFill>
                      <a:latin typeface="Arial"/>
                      <a:ea typeface="Arial"/>
                      <a:cs typeface="Arial"/>
                    </a:rPr>
                    <a:t>03</a:t>
                  </a:r>
                  <a:endParaRPr lang="en-US" sz="1100"/>
                </a:p>
              </p:txBody>
            </p:sp>
          </p:grpSp>
        </p:grpSp>
      </p:grpSp>
      <p:sp>
        <p:nvSpPr>
          <p:cNvPr id="25" name="TextBox 25"/>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YouTube激进内容漏斗</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414cb96b-0075-4935-adc7-8e243ef6eef5"/>
          <p:cNvGrpSpPr/>
          <p:nvPr/>
        </p:nvGrpSpPr>
        <p:grpSpPr>
          <a:xfrm>
            <a:off x="660399" y="1130300"/>
            <a:ext cx="10858501" cy="5003800"/>
            <a:chOff x="660399" y="1130300"/>
            <a:chExt cx="10858501" cy="5003800"/>
          </a:xfrm>
        </p:grpSpPr>
        <p:sp>
          <p:nvSpPr>
            <p:cNvPr id="3" name="TextBox 3"/>
            <p:cNvSpPr txBox="1"/>
            <p:nvPr/>
          </p:nvSpPr>
          <p:spPr>
            <a:xfrm>
              <a:off x="660399" y="1130300"/>
              <a:ext cx="10858500" cy="533400"/>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微软雅黑"/>
                  <a:ea typeface="微软雅黑"/>
                  <a:cs typeface="微软雅黑"/>
                </a:rPr>
                <a:t>算法放大对立情绪以获取更高互动</a:t>
              </a:r>
              <a:endParaRPr lang="en-US" sz="1100"/>
            </a:p>
          </p:txBody>
        </p:sp>
        <p:grpSp>
          <p:nvGrpSpPr>
            <p:cNvPr id="4" name="Group 4"/>
            <p:cNvGrpSpPr/>
            <p:nvPr/>
          </p:nvGrpSpPr>
          <p:grpSpPr>
            <a:xfrm>
              <a:off x="660400" y="1807477"/>
              <a:ext cx="10858500" cy="1342123"/>
              <a:chOff x="660400" y="1997977"/>
              <a:chExt cx="10858500" cy="1342123"/>
            </a:xfrm>
          </p:grpSpPr>
          <p:sp>
            <p:nvSpPr>
              <p:cNvPr id="5" name="TextBox 5"/>
              <p:cNvSpPr txBox="1"/>
              <p:nvPr/>
            </p:nvSpPr>
            <p:spPr>
              <a:xfrm>
                <a:off x="660400" y="1997977"/>
                <a:ext cx="705299" cy="705299"/>
              </a:xfrm>
              <a:custGeom>
                <a:avLst/>
                <a:gdLst/>
                <a:ahLst/>
                <a:cxnLst/>
                <a:rect l="l" t="t" r="r" b="b"/>
                <a:pathLst>
                  <a:path w="636309" h="636309">
                    <a:moveTo>
                      <a:pt x="0" y="318154"/>
                    </a:moveTo>
                    <a:cubicBezTo>
                      <a:pt x="0" y="259584"/>
                      <a:pt x="23740" y="206558"/>
                      <a:pt x="62124" y="168175"/>
                    </a:cubicBezTo>
                    <a:lnTo>
                      <a:pt x="125467" y="125467"/>
                    </a:lnTo>
                    <a:lnTo>
                      <a:pt x="168175" y="62124"/>
                    </a:lnTo>
                    <a:cubicBezTo>
                      <a:pt x="206558" y="23740"/>
                      <a:pt x="259584" y="0"/>
                      <a:pt x="318154" y="0"/>
                    </a:cubicBezTo>
                    <a:cubicBezTo>
                      <a:pt x="376725" y="0"/>
                      <a:pt x="429750" y="23741"/>
                      <a:pt x="468133" y="62124"/>
                    </a:cubicBezTo>
                    <a:lnTo>
                      <a:pt x="510840" y="125466"/>
                    </a:lnTo>
                    <a:lnTo>
                      <a:pt x="574185" y="168175"/>
                    </a:lnTo>
                    <a:cubicBezTo>
                      <a:pt x="612569" y="206558"/>
                      <a:pt x="636309" y="259584"/>
                      <a:pt x="636309" y="318154"/>
                    </a:cubicBezTo>
                    <a:cubicBezTo>
                      <a:pt x="636309" y="376725"/>
                      <a:pt x="612569" y="429750"/>
                      <a:pt x="574185" y="468133"/>
                    </a:cubicBezTo>
                    <a:lnTo>
                      <a:pt x="510841" y="510841"/>
                    </a:lnTo>
                    <a:lnTo>
                      <a:pt x="468133" y="574185"/>
                    </a:lnTo>
                    <a:cubicBezTo>
                      <a:pt x="429750" y="612569"/>
                      <a:pt x="376725" y="636309"/>
                      <a:pt x="318154" y="636309"/>
                    </a:cubicBezTo>
                    <a:cubicBezTo>
                      <a:pt x="259584" y="636309"/>
                      <a:pt x="206558" y="612569"/>
                      <a:pt x="168175" y="574185"/>
                    </a:cubicBezTo>
                    <a:lnTo>
                      <a:pt x="125466" y="510840"/>
                    </a:lnTo>
                    <a:lnTo>
                      <a:pt x="62124" y="468133"/>
                    </a:lnTo>
                    <a:cubicBezTo>
                      <a:pt x="23740" y="429750"/>
                      <a:pt x="0" y="376725"/>
                      <a:pt x="0" y="318154"/>
                    </a:cubicBezTo>
                    <a:close/>
                  </a:path>
                </a:pathLst>
              </a:custGeom>
              <a:ln w="19050">
                <a:solidFill>
                  <a:srgbClr val="FF6100">
                    <a:alpha val="100000"/>
                  </a:srgbClr>
                </a:solidFill>
                <a:prstDash val="solid"/>
                <a:headEnd type="none"/>
                <a:tailEnd type="none"/>
              </a:ln>
            </p:spPr>
            <p:txBody>
              <a:bodyPr vert="horz" wrap="none" lIns="91440" tIns="45720" rIns="91440" bIns="45720" rtlCol="0" anchor="ctr" anchorCtr="0"/>
              <a:lstStyle/>
              <a:p>
                <a:pPr algn="ctr">
                  <a:defRPr/>
                </a:pPr>
                <a:r>
                  <a:rPr lang="en-US" sz="2400" b="1" i="0">
                    <a:ln/>
                    <a:solidFill>
                      <a:srgbClr val="000000">
                        <a:alpha val="100000"/>
                      </a:srgbClr>
                    </a:solidFill>
                    <a:latin typeface="Arial"/>
                    <a:ea typeface="Arial"/>
                    <a:cs typeface="Arial"/>
                  </a:rPr>
                  <a:t>1</a:t>
                </a:r>
                <a:endParaRPr lang="en-US" sz="1100"/>
              </a:p>
            </p:txBody>
          </p:sp>
          <p:sp>
            <p:nvSpPr>
              <p:cNvPr id="6" name="TextBox 6"/>
              <p:cNvSpPr txBox="1"/>
              <p:nvPr/>
            </p:nvSpPr>
            <p:spPr>
              <a:xfrm>
                <a:off x="1395956" y="2044700"/>
                <a:ext cx="10122944" cy="565458"/>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案例背景</a:t>
                </a:r>
                <a:endParaRPr lang="en-US" sz="1100"/>
              </a:p>
            </p:txBody>
          </p:sp>
          <p:sp>
            <p:nvSpPr>
              <p:cNvPr id="7" name="TextBox 7"/>
              <p:cNvSpPr txBox="1"/>
              <p:nvPr/>
            </p:nvSpPr>
            <p:spPr>
              <a:xfrm>
                <a:off x="1395955" y="2635250"/>
                <a:ext cx="10122944" cy="704850"/>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Arial"/>
                    <a:ea typeface="Arial"/>
                    <a:cs typeface="Arial"/>
                  </a:rPr>
                  <a:t>Facebook作为全球最大的社交网络，其动态推送算法旨在筛选用户最可能互动的内容。内部研究表明，“愤怒”是驱动用户点赞、评论和分享的最强劲情绪之一。</a:t>
                </a:r>
                <a:endParaRPr lang="en-US" sz="1100"/>
              </a:p>
            </p:txBody>
          </p:sp>
        </p:grpSp>
        <p:grpSp>
          <p:nvGrpSpPr>
            <p:cNvPr id="8" name="Group 8"/>
            <p:cNvGrpSpPr/>
            <p:nvPr/>
          </p:nvGrpSpPr>
          <p:grpSpPr>
            <a:xfrm>
              <a:off x="660400" y="3299727"/>
              <a:ext cx="10858500" cy="1342123"/>
              <a:chOff x="660400" y="1997977"/>
              <a:chExt cx="10858500" cy="1342123"/>
            </a:xfrm>
          </p:grpSpPr>
          <p:sp>
            <p:nvSpPr>
              <p:cNvPr id="9" name="TextBox 9"/>
              <p:cNvSpPr txBox="1"/>
              <p:nvPr/>
            </p:nvSpPr>
            <p:spPr>
              <a:xfrm>
                <a:off x="660400" y="1997977"/>
                <a:ext cx="705299" cy="705299"/>
              </a:xfrm>
              <a:custGeom>
                <a:avLst/>
                <a:gdLst/>
                <a:ahLst/>
                <a:cxnLst/>
                <a:rect l="l" t="t" r="r" b="b"/>
                <a:pathLst>
                  <a:path w="636309" h="636309">
                    <a:moveTo>
                      <a:pt x="0" y="318154"/>
                    </a:moveTo>
                    <a:cubicBezTo>
                      <a:pt x="0" y="259584"/>
                      <a:pt x="23740" y="206558"/>
                      <a:pt x="62124" y="168175"/>
                    </a:cubicBezTo>
                    <a:lnTo>
                      <a:pt x="125467" y="125467"/>
                    </a:lnTo>
                    <a:lnTo>
                      <a:pt x="168175" y="62124"/>
                    </a:lnTo>
                    <a:cubicBezTo>
                      <a:pt x="206558" y="23740"/>
                      <a:pt x="259584" y="0"/>
                      <a:pt x="318154" y="0"/>
                    </a:cubicBezTo>
                    <a:cubicBezTo>
                      <a:pt x="376725" y="0"/>
                      <a:pt x="429750" y="23741"/>
                      <a:pt x="468133" y="62124"/>
                    </a:cubicBezTo>
                    <a:lnTo>
                      <a:pt x="510840" y="125466"/>
                    </a:lnTo>
                    <a:lnTo>
                      <a:pt x="574185" y="168175"/>
                    </a:lnTo>
                    <a:cubicBezTo>
                      <a:pt x="612569" y="206558"/>
                      <a:pt x="636309" y="259584"/>
                      <a:pt x="636309" y="318154"/>
                    </a:cubicBezTo>
                    <a:cubicBezTo>
                      <a:pt x="636309" y="376725"/>
                      <a:pt x="612569" y="429750"/>
                      <a:pt x="574185" y="468133"/>
                    </a:cubicBezTo>
                    <a:lnTo>
                      <a:pt x="510841" y="510841"/>
                    </a:lnTo>
                    <a:lnTo>
                      <a:pt x="468133" y="574185"/>
                    </a:lnTo>
                    <a:cubicBezTo>
                      <a:pt x="429750" y="612569"/>
                      <a:pt x="376725" y="636309"/>
                      <a:pt x="318154" y="636309"/>
                    </a:cubicBezTo>
                    <a:cubicBezTo>
                      <a:pt x="259584" y="636309"/>
                      <a:pt x="206558" y="612569"/>
                      <a:pt x="168175" y="574185"/>
                    </a:cubicBezTo>
                    <a:lnTo>
                      <a:pt x="125466" y="510840"/>
                    </a:lnTo>
                    <a:lnTo>
                      <a:pt x="62124" y="468133"/>
                    </a:lnTo>
                    <a:cubicBezTo>
                      <a:pt x="23740" y="429750"/>
                      <a:pt x="0" y="376725"/>
                      <a:pt x="0" y="318154"/>
                    </a:cubicBezTo>
                    <a:close/>
                  </a:path>
                </a:pathLst>
              </a:custGeom>
              <a:ln w="19050">
                <a:solidFill>
                  <a:srgbClr val="FF6100">
                    <a:alpha val="100000"/>
                  </a:srgbClr>
                </a:solidFill>
                <a:prstDash val="solid"/>
                <a:headEnd type="none"/>
                <a:tailEnd type="none"/>
              </a:ln>
            </p:spPr>
            <p:txBody>
              <a:bodyPr vert="horz" wrap="none" lIns="91440" tIns="45720" rIns="91440" bIns="45720" rtlCol="0" anchor="ctr" anchorCtr="0"/>
              <a:lstStyle/>
              <a:p>
                <a:pPr algn="ctr">
                  <a:defRPr/>
                </a:pPr>
                <a:r>
                  <a:rPr lang="en-US" sz="2400" b="1" i="0">
                    <a:ln/>
                    <a:solidFill>
                      <a:srgbClr val="000000">
                        <a:alpha val="100000"/>
                      </a:srgbClr>
                    </a:solidFill>
                    <a:latin typeface="Arial"/>
                    <a:ea typeface="Arial"/>
                    <a:cs typeface="Arial"/>
                  </a:rPr>
                  <a:t>2</a:t>
                </a:r>
                <a:endParaRPr lang="en-US" sz="1100"/>
              </a:p>
            </p:txBody>
          </p:sp>
          <p:sp>
            <p:nvSpPr>
              <p:cNvPr id="10" name="TextBox 10"/>
              <p:cNvSpPr txBox="1"/>
              <p:nvPr/>
            </p:nvSpPr>
            <p:spPr>
              <a:xfrm>
                <a:off x="1395956" y="2044700"/>
                <a:ext cx="10122944" cy="565458"/>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事件经过</a:t>
                </a:r>
                <a:endParaRPr lang="en-US" sz="1100"/>
              </a:p>
            </p:txBody>
          </p:sp>
          <p:sp>
            <p:nvSpPr>
              <p:cNvPr id="11" name="TextBox 11"/>
              <p:cNvSpPr txBox="1"/>
              <p:nvPr/>
            </p:nvSpPr>
            <p:spPr>
              <a:xfrm>
                <a:off x="1395955" y="2635250"/>
                <a:ext cx="10122944" cy="704850"/>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平台算法优先推送那些能引发用户愤怒和对立情绪的内容，因为这类内容的互动率远超平和、理性的信息。在2020年美国大选等关键时期，此机制被指放大了虚假信息、仇恨言论和极端观点。</a:t>
                </a:r>
                <a:endParaRPr lang="en-US" sz="1100"/>
              </a:p>
            </p:txBody>
          </p:sp>
        </p:grpSp>
        <p:grpSp>
          <p:nvGrpSpPr>
            <p:cNvPr id="12" name="Group 12"/>
            <p:cNvGrpSpPr/>
            <p:nvPr/>
          </p:nvGrpSpPr>
          <p:grpSpPr>
            <a:xfrm>
              <a:off x="660400" y="4791977"/>
              <a:ext cx="10858500" cy="1342123"/>
              <a:chOff x="660400" y="1997977"/>
              <a:chExt cx="10858500" cy="1342123"/>
            </a:xfrm>
          </p:grpSpPr>
          <p:sp>
            <p:nvSpPr>
              <p:cNvPr id="13" name="TextBox 13"/>
              <p:cNvSpPr txBox="1"/>
              <p:nvPr/>
            </p:nvSpPr>
            <p:spPr>
              <a:xfrm>
                <a:off x="660400" y="1997977"/>
                <a:ext cx="705299" cy="705299"/>
              </a:xfrm>
              <a:custGeom>
                <a:avLst/>
                <a:gdLst/>
                <a:ahLst/>
                <a:cxnLst/>
                <a:rect l="l" t="t" r="r" b="b"/>
                <a:pathLst>
                  <a:path w="636309" h="636309">
                    <a:moveTo>
                      <a:pt x="0" y="318154"/>
                    </a:moveTo>
                    <a:cubicBezTo>
                      <a:pt x="0" y="259584"/>
                      <a:pt x="23740" y="206558"/>
                      <a:pt x="62124" y="168175"/>
                    </a:cubicBezTo>
                    <a:lnTo>
                      <a:pt x="125467" y="125467"/>
                    </a:lnTo>
                    <a:lnTo>
                      <a:pt x="168175" y="62124"/>
                    </a:lnTo>
                    <a:cubicBezTo>
                      <a:pt x="206558" y="23740"/>
                      <a:pt x="259584" y="0"/>
                      <a:pt x="318154" y="0"/>
                    </a:cubicBezTo>
                    <a:cubicBezTo>
                      <a:pt x="376725" y="0"/>
                      <a:pt x="429750" y="23741"/>
                      <a:pt x="468133" y="62124"/>
                    </a:cubicBezTo>
                    <a:lnTo>
                      <a:pt x="510840" y="125466"/>
                    </a:lnTo>
                    <a:lnTo>
                      <a:pt x="574185" y="168175"/>
                    </a:lnTo>
                    <a:cubicBezTo>
                      <a:pt x="612569" y="206558"/>
                      <a:pt x="636309" y="259584"/>
                      <a:pt x="636309" y="318154"/>
                    </a:cubicBezTo>
                    <a:cubicBezTo>
                      <a:pt x="636309" y="376725"/>
                      <a:pt x="612569" y="429750"/>
                      <a:pt x="574185" y="468133"/>
                    </a:cubicBezTo>
                    <a:lnTo>
                      <a:pt x="510841" y="510841"/>
                    </a:lnTo>
                    <a:lnTo>
                      <a:pt x="468133" y="574185"/>
                    </a:lnTo>
                    <a:cubicBezTo>
                      <a:pt x="429750" y="612569"/>
                      <a:pt x="376725" y="636309"/>
                      <a:pt x="318154" y="636309"/>
                    </a:cubicBezTo>
                    <a:cubicBezTo>
                      <a:pt x="259584" y="636309"/>
                      <a:pt x="206558" y="612569"/>
                      <a:pt x="168175" y="574185"/>
                    </a:cubicBezTo>
                    <a:lnTo>
                      <a:pt x="125466" y="510840"/>
                    </a:lnTo>
                    <a:lnTo>
                      <a:pt x="62124" y="468133"/>
                    </a:lnTo>
                    <a:cubicBezTo>
                      <a:pt x="23740" y="429750"/>
                      <a:pt x="0" y="376725"/>
                      <a:pt x="0" y="318154"/>
                    </a:cubicBezTo>
                    <a:close/>
                  </a:path>
                </a:pathLst>
              </a:custGeom>
              <a:ln w="19050">
                <a:solidFill>
                  <a:srgbClr val="FF6100">
                    <a:alpha val="100000"/>
                  </a:srgbClr>
                </a:solidFill>
                <a:prstDash val="solid"/>
                <a:headEnd type="none"/>
                <a:tailEnd type="none"/>
              </a:ln>
            </p:spPr>
            <p:txBody>
              <a:bodyPr vert="horz" wrap="none" lIns="91440" tIns="45720" rIns="91440" bIns="45720" rtlCol="0" anchor="ctr" anchorCtr="0"/>
              <a:lstStyle/>
              <a:p>
                <a:pPr algn="ctr">
                  <a:defRPr/>
                </a:pPr>
                <a:r>
                  <a:rPr lang="en-US" sz="2400" b="1" i="0">
                    <a:ln/>
                    <a:solidFill>
                      <a:srgbClr val="000000">
                        <a:alpha val="100000"/>
                      </a:srgbClr>
                    </a:solidFill>
                    <a:latin typeface="Arial"/>
                    <a:ea typeface="Arial"/>
                    <a:cs typeface="Arial"/>
                  </a:rPr>
                  <a:t>3</a:t>
                </a:r>
                <a:endParaRPr lang="en-US" sz="1100"/>
              </a:p>
            </p:txBody>
          </p:sp>
          <p:sp>
            <p:nvSpPr>
              <p:cNvPr id="14" name="TextBox 14"/>
              <p:cNvSpPr txBox="1"/>
              <p:nvPr/>
            </p:nvSpPr>
            <p:spPr>
              <a:xfrm>
                <a:off x="1395956" y="2044700"/>
                <a:ext cx="10122944" cy="565458"/>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伦理争议</a:t>
                </a:r>
                <a:endParaRPr lang="en-US" sz="1100"/>
              </a:p>
            </p:txBody>
          </p:sp>
          <p:sp>
            <p:nvSpPr>
              <p:cNvPr id="15" name="TextBox 15"/>
              <p:cNvSpPr txBox="1"/>
              <p:nvPr/>
            </p:nvSpPr>
            <p:spPr>
              <a:xfrm>
                <a:off x="1395955" y="2635250"/>
                <a:ext cx="10122944" cy="704850"/>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这一现象引发了关于“算法是否应承担内容价值观引导责任”的广泛社会争议。平台是否应该为了商业利益而主动刺激和利用用户的负面情绪？</a:t>
                </a:r>
                <a:endParaRPr lang="en-US" sz="1100"/>
              </a:p>
            </p:txBody>
          </p:sp>
        </p:grpSp>
      </p:grpSp>
      <p:sp>
        <p:nvSpPr>
          <p:cNvPr id="16" name="TextBox 16"/>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Facebook愤怒传播效应</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4b479d9d-b300-4bc8-bafd-35ec539ca795"/>
          <p:cNvGrpSpPr/>
          <p:nvPr/>
        </p:nvGrpSpPr>
        <p:grpSpPr>
          <a:xfrm>
            <a:off x="0" y="0"/>
            <a:ext cx="12192000" cy="6858000"/>
            <a:chOff x="0" y="0"/>
            <a:chExt cx="12192000" cy="6858000"/>
          </a:xfrm>
        </p:grpSpPr>
        <p:sp>
          <p:nvSpPr>
            <p:cNvPr id="3" name="AutoShape 3"/>
            <p:cNvSpPr/>
            <p:nvPr/>
          </p:nvSpPr>
          <p:spPr>
            <a:xfrm>
              <a:off x="0" y="0"/>
              <a:ext cx="12192000" cy="6858000"/>
            </a:xfrm>
            <a:prstGeom prst="rect">
              <a:avLst/>
            </a:prstGeom>
            <a:solidFill>
              <a:srgbClr val="FF6100">
                <a:alpha val="100000"/>
              </a:srgbClr>
            </a:solidFill>
            <a:ln>
              <a:prstDash val="solid"/>
              <a:headEnd type="none"/>
              <a:tailEnd type="none"/>
            </a:ln>
          </p:spPr>
        </p:sp>
        <p:sp>
          <p:nvSpPr>
            <p:cNvPr id="4" name="AutoShape 4"/>
            <p:cNvSpPr/>
            <p:nvPr/>
          </p:nvSpPr>
          <p:spPr>
            <a:xfrm>
              <a:off x="660400" y="2236787"/>
              <a:ext cx="10858500" cy="4621213"/>
            </a:xfrm>
            <a:prstGeom prst="rect">
              <a:avLst/>
            </a:prstGeom>
            <a:solidFill>
              <a:srgbClr val="222222">
                <a:alpha val="100000"/>
              </a:srgbClr>
            </a:solidFill>
            <a:ln>
              <a:prstDash val="solid"/>
              <a:headEnd type="none"/>
              <a:tailEnd type="none"/>
            </a:ln>
          </p:spPr>
        </p:sp>
        <p:sp>
          <p:nvSpPr>
            <p:cNvPr id="5" name="AutoShape 5"/>
            <p:cNvSpPr/>
            <p:nvPr/>
          </p:nvSpPr>
          <p:spPr>
            <a:xfrm>
              <a:off x="959303" y="2501900"/>
              <a:ext cx="10254798" cy="3733800"/>
            </a:xfrm>
            <a:prstGeom prst="rect">
              <a:avLst/>
            </a:prstGeom>
            <a:solidFill>
              <a:srgbClr val="FFFFFF">
                <a:alpha val="89803"/>
              </a:srgbClr>
            </a:solidFill>
            <a:ln>
              <a:prstDash val="solid"/>
              <a:headEnd type="none"/>
              <a:tailEnd type="none"/>
            </a:ln>
          </p:spPr>
        </p:sp>
        <p:sp>
          <p:nvSpPr>
            <p:cNvPr id="6" name="TextBox 6"/>
            <p:cNvSpPr txBox="1"/>
            <p:nvPr/>
          </p:nvSpPr>
          <p:spPr>
            <a:xfrm>
              <a:off x="660400" y="1130300"/>
              <a:ext cx="10858500" cy="930272"/>
            </a:xfrm>
            <a:prstGeom prst="rect">
              <a:avLst/>
            </a:prstGeom>
            <a:ln>
              <a:headEnd type="none"/>
              <a:tailEnd type="none"/>
            </a:ln>
          </p:spPr>
          <p:txBody>
            <a:bodyPr vert="horz" wrap="square" lIns="91440" tIns="45720" rIns="91440" bIns="45720" rtlCol="0" anchor="ctr" anchorCtr="0"/>
            <a:lstStyle/>
            <a:p>
              <a:pPr algn="ctr">
                <a:defRPr/>
              </a:pPr>
              <a:r>
                <a:rPr lang="en-US" sz="2400" b="1" i="0">
                  <a:ln/>
                  <a:solidFill>
                    <a:srgbClr val="FFFFFF">
                      <a:alpha val="100000"/>
                    </a:srgbClr>
                  </a:solidFill>
                  <a:latin typeface="微软雅黑"/>
                  <a:ea typeface="微软雅黑"/>
                  <a:cs typeface="微软雅黑"/>
                </a:rPr>
                <a:t>超精准推荐下的信息视野窄化</a:t>
              </a:r>
              <a:endParaRPr lang="en-US" sz="1100"/>
            </a:p>
          </p:txBody>
        </p:sp>
        <p:grpSp>
          <p:nvGrpSpPr>
            <p:cNvPr id="7" name="Group 7"/>
            <p:cNvGrpSpPr/>
            <p:nvPr/>
          </p:nvGrpSpPr>
          <p:grpSpPr>
            <a:xfrm>
              <a:off x="1164977" y="3401897"/>
              <a:ext cx="9820523" cy="2556776"/>
              <a:chOff x="1164977" y="2708477"/>
              <a:chExt cx="9820523" cy="2556776"/>
            </a:xfrm>
          </p:grpSpPr>
          <p:grpSp>
            <p:nvGrpSpPr>
              <p:cNvPr id="8" name="Group 8"/>
              <p:cNvGrpSpPr/>
              <p:nvPr/>
            </p:nvGrpSpPr>
            <p:grpSpPr>
              <a:xfrm>
                <a:off x="1164977" y="2708477"/>
                <a:ext cx="3013323" cy="2556776"/>
                <a:chOff x="1164977" y="2708477"/>
                <a:chExt cx="3013323" cy="2556776"/>
              </a:xfrm>
            </p:grpSpPr>
            <p:sp>
              <p:nvSpPr>
                <p:cNvPr id="9" name="TextBox 9"/>
                <p:cNvSpPr txBox="1"/>
                <p:nvPr/>
              </p:nvSpPr>
              <p:spPr>
                <a:xfrm>
                  <a:off x="1652135" y="3389106"/>
                  <a:ext cx="2526165" cy="18761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今日头条以其强大的个性化推荐引擎闻名，通过分析用户的每一次点击，为用户打上极其精准的兴趣标签，并据此推送内容。</a:t>
                  </a:r>
                  <a:endParaRPr lang="en-US" sz="1100"/>
                </a:p>
              </p:txBody>
            </p:sp>
            <p:sp>
              <p:nvSpPr>
                <p:cNvPr id="10" name="TextBox 10"/>
                <p:cNvSpPr txBox="1"/>
                <p:nvPr/>
              </p:nvSpPr>
              <p:spPr>
                <a:xfrm>
                  <a:off x="1652135" y="2708477"/>
                  <a:ext cx="2526165" cy="680630"/>
                </a:xfrm>
                <a:prstGeom prst="rect">
                  <a:avLst/>
                </a:prstGeom>
                <a:ln>
                  <a:headEnd type="none"/>
                  <a:tailEnd type="none"/>
                </a:ln>
              </p:spPr>
              <p:txBody>
                <a:bodyPr vert="horz" wrap="square" lIns="90000" tIns="46800" rIns="90000" bIns="46800" rtlCol="0" anchor="b" anchorCtr="0"/>
                <a:lstStyle/>
                <a:p>
                  <a:pPr algn="l">
                    <a:spcBef>
                      <a:spcPts val="0"/>
                    </a:spcBef>
                    <a:defRPr/>
                  </a:pPr>
                  <a:r>
                    <a:rPr lang="en-US" sz="1800" b="1" i="0">
                      <a:ln/>
                      <a:solidFill>
                        <a:srgbClr val="000000">
                          <a:alpha val="100000"/>
                        </a:srgbClr>
                      </a:solidFill>
                      <a:latin typeface="微软雅黑"/>
                      <a:ea typeface="微软雅黑"/>
                      <a:cs typeface="微软雅黑"/>
                    </a:rPr>
                    <a:t>案例背景</a:t>
                  </a:r>
                  <a:endParaRPr lang="en-US" sz="1100"/>
                </a:p>
              </p:txBody>
            </p:sp>
            <p:sp>
              <p:nvSpPr>
                <p:cNvPr id="11" name="TextBox 11"/>
                <p:cNvSpPr txBox="1"/>
                <p:nvPr/>
              </p:nvSpPr>
              <p:spPr>
                <a:xfrm>
                  <a:off x="1164977" y="2935493"/>
                  <a:ext cx="453614" cy="453614"/>
                </a:xfrm>
                <a:prstGeom prst="rect">
                  <a:avLst/>
                </a:prstGeom>
                <a:solidFill>
                  <a:srgbClr val="FF6100">
                    <a:alpha val="100000"/>
                  </a:srgbClr>
                </a:solidFill>
                <a:ln>
                  <a:prstDash val="solid"/>
                  <a:headEnd type="none"/>
                  <a:tailEnd type="none"/>
                </a:ln>
              </p:spPr>
              <p:txBody>
                <a:bodyPr vert="horz" wrap="square" lIns="91440" tIns="45720" rIns="91440" bIns="45720" rtlCol="0" anchor="ctr" anchorCtr="0"/>
                <a:lstStyle/>
                <a:p>
                  <a:pPr algn="ctr">
                    <a:defRPr/>
                  </a:pPr>
                  <a:r>
                    <a:rPr lang="en-US" sz="1800" b="0" i="0">
                      <a:ln/>
                      <a:solidFill>
                        <a:srgbClr val="FFFFFF">
                          <a:alpha val="100000"/>
                        </a:srgbClr>
                      </a:solidFill>
                      <a:latin typeface="Arial"/>
                      <a:ea typeface="Arial"/>
                      <a:cs typeface="Arial"/>
                    </a:rPr>
                    <a:t>1</a:t>
                  </a:r>
                  <a:endParaRPr lang="en-US" sz="1100"/>
                </a:p>
              </p:txBody>
            </p:sp>
          </p:grpSp>
          <p:grpSp>
            <p:nvGrpSpPr>
              <p:cNvPr id="12" name="Group 12"/>
              <p:cNvGrpSpPr/>
              <p:nvPr/>
            </p:nvGrpSpPr>
            <p:grpSpPr>
              <a:xfrm>
                <a:off x="4564608" y="2708477"/>
                <a:ext cx="3017292" cy="2556776"/>
                <a:chOff x="4564608" y="2708477"/>
                <a:chExt cx="3017292" cy="2556776"/>
              </a:xfrm>
            </p:grpSpPr>
            <p:sp>
              <p:nvSpPr>
                <p:cNvPr id="13" name="TextBox 13"/>
                <p:cNvSpPr txBox="1"/>
                <p:nvPr/>
              </p:nvSpPr>
              <p:spPr>
                <a:xfrm>
                  <a:off x="5055735" y="3389106"/>
                  <a:ext cx="2526165" cy="18761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用户一旦表现出对某一领域（如娱乐八卦）或某一立场新闻的偏好，算法便会持续不断地推送同类信息，将用户牢牢“囚禁”在信息的“回音室”中。长期来看，用户接触的信息多样性被严重削弱。</a:t>
                  </a:r>
                  <a:endParaRPr lang="en-US" sz="1100"/>
                </a:p>
              </p:txBody>
            </p:sp>
            <p:sp>
              <p:nvSpPr>
                <p:cNvPr id="14" name="TextBox 14"/>
                <p:cNvSpPr txBox="1"/>
                <p:nvPr/>
              </p:nvSpPr>
              <p:spPr>
                <a:xfrm>
                  <a:off x="5055735" y="2708477"/>
                  <a:ext cx="2526165" cy="680630"/>
                </a:xfrm>
                <a:prstGeom prst="rect">
                  <a:avLst/>
                </a:prstGeom>
                <a:ln>
                  <a:headEnd type="none"/>
                  <a:tailEnd type="none"/>
                </a:ln>
              </p:spPr>
              <p:txBody>
                <a:bodyPr vert="horz" wrap="square" lIns="90000" tIns="46800" rIns="90000" bIns="46800" rtlCol="0" anchor="b" anchorCtr="0"/>
                <a:lstStyle/>
                <a:p>
                  <a:pPr algn="l">
                    <a:spcBef>
                      <a:spcPts val="0"/>
                    </a:spcBef>
                    <a:defRPr/>
                  </a:pPr>
                  <a:r>
                    <a:rPr lang="en-US" sz="1800" b="1" i="0">
                      <a:ln/>
                      <a:solidFill>
                        <a:srgbClr val="000000">
                          <a:alpha val="100000"/>
                        </a:srgbClr>
                      </a:solidFill>
                      <a:latin typeface="微软雅黑"/>
                      <a:ea typeface="微软雅黑"/>
                      <a:cs typeface="微软雅黑"/>
                    </a:rPr>
                    <a:t>事件经过</a:t>
                  </a:r>
                  <a:endParaRPr lang="en-US" sz="1100"/>
                </a:p>
              </p:txBody>
            </p:sp>
            <p:sp>
              <p:nvSpPr>
                <p:cNvPr id="15" name="TextBox 15"/>
                <p:cNvSpPr txBox="1"/>
                <p:nvPr/>
              </p:nvSpPr>
              <p:spPr>
                <a:xfrm>
                  <a:off x="4564608" y="2935493"/>
                  <a:ext cx="453614" cy="453614"/>
                </a:xfrm>
                <a:prstGeom prst="rect">
                  <a:avLst/>
                </a:prstGeom>
                <a:solidFill>
                  <a:srgbClr val="FF6100">
                    <a:alpha val="100000"/>
                  </a:srgbClr>
                </a:solidFill>
                <a:ln>
                  <a:prstDash val="solid"/>
                  <a:headEnd type="none"/>
                  <a:tailEnd type="none"/>
                </a:ln>
              </p:spPr>
              <p:txBody>
                <a:bodyPr vert="horz" wrap="square" lIns="91440" tIns="45720" rIns="91440" bIns="45720" rtlCol="0" anchor="ctr" anchorCtr="0"/>
                <a:lstStyle/>
                <a:p>
                  <a:pPr algn="ctr">
                    <a:defRPr/>
                  </a:pPr>
                  <a:r>
                    <a:rPr lang="en-US" sz="1800" b="0" i="0">
                      <a:ln/>
                      <a:solidFill>
                        <a:srgbClr val="FFFFFF">
                          <a:alpha val="100000"/>
                        </a:srgbClr>
                      </a:solidFill>
                      <a:latin typeface="Arial"/>
                      <a:ea typeface="Arial"/>
                      <a:cs typeface="Arial"/>
                    </a:rPr>
                    <a:t>2</a:t>
                  </a:r>
                  <a:endParaRPr lang="en-US" sz="1100"/>
                </a:p>
              </p:txBody>
            </p:sp>
          </p:grpSp>
          <p:grpSp>
            <p:nvGrpSpPr>
              <p:cNvPr id="16" name="Group 16"/>
              <p:cNvGrpSpPr/>
              <p:nvPr/>
            </p:nvGrpSpPr>
            <p:grpSpPr>
              <a:xfrm>
                <a:off x="7965827" y="2708477"/>
                <a:ext cx="3019673" cy="2556776"/>
                <a:chOff x="7965827" y="2708477"/>
                <a:chExt cx="3019673" cy="2556776"/>
              </a:xfrm>
            </p:grpSpPr>
            <p:sp>
              <p:nvSpPr>
                <p:cNvPr id="17" name="TextBox 17"/>
                <p:cNvSpPr txBox="1"/>
                <p:nvPr/>
              </p:nvSpPr>
              <p:spPr>
                <a:xfrm>
                  <a:off x="8459335" y="3389106"/>
                  <a:ext cx="2526165" cy="18761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这使得工程师面临一个伦理抉择：是继续优化“精准推荐”以追求短期用户活跃度和商业回报，还是主动引入多样性信息，承担起提升“公共信息素养”的社会责任？</a:t>
                  </a:r>
                  <a:endParaRPr lang="en-US" sz="1100"/>
                </a:p>
              </p:txBody>
            </p:sp>
            <p:sp>
              <p:nvSpPr>
                <p:cNvPr id="18" name="TextBox 18"/>
                <p:cNvSpPr txBox="1"/>
                <p:nvPr/>
              </p:nvSpPr>
              <p:spPr>
                <a:xfrm>
                  <a:off x="8459335" y="2708477"/>
                  <a:ext cx="2526165" cy="680630"/>
                </a:xfrm>
                <a:prstGeom prst="rect">
                  <a:avLst/>
                </a:prstGeom>
                <a:ln>
                  <a:headEnd type="none"/>
                  <a:tailEnd type="none"/>
                </a:ln>
              </p:spPr>
              <p:txBody>
                <a:bodyPr vert="horz" wrap="square" lIns="90000" tIns="46800" rIns="90000" bIns="46800" rtlCol="0" anchor="b" anchorCtr="0"/>
                <a:lstStyle/>
                <a:p>
                  <a:pPr algn="l">
                    <a:spcBef>
                      <a:spcPts val="0"/>
                    </a:spcBef>
                    <a:defRPr/>
                  </a:pPr>
                  <a:r>
                    <a:rPr lang="en-US" sz="1800" b="1" i="0">
                      <a:ln/>
                      <a:solidFill>
                        <a:srgbClr val="000000">
                          <a:alpha val="100000"/>
                        </a:srgbClr>
                      </a:solidFill>
                      <a:latin typeface="微软雅黑"/>
                      <a:ea typeface="微软雅黑"/>
                      <a:cs typeface="微软雅黑"/>
                    </a:rPr>
                    <a:t>工程师抉择</a:t>
                  </a:r>
                  <a:endParaRPr lang="en-US" sz="1100"/>
                </a:p>
              </p:txBody>
            </p:sp>
            <p:sp>
              <p:nvSpPr>
                <p:cNvPr id="19" name="TextBox 19"/>
                <p:cNvSpPr txBox="1"/>
                <p:nvPr/>
              </p:nvSpPr>
              <p:spPr>
                <a:xfrm>
                  <a:off x="7965827" y="2935493"/>
                  <a:ext cx="453614" cy="453614"/>
                </a:xfrm>
                <a:prstGeom prst="rect">
                  <a:avLst/>
                </a:prstGeom>
                <a:solidFill>
                  <a:srgbClr val="FF6100">
                    <a:alpha val="100000"/>
                  </a:srgbClr>
                </a:solidFill>
                <a:ln>
                  <a:prstDash val="solid"/>
                  <a:headEnd type="none"/>
                  <a:tailEnd type="none"/>
                </a:ln>
              </p:spPr>
              <p:txBody>
                <a:bodyPr vert="horz" wrap="square" lIns="91440" tIns="45720" rIns="91440" bIns="45720" rtlCol="0" anchor="ctr" anchorCtr="0"/>
                <a:lstStyle/>
                <a:p>
                  <a:pPr algn="ctr">
                    <a:defRPr/>
                  </a:pPr>
                  <a:r>
                    <a:rPr lang="en-US" sz="1800" b="0" i="0">
                      <a:ln/>
                      <a:solidFill>
                        <a:srgbClr val="FFFFFF">
                          <a:alpha val="100000"/>
                        </a:srgbClr>
                      </a:solidFill>
                      <a:latin typeface="Arial"/>
                      <a:ea typeface="Arial"/>
                      <a:cs typeface="Arial"/>
                    </a:rPr>
                    <a:t>3</a:t>
                  </a:r>
                  <a:endParaRPr lang="en-US" sz="1100"/>
                </a:p>
              </p:txBody>
            </p:sp>
          </p:grpSp>
        </p:grpSp>
      </p:grpSp>
      <p:sp>
        <p:nvSpPr>
          <p:cNvPr id="20" name="TextBox 20"/>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今日头条信息茧房</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95e24fb0-7d86-41bd-a49e-608144f3581d"/>
          <p:cNvGrpSpPr/>
          <p:nvPr/>
        </p:nvGrpSpPr>
        <p:grpSpPr>
          <a:xfrm>
            <a:off x="0" y="1130300"/>
            <a:ext cx="12192000" cy="5727700"/>
            <a:chOff x="0" y="1130300"/>
            <a:chExt cx="12192000" cy="5727700"/>
          </a:xfrm>
        </p:grpSpPr>
        <p:sp>
          <p:nvSpPr>
            <p:cNvPr id="3" name="AutoShape 3"/>
            <p:cNvSpPr/>
            <p:nvPr/>
          </p:nvSpPr>
          <p:spPr>
            <a:xfrm>
              <a:off x="0" y="1130300"/>
              <a:ext cx="12192000" cy="5727700"/>
            </a:xfrm>
            <a:prstGeom prst="rect">
              <a:avLst/>
            </a:prstGeom>
            <a:solidFill>
              <a:srgbClr val="0F0F0F">
                <a:alpha val="100000"/>
              </a:srgbClr>
            </a:solidFill>
            <a:ln w="12700">
              <a:solidFill>
                <a:srgbClr val="6C1700">
                  <a:alpha val="100000"/>
                  <a:shade val="15000"/>
                </a:srgbClr>
              </a:solidFill>
              <a:prstDash val="solid"/>
              <a:headEnd type="none"/>
              <a:tailEnd type="none"/>
            </a:ln>
          </p:spPr>
        </p:sp>
        <p:sp>
          <p:nvSpPr>
            <p:cNvPr id="4" name="AutoShape 4"/>
            <p:cNvSpPr/>
            <p:nvPr/>
          </p:nvSpPr>
          <p:spPr>
            <a:xfrm>
              <a:off x="0" y="2075543"/>
              <a:ext cx="12192000" cy="0"/>
            </a:xfrm>
            <a:prstGeom prst="line">
              <a:avLst/>
            </a:prstGeom>
            <a:ln w="6350">
              <a:solidFill>
                <a:srgbClr val="FFFFFF">
                  <a:alpha val="70196"/>
                </a:srgbClr>
              </a:solidFill>
              <a:prstDash val="solid"/>
              <a:headEnd type="none"/>
              <a:tailEnd type="none"/>
            </a:ln>
          </p:spPr>
        </p:sp>
        <p:sp>
          <p:nvSpPr>
            <p:cNvPr id="5" name="TextBox 5"/>
            <p:cNvSpPr txBox="1"/>
            <p:nvPr/>
          </p:nvSpPr>
          <p:spPr>
            <a:xfrm>
              <a:off x="660400" y="1130300"/>
              <a:ext cx="10858500" cy="654956"/>
            </a:xfrm>
            <a:prstGeom prst="rect">
              <a:avLst/>
            </a:prstGeom>
            <a:ln>
              <a:prstDash val="solid"/>
              <a:headEnd type="none"/>
              <a:tailEnd type="none"/>
            </a:ln>
          </p:spPr>
          <p:txBody>
            <a:bodyPr vert="horz" wrap="square" lIns="91440" tIns="45720" rIns="91440" bIns="45720" rtlCol="0" anchor="ctr" anchorCtr="0"/>
            <a:lstStyle/>
            <a:p>
              <a:pPr algn="ctr">
                <a:defRPr/>
              </a:pPr>
              <a:r>
                <a:rPr lang="en-US" sz="2400" b="1" i="0">
                  <a:ln/>
                  <a:solidFill>
                    <a:srgbClr val="FFFFFF">
                      <a:alpha val="100000"/>
                    </a:srgbClr>
                  </a:solidFill>
                  <a:latin typeface="微软雅黑"/>
                  <a:ea typeface="微软雅黑"/>
                  <a:cs typeface="微软雅黑"/>
                </a:rPr>
                <a:t>争议话题中理性讨论的消亡</a:t>
              </a:r>
              <a:endParaRPr lang="en-US" sz="1100"/>
            </a:p>
          </p:txBody>
        </p:sp>
        <p:grpSp>
          <p:nvGrpSpPr>
            <p:cNvPr id="6" name="Group 6"/>
            <p:cNvGrpSpPr/>
            <p:nvPr/>
          </p:nvGrpSpPr>
          <p:grpSpPr>
            <a:xfrm>
              <a:off x="643645" y="1956707"/>
              <a:ext cx="3443838" cy="4177393"/>
              <a:chOff x="643645" y="1956707"/>
              <a:chExt cx="3443838" cy="4177393"/>
            </a:xfrm>
          </p:grpSpPr>
          <p:sp>
            <p:nvSpPr>
              <p:cNvPr id="7" name="AutoShape 7"/>
              <p:cNvSpPr/>
              <p:nvPr/>
            </p:nvSpPr>
            <p:spPr>
              <a:xfrm>
                <a:off x="660399" y="2509024"/>
                <a:ext cx="3427084" cy="3625076"/>
              </a:xfrm>
              <a:prstGeom prst="roundRect">
                <a:avLst>
                  <a:gd name="adj" fmla="val 2425"/>
                </a:avLst>
              </a:prstGeom>
              <a:solidFill>
                <a:srgbClr val="778495">
                  <a:alpha val="10196"/>
                </a:srgbClr>
              </a:solidFill>
              <a:ln w="6350">
                <a:solidFill>
                  <a:srgbClr val="FFFFFF">
                    <a:alpha val="50196"/>
                  </a:srgbClr>
                </a:solidFill>
                <a:prstDash val="solid"/>
                <a:headEnd type="none"/>
                <a:tailEnd type="none"/>
              </a:ln>
            </p:spPr>
          </p:sp>
          <p:sp>
            <p:nvSpPr>
              <p:cNvPr id="8" name="TextBox 8"/>
              <p:cNvSpPr txBox="1"/>
              <p:nvPr/>
            </p:nvSpPr>
            <p:spPr>
              <a:xfrm>
                <a:off x="764794" y="4400826"/>
                <a:ext cx="3218294" cy="1617402"/>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FFFFFF">
                        <a:alpha val="100000"/>
                      </a:srgbClr>
                    </a:solidFill>
                    <a:latin typeface="Arial"/>
                    <a:ea typeface="Arial"/>
                    <a:cs typeface="Arial"/>
                  </a:rPr>
                  <a:t>Twitter是全球实时热点话题讨论的核心广场，其话题推荐算法旨在为用户发现最热门、最具讨论度的内容。</a:t>
                </a:r>
                <a:endParaRPr lang="en-US" sz="1100"/>
              </a:p>
            </p:txBody>
          </p:sp>
          <p:sp>
            <p:nvSpPr>
              <p:cNvPr id="9" name="TextBox 9"/>
              <p:cNvSpPr txBox="1"/>
              <p:nvPr/>
            </p:nvSpPr>
            <p:spPr>
              <a:xfrm>
                <a:off x="764794" y="3600451"/>
                <a:ext cx="3218294" cy="800374"/>
              </a:xfrm>
              <a:prstGeom prst="rect">
                <a:avLst/>
              </a:prstGeom>
              <a:ln>
                <a:headEnd type="none"/>
                <a:tailEnd type="none"/>
              </a:ln>
            </p:spPr>
            <p:txBody>
              <a:bodyPr vert="horz" wrap="square" lIns="91440" tIns="45720" rIns="91440" bIns="45720" rtlCol="0" anchor="b" anchorCtr="0"/>
              <a:lstStyle/>
              <a:p>
                <a:pPr algn="l">
                  <a:defRPr/>
                </a:pPr>
                <a:r>
                  <a:rPr lang="en-US" sz="1800" b="1" i="0" strike="noStrike">
                    <a:ln/>
                    <a:solidFill>
                      <a:srgbClr val="FFFFFF">
                        <a:alpha val="100000"/>
                      </a:srgbClr>
                    </a:solidFill>
                    <a:latin typeface="微软雅黑"/>
                    <a:ea typeface="微软雅黑"/>
                    <a:cs typeface="微软雅黑"/>
                  </a:rPr>
                  <a:t>案例背景</a:t>
                </a:r>
                <a:endParaRPr lang="en-US" sz="1100"/>
              </a:p>
            </p:txBody>
          </p:sp>
          <p:sp>
            <p:nvSpPr>
              <p:cNvPr id="10" name="TextBox 10"/>
              <p:cNvSpPr txBox="1"/>
              <p:nvPr/>
            </p:nvSpPr>
            <p:spPr>
              <a:xfrm>
                <a:off x="764794" y="2771732"/>
                <a:ext cx="2371536" cy="657268"/>
              </a:xfrm>
              <a:prstGeom prst="rect">
                <a:avLst/>
              </a:prstGeom>
              <a:ln>
                <a:prstDash val="solid"/>
                <a:headEnd type="none"/>
                <a:tailEnd type="none"/>
              </a:ln>
            </p:spPr>
            <p:txBody>
              <a:bodyPr vert="horz" wrap="none" lIns="91440" tIns="45720" rIns="91440" bIns="45720" rtlCol="0" anchor="b" anchorCtr="0"/>
              <a:lstStyle/>
              <a:p>
                <a:pPr algn="l">
                  <a:defRPr/>
                </a:pPr>
                <a:r>
                  <a:rPr lang="en-US" sz="4000" b="1" i="0">
                    <a:ln/>
                    <a:solidFill>
                      <a:srgbClr val="FFFFFF">
                        <a:alpha val="100000"/>
                      </a:srgbClr>
                    </a:solidFill>
                    <a:latin typeface="Arial"/>
                    <a:ea typeface="Arial"/>
                    <a:cs typeface="Arial"/>
                  </a:rPr>
                  <a:t>01</a:t>
                </a:r>
                <a:endParaRPr lang="en-US" sz="1100"/>
              </a:p>
            </p:txBody>
          </p:sp>
          <p:sp>
            <p:nvSpPr>
              <p:cNvPr id="11" name="AutoShape 11"/>
              <p:cNvSpPr/>
              <p:nvPr/>
            </p:nvSpPr>
            <p:spPr>
              <a:xfrm>
                <a:off x="643645" y="1956707"/>
                <a:ext cx="242297" cy="242297"/>
              </a:xfrm>
              <a:prstGeom prst="ellipse">
                <a:avLst/>
              </a:prstGeom>
              <a:solidFill>
                <a:srgbClr val="181818">
                  <a:alpha val="100000"/>
                </a:srgbClr>
              </a:solidFill>
              <a:ln w="12700">
                <a:solidFill>
                  <a:srgbClr val="FFFFFF">
                    <a:alpha val="40000"/>
                  </a:srgbClr>
                </a:solidFill>
                <a:prstDash val="solid"/>
                <a:headEnd type="none"/>
                <a:tailEnd type="none"/>
              </a:ln>
            </p:spPr>
          </p:sp>
        </p:grpSp>
        <p:grpSp>
          <p:nvGrpSpPr>
            <p:cNvPr id="12" name="Group 12"/>
            <p:cNvGrpSpPr/>
            <p:nvPr/>
          </p:nvGrpSpPr>
          <p:grpSpPr>
            <a:xfrm>
              <a:off x="4359354" y="1956707"/>
              <a:ext cx="3443838" cy="4177393"/>
              <a:chOff x="4359354" y="1956707"/>
              <a:chExt cx="3443838" cy="4177393"/>
            </a:xfrm>
          </p:grpSpPr>
          <p:sp>
            <p:nvSpPr>
              <p:cNvPr id="13" name="AutoShape 13"/>
              <p:cNvSpPr/>
              <p:nvPr/>
            </p:nvSpPr>
            <p:spPr>
              <a:xfrm>
                <a:off x="4376108" y="2509024"/>
                <a:ext cx="3427084" cy="3625076"/>
              </a:xfrm>
              <a:prstGeom prst="roundRect">
                <a:avLst>
                  <a:gd name="adj" fmla="val 2656"/>
                </a:avLst>
              </a:prstGeom>
              <a:solidFill>
                <a:srgbClr val="FF6100">
                  <a:alpha val="14901"/>
                </a:srgbClr>
              </a:solidFill>
              <a:ln w="6350">
                <a:solidFill>
                  <a:srgbClr val="FF6100">
                    <a:alpha val="100000"/>
                  </a:srgbClr>
                </a:solidFill>
                <a:prstDash val="solid"/>
                <a:headEnd type="none"/>
                <a:tailEnd type="none"/>
              </a:ln>
            </p:spPr>
          </p:sp>
          <p:sp>
            <p:nvSpPr>
              <p:cNvPr id="14" name="TextBox 14"/>
              <p:cNvSpPr txBox="1"/>
              <p:nvPr/>
            </p:nvSpPr>
            <p:spPr>
              <a:xfrm>
                <a:off x="4480503" y="4400826"/>
                <a:ext cx="3218294" cy="1617402"/>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FFFFFF">
                        <a:alpha val="100000"/>
                      </a:srgbClr>
                    </a:solidFill>
                    <a:latin typeface="微软雅黑"/>
                    <a:ea typeface="微软雅黑"/>
                    <a:cs typeface="微软雅黑"/>
                  </a:rPr>
                  <a:t>算法为了提升互动和讨论热度，倾向于推送争议性话题中最为极端和对立的观点。这些观点往往更具冲击力，能引发大规模的辩论甚至网络暴力。而温和、理性的声音因此被边缘化或淹没。</a:t>
                </a:r>
                <a:endParaRPr lang="en-US" sz="1100"/>
              </a:p>
            </p:txBody>
          </p:sp>
          <p:sp>
            <p:nvSpPr>
              <p:cNvPr id="15" name="TextBox 15"/>
              <p:cNvSpPr txBox="1"/>
              <p:nvPr/>
            </p:nvSpPr>
            <p:spPr>
              <a:xfrm>
                <a:off x="4480503" y="3600451"/>
                <a:ext cx="3218294" cy="800374"/>
              </a:xfrm>
              <a:prstGeom prst="rect">
                <a:avLst/>
              </a:prstGeom>
              <a:ln>
                <a:headEnd type="none"/>
                <a:tailEnd type="none"/>
              </a:ln>
            </p:spPr>
            <p:txBody>
              <a:bodyPr vert="horz" wrap="square" lIns="91440" tIns="45720" rIns="91440" bIns="45720" rtlCol="0" anchor="b" anchorCtr="0"/>
              <a:lstStyle/>
              <a:p>
                <a:pPr algn="l">
                  <a:defRPr/>
                </a:pPr>
                <a:r>
                  <a:rPr lang="en-US" sz="1800" b="1" i="0" strike="noStrike">
                    <a:ln/>
                    <a:solidFill>
                      <a:srgbClr val="FFFFFF">
                        <a:alpha val="100000"/>
                      </a:srgbClr>
                    </a:solidFill>
                    <a:latin typeface="微软雅黑"/>
                    <a:ea typeface="微软雅黑"/>
                    <a:cs typeface="微软雅黑"/>
                  </a:rPr>
                  <a:t>事件经过</a:t>
                </a:r>
                <a:endParaRPr lang="en-US" sz="1100"/>
              </a:p>
            </p:txBody>
          </p:sp>
          <p:sp>
            <p:nvSpPr>
              <p:cNvPr id="16" name="TextBox 16"/>
              <p:cNvSpPr txBox="1"/>
              <p:nvPr/>
            </p:nvSpPr>
            <p:spPr>
              <a:xfrm>
                <a:off x="4480503" y="2771732"/>
                <a:ext cx="2371536" cy="657268"/>
              </a:xfrm>
              <a:prstGeom prst="rect">
                <a:avLst/>
              </a:prstGeom>
              <a:ln>
                <a:prstDash val="solid"/>
                <a:headEnd type="none"/>
                <a:tailEnd type="none"/>
              </a:ln>
            </p:spPr>
            <p:txBody>
              <a:bodyPr vert="horz" wrap="none" lIns="91440" tIns="45720" rIns="91440" bIns="45720" rtlCol="0" anchor="b" anchorCtr="0"/>
              <a:lstStyle/>
              <a:p>
                <a:pPr algn="l">
                  <a:defRPr/>
                </a:pPr>
                <a:r>
                  <a:rPr lang="en-US" sz="4000" b="1" i="0">
                    <a:ln/>
                    <a:solidFill>
                      <a:srgbClr val="FFFFFF">
                        <a:alpha val="100000"/>
                      </a:srgbClr>
                    </a:solidFill>
                    <a:latin typeface="Arial"/>
                    <a:ea typeface="Arial"/>
                    <a:cs typeface="Arial"/>
                  </a:rPr>
                  <a:t>02</a:t>
                </a:r>
                <a:endParaRPr lang="en-US" sz="1100"/>
              </a:p>
            </p:txBody>
          </p:sp>
          <p:sp>
            <p:nvSpPr>
              <p:cNvPr id="17" name="AutoShape 17"/>
              <p:cNvSpPr/>
              <p:nvPr/>
            </p:nvSpPr>
            <p:spPr>
              <a:xfrm>
                <a:off x="4359354" y="1956707"/>
                <a:ext cx="242297" cy="242297"/>
              </a:xfrm>
              <a:prstGeom prst="ellipse">
                <a:avLst/>
              </a:prstGeom>
              <a:solidFill>
                <a:srgbClr val="260A00">
                  <a:alpha val="100000"/>
                </a:srgbClr>
              </a:solidFill>
              <a:ln w="12700">
                <a:solidFill>
                  <a:srgbClr val="FF6100">
                    <a:alpha val="80000"/>
                  </a:srgbClr>
                </a:solidFill>
                <a:prstDash val="solid"/>
                <a:headEnd type="none"/>
                <a:tailEnd type="none"/>
              </a:ln>
            </p:spPr>
          </p:sp>
        </p:grpSp>
        <p:grpSp>
          <p:nvGrpSpPr>
            <p:cNvPr id="18" name="Group 18"/>
            <p:cNvGrpSpPr/>
            <p:nvPr/>
          </p:nvGrpSpPr>
          <p:grpSpPr>
            <a:xfrm>
              <a:off x="8091816" y="1956707"/>
              <a:ext cx="3427084" cy="4177393"/>
              <a:chOff x="8091816" y="1956707"/>
              <a:chExt cx="3427084" cy="4177393"/>
            </a:xfrm>
          </p:grpSpPr>
          <p:sp>
            <p:nvSpPr>
              <p:cNvPr id="19" name="AutoShape 19"/>
              <p:cNvSpPr/>
              <p:nvPr/>
            </p:nvSpPr>
            <p:spPr>
              <a:xfrm>
                <a:off x="8091816" y="2509024"/>
                <a:ext cx="3427084" cy="3625076"/>
              </a:xfrm>
              <a:prstGeom prst="roundRect">
                <a:avLst>
                  <a:gd name="adj" fmla="val 2879"/>
                </a:avLst>
              </a:prstGeom>
              <a:solidFill>
                <a:srgbClr val="778495">
                  <a:alpha val="10196"/>
                </a:srgbClr>
              </a:solidFill>
              <a:ln w="6350">
                <a:solidFill>
                  <a:srgbClr val="FFFFFF">
                    <a:alpha val="50196"/>
                  </a:srgbClr>
                </a:solidFill>
                <a:prstDash val="solid"/>
                <a:headEnd type="none"/>
                <a:tailEnd type="none"/>
              </a:ln>
            </p:spPr>
          </p:sp>
          <p:sp>
            <p:nvSpPr>
              <p:cNvPr id="20" name="TextBox 20"/>
              <p:cNvSpPr txBox="1"/>
              <p:nvPr/>
            </p:nvSpPr>
            <p:spPr>
              <a:xfrm>
                <a:off x="8196211" y="4400826"/>
                <a:ext cx="3218294" cy="1617402"/>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FFFFFF">
                        <a:alpha val="100000"/>
                      </a:srgbClr>
                    </a:solidFill>
                    <a:latin typeface="微软雅黑"/>
                    <a:ea typeface="微软雅黑"/>
                    <a:cs typeface="微软雅黑"/>
                  </a:rPr>
                  <a:t>这引发了关于“算法是否应主动抑制对立性内容”的伦理困境。平台在多大程度上应该干预话题的自然发酵过程，以维护一个健康的公共讨论空间？</a:t>
                </a:r>
                <a:endParaRPr lang="en-US" sz="1100"/>
              </a:p>
            </p:txBody>
          </p:sp>
          <p:sp>
            <p:nvSpPr>
              <p:cNvPr id="21" name="TextBox 21"/>
              <p:cNvSpPr txBox="1"/>
              <p:nvPr/>
            </p:nvSpPr>
            <p:spPr>
              <a:xfrm>
                <a:off x="8196211" y="3600451"/>
                <a:ext cx="3218294" cy="800374"/>
              </a:xfrm>
              <a:prstGeom prst="rect">
                <a:avLst/>
              </a:prstGeom>
              <a:ln>
                <a:headEnd type="none"/>
                <a:tailEnd type="none"/>
              </a:ln>
            </p:spPr>
            <p:txBody>
              <a:bodyPr vert="horz" wrap="square" lIns="91440" tIns="45720" rIns="91440" bIns="45720" rtlCol="0" anchor="b" anchorCtr="0"/>
              <a:lstStyle/>
              <a:p>
                <a:pPr algn="l">
                  <a:defRPr/>
                </a:pPr>
                <a:r>
                  <a:rPr lang="en-US" sz="1800" b="1" i="0" strike="noStrike">
                    <a:ln/>
                    <a:solidFill>
                      <a:srgbClr val="FFFFFF">
                        <a:alpha val="100000"/>
                      </a:srgbClr>
                    </a:solidFill>
                    <a:latin typeface="微软雅黑"/>
                    <a:ea typeface="微软雅黑"/>
                    <a:cs typeface="微软雅黑"/>
                  </a:rPr>
                  <a:t>伦理困境</a:t>
                </a:r>
                <a:endParaRPr lang="en-US" sz="1100"/>
              </a:p>
            </p:txBody>
          </p:sp>
          <p:sp>
            <p:nvSpPr>
              <p:cNvPr id="22" name="TextBox 22"/>
              <p:cNvSpPr txBox="1"/>
              <p:nvPr/>
            </p:nvSpPr>
            <p:spPr>
              <a:xfrm>
                <a:off x="8196211" y="2771732"/>
                <a:ext cx="2371536" cy="657268"/>
              </a:xfrm>
              <a:prstGeom prst="rect">
                <a:avLst/>
              </a:prstGeom>
              <a:ln>
                <a:prstDash val="solid"/>
                <a:headEnd type="none"/>
                <a:tailEnd type="none"/>
              </a:ln>
            </p:spPr>
            <p:txBody>
              <a:bodyPr vert="horz" wrap="none" lIns="91440" tIns="45720" rIns="91440" bIns="45720" rtlCol="0" anchor="b" anchorCtr="0"/>
              <a:lstStyle/>
              <a:p>
                <a:pPr algn="l">
                  <a:defRPr/>
                </a:pPr>
                <a:r>
                  <a:rPr lang="en-US" sz="4000" b="1" i="0">
                    <a:ln/>
                    <a:solidFill>
                      <a:srgbClr val="FFFFFF">
                        <a:alpha val="100000"/>
                      </a:srgbClr>
                    </a:solidFill>
                    <a:latin typeface="Arial"/>
                    <a:ea typeface="Arial"/>
                    <a:cs typeface="Arial"/>
                  </a:rPr>
                  <a:t>03</a:t>
                </a:r>
                <a:endParaRPr lang="en-US" sz="1100"/>
              </a:p>
            </p:txBody>
          </p:sp>
          <p:sp>
            <p:nvSpPr>
              <p:cNvPr id="23" name="AutoShape 23"/>
              <p:cNvSpPr/>
              <p:nvPr/>
            </p:nvSpPr>
            <p:spPr>
              <a:xfrm>
                <a:off x="8091816" y="1956707"/>
                <a:ext cx="242297" cy="242297"/>
              </a:xfrm>
              <a:prstGeom prst="ellipse">
                <a:avLst/>
              </a:prstGeom>
              <a:solidFill>
                <a:srgbClr val="181818">
                  <a:alpha val="100000"/>
                </a:srgbClr>
              </a:solidFill>
              <a:ln w="12700">
                <a:solidFill>
                  <a:srgbClr val="FFFFFF">
                    <a:alpha val="40000"/>
                  </a:srgbClr>
                </a:solidFill>
                <a:prstDash val="solid"/>
                <a:headEnd type="none"/>
                <a:tailEnd type="none"/>
              </a:ln>
            </p:spPr>
          </p:sp>
        </p:grpSp>
      </p:grpSp>
      <p:sp>
        <p:nvSpPr>
          <p:cNvPr id="24" name="TextBox 24"/>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Arial"/>
                <a:ea typeface="Arial"/>
                <a:cs typeface="Arial"/>
              </a:rPr>
              <a:t>Twitter对立放大效应</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756400" y="2571750"/>
            <a:ext cx="4762500" cy="857250"/>
          </a:xfrm>
          <a:prstGeom prst="rect">
            <a:avLst/>
          </a:prstGeom>
          <a:ln>
            <a:headEnd type="none"/>
            <a:tailEnd type="none"/>
          </a:ln>
        </p:spPr>
        <p:txBody>
          <a:bodyPr vert="horz" wrap="square" lIns="91440" tIns="45720" rIns="91440" bIns="45720" rtlCol="0" anchor="b" anchorCtr="0"/>
          <a:lstStyle/>
          <a:p>
            <a:pPr algn="r">
              <a:lnSpc>
                <a:spcPct val="100000"/>
              </a:lnSpc>
              <a:spcBef>
                <a:spcPts val="0"/>
              </a:spcBef>
              <a:defRPr/>
            </a:pPr>
            <a:r>
              <a:rPr lang="en-US" sz="3600" b="1" i="0">
                <a:ln/>
                <a:solidFill>
                  <a:srgbClr val="FFFFFF">
                    <a:alpha val="100000"/>
                  </a:srgbClr>
                </a:solidFill>
                <a:latin typeface="微软雅黑"/>
                <a:ea typeface="微软雅黑"/>
                <a:cs typeface="微软雅黑"/>
              </a:rPr>
              <a:t>事故影响与技术原因</a:t>
            </a:r>
            <a:endParaRPr lang="en-US" sz="1100"/>
          </a:p>
        </p:txBody>
      </p:sp>
      <p:sp>
        <p:nvSpPr>
          <p:cNvPr id="3" name="TextBox 3"/>
          <p:cNvSpPr txBox="1"/>
          <p:nvPr/>
        </p:nvSpPr>
        <p:spPr>
          <a:xfrm>
            <a:off x="6756400" y="3429000"/>
            <a:ext cx="4762500" cy="952500"/>
          </a:xfrm>
          <a:prstGeom prst="rect">
            <a:avLst/>
          </a:prstGeom>
          <a:ln>
            <a:headEnd type="none"/>
            <a:tailEnd type="none"/>
          </a:ln>
        </p:spPr>
        <p:txBody>
          <a:bodyPr vert="horz" wrap="square" lIns="91440" tIns="45720" rIns="91440" bIns="45720" rtlCol="0" anchor="t" anchorCtr="0"/>
          <a:lstStyle/>
          <a:p>
            <a:pPr algn="r">
              <a:lnSpc>
                <a:spcPct val="120000"/>
              </a:lnSpc>
              <a:spcBef>
                <a:spcPts val="1000"/>
              </a:spcBef>
              <a:defRPr/>
            </a:pPr>
            <a:r>
              <a:rPr lang="en-US" sz="1600" b="0" i="0">
                <a:ln/>
                <a:solidFill>
                  <a:srgbClr val="FFFFFF">
                    <a:alpha val="100000"/>
                  </a:srgbClr>
                </a:solidFill>
                <a:latin typeface="微软雅黑"/>
                <a:ea typeface="微软雅黑"/>
                <a:cs typeface="微软雅黑"/>
              </a:rPr>
              <a:t>深入分析推荐算法导致“信息茧房”与极端化的广泛社会危害，并从技术实现层面剖析其背后的驱动机制。</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00e60176-7c1b-4149-8a44-57be68f1c0b4"/>
          <p:cNvGrpSpPr/>
          <p:nvPr/>
        </p:nvGrpSpPr>
        <p:grpSpPr>
          <a:xfrm>
            <a:off x="660399" y="1130300"/>
            <a:ext cx="10858500" cy="5003801"/>
            <a:chOff x="660399" y="1130300"/>
            <a:chExt cx="10858500" cy="5003801"/>
          </a:xfrm>
        </p:grpSpPr>
        <p:sp>
          <p:nvSpPr>
            <p:cNvPr id="3" name="AutoShape 3"/>
            <p:cNvSpPr/>
            <p:nvPr/>
          </p:nvSpPr>
          <p:spPr>
            <a:xfrm>
              <a:off x="1231177" y="2197102"/>
              <a:ext cx="7065800" cy="0"/>
            </a:xfrm>
            <a:prstGeom prst="line">
              <a:avLst/>
            </a:prstGeom>
            <a:ln w="6350">
              <a:solidFill>
                <a:srgbClr val="FF6100">
                  <a:alpha val="100000"/>
                </a:srgbClr>
              </a:solidFill>
              <a:prstDash val="solid"/>
              <a:headEnd type="none"/>
              <a:tailEnd type="none"/>
            </a:ln>
          </p:spPr>
        </p:sp>
        <p:sp>
          <p:nvSpPr>
            <p:cNvPr id="4" name="AutoShape 4"/>
            <p:cNvSpPr/>
            <p:nvPr/>
          </p:nvSpPr>
          <p:spPr>
            <a:xfrm>
              <a:off x="660399" y="2616205"/>
              <a:ext cx="10858500" cy="3517896"/>
            </a:xfrm>
            <a:prstGeom prst="roundRect">
              <a:avLst>
                <a:gd name="adj" fmla="val 0"/>
              </a:avLst>
            </a:prstGeom>
            <a:ln w="12700">
              <a:solidFill>
                <a:srgbClr val="FF6100">
                  <a:alpha val="100000"/>
                </a:srgbClr>
              </a:solidFill>
              <a:headEnd type="none"/>
              <a:tailEnd type="none"/>
            </a:ln>
          </p:spPr>
        </p:sp>
        <p:sp>
          <p:nvSpPr>
            <p:cNvPr id="5" name="TextBox 5"/>
            <p:cNvSpPr txBox="1"/>
            <p:nvPr/>
          </p:nvSpPr>
          <p:spPr>
            <a:xfrm flipH="1">
              <a:off x="660399" y="1130300"/>
              <a:ext cx="10858500" cy="647698"/>
            </a:xfrm>
            <a:prstGeom prst="rect">
              <a:avLst/>
            </a:prstGeom>
            <a:ln>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微软雅黑"/>
                  <a:ea typeface="微软雅黑"/>
                  <a:cs typeface="微软雅黑"/>
                </a:rPr>
                <a:t>个体认知与社会共识的双重撕裂</a:t>
              </a:r>
              <a:endParaRPr lang="en-US" sz="1100"/>
            </a:p>
          </p:txBody>
        </p:sp>
        <p:grpSp>
          <p:nvGrpSpPr>
            <p:cNvPr id="6" name="Group 6"/>
            <p:cNvGrpSpPr/>
            <p:nvPr/>
          </p:nvGrpSpPr>
          <p:grpSpPr>
            <a:xfrm>
              <a:off x="747171" y="2003252"/>
              <a:ext cx="3389721" cy="4056788"/>
              <a:chOff x="747171" y="2003252"/>
              <a:chExt cx="3389721" cy="4056788"/>
            </a:xfrm>
          </p:grpSpPr>
          <p:sp>
            <p:nvSpPr>
              <p:cNvPr id="7" name="TextBox 7"/>
              <p:cNvSpPr txBox="1"/>
              <p:nvPr/>
            </p:nvSpPr>
            <p:spPr>
              <a:xfrm>
                <a:off x="843477" y="2003252"/>
                <a:ext cx="387700" cy="387700"/>
              </a:xfrm>
              <a:prstGeom prst="rect">
                <a:avLst/>
              </a:prstGeom>
              <a:solidFill>
                <a:srgbClr val="FF6100">
                  <a:alpha val="94901"/>
                  <a:lumMod val="75000"/>
                </a:srgbClr>
              </a:solidFill>
              <a:ln>
                <a:headEnd type="none"/>
                <a:tailEnd type="none"/>
              </a:ln>
            </p:spPr>
            <p:txBody>
              <a:bodyPr vert="horz" wrap="none" lIns="68575" tIns="34275" rIns="68575" bIns="34275" rtlCol="0" anchor="ctr" anchorCtr="0"/>
              <a:lstStyle/>
              <a:p>
                <a:pPr algn="ctr">
                  <a:defRPr/>
                </a:pPr>
                <a:r>
                  <a:rPr lang="en-US" sz="1400" b="1" i="0">
                    <a:ln/>
                    <a:solidFill>
                      <a:srgbClr val="FFFFFF">
                        <a:alpha val="100000"/>
                      </a:srgbClr>
                    </a:solidFill>
                    <a:latin typeface="Arial"/>
                    <a:ea typeface="Arial"/>
                    <a:cs typeface="Arial"/>
                  </a:rPr>
                  <a:t>1</a:t>
                </a:r>
                <a:endParaRPr lang="en-US" sz="1100"/>
              </a:p>
            </p:txBody>
          </p:sp>
          <p:sp>
            <p:nvSpPr>
              <p:cNvPr id="8" name="TextBox 8"/>
              <p:cNvSpPr txBox="1"/>
              <p:nvPr/>
            </p:nvSpPr>
            <p:spPr>
              <a:xfrm>
                <a:off x="747171" y="2738762"/>
                <a:ext cx="3389721" cy="13059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ln/>
                    <a:solidFill>
                      <a:srgbClr val="000000">
                        <a:alpha val="100000"/>
                      </a:srgbClr>
                    </a:solidFill>
                    <a:latin typeface="微软雅黑"/>
                    <a:ea typeface="微软雅黑"/>
                    <a:cs typeface="微软雅黑"/>
                  </a:rPr>
                  <a:t>个体认知固化</a:t>
                </a:r>
                <a:endParaRPr lang="en-US" sz="1100"/>
              </a:p>
            </p:txBody>
          </p:sp>
          <p:sp>
            <p:nvSpPr>
              <p:cNvPr id="9" name="TextBox 9"/>
              <p:cNvSpPr txBox="1"/>
              <p:nvPr/>
            </p:nvSpPr>
            <p:spPr>
              <a:xfrm>
                <a:off x="748697" y="4044710"/>
                <a:ext cx="3383257" cy="201533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用户长期沉浸在高度同质化的信息流中，其认知框架和世界观被不断强化，变得日益固化，难以接受不同观点，丧失批判性思考能力。</a:t>
                </a:r>
                <a:endParaRPr lang="en-US" sz="1100"/>
              </a:p>
            </p:txBody>
          </p:sp>
        </p:grpSp>
        <p:grpSp>
          <p:nvGrpSpPr>
            <p:cNvPr id="10" name="Group 10"/>
            <p:cNvGrpSpPr/>
            <p:nvPr/>
          </p:nvGrpSpPr>
          <p:grpSpPr>
            <a:xfrm>
              <a:off x="4398133" y="2003252"/>
              <a:ext cx="3389721" cy="4056788"/>
              <a:chOff x="4398133" y="2003252"/>
              <a:chExt cx="3389721" cy="4056788"/>
            </a:xfrm>
          </p:grpSpPr>
          <p:sp>
            <p:nvSpPr>
              <p:cNvPr id="11" name="TextBox 11"/>
              <p:cNvSpPr txBox="1"/>
              <p:nvPr/>
            </p:nvSpPr>
            <p:spPr>
              <a:xfrm>
                <a:off x="4494439" y="2003252"/>
                <a:ext cx="387700" cy="387700"/>
              </a:xfrm>
              <a:prstGeom prst="rect">
                <a:avLst/>
              </a:prstGeom>
              <a:solidFill>
                <a:srgbClr val="FF6100">
                  <a:alpha val="94901"/>
                  <a:lumMod val="75000"/>
                </a:srgbClr>
              </a:solidFill>
              <a:ln>
                <a:headEnd type="none"/>
                <a:tailEnd type="none"/>
              </a:ln>
            </p:spPr>
            <p:txBody>
              <a:bodyPr vert="horz" wrap="none" lIns="68575" tIns="34275" rIns="68575" bIns="34275" rtlCol="0" anchor="ctr" anchorCtr="0"/>
              <a:lstStyle/>
              <a:p>
                <a:pPr algn="ctr">
                  <a:defRPr/>
                </a:pPr>
                <a:r>
                  <a:rPr lang="en-US" sz="1400" b="1" i="0">
                    <a:ln/>
                    <a:solidFill>
                      <a:srgbClr val="FFFFFF">
                        <a:alpha val="100000"/>
                      </a:srgbClr>
                    </a:solidFill>
                    <a:latin typeface="Arial"/>
                    <a:ea typeface="Arial"/>
                    <a:cs typeface="Arial"/>
                  </a:rPr>
                  <a:t>2</a:t>
                </a:r>
                <a:endParaRPr lang="en-US" sz="1100"/>
              </a:p>
            </p:txBody>
          </p:sp>
          <p:sp>
            <p:nvSpPr>
              <p:cNvPr id="12" name="TextBox 12"/>
              <p:cNvSpPr txBox="1"/>
              <p:nvPr/>
            </p:nvSpPr>
            <p:spPr>
              <a:xfrm>
                <a:off x="4398133" y="2738762"/>
                <a:ext cx="3389721" cy="13059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ln/>
                    <a:solidFill>
                      <a:srgbClr val="000000">
                        <a:alpha val="100000"/>
                      </a:srgbClr>
                    </a:solidFill>
                    <a:latin typeface="微软雅黑"/>
                    <a:ea typeface="微软雅黑"/>
                    <a:cs typeface="微软雅黑"/>
                  </a:rPr>
                  <a:t>社会极化加剧</a:t>
                </a:r>
                <a:endParaRPr lang="en-US" sz="1100"/>
              </a:p>
            </p:txBody>
          </p:sp>
          <p:sp>
            <p:nvSpPr>
              <p:cNvPr id="13" name="TextBox 13"/>
              <p:cNvSpPr txBox="1"/>
              <p:nvPr/>
            </p:nvSpPr>
            <p:spPr>
              <a:xfrm>
                <a:off x="4399659" y="4044710"/>
                <a:ext cx="3383257" cy="201533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大量用户被分割在各自的信息“回音室”中，不同群体间的理解与共识越来越难达成。社会整体的对立和撕裂因此加剧，为群体性事件和政治动荡埋下隐患。</a:t>
                </a:r>
                <a:endParaRPr lang="en-US" sz="1100"/>
              </a:p>
            </p:txBody>
          </p:sp>
        </p:grpSp>
        <p:grpSp>
          <p:nvGrpSpPr>
            <p:cNvPr id="14" name="Group 14"/>
            <p:cNvGrpSpPr/>
            <p:nvPr/>
          </p:nvGrpSpPr>
          <p:grpSpPr>
            <a:xfrm>
              <a:off x="8049095" y="2003252"/>
              <a:ext cx="3389721" cy="4056788"/>
              <a:chOff x="8049095" y="2003252"/>
              <a:chExt cx="3389721" cy="4056788"/>
            </a:xfrm>
          </p:grpSpPr>
          <p:sp>
            <p:nvSpPr>
              <p:cNvPr id="15" name="TextBox 15"/>
              <p:cNvSpPr txBox="1"/>
              <p:nvPr/>
            </p:nvSpPr>
            <p:spPr>
              <a:xfrm>
                <a:off x="8145401" y="2003252"/>
                <a:ext cx="387700" cy="387700"/>
              </a:xfrm>
              <a:prstGeom prst="rect">
                <a:avLst/>
              </a:prstGeom>
              <a:solidFill>
                <a:srgbClr val="FF6100">
                  <a:alpha val="94901"/>
                  <a:lumMod val="75000"/>
                </a:srgbClr>
              </a:solidFill>
              <a:ln>
                <a:headEnd type="none"/>
                <a:tailEnd type="none"/>
              </a:ln>
            </p:spPr>
            <p:txBody>
              <a:bodyPr vert="horz" wrap="none" lIns="68575" tIns="34275" rIns="68575" bIns="34275" rtlCol="0" anchor="ctr" anchorCtr="0"/>
              <a:lstStyle/>
              <a:p>
                <a:pPr algn="ctr">
                  <a:defRPr/>
                </a:pPr>
                <a:r>
                  <a:rPr lang="en-US" sz="1400" b="1" i="0">
                    <a:ln/>
                    <a:solidFill>
                      <a:srgbClr val="FFFFFF">
                        <a:alpha val="100000"/>
                      </a:srgbClr>
                    </a:solidFill>
                    <a:latin typeface="Arial"/>
                    <a:ea typeface="Arial"/>
                    <a:cs typeface="Arial"/>
                  </a:rPr>
                  <a:t>3</a:t>
                </a:r>
                <a:endParaRPr lang="en-US" sz="1100"/>
              </a:p>
            </p:txBody>
          </p:sp>
          <p:sp>
            <p:nvSpPr>
              <p:cNvPr id="16" name="TextBox 16"/>
              <p:cNvSpPr txBox="1"/>
              <p:nvPr/>
            </p:nvSpPr>
            <p:spPr>
              <a:xfrm>
                <a:off x="8049095" y="2738762"/>
                <a:ext cx="3389721" cy="1305947"/>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800" b="1" i="0">
                    <a:ln/>
                    <a:solidFill>
                      <a:srgbClr val="000000">
                        <a:alpha val="100000"/>
                      </a:srgbClr>
                    </a:solidFill>
                    <a:latin typeface="微软雅黑"/>
                    <a:ea typeface="微软雅黑"/>
                    <a:cs typeface="微软雅黑"/>
                  </a:rPr>
                  <a:t>民主制度受威胁</a:t>
                </a:r>
                <a:endParaRPr lang="en-US" sz="1100"/>
              </a:p>
            </p:txBody>
          </p:sp>
          <p:sp>
            <p:nvSpPr>
              <p:cNvPr id="17" name="TextBox 17"/>
              <p:cNvSpPr txBox="1"/>
              <p:nvPr/>
            </p:nvSpPr>
            <p:spPr>
              <a:xfrm>
                <a:off x="8050621" y="4044710"/>
                <a:ext cx="3383257" cy="201533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健康的民主制度依赖于公民能够接触到多元、可靠的信息，并在此基础上进行理性判断。而算法推荐的“信息茧房”恰恰破坏了这一基础，威胁了民主制度的根基。</a:t>
                </a:r>
                <a:endParaRPr lang="en-US" sz="1100"/>
              </a:p>
            </p:txBody>
          </p:sp>
        </p:grpSp>
      </p:grpSp>
      <p:sp>
        <p:nvSpPr>
          <p:cNvPr id="18" name="TextBox 18"/>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社会层面深远影响</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d4e551a6-fbe0-499c-a643-ab26545f56cc"/>
          <p:cNvGrpSpPr/>
          <p:nvPr/>
        </p:nvGrpSpPr>
        <p:grpSpPr>
          <a:xfrm>
            <a:off x="660399" y="1130300"/>
            <a:ext cx="10858501" cy="4509429"/>
            <a:chOff x="660399" y="1130300"/>
            <a:chExt cx="10858501" cy="4509429"/>
          </a:xfrm>
        </p:grpSpPr>
        <p:sp>
          <p:nvSpPr>
            <p:cNvPr id="3" name="TextBox 3"/>
            <p:cNvSpPr txBox="1"/>
            <p:nvPr/>
          </p:nvSpPr>
          <p:spPr>
            <a:xfrm>
              <a:off x="660399" y="1130300"/>
              <a:ext cx="10858500" cy="553534"/>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微软雅黑"/>
                  <a:ea typeface="微软雅黑"/>
                  <a:cs typeface="微软雅黑"/>
                </a:rPr>
                <a:t>优化目标与反馈循环的内在缺陷</a:t>
              </a:r>
              <a:endParaRPr lang="en-US" sz="1100"/>
            </a:p>
          </p:txBody>
        </p:sp>
        <p:grpSp>
          <p:nvGrpSpPr>
            <p:cNvPr id="4" name="Group 4"/>
            <p:cNvGrpSpPr/>
            <p:nvPr/>
          </p:nvGrpSpPr>
          <p:grpSpPr>
            <a:xfrm>
              <a:off x="660400" y="1970000"/>
              <a:ext cx="2570711" cy="3669729"/>
              <a:chOff x="660400" y="1970000"/>
              <a:chExt cx="2570711" cy="3669729"/>
            </a:xfrm>
          </p:grpSpPr>
          <p:sp>
            <p:nvSpPr>
              <p:cNvPr id="5" name="AutoShape 5"/>
              <p:cNvSpPr/>
              <p:nvPr/>
            </p:nvSpPr>
            <p:spPr>
              <a:xfrm>
                <a:off x="660400" y="1970000"/>
                <a:ext cx="2570711" cy="3669729"/>
              </a:xfrm>
              <a:prstGeom prst="roundRect">
                <a:avLst>
                  <a:gd name="adj" fmla="val 1600"/>
                </a:avLst>
              </a:prstGeom>
              <a:solidFill>
                <a:srgbClr val="000000">
                  <a:alpha val="5098"/>
                </a:srgbClr>
              </a:solidFill>
              <a:ln>
                <a:prstDash val="solid"/>
                <a:headEnd type="none"/>
                <a:tailEnd type="none"/>
              </a:ln>
            </p:spPr>
          </p:sp>
          <p:sp>
            <p:nvSpPr>
              <p:cNvPr id="6" name="TextBox 6"/>
              <p:cNvSpPr txBox="1"/>
              <p:nvPr/>
            </p:nvSpPr>
            <p:spPr>
              <a:xfrm>
                <a:off x="758392" y="2695575"/>
                <a:ext cx="2374728" cy="64633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核心优化目标</a:t>
                </a:r>
                <a:endParaRPr lang="en-US" sz="1100"/>
              </a:p>
            </p:txBody>
          </p:sp>
          <p:sp>
            <p:nvSpPr>
              <p:cNvPr id="7" name="TextBox 7"/>
              <p:cNvSpPr txBox="1"/>
              <p:nvPr/>
            </p:nvSpPr>
            <p:spPr>
              <a:xfrm>
                <a:off x="758392" y="3341904"/>
                <a:ext cx="2374728" cy="2239746"/>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推荐系统的核心商业目标是最大化用户参与度（如停留时长、点击率），这是其一切算法模型优化的最终导向。</a:t>
                </a:r>
                <a:endParaRPr lang="en-US" sz="1100"/>
              </a:p>
            </p:txBody>
          </p:sp>
          <p:sp>
            <p:nvSpPr>
              <p:cNvPr id="8" name="TextBox 8"/>
              <p:cNvSpPr txBox="1"/>
              <p:nvPr/>
            </p:nvSpPr>
            <p:spPr>
              <a:xfrm>
                <a:off x="880140" y="2164556"/>
                <a:ext cx="378000" cy="376296"/>
              </a:xfrm>
              <a:prstGeom prst="roundRect">
                <a:avLst>
                  <a:gd name="adj" fmla="val 10458"/>
                </a:avLst>
              </a:prstGeom>
              <a:solidFill>
                <a:srgbClr val="FF6100">
                  <a:alpha val="100000"/>
                </a:srgbClr>
              </a:solidFill>
              <a:ln>
                <a:headEnd type="none"/>
                <a:tailEnd type="none"/>
              </a:ln>
            </p:spPr>
            <p:txBody>
              <a:bodyPr vert="horz" wrap="none" lIns="91440" tIns="45720" rIns="91440" bIns="45720" rtlCol="0" anchor="ctr" anchorCtr="0"/>
              <a:lstStyle/>
              <a:p>
                <a:pPr algn="ctr">
                  <a:lnSpc>
                    <a:spcPct val="108000"/>
                  </a:lnSpc>
                  <a:defRPr/>
                </a:pPr>
                <a:r>
                  <a:rPr lang="en-US" sz="1600" b="1" i="0">
                    <a:ln/>
                    <a:solidFill>
                      <a:srgbClr val="FFFFFF">
                        <a:alpha val="100000"/>
                      </a:srgbClr>
                    </a:solidFill>
                    <a:latin typeface="Arial"/>
                    <a:ea typeface="Arial"/>
                    <a:cs typeface="Arial"/>
                  </a:rPr>
                  <a:t>1</a:t>
                </a:r>
                <a:endParaRPr lang="en-US" sz="1100"/>
              </a:p>
            </p:txBody>
          </p:sp>
        </p:grpSp>
        <p:grpSp>
          <p:nvGrpSpPr>
            <p:cNvPr id="9" name="Group 9"/>
            <p:cNvGrpSpPr/>
            <p:nvPr/>
          </p:nvGrpSpPr>
          <p:grpSpPr>
            <a:xfrm>
              <a:off x="3422996" y="1970000"/>
              <a:ext cx="2570711" cy="3669729"/>
              <a:chOff x="3422996" y="1970000"/>
              <a:chExt cx="2570711" cy="3669729"/>
            </a:xfrm>
          </p:grpSpPr>
          <p:sp>
            <p:nvSpPr>
              <p:cNvPr id="10" name="AutoShape 10"/>
              <p:cNvSpPr/>
              <p:nvPr/>
            </p:nvSpPr>
            <p:spPr>
              <a:xfrm>
                <a:off x="3422996" y="1970000"/>
                <a:ext cx="2570711" cy="3669729"/>
              </a:xfrm>
              <a:prstGeom prst="roundRect">
                <a:avLst>
                  <a:gd name="adj" fmla="val 1600"/>
                </a:avLst>
              </a:prstGeom>
              <a:solidFill>
                <a:srgbClr val="000000">
                  <a:alpha val="5098"/>
                </a:srgbClr>
              </a:solidFill>
              <a:ln>
                <a:prstDash val="solid"/>
                <a:headEnd type="none"/>
                <a:tailEnd type="none"/>
              </a:ln>
            </p:spPr>
          </p:sp>
          <p:sp>
            <p:nvSpPr>
              <p:cNvPr id="11" name="TextBox 11"/>
              <p:cNvSpPr txBox="1"/>
              <p:nvPr/>
            </p:nvSpPr>
            <p:spPr>
              <a:xfrm>
                <a:off x="3520988" y="2695575"/>
                <a:ext cx="2374728" cy="64633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代理指标简化</a:t>
                </a:r>
                <a:endParaRPr lang="en-US" sz="1100"/>
              </a:p>
            </p:txBody>
          </p:sp>
          <p:sp>
            <p:nvSpPr>
              <p:cNvPr id="12" name="TextBox 12"/>
              <p:cNvSpPr txBox="1"/>
              <p:nvPr/>
            </p:nvSpPr>
            <p:spPr>
              <a:xfrm>
                <a:off x="3520988" y="3341904"/>
                <a:ext cx="2374728" cy="2239746"/>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工程实践中，复杂的“用户满意度”被简化为“是否点击”、“观看时长”等易于量化的代理指标。愤怒、猎奇、极端内容天然具备更高的点击吸引力。</a:t>
                </a:r>
                <a:endParaRPr lang="en-US" sz="1100"/>
              </a:p>
            </p:txBody>
          </p:sp>
          <p:sp>
            <p:nvSpPr>
              <p:cNvPr id="13" name="TextBox 13"/>
              <p:cNvSpPr txBox="1"/>
              <p:nvPr/>
            </p:nvSpPr>
            <p:spPr>
              <a:xfrm>
                <a:off x="3642736" y="2164556"/>
                <a:ext cx="378000" cy="376296"/>
              </a:xfrm>
              <a:prstGeom prst="roundRect">
                <a:avLst>
                  <a:gd name="adj" fmla="val 10458"/>
                </a:avLst>
              </a:prstGeom>
              <a:solidFill>
                <a:srgbClr val="F28217">
                  <a:alpha val="100000"/>
                </a:srgbClr>
              </a:solidFill>
              <a:ln>
                <a:headEnd type="none"/>
                <a:tailEnd type="none"/>
              </a:ln>
            </p:spPr>
            <p:txBody>
              <a:bodyPr vert="horz" wrap="none" lIns="91440" tIns="45720" rIns="91440" bIns="45720" rtlCol="0" anchor="ctr" anchorCtr="0"/>
              <a:lstStyle/>
              <a:p>
                <a:pPr algn="ctr">
                  <a:lnSpc>
                    <a:spcPct val="108000"/>
                  </a:lnSpc>
                  <a:defRPr/>
                </a:pPr>
                <a:r>
                  <a:rPr lang="en-US" sz="1600" b="1" i="0">
                    <a:ln/>
                    <a:solidFill>
                      <a:srgbClr val="FFFFFF">
                        <a:alpha val="100000"/>
                      </a:srgbClr>
                    </a:solidFill>
                    <a:latin typeface="Arial"/>
                    <a:ea typeface="Arial"/>
                    <a:cs typeface="Arial"/>
                  </a:rPr>
                  <a:t>2</a:t>
                </a:r>
                <a:endParaRPr lang="en-US" sz="1100"/>
              </a:p>
            </p:txBody>
          </p:sp>
        </p:grpSp>
        <p:grpSp>
          <p:nvGrpSpPr>
            <p:cNvPr id="14" name="Group 14"/>
            <p:cNvGrpSpPr/>
            <p:nvPr/>
          </p:nvGrpSpPr>
          <p:grpSpPr>
            <a:xfrm>
              <a:off x="6185593" y="1970000"/>
              <a:ext cx="2570711" cy="3669729"/>
              <a:chOff x="6185593" y="1970000"/>
              <a:chExt cx="2570711" cy="3669729"/>
            </a:xfrm>
          </p:grpSpPr>
          <p:sp>
            <p:nvSpPr>
              <p:cNvPr id="15" name="AutoShape 15"/>
              <p:cNvSpPr/>
              <p:nvPr/>
            </p:nvSpPr>
            <p:spPr>
              <a:xfrm>
                <a:off x="6185593" y="1970000"/>
                <a:ext cx="2570711" cy="3669729"/>
              </a:xfrm>
              <a:prstGeom prst="roundRect">
                <a:avLst>
                  <a:gd name="adj" fmla="val 1600"/>
                </a:avLst>
              </a:prstGeom>
              <a:solidFill>
                <a:srgbClr val="000000">
                  <a:alpha val="5098"/>
                </a:srgbClr>
              </a:solidFill>
              <a:ln>
                <a:prstDash val="solid"/>
                <a:headEnd type="none"/>
                <a:tailEnd type="none"/>
              </a:ln>
            </p:spPr>
          </p:sp>
          <p:sp>
            <p:nvSpPr>
              <p:cNvPr id="16" name="TextBox 16"/>
              <p:cNvSpPr txBox="1"/>
              <p:nvPr/>
            </p:nvSpPr>
            <p:spPr>
              <a:xfrm>
                <a:off x="6283585" y="2695575"/>
                <a:ext cx="2374728" cy="64633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协同过滤陷阱</a:t>
                </a:r>
                <a:endParaRPr lang="en-US" sz="1100"/>
              </a:p>
            </p:txBody>
          </p:sp>
          <p:sp>
            <p:nvSpPr>
              <p:cNvPr id="17" name="TextBox 17"/>
              <p:cNvSpPr txBox="1"/>
              <p:nvPr/>
            </p:nvSpPr>
            <p:spPr>
              <a:xfrm>
                <a:off x="6283585" y="3341904"/>
                <a:ext cx="2374728" cy="2239746"/>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基于用户行为的协同过滤算法，会将用户引入兴趣的“长尾”地带。观看过一次边缘内容，就可能被推荐更多同类、更极端的内容，形成恶性循环。</a:t>
                </a:r>
                <a:endParaRPr lang="en-US" sz="1100"/>
              </a:p>
            </p:txBody>
          </p:sp>
          <p:sp>
            <p:nvSpPr>
              <p:cNvPr id="18" name="TextBox 18"/>
              <p:cNvSpPr txBox="1"/>
              <p:nvPr/>
            </p:nvSpPr>
            <p:spPr>
              <a:xfrm>
                <a:off x="6405333" y="2164556"/>
                <a:ext cx="378000" cy="376296"/>
              </a:xfrm>
              <a:prstGeom prst="roundRect">
                <a:avLst>
                  <a:gd name="adj" fmla="val 10458"/>
                </a:avLst>
              </a:prstGeom>
              <a:solidFill>
                <a:srgbClr val="FF6100">
                  <a:alpha val="100000"/>
                </a:srgbClr>
              </a:solidFill>
              <a:ln>
                <a:headEnd type="none"/>
                <a:tailEnd type="none"/>
              </a:ln>
            </p:spPr>
            <p:txBody>
              <a:bodyPr vert="horz" wrap="none" lIns="91440" tIns="45720" rIns="91440" bIns="45720" rtlCol="0" anchor="ctr" anchorCtr="0"/>
              <a:lstStyle/>
              <a:p>
                <a:pPr algn="ctr">
                  <a:lnSpc>
                    <a:spcPct val="108000"/>
                  </a:lnSpc>
                  <a:defRPr/>
                </a:pPr>
                <a:r>
                  <a:rPr lang="en-US" sz="1600" b="1" i="0">
                    <a:ln/>
                    <a:solidFill>
                      <a:srgbClr val="FFFFFF">
                        <a:alpha val="100000"/>
                      </a:srgbClr>
                    </a:solidFill>
                    <a:latin typeface="Arial"/>
                    <a:ea typeface="Arial"/>
                    <a:cs typeface="Arial"/>
                  </a:rPr>
                  <a:t>3</a:t>
                </a:r>
                <a:endParaRPr lang="en-US" sz="1100"/>
              </a:p>
            </p:txBody>
          </p:sp>
        </p:grpSp>
        <p:grpSp>
          <p:nvGrpSpPr>
            <p:cNvPr id="19" name="Group 19"/>
            <p:cNvGrpSpPr/>
            <p:nvPr/>
          </p:nvGrpSpPr>
          <p:grpSpPr>
            <a:xfrm>
              <a:off x="8948189" y="1970000"/>
              <a:ext cx="2570711" cy="3669729"/>
              <a:chOff x="8948189" y="1970000"/>
              <a:chExt cx="2570711" cy="3669729"/>
            </a:xfrm>
          </p:grpSpPr>
          <p:sp>
            <p:nvSpPr>
              <p:cNvPr id="20" name="AutoShape 20"/>
              <p:cNvSpPr/>
              <p:nvPr/>
            </p:nvSpPr>
            <p:spPr>
              <a:xfrm>
                <a:off x="8948189" y="1970000"/>
                <a:ext cx="2570711" cy="3669729"/>
              </a:xfrm>
              <a:prstGeom prst="roundRect">
                <a:avLst>
                  <a:gd name="adj" fmla="val 1600"/>
                </a:avLst>
              </a:prstGeom>
              <a:solidFill>
                <a:srgbClr val="000000">
                  <a:alpha val="5098"/>
                </a:srgbClr>
              </a:solidFill>
              <a:ln>
                <a:prstDash val="solid"/>
                <a:headEnd type="none"/>
                <a:tailEnd type="none"/>
              </a:ln>
            </p:spPr>
          </p:sp>
          <p:sp>
            <p:nvSpPr>
              <p:cNvPr id="21" name="TextBox 21"/>
              <p:cNvSpPr txBox="1"/>
              <p:nvPr/>
            </p:nvSpPr>
            <p:spPr>
              <a:xfrm>
                <a:off x="9046181" y="2695575"/>
                <a:ext cx="2374728" cy="64633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强化学习驱动</a:t>
                </a:r>
                <a:endParaRPr lang="en-US" sz="1100"/>
              </a:p>
            </p:txBody>
          </p:sp>
          <p:sp>
            <p:nvSpPr>
              <p:cNvPr id="22" name="TextBox 22"/>
              <p:cNvSpPr txBox="1"/>
              <p:nvPr/>
            </p:nvSpPr>
            <p:spPr>
              <a:xfrm>
                <a:off x="9046181" y="3341904"/>
                <a:ext cx="2374728" cy="2239746"/>
              </a:xfrm>
              <a:prstGeom prst="rect">
                <a:avLst/>
              </a:prstGeom>
              <a:ln>
                <a:headEnd type="none"/>
                <a:tailEnd type="none"/>
              </a:ln>
            </p:spPr>
            <p:txBody>
              <a:bodyPr vert="horz" wrap="square" lIns="90000" tIns="46800" rIns="90000" bIns="4680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算法通过不断试错，学习哪些内容组合能带来最大的“奖励”（用户互动），从而自主地探索并构建出通往极端内容的推荐路径。</a:t>
                </a:r>
                <a:endParaRPr lang="en-US" sz="1100"/>
              </a:p>
            </p:txBody>
          </p:sp>
          <p:sp>
            <p:nvSpPr>
              <p:cNvPr id="23" name="TextBox 23"/>
              <p:cNvSpPr txBox="1"/>
              <p:nvPr/>
            </p:nvSpPr>
            <p:spPr>
              <a:xfrm>
                <a:off x="9167929" y="2164556"/>
                <a:ext cx="378000" cy="376296"/>
              </a:xfrm>
              <a:prstGeom prst="roundRect">
                <a:avLst>
                  <a:gd name="adj" fmla="val 10458"/>
                </a:avLst>
              </a:prstGeom>
              <a:solidFill>
                <a:srgbClr val="F28217">
                  <a:alpha val="100000"/>
                </a:srgbClr>
              </a:solidFill>
              <a:ln>
                <a:headEnd type="none"/>
                <a:tailEnd type="none"/>
              </a:ln>
            </p:spPr>
            <p:txBody>
              <a:bodyPr vert="horz" wrap="none" lIns="91440" tIns="45720" rIns="91440" bIns="45720" rtlCol="0" anchor="ctr" anchorCtr="0"/>
              <a:lstStyle/>
              <a:p>
                <a:pPr algn="ctr">
                  <a:lnSpc>
                    <a:spcPct val="108000"/>
                  </a:lnSpc>
                  <a:defRPr/>
                </a:pPr>
                <a:r>
                  <a:rPr lang="en-US" sz="1600" b="1" i="0">
                    <a:ln/>
                    <a:solidFill>
                      <a:srgbClr val="FFFFFF">
                        <a:alpha val="100000"/>
                      </a:srgbClr>
                    </a:solidFill>
                    <a:latin typeface="Arial"/>
                    <a:ea typeface="Arial"/>
                    <a:cs typeface="Arial"/>
                  </a:rPr>
                  <a:t>4</a:t>
                </a:r>
                <a:endParaRPr lang="en-US" sz="1100"/>
              </a:p>
            </p:txBody>
          </p:sp>
        </p:grpSp>
      </p:grpSp>
      <p:sp>
        <p:nvSpPr>
          <p:cNvPr id="24" name="TextBox 24"/>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技术架构核心成因</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756400" y="2571750"/>
            <a:ext cx="4762500" cy="857250"/>
          </a:xfrm>
          <a:prstGeom prst="rect">
            <a:avLst/>
          </a:prstGeom>
          <a:ln>
            <a:headEnd type="none"/>
            <a:tailEnd type="none"/>
          </a:ln>
        </p:spPr>
        <p:txBody>
          <a:bodyPr vert="horz" wrap="square" lIns="91440" tIns="45720" rIns="91440" bIns="45720" rtlCol="0" anchor="b" anchorCtr="0"/>
          <a:lstStyle/>
          <a:p>
            <a:pPr algn="r">
              <a:lnSpc>
                <a:spcPct val="100000"/>
              </a:lnSpc>
              <a:spcBef>
                <a:spcPts val="0"/>
              </a:spcBef>
              <a:defRPr/>
            </a:pPr>
            <a:r>
              <a:rPr lang="en-US" sz="3600" b="1" i="0">
                <a:ln/>
                <a:solidFill>
                  <a:srgbClr val="FFFFFF">
                    <a:alpha val="100000"/>
                  </a:srgbClr>
                </a:solidFill>
                <a:latin typeface="微软雅黑"/>
                <a:ea typeface="微软雅黑"/>
                <a:cs typeface="微软雅黑"/>
              </a:rPr>
              <a:t>工程伦理问题分析</a:t>
            </a:r>
            <a:endParaRPr lang="en-US" sz="1100"/>
          </a:p>
        </p:txBody>
      </p:sp>
      <p:sp>
        <p:nvSpPr>
          <p:cNvPr id="3" name="TextBox 3"/>
          <p:cNvSpPr txBox="1"/>
          <p:nvPr/>
        </p:nvSpPr>
        <p:spPr>
          <a:xfrm>
            <a:off x="6756400" y="3429000"/>
            <a:ext cx="4762500" cy="952500"/>
          </a:xfrm>
          <a:prstGeom prst="rect">
            <a:avLst/>
          </a:prstGeom>
          <a:ln>
            <a:headEnd type="none"/>
            <a:tailEnd type="none"/>
          </a:ln>
        </p:spPr>
        <p:txBody>
          <a:bodyPr vert="horz" wrap="square" lIns="91440" tIns="45720" rIns="91440" bIns="45720" rtlCol="0" anchor="t" anchorCtr="0"/>
          <a:lstStyle/>
          <a:p>
            <a:pPr algn="r">
              <a:lnSpc>
                <a:spcPct val="120000"/>
              </a:lnSpc>
              <a:spcBef>
                <a:spcPts val="1000"/>
              </a:spcBef>
              <a:defRPr/>
            </a:pPr>
            <a:r>
              <a:rPr lang="en-US" sz="1600" b="0" i="0">
                <a:ln/>
                <a:solidFill>
                  <a:srgbClr val="FFFFFF">
                    <a:alpha val="100000"/>
                  </a:srgbClr>
                </a:solidFill>
                <a:latin typeface="微软雅黑"/>
                <a:ea typeface="微软雅黑"/>
                <a:cs typeface="微软雅黑"/>
              </a:rPr>
              <a:t>围绕核心案例，系统梳理并深入剖析推荐算法背后所蕴含的多重工程伦理困境与价值冲突。</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e29175d5-1f01-46e5-8048-212dccb33a18"/>
          <p:cNvGrpSpPr/>
          <p:nvPr/>
        </p:nvGrpSpPr>
        <p:grpSpPr>
          <a:xfrm>
            <a:off x="660400" y="1130300"/>
            <a:ext cx="10858500" cy="5003800"/>
            <a:chOff x="660400" y="978358"/>
            <a:chExt cx="10858500" cy="5003800"/>
          </a:xfrm>
        </p:grpSpPr>
        <p:sp>
          <p:nvSpPr>
            <p:cNvPr id="3" name="TextBox 3"/>
            <p:cNvSpPr txBox="1"/>
            <p:nvPr/>
          </p:nvSpPr>
          <p:spPr>
            <a:xfrm>
              <a:off x="660400" y="978358"/>
              <a:ext cx="10858500" cy="799738"/>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微软雅黑"/>
                  <a:ea typeface="微软雅黑"/>
                  <a:cs typeface="微软雅黑"/>
                </a:rPr>
                <a:t>算法是纯粹的工具，还是价值的载体？</a:t>
              </a:r>
              <a:endParaRPr lang="en-US" sz="1100"/>
            </a:p>
          </p:txBody>
        </p:sp>
        <p:grpSp>
          <p:nvGrpSpPr>
            <p:cNvPr id="4" name="Group 4"/>
            <p:cNvGrpSpPr/>
            <p:nvPr/>
          </p:nvGrpSpPr>
          <p:grpSpPr>
            <a:xfrm>
              <a:off x="660400" y="2121877"/>
              <a:ext cx="3420000" cy="3860281"/>
              <a:chOff x="886103" y="3793645"/>
              <a:chExt cx="3420000" cy="3995700"/>
            </a:xfrm>
          </p:grpSpPr>
          <p:sp>
            <p:nvSpPr>
              <p:cNvPr id="5" name="AutoShape 5"/>
              <p:cNvSpPr/>
              <p:nvPr/>
            </p:nvSpPr>
            <p:spPr>
              <a:xfrm>
                <a:off x="886103" y="3793645"/>
                <a:ext cx="3420000" cy="3995700"/>
              </a:xfrm>
              <a:prstGeom prst="roundRect">
                <a:avLst>
                  <a:gd name="adj" fmla="val 4512"/>
                </a:avLst>
              </a:prstGeom>
              <a:solidFill>
                <a:srgbClr val="000000">
                  <a:alpha val="7843"/>
                </a:srgbClr>
              </a:solidFill>
              <a:ln>
                <a:prstDash val="solid"/>
                <a:headEnd type="none"/>
                <a:tailEnd type="none"/>
              </a:ln>
            </p:spPr>
          </p:sp>
          <p:sp>
            <p:nvSpPr>
              <p:cNvPr id="6" name="TextBox 6"/>
              <p:cNvSpPr txBox="1"/>
              <p:nvPr/>
            </p:nvSpPr>
            <p:spPr>
              <a:xfrm>
                <a:off x="1066103" y="3950218"/>
                <a:ext cx="2340000" cy="72000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000000">
                        <a:alpha val="100000"/>
                      </a:srgbClr>
                    </a:solidFill>
                    <a:latin typeface="微软雅黑"/>
                    <a:ea typeface="微软雅黑"/>
                    <a:cs typeface="微软雅黑"/>
                  </a:rPr>
                  <a:t>“工具”论观点</a:t>
                </a:r>
                <a:endParaRPr lang="en-US" sz="1100"/>
              </a:p>
            </p:txBody>
          </p:sp>
          <p:sp>
            <p:nvSpPr>
              <p:cNvPr id="7" name="TextBox 7"/>
              <p:cNvSpPr txBox="1"/>
              <p:nvPr/>
            </p:nvSpPr>
            <p:spPr>
              <a:xfrm>
                <a:off x="1078804" y="4670219"/>
                <a:ext cx="3060000" cy="2970883"/>
              </a:xfrm>
              <a:prstGeom prst="rect">
                <a:avLst/>
              </a:prstGeom>
              <a:ln>
                <a:prstDash val="solid"/>
                <a:headEnd type="none"/>
                <a:tailEnd type="none"/>
              </a:ln>
            </p:spPr>
            <p:txBody>
              <a:bodyPr vert="horz" wrap="square" lIns="91440" tIns="45720" rIns="91440" bIns="45720" rtlCol="0" anchor="t" anchorCtr="0"/>
              <a:lstStyle/>
              <a:p>
                <a:pPr algn="l">
                  <a:lnSpc>
                    <a:spcPct val="120000"/>
                  </a:lnSpc>
                  <a:spcAft>
                    <a:spcPts val="1200"/>
                  </a:spcAft>
                  <a:defRPr/>
                </a:pPr>
                <a:r>
                  <a:rPr lang="en-US" sz="1200" b="0" i="0">
                    <a:ln/>
                    <a:solidFill>
                      <a:srgbClr val="000000">
                        <a:alpha val="100000"/>
                      </a:srgbClr>
                    </a:solidFill>
                    <a:latin typeface="微软雅黑"/>
                    <a:ea typeface="微软雅黑"/>
                    <a:cs typeface="微软雅黑"/>
                  </a:rPr>
                  <a:t>技术本身是中立的，它只是执行预设程序的工具。算法推荐内容并无主观恶意，其结果只是对用户行为和商业目标的客观反映。</a:t>
                </a:r>
                <a:endParaRPr lang="en-US" sz="1100"/>
              </a:p>
            </p:txBody>
          </p:sp>
          <p:sp>
            <p:nvSpPr>
              <p:cNvPr id="8" name="AutoShape 8"/>
              <p:cNvSpPr/>
              <p:nvPr/>
            </p:nvSpPr>
            <p:spPr>
              <a:xfrm rot="10800000">
                <a:off x="3477911" y="3793646"/>
                <a:ext cx="576000" cy="576000"/>
              </a:xfrm>
              <a:prstGeom prst="round2SameRect">
                <a:avLst/>
              </a:prstGeom>
              <a:solidFill>
                <a:srgbClr val="FF6100">
                  <a:alpha val="100000"/>
                </a:srgbClr>
              </a:solidFill>
              <a:ln>
                <a:prstDash val="solid"/>
                <a:headEnd type="none"/>
                <a:tailEnd type="none"/>
              </a:ln>
            </p:spPr>
          </p:sp>
          <p:sp>
            <p:nvSpPr>
              <p:cNvPr id="9" name="TextBox 9"/>
              <p:cNvSpPr txBox="1"/>
              <p:nvPr/>
            </p:nvSpPr>
            <p:spPr>
              <a:xfrm>
                <a:off x="3521786" y="3862327"/>
                <a:ext cx="488250" cy="433042"/>
              </a:xfrm>
              <a:prstGeom prst="rect">
                <a:avLst/>
              </a:prstGeom>
              <a:ln>
                <a:prstDash val="solid"/>
                <a:headEnd type="none"/>
                <a:tailEnd type="none"/>
              </a:ln>
            </p:spPr>
            <p:txBody>
              <a:bodyPr vert="horz" wrap="none" lIns="91440" tIns="45720" rIns="91440" bIns="45720" rtlCol="0" anchor="ctr" anchorCtr="0"/>
              <a:lstStyle/>
              <a:p>
                <a:pPr algn="ctr">
                  <a:lnSpc>
                    <a:spcPct val="100000"/>
                  </a:lnSpc>
                  <a:defRPr/>
                </a:pPr>
                <a:r>
                  <a:rPr lang="en-US" sz="1600" b="1" i="0">
                    <a:ln w="15875"/>
                    <a:solidFill>
                      <a:srgbClr val="FFFFFF">
                        <a:alpha val="100000"/>
                      </a:srgbClr>
                    </a:solidFill>
                    <a:latin typeface="Arial"/>
                    <a:ea typeface="Arial"/>
                    <a:cs typeface="Arial"/>
                  </a:rPr>
                  <a:t>01</a:t>
                </a:r>
                <a:endParaRPr lang="en-US" sz="1100"/>
              </a:p>
            </p:txBody>
          </p:sp>
        </p:grpSp>
        <p:grpSp>
          <p:nvGrpSpPr>
            <p:cNvPr id="10" name="Group 10"/>
            <p:cNvGrpSpPr/>
            <p:nvPr/>
          </p:nvGrpSpPr>
          <p:grpSpPr>
            <a:xfrm>
              <a:off x="4386000" y="2121877"/>
              <a:ext cx="3420000" cy="3860281"/>
              <a:chOff x="4541650" y="3793645"/>
              <a:chExt cx="3420000" cy="3995700"/>
            </a:xfrm>
          </p:grpSpPr>
          <p:sp>
            <p:nvSpPr>
              <p:cNvPr id="11" name="AutoShape 11"/>
              <p:cNvSpPr/>
              <p:nvPr/>
            </p:nvSpPr>
            <p:spPr>
              <a:xfrm>
                <a:off x="4541650" y="3793645"/>
                <a:ext cx="3420000" cy="3995700"/>
              </a:xfrm>
              <a:prstGeom prst="roundRect">
                <a:avLst>
                  <a:gd name="adj" fmla="val 4512"/>
                </a:avLst>
              </a:prstGeom>
              <a:solidFill>
                <a:srgbClr val="000000">
                  <a:alpha val="7843"/>
                </a:srgbClr>
              </a:solidFill>
              <a:ln>
                <a:prstDash val="solid"/>
                <a:headEnd type="none"/>
                <a:tailEnd type="none"/>
              </a:ln>
            </p:spPr>
          </p:sp>
          <p:sp>
            <p:nvSpPr>
              <p:cNvPr id="12" name="TextBox 12"/>
              <p:cNvSpPr txBox="1"/>
              <p:nvPr/>
            </p:nvSpPr>
            <p:spPr>
              <a:xfrm>
                <a:off x="4721650" y="3950218"/>
                <a:ext cx="2340000" cy="72000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000000">
                        <a:alpha val="100000"/>
                      </a:srgbClr>
                    </a:solidFill>
                    <a:latin typeface="微软雅黑"/>
                    <a:ea typeface="微软雅黑"/>
                    <a:cs typeface="微软雅黑"/>
                  </a:rPr>
                  <a:t>“价值”论观点</a:t>
                </a:r>
                <a:endParaRPr lang="en-US" sz="1100"/>
              </a:p>
            </p:txBody>
          </p:sp>
          <p:sp>
            <p:nvSpPr>
              <p:cNvPr id="13" name="TextBox 13"/>
              <p:cNvSpPr txBox="1"/>
              <p:nvPr/>
            </p:nvSpPr>
            <p:spPr>
              <a:xfrm>
                <a:off x="4734351" y="4670220"/>
                <a:ext cx="3060000" cy="2970883"/>
              </a:xfrm>
              <a:prstGeom prst="rect">
                <a:avLst/>
              </a:prstGeom>
              <a:ln>
                <a:prstDash val="solid"/>
                <a:headEnd type="none"/>
                <a:tailEnd type="none"/>
              </a:ln>
            </p:spPr>
            <p:txBody>
              <a:bodyPr vert="horz" wrap="square" lIns="91440" tIns="45720" rIns="91440" bIns="45720" rtlCol="0" anchor="t" anchorCtr="0"/>
              <a:lstStyle/>
              <a:p>
                <a:pPr algn="l">
                  <a:lnSpc>
                    <a:spcPct val="120000"/>
                  </a:lnSpc>
                  <a:spcAft>
                    <a:spcPts val="1200"/>
                  </a:spcAft>
                  <a:defRPr/>
                </a:pPr>
                <a:r>
                  <a:rPr lang="en-US" sz="1200" b="0" i="0">
                    <a:ln/>
                    <a:solidFill>
                      <a:srgbClr val="000000">
                        <a:alpha val="100000"/>
                      </a:srgbClr>
                    </a:solidFill>
                    <a:latin typeface="微软雅黑"/>
                    <a:ea typeface="微软雅黑"/>
                    <a:cs typeface="微软雅黑"/>
                  </a:rPr>
                  <a:t>算法的设计、目标函数的选择、特征的加权，都内嵌了开发者的主观价值判断。推荐系统在事实上扮演着“社会信息守门人”的角色，具有强大的价值导向能力。</a:t>
                </a:r>
                <a:endParaRPr lang="en-US" sz="1100"/>
              </a:p>
            </p:txBody>
          </p:sp>
          <p:sp>
            <p:nvSpPr>
              <p:cNvPr id="14" name="AutoShape 14"/>
              <p:cNvSpPr/>
              <p:nvPr/>
            </p:nvSpPr>
            <p:spPr>
              <a:xfrm rot="10800000">
                <a:off x="7133458" y="3793646"/>
                <a:ext cx="576000" cy="576000"/>
              </a:xfrm>
              <a:prstGeom prst="round2SameRect">
                <a:avLst/>
              </a:prstGeom>
              <a:solidFill>
                <a:srgbClr val="FF6100">
                  <a:alpha val="100000"/>
                </a:srgbClr>
              </a:solidFill>
              <a:ln>
                <a:prstDash val="solid"/>
                <a:headEnd type="none"/>
                <a:tailEnd type="none"/>
              </a:ln>
            </p:spPr>
          </p:sp>
          <p:sp>
            <p:nvSpPr>
              <p:cNvPr id="15" name="TextBox 15"/>
              <p:cNvSpPr txBox="1"/>
              <p:nvPr/>
            </p:nvSpPr>
            <p:spPr>
              <a:xfrm>
                <a:off x="7177333" y="3862327"/>
                <a:ext cx="488250" cy="433042"/>
              </a:xfrm>
              <a:prstGeom prst="rect">
                <a:avLst/>
              </a:prstGeom>
              <a:ln>
                <a:prstDash val="solid"/>
                <a:headEnd type="none"/>
                <a:tailEnd type="none"/>
              </a:ln>
            </p:spPr>
            <p:txBody>
              <a:bodyPr vert="horz" wrap="none" lIns="91440" tIns="45720" rIns="91440" bIns="45720" rtlCol="0" anchor="ctr" anchorCtr="0"/>
              <a:lstStyle/>
              <a:p>
                <a:pPr algn="ctr">
                  <a:lnSpc>
                    <a:spcPct val="100000"/>
                  </a:lnSpc>
                  <a:defRPr/>
                </a:pPr>
                <a:r>
                  <a:rPr lang="en-US" sz="1600" b="1" i="0">
                    <a:ln w="15875"/>
                    <a:solidFill>
                      <a:srgbClr val="FFFFFF">
                        <a:alpha val="100000"/>
                      </a:srgbClr>
                    </a:solidFill>
                    <a:latin typeface="Arial"/>
                    <a:ea typeface="Arial"/>
                    <a:cs typeface="Arial"/>
                  </a:rPr>
                  <a:t>02</a:t>
                </a:r>
                <a:endParaRPr lang="en-US" sz="1100"/>
              </a:p>
            </p:txBody>
          </p:sp>
        </p:grpSp>
        <p:grpSp>
          <p:nvGrpSpPr>
            <p:cNvPr id="16" name="Group 16"/>
            <p:cNvGrpSpPr/>
            <p:nvPr/>
          </p:nvGrpSpPr>
          <p:grpSpPr>
            <a:xfrm>
              <a:off x="8098899" y="2121877"/>
              <a:ext cx="3420000" cy="3860281"/>
              <a:chOff x="8197197" y="3793645"/>
              <a:chExt cx="3420000" cy="3995700"/>
            </a:xfrm>
          </p:grpSpPr>
          <p:sp>
            <p:nvSpPr>
              <p:cNvPr id="17" name="AutoShape 17"/>
              <p:cNvSpPr/>
              <p:nvPr/>
            </p:nvSpPr>
            <p:spPr>
              <a:xfrm>
                <a:off x="8197197" y="3793645"/>
                <a:ext cx="3420000" cy="3995700"/>
              </a:xfrm>
              <a:prstGeom prst="roundRect">
                <a:avLst>
                  <a:gd name="adj" fmla="val 4512"/>
                </a:avLst>
              </a:prstGeom>
              <a:solidFill>
                <a:srgbClr val="000000">
                  <a:alpha val="7843"/>
                </a:srgbClr>
              </a:solidFill>
              <a:ln>
                <a:prstDash val="solid"/>
                <a:headEnd type="none"/>
                <a:tailEnd type="none"/>
              </a:ln>
            </p:spPr>
          </p:sp>
          <p:sp>
            <p:nvSpPr>
              <p:cNvPr id="18" name="TextBox 18"/>
              <p:cNvSpPr txBox="1"/>
              <p:nvPr/>
            </p:nvSpPr>
            <p:spPr>
              <a:xfrm>
                <a:off x="8377197" y="3950218"/>
                <a:ext cx="2340000" cy="72000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000000">
                        <a:alpha val="100000"/>
                      </a:srgbClr>
                    </a:solidFill>
                    <a:latin typeface="微软雅黑"/>
                    <a:ea typeface="微软雅黑"/>
                    <a:cs typeface="微软雅黑"/>
                  </a:rPr>
                  <a:t>伦理责任归属</a:t>
                </a:r>
                <a:endParaRPr lang="en-US" sz="1100"/>
              </a:p>
            </p:txBody>
          </p:sp>
          <p:sp>
            <p:nvSpPr>
              <p:cNvPr id="19" name="TextBox 19"/>
              <p:cNvSpPr txBox="1"/>
              <p:nvPr/>
            </p:nvSpPr>
            <p:spPr>
              <a:xfrm>
                <a:off x="8377197" y="4670220"/>
                <a:ext cx="3060000" cy="2970883"/>
              </a:xfrm>
              <a:prstGeom prst="rect">
                <a:avLst/>
              </a:prstGeom>
              <a:ln>
                <a:prstDash val="solid"/>
                <a:headEnd type="none"/>
                <a:tailEnd type="none"/>
              </a:ln>
            </p:spPr>
            <p:txBody>
              <a:bodyPr vert="horz" wrap="square" lIns="91440" tIns="45720" rIns="91440" bIns="45720" rtlCol="0" anchor="t" anchorCtr="0"/>
              <a:lstStyle/>
              <a:p>
                <a:pPr algn="l">
                  <a:lnSpc>
                    <a:spcPct val="120000"/>
                  </a:lnSpc>
                  <a:spcAft>
                    <a:spcPts val="1200"/>
                  </a:spcAft>
                  <a:defRPr/>
                </a:pPr>
                <a:r>
                  <a:rPr lang="en-US" sz="1200" b="0" i="0">
                    <a:ln/>
                    <a:solidFill>
                      <a:srgbClr val="000000">
                        <a:alpha val="100000"/>
                      </a:srgbClr>
                    </a:solidFill>
                    <a:latin typeface="微软雅黑"/>
                    <a:ea typeface="微软雅黑"/>
                    <a:cs typeface="微软雅黑"/>
                  </a:rPr>
                  <a:t>认为技术完全中立，是将工程师从其创造物的社会后果中剥离出来。一旦技术产生广泛社会影响，设计和部署该技术的主体就必须承担相应的伦理责任。</a:t>
                </a:r>
                <a:endParaRPr lang="en-US" sz="1100"/>
              </a:p>
            </p:txBody>
          </p:sp>
          <p:sp>
            <p:nvSpPr>
              <p:cNvPr id="20" name="AutoShape 20"/>
              <p:cNvSpPr/>
              <p:nvPr/>
            </p:nvSpPr>
            <p:spPr>
              <a:xfrm rot="10800000">
                <a:off x="10789005" y="3793646"/>
                <a:ext cx="576000" cy="576000"/>
              </a:xfrm>
              <a:prstGeom prst="round2SameRect">
                <a:avLst/>
              </a:prstGeom>
              <a:solidFill>
                <a:srgbClr val="FF6100">
                  <a:alpha val="100000"/>
                </a:srgbClr>
              </a:solidFill>
              <a:ln>
                <a:prstDash val="solid"/>
                <a:headEnd type="none"/>
                <a:tailEnd type="none"/>
              </a:ln>
            </p:spPr>
          </p:sp>
          <p:sp>
            <p:nvSpPr>
              <p:cNvPr id="21" name="TextBox 21"/>
              <p:cNvSpPr txBox="1"/>
              <p:nvPr/>
            </p:nvSpPr>
            <p:spPr>
              <a:xfrm>
                <a:off x="10832880" y="3862327"/>
                <a:ext cx="488250" cy="433042"/>
              </a:xfrm>
              <a:prstGeom prst="rect">
                <a:avLst/>
              </a:prstGeom>
              <a:ln>
                <a:prstDash val="solid"/>
                <a:headEnd type="none"/>
                <a:tailEnd type="none"/>
              </a:ln>
            </p:spPr>
            <p:txBody>
              <a:bodyPr vert="horz" wrap="none" lIns="91440" tIns="45720" rIns="91440" bIns="45720" rtlCol="0" anchor="ctr" anchorCtr="0"/>
              <a:lstStyle/>
              <a:p>
                <a:pPr algn="ctr">
                  <a:lnSpc>
                    <a:spcPct val="100000"/>
                  </a:lnSpc>
                  <a:defRPr/>
                </a:pPr>
                <a:r>
                  <a:rPr lang="en-US" sz="1600" b="1" i="0">
                    <a:ln w="15875"/>
                    <a:solidFill>
                      <a:srgbClr val="FFFFFF">
                        <a:alpha val="100000"/>
                      </a:srgbClr>
                    </a:solidFill>
                    <a:latin typeface="Arial"/>
                    <a:ea typeface="Arial"/>
                    <a:cs typeface="Arial"/>
                  </a:rPr>
                  <a:t>03</a:t>
                </a:r>
                <a:endParaRPr lang="en-US" sz="1100"/>
              </a:p>
            </p:txBody>
          </p:sp>
        </p:grpSp>
      </p:grpSp>
      <p:sp>
        <p:nvSpPr>
          <p:cNvPr id="22" name="TextBox 22"/>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技术中立性之辩</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691d4030-5e8b-4c22-91e3-244175906a7f"/>
          <p:cNvGrpSpPr/>
          <p:nvPr/>
        </p:nvGrpSpPr>
        <p:grpSpPr>
          <a:xfrm>
            <a:off x="660400" y="1130300"/>
            <a:ext cx="10858500" cy="4451350"/>
            <a:chOff x="660400" y="1130300"/>
            <a:chExt cx="10858500" cy="4451350"/>
          </a:xfrm>
        </p:grpSpPr>
        <p:sp>
          <p:nvSpPr>
            <p:cNvPr id="3" name="AutoShape 3"/>
            <p:cNvSpPr/>
            <p:nvPr/>
          </p:nvSpPr>
          <p:spPr>
            <a:xfrm>
              <a:off x="660400" y="2559514"/>
              <a:ext cx="10858500" cy="3022136"/>
            </a:xfrm>
            <a:prstGeom prst="roundRect">
              <a:avLst>
                <a:gd name="adj" fmla="val 4000"/>
              </a:avLst>
            </a:prstGeom>
            <a:solidFill>
              <a:srgbClr val="000000">
                <a:alpha val="5098"/>
              </a:srgbClr>
            </a:solidFill>
            <a:ln>
              <a:prstDash val="solid"/>
              <a:headEnd type="none"/>
              <a:tailEnd type="none"/>
            </a:ln>
          </p:spPr>
        </p:sp>
        <p:sp>
          <p:nvSpPr>
            <p:cNvPr id="4" name="TextBox 4"/>
            <p:cNvSpPr txBox="1"/>
            <p:nvPr/>
          </p:nvSpPr>
          <p:spPr>
            <a:xfrm>
              <a:off x="660400" y="1130300"/>
              <a:ext cx="10858500" cy="536454"/>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微软雅黑"/>
                  <a:ea typeface="微软雅黑"/>
                  <a:cs typeface="微软雅黑"/>
                </a:rPr>
                <a:t>追求指标还是预防危害？</a:t>
              </a:r>
              <a:endParaRPr lang="en-US" sz="1100"/>
            </a:p>
          </p:txBody>
        </p:sp>
        <p:grpSp>
          <p:nvGrpSpPr>
            <p:cNvPr id="5" name="Group 5"/>
            <p:cNvGrpSpPr/>
            <p:nvPr/>
          </p:nvGrpSpPr>
          <p:grpSpPr>
            <a:xfrm>
              <a:off x="906139" y="2258909"/>
              <a:ext cx="3256425" cy="3005241"/>
              <a:chOff x="1022166" y="1903309"/>
              <a:chExt cx="3256425" cy="3005241"/>
            </a:xfrm>
          </p:grpSpPr>
          <p:sp>
            <p:nvSpPr>
              <p:cNvPr id="6" name="TextBox 6"/>
              <p:cNvSpPr txBox="1"/>
              <p:nvPr/>
            </p:nvSpPr>
            <p:spPr>
              <a:xfrm>
                <a:off x="1022166" y="2585614"/>
                <a:ext cx="3256425" cy="571430"/>
              </a:xfrm>
              <a:prstGeom prst="rect">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传统工程责任</a:t>
                </a:r>
                <a:endParaRPr lang="en-US" sz="1100"/>
              </a:p>
            </p:txBody>
          </p:sp>
          <p:sp>
            <p:nvSpPr>
              <p:cNvPr id="7" name="TextBox 7"/>
              <p:cNvSpPr txBox="1"/>
              <p:nvPr/>
            </p:nvSpPr>
            <p:spPr>
              <a:xfrm>
                <a:off x="1022166" y="3157044"/>
                <a:ext cx="3256425" cy="1751506"/>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工程师的传统责任是确保产品的功能、性能和可靠性，满足客户需求。在互联网公司，这通常转化为对核心业务指标（如DAU、GMV）的极致追求。</a:t>
                </a:r>
                <a:endParaRPr lang="en-US" sz="1100"/>
              </a:p>
            </p:txBody>
          </p:sp>
          <p:sp>
            <p:nvSpPr>
              <p:cNvPr id="8" name="TextBox 8"/>
              <p:cNvSpPr txBox="1"/>
              <p:nvPr/>
            </p:nvSpPr>
            <p:spPr>
              <a:xfrm>
                <a:off x="1022167" y="1903309"/>
                <a:ext cx="610438" cy="610374"/>
              </a:xfrm>
              <a:prstGeom prst="roundRect">
                <a:avLst>
                  <a:gd name="adj" fmla="val 10458"/>
                </a:avLst>
              </a:prstGeom>
              <a:solidFill>
                <a:srgbClr val="FF6100">
                  <a:alpha val="100000"/>
                </a:srgbClr>
              </a:solidFill>
              <a:ln>
                <a:headEnd type="none"/>
                <a:tailEnd type="none"/>
              </a:ln>
            </p:spPr>
            <p:txBody>
              <a:bodyPr vert="horz" wrap="none" lIns="108000" tIns="108000" rIns="108000" bIns="108000" rtlCol="0" anchor="ctr" anchorCtr="0"/>
              <a:lstStyle/>
              <a:p>
                <a:pPr algn="ctr">
                  <a:defRPr/>
                </a:pPr>
                <a:r>
                  <a:rPr lang="en-US" sz="2000" b="1" i="0">
                    <a:ln/>
                    <a:solidFill>
                      <a:srgbClr val="FFFFFF">
                        <a:alpha val="100000"/>
                      </a:srgbClr>
                    </a:solidFill>
                    <a:latin typeface="Arial"/>
                    <a:ea typeface="Arial"/>
                    <a:cs typeface="Arial"/>
                  </a:rPr>
                  <a:t>1</a:t>
                </a:r>
                <a:endParaRPr lang="en-US" sz="1100"/>
              </a:p>
            </p:txBody>
          </p:sp>
        </p:grpSp>
        <p:grpSp>
          <p:nvGrpSpPr>
            <p:cNvPr id="9" name="Group 9"/>
            <p:cNvGrpSpPr/>
            <p:nvPr/>
          </p:nvGrpSpPr>
          <p:grpSpPr>
            <a:xfrm>
              <a:off x="4471370" y="2258909"/>
              <a:ext cx="3256425" cy="3005241"/>
              <a:chOff x="1022166" y="1903309"/>
              <a:chExt cx="3256425" cy="3005241"/>
            </a:xfrm>
          </p:grpSpPr>
          <p:sp>
            <p:nvSpPr>
              <p:cNvPr id="10" name="TextBox 10"/>
              <p:cNvSpPr txBox="1"/>
              <p:nvPr/>
            </p:nvSpPr>
            <p:spPr>
              <a:xfrm>
                <a:off x="1022166" y="2585614"/>
                <a:ext cx="3256425" cy="571430"/>
              </a:xfrm>
              <a:prstGeom prst="rect">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扩展的社会责任</a:t>
                </a:r>
                <a:endParaRPr lang="en-US" sz="1100"/>
              </a:p>
            </p:txBody>
          </p:sp>
          <p:sp>
            <p:nvSpPr>
              <p:cNvPr id="11" name="TextBox 11"/>
              <p:cNvSpPr txBox="1"/>
              <p:nvPr/>
            </p:nvSpPr>
            <p:spPr>
              <a:xfrm>
                <a:off x="1022166" y="3157044"/>
                <a:ext cx="3256425" cy="1751506"/>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随着技术对社会生活渗透的加深，工程师的责任应扩展至其产品对社会、文化、政治的长远影响。他们需要成为社会风险的预见者和防范者。</a:t>
                </a:r>
                <a:endParaRPr lang="en-US" sz="1100"/>
              </a:p>
            </p:txBody>
          </p:sp>
          <p:sp>
            <p:nvSpPr>
              <p:cNvPr id="12" name="TextBox 12"/>
              <p:cNvSpPr txBox="1"/>
              <p:nvPr/>
            </p:nvSpPr>
            <p:spPr>
              <a:xfrm>
                <a:off x="1022167" y="1903309"/>
                <a:ext cx="610438" cy="610374"/>
              </a:xfrm>
              <a:prstGeom prst="roundRect">
                <a:avLst>
                  <a:gd name="adj" fmla="val 10458"/>
                </a:avLst>
              </a:prstGeom>
              <a:solidFill>
                <a:srgbClr val="FF6100">
                  <a:alpha val="100000"/>
                </a:srgbClr>
              </a:solidFill>
              <a:ln>
                <a:headEnd type="none"/>
                <a:tailEnd type="none"/>
              </a:ln>
            </p:spPr>
            <p:txBody>
              <a:bodyPr vert="horz" wrap="none" lIns="108000" tIns="108000" rIns="108000" bIns="108000" rtlCol="0" anchor="ctr" anchorCtr="0"/>
              <a:lstStyle/>
              <a:p>
                <a:pPr algn="ctr">
                  <a:defRPr/>
                </a:pPr>
                <a:r>
                  <a:rPr lang="en-US" sz="2000" b="1" i="0">
                    <a:ln/>
                    <a:solidFill>
                      <a:srgbClr val="FFFFFF">
                        <a:alpha val="100000"/>
                      </a:srgbClr>
                    </a:solidFill>
                    <a:latin typeface="Arial"/>
                    <a:ea typeface="Arial"/>
                    <a:cs typeface="Arial"/>
                  </a:rPr>
                  <a:t>2</a:t>
                </a:r>
                <a:endParaRPr lang="en-US" sz="1100"/>
              </a:p>
            </p:txBody>
          </p:sp>
        </p:grpSp>
        <p:grpSp>
          <p:nvGrpSpPr>
            <p:cNvPr id="13" name="Group 13"/>
            <p:cNvGrpSpPr/>
            <p:nvPr/>
          </p:nvGrpSpPr>
          <p:grpSpPr>
            <a:xfrm>
              <a:off x="8036601" y="2258909"/>
              <a:ext cx="3256425" cy="3005241"/>
              <a:chOff x="1022166" y="1903309"/>
              <a:chExt cx="3256425" cy="3005241"/>
            </a:xfrm>
          </p:grpSpPr>
          <p:sp>
            <p:nvSpPr>
              <p:cNvPr id="14" name="TextBox 14"/>
              <p:cNvSpPr txBox="1"/>
              <p:nvPr/>
            </p:nvSpPr>
            <p:spPr>
              <a:xfrm>
                <a:off x="1022166" y="2585614"/>
                <a:ext cx="3256425" cy="571430"/>
              </a:xfrm>
              <a:prstGeom prst="rect">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伦理决策框架</a:t>
                </a:r>
                <a:endParaRPr lang="en-US" sz="1100"/>
              </a:p>
            </p:txBody>
          </p:sp>
          <p:sp>
            <p:nvSpPr>
              <p:cNvPr id="15" name="TextBox 15"/>
              <p:cNvSpPr txBox="1"/>
              <p:nvPr/>
            </p:nvSpPr>
            <p:spPr>
              <a:xfrm>
                <a:off x="1022166" y="3157044"/>
                <a:ext cx="3256425" cy="1751506"/>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工程师和产品团队在项目开发中，应主动引入“伦理影响评估”，在技术方案选择时，不仅要考虑商业收益，也要权衡其潜在的社会成本与伦理风险。</a:t>
                </a:r>
                <a:endParaRPr lang="en-US" sz="1100"/>
              </a:p>
            </p:txBody>
          </p:sp>
          <p:sp>
            <p:nvSpPr>
              <p:cNvPr id="16" name="TextBox 16"/>
              <p:cNvSpPr txBox="1"/>
              <p:nvPr/>
            </p:nvSpPr>
            <p:spPr>
              <a:xfrm>
                <a:off x="1022167" y="1903309"/>
                <a:ext cx="610438" cy="610374"/>
              </a:xfrm>
              <a:prstGeom prst="roundRect">
                <a:avLst>
                  <a:gd name="adj" fmla="val 10458"/>
                </a:avLst>
              </a:prstGeom>
              <a:solidFill>
                <a:srgbClr val="FF6100">
                  <a:alpha val="100000"/>
                </a:srgbClr>
              </a:solidFill>
              <a:ln>
                <a:headEnd type="none"/>
                <a:tailEnd type="none"/>
              </a:ln>
            </p:spPr>
            <p:txBody>
              <a:bodyPr vert="horz" wrap="none" lIns="108000" tIns="108000" rIns="108000" bIns="108000" rtlCol="0" anchor="ctr" anchorCtr="0"/>
              <a:lstStyle/>
              <a:p>
                <a:pPr algn="ctr">
                  <a:defRPr/>
                </a:pPr>
                <a:r>
                  <a:rPr lang="en-US" sz="2000" b="1" i="0">
                    <a:ln/>
                    <a:solidFill>
                      <a:srgbClr val="FFFFFF">
                        <a:alpha val="100000"/>
                      </a:srgbClr>
                    </a:solidFill>
                    <a:latin typeface="Arial"/>
                    <a:ea typeface="Arial"/>
                    <a:cs typeface="Arial"/>
                  </a:rPr>
                  <a:t>3</a:t>
                </a:r>
                <a:endParaRPr lang="en-US" sz="1100"/>
              </a:p>
            </p:txBody>
          </p:sp>
        </p:grpSp>
      </p:grpSp>
      <p:sp>
        <p:nvSpPr>
          <p:cNvPr id="17" name="TextBox 17"/>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工程师社会责任</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b8759a7f-0abd-4e9d-8ac0-5bc5ea77bbd8"/>
          <p:cNvGrpSpPr/>
          <p:nvPr/>
        </p:nvGrpSpPr>
        <p:grpSpPr>
          <a:xfrm>
            <a:off x="660400" y="1130300"/>
            <a:ext cx="10858500" cy="4154828"/>
            <a:chOff x="660400" y="1130300"/>
            <a:chExt cx="10858500" cy="4154828"/>
          </a:xfrm>
        </p:grpSpPr>
        <p:grpSp>
          <p:nvGrpSpPr>
            <p:cNvPr id="3" name="Group 3"/>
            <p:cNvGrpSpPr/>
            <p:nvPr/>
          </p:nvGrpSpPr>
          <p:grpSpPr>
            <a:xfrm>
              <a:off x="673100" y="2372812"/>
              <a:ext cx="3458593" cy="2912316"/>
              <a:chOff x="673100" y="2700020"/>
              <a:chExt cx="3458593" cy="1864359"/>
            </a:xfrm>
          </p:grpSpPr>
          <p:sp>
            <p:nvSpPr>
              <p:cNvPr id="4" name="AutoShape 4"/>
              <p:cNvSpPr/>
              <p:nvPr/>
            </p:nvSpPr>
            <p:spPr>
              <a:xfrm>
                <a:off x="673100" y="2700020"/>
                <a:ext cx="3441700" cy="1864359"/>
              </a:xfrm>
              <a:custGeom>
                <a:avLst/>
                <a:gdLst/>
                <a:ahLst/>
                <a:cxnLst/>
                <a:rect l="l" t="t" r="r" b="b"/>
                <a:pathLst>
                  <a:path w="2711450" h="3601163">
                    <a:moveTo>
                      <a:pt x="0" y="0"/>
                    </a:moveTo>
                    <a:lnTo>
                      <a:pt x="2711450" y="0"/>
                    </a:lnTo>
                    <a:lnTo>
                      <a:pt x="2711450" y="3601163"/>
                    </a:lnTo>
                    <a:lnTo>
                      <a:pt x="0" y="3601163"/>
                    </a:lnTo>
                    <a:close/>
                  </a:path>
                </a:pathLst>
              </a:custGeom>
              <a:ln w="12700">
                <a:solidFill>
                  <a:srgbClr val="000000">
                    <a:alpha val="100000"/>
                  </a:srgbClr>
                </a:solidFill>
                <a:prstDash val="solid"/>
                <a:headEnd type="none"/>
                <a:tailEnd type="none"/>
              </a:ln>
            </p:spPr>
          </p:sp>
          <p:sp>
            <p:nvSpPr>
              <p:cNvPr id="5" name="TextBox 5"/>
              <p:cNvSpPr txBox="1"/>
              <p:nvPr/>
            </p:nvSpPr>
            <p:spPr>
              <a:xfrm>
                <a:off x="803918" y="2867659"/>
                <a:ext cx="2449827" cy="417838"/>
              </a:xfrm>
              <a:prstGeom prst="rect">
                <a:avLst/>
              </a:prstGeom>
              <a:ln>
                <a:prstDash val="solid"/>
                <a:headEnd type="none"/>
                <a:tailEnd type="none"/>
              </a:ln>
            </p:spPr>
            <p:txBody>
              <a:bodyPr vert="horz" wrap="square" lIns="91440" tIns="45720" rIns="91440" bIns="45720" rtlCol="0" anchor="b" anchorCtr="0"/>
              <a:lstStyle/>
              <a:p>
                <a:pPr algn="l">
                  <a:defRPr/>
                </a:pPr>
                <a:r>
                  <a:rPr lang="en-US" sz="1600" b="1" i="0">
                    <a:ln/>
                    <a:solidFill>
                      <a:srgbClr val="000000">
                        <a:alpha val="100000"/>
                      </a:srgbClr>
                    </a:solidFill>
                    <a:latin typeface="微软雅黑"/>
                    <a:ea typeface="微软雅黑"/>
                    <a:cs typeface="微软雅黑"/>
                  </a:rPr>
                  <a:t>信息黑箱</a:t>
                </a:r>
                <a:endParaRPr lang="en-US" sz="1100"/>
              </a:p>
            </p:txBody>
          </p:sp>
          <p:sp>
            <p:nvSpPr>
              <p:cNvPr id="6" name="TextBox 6"/>
              <p:cNvSpPr txBox="1"/>
              <p:nvPr/>
            </p:nvSpPr>
            <p:spPr>
              <a:xfrm>
                <a:off x="803918" y="3285497"/>
                <a:ext cx="2449827" cy="948682"/>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000" b="0" i="0">
                    <a:ln/>
                    <a:solidFill>
                      <a:srgbClr val="000000">
                        <a:alpha val="100000"/>
                      </a:srgbClr>
                    </a:solidFill>
                    <a:latin typeface="微软雅黑"/>
                    <a:ea typeface="微软雅黑"/>
                    <a:cs typeface="微软雅黑"/>
                  </a:rPr>
                  <a:t>推荐算法的具体运作机制对用户而言是一个“黑箱”。用户无法知晓为什么看到这些内容，而不是那些内容，更无法了解算法的商业目标如何影响了自己的信息环境。</a:t>
                </a:r>
                <a:endParaRPr lang="en-US" sz="1100"/>
              </a:p>
            </p:txBody>
          </p:sp>
          <p:sp>
            <p:nvSpPr>
              <p:cNvPr id="7" name="TextBox 7"/>
              <p:cNvSpPr txBox="1"/>
              <p:nvPr/>
            </p:nvSpPr>
            <p:spPr>
              <a:xfrm>
                <a:off x="3328953" y="3828068"/>
                <a:ext cx="802740" cy="547092"/>
              </a:xfrm>
              <a:prstGeom prst="rect">
                <a:avLst/>
              </a:prstGeom>
              <a:ln>
                <a:headEnd type="none"/>
                <a:tailEnd type="none"/>
              </a:ln>
            </p:spPr>
            <p:txBody>
              <a:bodyPr vert="horz" wrap="none" lIns="91440" tIns="45720" rIns="91440" bIns="45720" rtlCol="0" anchor="b" anchorCtr="0"/>
              <a:lstStyle/>
              <a:p>
                <a:pPr algn="l">
                  <a:defRPr/>
                </a:pPr>
                <a:r>
                  <a:rPr lang="en-US" sz="3200" b="1" i="0">
                    <a:ln/>
                    <a:solidFill>
                      <a:srgbClr val="000000">
                        <a:alpha val="100000"/>
                      </a:srgbClr>
                    </a:solidFill>
                    <a:latin typeface="Arial"/>
                    <a:ea typeface="Arial"/>
                    <a:cs typeface="Arial"/>
                  </a:rPr>
                  <a:t>01</a:t>
                </a:r>
                <a:endParaRPr lang="en-US" sz="1100"/>
              </a:p>
            </p:txBody>
          </p:sp>
          <p:sp>
            <p:nvSpPr>
              <p:cNvPr id="8" name="AutoShape 8"/>
              <p:cNvSpPr/>
              <p:nvPr/>
            </p:nvSpPr>
            <p:spPr>
              <a:xfrm>
                <a:off x="3328953" y="4375160"/>
                <a:ext cx="786865" cy="45719"/>
              </a:xfrm>
              <a:prstGeom prst="rect">
                <a:avLst/>
              </a:prstGeom>
              <a:solidFill>
                <a:srgbClr val="000000">
                  <a:alpha val="100000"/>
                </a:srgbClr>
              </a:solidFill>
              <a:ln>
                <a:prstDash val="solid"/>
                <a:headEnd type="none"/>
                <a:tailEnd type="none"/>
              </a:ln>
            </p:spPr>
          </p:sp>
        </p:grpSp>
        <p:grpSp>
          <p:nvGrpSpPr>
            <p:cNvPr id="9" name="Group 9"/>
            <p:cNvGrpSpPr/>
            <p:nvPr/>
          </p:nvGrpSpPr>
          <p:grpSpPr>
            <a:xfrm>
              <a:off x="4366703" y="2372812"/>
              <a:ext cx="3458593" cy="2912316"/>
              <a:chOff x="4366703" y="2700020"/>
              <a:chExt cx="3458593" cy="1864359"/>
            </a:xfrm>
          </p:grpSpPr>
          <p:sp>
            <p:nvSpPr>
              <p:cNvPr id="10" name="AutoShape 10"/>
              <p:cNvSpPr/>
              <p:nvPr/>
            </p:nvSpPr>
            <p:spPr>
              <a:xfrm>
                <a:off x="4366703" y="2700020"/>
                <a:ext cx="3441700" cy="1864359"/>
              </a:xfrm>
              <a:custGeom>
                <a:avLst/>
                <a:gdLst/>
                <a:ahLst/>
                <a:cxnLst/>
                <a:rect l="l" t="t" r="r" b="b"/>
                <a:pathLst>
                  <a:path w="2711450" h="3601163">
                    <a:moveTo>
                      <a:pt x="0" y="0"/>
                    </a:moveTo>
                    <a:lnTo>
                      <a:pt x="2711450" y="0"/>
                    </a:lnTo>
                    <a:lnTo>
                      <a:pt x="2711450" y="3601163"/>
                    </a:lnTo>
                    <a:lnTo>
                      <a:pt x="0" y="3601163"/>
                    </a:lnTo>
                    <a:close/>
                  </a:path>
                </a:pathLst>
              </a:custGeom>
              <a:ln w="12700">
                <a:solidFill>
                  <a:srgbClr val="000000">
                    <a:alpha val="100000"/>
                  </a:srgbClr>
                </a:solidFill>
                <a:prstDash val="solid"/>
                <a:headEnd type="none"/>
                <a:tailEnd type="none"/>
              </a:ln>
            </p:spPr>
          </p:sp>
          <p:grpSp>
            <p:nvGrpSpPr>
              <p:cNvPr id="11" name="Group 11"/>
              <p:cNvGrpSpPr/>
              <p:nvPr/>
            </p:nvGrpSpPr>
            <p:grpSpPr>
              <a:xfrm>
                <a:off x="4497521" y="2867659"/>
                <a:ext cx="3327775" cy="1507501"/>
                <a:chOff x="4497521" y="2331720"/>
                <a:chExt cx="3327775" cy="1507501"/>
              </a:xfrm>
            </p:grpSpPr>
            <p:sp>
              <p:nvSpPr>
                <p:cNvPr id="12" name="TextBox 12"/>
                <p:cNvSpPr txBox="1"/>
                <p:nvPr/>
              </p:nvSpPr>
              <p:spPr>
                <a:xfrm>
                  <a:off x="4497521" y="2331720"/>
                  <a:ext cx="2449827" cy="417838"/>
                </a:xfrm>
                <a:prstGeom prst="rect">
                  <a:avLst/>
                </a:prstGeom>
                <a:ln>
                  <a:prstDash val="solid"/>
                  <a:headEnd type="none"/>
                  <a:tailEnd type="none"/>
                </a:ln>
              </p:spPr>
              <p:txBody>
                <a:bodyPr vert="horz" wrap="square" lIns="91440" tIns="45720" rIns="91440" bIns="45720" rtlCol="0" anchor="b" anchorCtr="0"/>
                <a:lstStyle/>
                <a:p>
                  <a:pPr algn="l">
                    <a:defRPr/>
                  </a:pPr>
                  <a:r>
                    <a:rPr lang="en-US" sz="1600" b="1" i="0">
                      <a:ln/>
                      <a:solidFill>
                        <a:srgbClr val="000000">
                          <a:alpha val="100000"/>
                        </a:srgbClr>
                      </a:solidFill>
                      <a:latin typeface="微软雅黑"/>
                      <a:ea typeface="微软雅黑"/>
                      <a:cs typeface="微软雅黑"/>
                    </a:rPr>
                    <a:t>自主权受限</a:t>
                  </a:r>
                  <a:endParaRPr lang="en-US" sz="1100"/>
                </a:p>
              </p:txBody>
            </p:sp>
            <p:sp>
              <p:nvSpPr>
                <p:cNvPr id="13" name="TextBox 13"/>
                <p:cNvSpPr txBox="1"/>
                <p:nvPr/>
              </p:nvSpPr>
              <p:spPr>
                <a:xfrm>
                  <a:off x="4497521" y="2749558"/>
                  <a:ext cx="2449827" cy="948682"/>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000" b="0" i="0">
                      <a:ln/>
                      <a:solidFill>
                        <a:srgbClr val="000000">
                          <a:alpha val="100000"/>
                        </a:srgbClr>
                      </a:solidFill>
                      <a:latin typeface="微软雅黑"/>
                      <a:ea typeface="微软雅黑"/>
                      <a:cs typeface="微软雅黑"/>
                    </a:rPr>
                    <a:t>用户的“选择”实际上是在算法限定的范围内进行的。看似自由浏览，实则是在一个被精心设计的“信息迷宫”中行走，其自主性和多样性被严重限制。</a:t>
                  </a:r>
                  <a:endParaRPr lang="en-US" sz="1100"/>
                </a:p>
              </p:txBody>
            </p:sp>
            <p:sp>
              <p:nvSpPr>
                <p:cNvPr id="14" name="TextBox 14"/>
                <p:cNvSpPr txBox="1"/>
                <p:nvPr/>
              </p:nvSpPr>
              <p:spPr>
                <a:xfrm>
                  <a:off x="7022556" y="3292129"/>
                  <a:ext cx="802740" cy="547092"/>
                </a:xfrm>
                <a:prstGeom prst="rect">
                  <a:avLst/>
                </a:prstGeom>
                <a:ln>
                  <a:headEnd type="none"/>
                  <a:tailEnd type="none"/>
                </a:ln>
              </p:spPr>
              <p:txBody>
                <a:bodyPr vert="horz" wrap="none" lIns="91440" tIns="45720" rIns="91440" bIns="45720" rtlCol="0" anchor="b" anchorCtr="0"/>
                <a:lstStyle/>
                <a:p>
                  <a:pPr algn="l">
                    <a:defRPr/>
                  </a:pPr>
                  <a:r>
                    <a:rPr lang="en-US" sz="3200" b="1" i="0">
                      <a:ln/>
                      <a:solidFill>
                        <a:srgbClr val="000000">
                          <a:alpha val="100000"/>
                        </a:srgbClr>
                      </a:solidFill>
                      <a:latin typeface="Arial"/>
                      <a:ea typeface="Arial"/>
                      <a:cs typeface="Arial"/>
                    </a:rPr>
                    <a:t>02</a:t>
                  </a:r>
                  <a:endParaRPr lang="en-US" sz="1100"/>
                </a:p>
              </p:txBody>
            </p:sp>
          </p:grpSp>
          <p:sp>
            <p:nvSpPr>
              <p:cNvPr id="15" name="AutoShape 15"/>
              <p:cNvSpPr/>
              <p:nvPr/>
            </p:nvSpPr>
            <p:spPr>
              <a:xfrm>
                <a:off x="7022556" y="4375160"/>
                <a:ext cx="786865" cy="45719"/>
              </a:xfrm>
              <a:prstGeom prst="rect">
                <a:avLst/>
              </a:prstGeom>
              <a:solidFill>
                <a:srgbClr val="000000">
                  <a:alpha val="100000"/>
                </a:srgbClr>
              </a:solidFill>
              <a:ln>
                <a:prstDash val="solid"/>
                <a:headEnd type="none"/>
                <a:tailEnd type="none"/>
              </a:ln>
            </p:spPr>
          </p:sp>
        </p:grpSp>
        <p:grpSp>
          <p:nvGrpSpPr>
            <p:cNvPr id="16" name="Group 16"/>
            <p:cNvGrpSpPr/>
            <p:nvPr/>
          </p:nvGrpSpPr>
          <p:grpSpPr>
            <a:xfrm>
              <a:off x="8060306" y="2372812"/>
              <a:ext cx="3458593" cy="2912316"/>
              <a:chOff x="8060306" y="2164081"/>
              <a:chExt cx="3458593" cy="1864359"/>
            </a:xfrm>
          </p:grpSpPr>
          <p:sp>
            <p:nvSpPr>
              <p:cNvPr id="17" name="AutoShape 17"/>
              <p:cNvSpPr/>
              <p:nvPr/>
            </p:nvSpPr>
            <p:spPr>
              <a:xfrm>
                <a:off x="8060306" y="2164081"/>
                <a:ext cx="3441700" cy="1864359"/>
              </a:xfrm>
              <a:custGeom>
                <a:avLst/>
                <a:gdLst/>
                <a:ahLst/>
                <a:cxnLst/>
                <a:rect l="l" t="t" r="r" b="b"/>
                <a:pathLst>
                  <a:path w="2711450" h="3601163">
                    <a:moveTo>
                      <a:pt x="0" y="0"/>
                    </a:moveTo>
                    <a:lnTo>
                      <a:pt x="2711450" y="0"/>
                    </a:lnTo>
                    <a:lnTo>
                      <a:pt x="2711450" y="3601163"/>
                    </a:lnTo>
                    <a:lnTo>
                      <a:pt x="0" y="3601163"/>
                    </a:lnTo>
                    <a:close/>
                  </a:path>
                </a:pathLst>
              </a:custGeom>
              <a:ln w="12700">
                <a:solidFill>
                  <a:srgbClr val="000000">
                    <a:alpha val="100000"/>
                  </a:srgbClr>
                </a:solidFill>
                <a:prstDash val="solid"/>
                <a:headEnd type="none"/>
                <a:tailEnd type="none"/>
              </a:ln>
            </p:spPr>
          </p:sp>
          <p:grpSp>
            <p:nvGrpSpPr>
              <p:cNvPr id="18" name="Group 18"/>
              <p:cNvGrpSpPr/>
              <p:nvPr/>
            </p:nvGrpSpPr>
            <p:grpSpPr>
              <a:xfrm>
                <a:off x="8191124" y="2331720"/>
                <a:ext cx="3327775" cy="1507501"/>
                <a:chOff x="8191124" y="2331720"/>
                <a:chExt cx="3327775" cy="1507501"/>
              </a:xfrm>
            </p:grpSpPr>
            <p:sp>
              <p:nvSpPr>
                <p:cNvPr id="19" name="TextBox 19"/>
                <p:cNvSpPr txBox="1"/>
                <p:nvPr/>
              </p:nvSpPr>
              <p:spPr>
                <a:xfrm>
                  <a:off x="8191124" y="2331720"/>
                  <a:ext cx="2449827" cy="417838"/>
                </a:xfrm>
                <a:prstGeom prst="rect">
                  <a:avLst/>
                </a:prstGeom>
                <a:ln>
                  <a:prstDash val="solid"/>
                  <a:headEnd type="none"/>
                  <a:tailEnd type="none"/>
                </a:ln>
              </p:spPr>
              <p:txBody>
                <a:bodyPr vert="horz" wrap="square" lIns="91440" tIns="45720" rIns="91440" bIns="45720" rtlCol="0" anchor="b" anchorCtr="0"/>
                <a:lstStyle/>
                <a:p>
                  <a:pPr algn="l">
                    <a:defRPr/>
                  </a:pPr>
                  <a:r>
                    <a:rPr lang="en-US" sz="1600" b="1" i="0">
                      <a:ln/>
                      <a:solidFill>
                        <a:srgbClr val="000000">
                          <a:alpha val="100000"/>
                        </a:srgbClr>
                      </a:solidFill>
                      <a:latin typeface="微软雅黑"/>
                      <a:ea typeface="微软雅黑"/>
                      <a:cs typeface="微软雅黑"/>
                    </a:rPr>
                    <a:t>重塑知情权</a:t>
                  </a:r>
                  <a:endParaRPr lang="en-US" sz="1100"/>
                </a:p>
              </p:txBody>
            </p:sp>
            <p:sp>
              <p:nvSpPr>
                <p:cNvPr id="20" name="TextBox 20"/>
                <p:cNvSpPr txBox="1"/>
                <p:nvPr/>
              </p:nvSpPr>
              <p:spPr>
                <a:xfrm>
                  <a:off x="8191124" y="2749558"/>
                  <a:ext cx="2449827" cy="948682"/>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000" b="0" i="0">
                      <a:ln/>
                      <a:solidFill>
                        <a:srgbClr val="000000">
                          <a:alpha val="100000"/>
                        </a:srgbClr>
                      </a:solidFill>
                      <a:latin typeface="微软雅黑"/>
                      <a:ea typeface="微软雅黑"/>
                      <a:cs typeface="微软雅黑"/>
                    </a:rPr>
                    <a:t>“知情同意”原则要求平台必须以清晰、易懂的方式向用户解释推荐系统的基本原理和商业目的，并提供真正有效的、降低个性化推荐强度的选项。</a:t>
                  </a:r>
                  <a:endParaRPr lang="en-US" sz="1100"/>
                </a:p>
              </p:txBody>
            </p:sp>
            <p:sp>
              <p:nvSpPr>
                <p:cNvPr id="21" name="TextBox 21"/>
                <p:cNvSpPr txBox="1"/>
                <p:nvPr/>
              </p:nvSpPr>
              <p:spPr>
                <a:xfrm>
                  <a:off x="10716159" y="3292129"/>
                  <a:ext cx="802740" cy="547092"/>
                </a:xfrm>
                <a:prstGeom prst="rect">
                  <a:avLst/>
                </a:prstGeom>
                <a:ln>
                  <a:headEnd type="none"/>
                  <a:tailEnd type="none"/>
                </a:ln>
              </p:spPr>
              <p:txBody>
                <a:bodyPr vert="horz" wrap="none" lIns="91440" tIns="45720" rIns="91440" bIns="45720" rtlCol="0" anchor="b" anchorCtr="0"/>
                <a:lstStyle/>
                <a:p>
                  <a:pPr algn="l">
                    <a:defRPr/>
                  </a:pPr>
                  <a:r>
                    <a:rPr lang="en-US" sz="3200" b="1" i="0">
                      <a:ln/>
                      <a:solidFill>
                        <a:srgbClr val="000000">
                          <a:alpha val="100000"/>
                        </a:srgbClr>
                      </a:solidFill>
                      <a:latin typeface="Arial"/>
                      <a:ea typeface="Arial"/>
                      <a:cs typeface="Arial"/>
                    </a:rPr>
                    <a:t>03</a:t>
                  </a:r>
                  <a:endParaRPr lang="en-US" sz="1100"/>
                </a:p>
              </p:txBody>
            </p:sp>
          </p:grpSp>
          <p:sp>
            <p:nvSpPr>
              <p:cNvPr id="22" name="AutoShape 22"/>
              <p:cNvSpPr/>
              <p:nvPr/>
            </p:nvSpPr>
            <p:spPr>
              <a:xfrm>
                <a:off x="10716159" y="3839221"/>
                <a:ext cx="786865" cy="45719"/>
              </a:xfrm>
              <a:prstGeom prst="rect">
                <a:avLst/>
              </a:prstGeom>
              <a:solidFill>
                <a:srgbClr val="000000">
                  <a:alpha val="100000"/>
                </a:srgbClr>
              </a:solidFill>
              <a:ln>
                <a:prstDash val="solid"/>
                <a:headEnd type="none"/>
                <a:tailEnd type="none"/>
              </a:ln>
            </p:spPr>
          </p:sp>
        </p:grpSp>
        <p:sp>
          <p:nvSpPr>
            <p:cNvPr id="23" name="TextBox 23"/>
            <p:cNvSpPr txBox="1"/>
            <p:nvPr/>
          </p:nvSpPr>
          <p:spPr>
            <a:xfrm flipH="1">
              <a:off x="660400" y="1130300"/>
              <a:ext cx="10858500" cy="844562"/>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微软雅黑"/>
                  <a:ea typeface="微软雅黑"/>
                  <a:cs typeface="微软雅黑"/>
                </a:rPr>
                <a:t>用户是否意识到自己被“喂养”？</a:t>
              </a:r>
              <a:endParaRPr lang="en-US" sz="1100"/>
            </a:p>
          </p:txBody>
        </p:sp>
      </p:grpSp>
      <p:sp>
        <p:nvSpPr>
          <p:cNvPr id="24" name="TextBox 24"/>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知情同意原则缺失</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564f1cee-124d-4d94-8100-59283b027e59"/>
          <p:cNvGrpSpPr/>
          <p:nvPr/>
        </p:nvGrpSpPr>
        <p:grpSpPr>
          <a:xfrm>
            <a:off x="660400" y="1130301"/>
            <a:ext cx="10858500" cy="5003799"/>
            <a:chOff x="660400" y="1130301"/>
            <a:chExt cx="10858500" cy="5003799"/>
          </a:xfrm>
        </p:grpSpPr>
        <p:sp>
          <p:nvSpPr>
            <p:cNvPr id="3" name="TextBox 3"/>
            <p:cNvSpPr txBox="1"/>
            <p:nvPr/>
          </p:nvSpPr>
          <p:spPr>
            <a:xfrm>
              <a:off x="660400" y="1130301"/>
              <a:ext cx="10858500" cy="524328"/>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微软雅黑"/>
                  <a:ea typeface="微软雅黑"/>
                  <a:cs typeface="微软雅黑"/>
                </a:rPr>
                <a:t>股东回报与社会责任的平衡难题</a:t>
              </a:r>
              <a:endParaRPr lang="en-US" sz="1100"/>
            </a:p>
          </p:txBody>
        </p:sp>
        <p:grpSp>
          <p:nvGrpSpPr>
            <p:cNvPr id="4" name="Group 4"/>
            <p:cNvGrpSpPr/>
            <p:nvPr/>
          </p:nvGrpSpPr>
          <p:grpSpPr>
            <a:xfrm>
              <a:off x="660400" y="1757437"/>
              <a:ext cx="10858500" cy="1421555"/>
              <a:chOff x="2703585" y="3005956"/>
              <a:chExt cx="10858500" cy="1421555"/>
            </a:xfrm>
          </p:grpSpPr>
          <p:sp>
            <p:nvSpPr>
              <p:cNvPr id="5" name="TextBox 5"/>
              <p:cNvSpPr txBox="1"/>
              <p:nvPr/>
            </p:nvSpPr>
            <p:spPr>
              <a:xfrm>
                <a:off x="3162515" y="3464343"/>
                <a:ext cx="10399570" cy="96316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在资本市场压力下，企业首要目标是为股东创造最大回报。提升用户参与度和广告收入是实现这一目标的直接路径，这与算法的商业优化目标高度一致。</a:t>
                </a:r>
                <a:endParaRPr lang="en-US" sz="1100"/>
              </a:p>
            </p:txBody>
          </p:sp>
          <p:sp>
            <p:nvSpPr>
              <p:cNvPr id="6" name="TextBox 6"/>
              <p:cNvSpPr txBox="1"/>
              <p:nvPr/>
            </p:nvSpPr>
            <p:spPr>
              <a:xfrm>
                <a:off x="3162515" y="3021980"/>
                <a:ext cx="10399570" cy="442362"/>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股东利益至上</a:t>
                </a:r>
                <a:endParaRPr lang="en-US" sz="1100"/>
              </a:p>
            </p:txBody>
          </p:sp>
          <p:sp>
            <p:nvSpPr>
              <p:cNvPr id="7" name="TextBox 7"/>
              <p:cNvSpPr txBox="1"/>
              <p:nvPr/>
            </p:nvSpPr>
            <p:spPr>
              <a:xfrm>
                <a:off x="2703585" y="3005956"/>
                <a:ext cx="458930" cy="458385"/>
              </a:xfrm>
              <a:custGeom>
                <a:avLst/>
                <a:gdLst/>
                <a:ahLst/>
                <a:cxnLst/>
                <a:rect l="l" t="t" r="r" b="b"/>
                <a:pathLst>
                  <a:path w="5586262" h="5579627">
                    <a:moveTo>
                      <a:pt x="1103290" y="1263016"/>
                    </a:moveTo>
                    <a:cubicBezTo>
                      <a:pt x="1103290" y="1263016"/>
                      <a:pt x="1495939" y="-39182"/>
                      <a:pt x="2733547" y="448"/>
                    </a:cubicBezTo>
                    <a:cubicBezTo>
                      <a:pt x="2877682" y="-441"/>
                      <a:pt x="3817083" y="-29370"/>
                      <a:pt x="4324047" y="1198300"/>
                    </a:cubicBezTo>
                    <a:cubicBezTo>
                      <a:pt x="4483106" y="1262889"/>
                      <a:pt x="5820107" y="1734955"/>
                      <a:pt x="5559306" y="3248545"/>
                    </a:cubicBezTo>
                    <a:cubicBezTo>
                      <a:pt x="5477283" y="3531860"/>
                      <a:pt x="5410059" y="4124022"/>
                      <a:pt x="4411151" y="4484026"/>
                    </a:cubicBezTo>
                    <a:cubicBezTo>
                      <a:pt x="4351514" y="4611426"/>
                      <a:pt x="4055783" y="5443019"/>
                      <a:pt x="3056748" y="5562226"/>
                    </a:cubicBezTo>
                    <a:cubicBezTo>
                      <a:pt x="2798295" y="5596998"/>
                      <a:pt x="1858895" y="5691436"/>
                      <a:pt x="1242598" y="4458813"/>
                    </a:cubicBezTo>
                    <a:cubicBezTo>
                      <a:pt x="999041" y="4374314"/>
                      <a:pt x="-59631" y="3951848"/>
                      <a:pt x="9944" y="2644633"/>
                    </a:cubicBezTo>
                    <a:cubicBezTo>
                      <a:pt x="6545" y="2484716"/>
                      <a:pt x="129119" y="1678050"/>
                      <a:pt x="1103290" y="1263016"/>
                    </a:cubicBezTo>
                    <a:close/>
                  </a:path>
                </a:pathLst>
              </a:custGeom>
              <a:gradFill>
                <a:gsLst>
                  <a:gs pos="23000">
                    <a:srgbClr val="FF6100">
                      <a:alpha val="100000"/>
                    </a:srgbClr>
                  </a:gs>
                  <a:gs pos="100000">
                    <a:srgbClr val="FF6100">
                      <a:alpha val="100000"/>
                      <a:lumMod val="60000"/>
                      <a:lumOff val="40000"/>
                    </a:srgbClr>
                  </a:gs>
                </a:gsLst>
                <a:lin ang="13500000"/>
              </a:gra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1</a:t>
                </a:r>
                <a:endParaRPr lang="en-US" sz="1100"/>
              </a:p>
            </p:txBody>
          </p:sp>
        </p:grpSp>
        <p:grpSp>
          <p:nvGrpSpPr>
            <p:cNvPr id="8" name="Group 8"/>
            <p:cNvGrpSpPr/>
            <p:nvPr/>
          </p:nvGrpSpPr>
          <p:grpSpPr>
            <a:xfrm>
              <a:off x="660400" y="3234991"/>
              <a:ext cx="10858500" cy="1421555"/>
              <a:chOff x="2703585" y="3005956"/>
              <a:chExt cx="10858500" cy="1421555"/>
            </a:xfrm>
          </p:grpSpPr>
          <p:sp>
            <p:nvSpPr>
              <p:cNvPr id="9" name="TextBox 9"/>
              <p:cNvSpPr txBox="1"/>
              <p:nvPr/>
            </p:nvSpPr>
            <p:spPr>
              <a:xfrm>
                <a:off x="3162515" y="3464343"/>
                <a:ext cx="10399570" cy="96316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推荐算法作为影响亿万用户的基础设施，已具有“准公共品”属性。其运行不应只服务于商业利益，更应兼顾社会福祉、信息生态健康等公共利益。</a:t>
                </a:r>
                <a:endParaRPr lang="en-US" sz="1100"/>
              </a:p>
            </p:txBody>
          </p:sp>
          <p:sp>
            <p:nvSpPr>
              <p:cNvPr id="10" name="TextBox 10"/>
              <p:cNvSpPr txBox="1"/>
              <p:nvPr/>
            </p:nvSpPr>
            <p:spPr>
              <a:xfrm>
                <a:off x="3162515" y="3021980"/>
                <a:ext cx="10399570" cy="442362"/>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公共利益考量</a:t>
                </a:r>
                <a:endParaRPr lang="en-US" sz="1100"/>
              </a:p>
            </p:txBody>
          </p:sp>
          <p:sp>
            <p:nvSpPr>
              <p:cNvPr id="11" name="TextBox 11"/>
              <p:cNvSpPr txBox="1"/>
              <p:nvPr/>
            </p:nvSpPr>
            <p:spPr>
              <a:xfrm>
                <a:off x="2703585" y="3005956"/>
                <a:ext cx="458930" cy="458385"/>
              </a:xfrm>
              <a:custGeom>
                <a:avLst/>
                <a:gdLst/>
                <a:ahLst/>
                <a:cxnLst/>
                <a:rect l="l" t="t" r="r" b="b"/>
                <a:pathLst>
                  <a:path w="5586262" h="5579627">
                    <a:moveTo>
                      <a:pt x="1103290" y="1263016"/>
                    </a:moveTo>
                    <a:cubicBezTo>
                      <a:pt x="1103290" y="1263016"/>
                      <a:pt x="1495939" y="-39182"/>
                      <a:pt x="2733547" y="448"/>
                    </a:cubicBezTo>
                    <a:cubicBezTo>
                      <a:pt x="2877682" y="-441"/>
                      <a:pt x="3817083" y="-29370"/>
                      <a:pt x="4324047" y="1198300"/>
                    </a:cubicBezTo>
                    <a:cubicBezTo>
                      <a:pt x="4483106" y="1262889"/>
                      <a:pt x="5820107" y="1734955"/>
                      <a:pt x="5559306" y="3248545"/>
                    </a:cubicBezTo>
                    <a:cubicBezTo>
                      <a:pt x="5477283" y="3531860"/>
                      <a:pt x="5410059" y="4124022"/>
                      <a:pt x="4411151" y="4484026"/>
                    </a:cubicBezTo>
                    <a:cubicBezTo>
                      <a:pt x="4351514" y="4611426"/>
                      <a:pt x="4055783" y="5443019"/>
                      <a:pt x="3056748" y="5562226"/>
                    </a:cubicBezTo>
                    <a:cubicBezTo>
                      <a:pt x="2798295" y="5596998"/>
                      <a:pt x="1858895" y="5691436"/>
                      <a:pt x="1242598" y="4458813"/>
                    </a:cubicBezTo>
                    <a:cubicBezTo>
                      <a:pt x="999041" y="4374314"/>
                      <a:pt x="-59631" y="3951848"/>
                      <a:pt x="9944" y="2644633"/>
                    </a:cubicBezTo>
                    <a:cubicBezTo>
                      <a:pt x="6545" y="2484716"/>
                      <a:pt x="129119" y="1678050"/>
                      <a:pt x="1103290" y="1263016"/>
                    </a:cubicBezTo>
                    <a:close/>
                  </a:path>
                </a:pathLst>
              </a:custGeom>
              <a:gradFill>
                <a:gsLst>
                  <a:gs pos="23000">
                    <a:srgbClr val="F28217">
                      <a:alpha val="100000"/>
                    </a:srgbClr>
                  </a:gs>
                  <a:gs pos="100000">
                    <a:srgbClr val="F28217">
                      <a:alpha val="100000"/>
                      <a:lumMod val="60000"/>
                      <a:lumOff val="40000"/>
                    </a:srgbClr>
                  </a:gs>
                </a:gsLst>
                <a:lin ang="13500000"/>
              </a:gra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2</a:t>
                </a:r>
                <a:endParaRPr lang="en-US" sz="1100"/>
              </a:p>
            </p:txBody>
          </p:sp>
        </p:grpSp>
        <p:grpSp>
          <p:nvGrpSpPr>
            <p:cNvPr id="12" name="Group 12"/>
            <p:cNvGrpSpPr/>
            <p:nvPr/>
          </p:nvGrpSpPr>
          <p:grpSpPr>
            <a:xfrm>
              <a:off x="660400" y="4712545"/>
              <a:ext cx="10858500" cy="1421555"/>
              <a:chOff x="2703585" y="3005956"/>
              <a:chExt cx="10858500" cy="1421555"/>
            </a:xfrm>
          </p:grpSpPr>
          <p:sp>
            <p:nvSpPr>
              <p:cNvPr id="13" name="TextBox 13"/>
              <p:cNvSpPr txBox="1"/>
              <p:nvPr/>
            </p:nvSpPr>
            <p:spPr>
              <a:xfrm>
                <a:off x="3162515" y="3464343"/>
                <a:ext cx="10399570" cy="96316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解决这一冲突需要多方面的努力：企业内部建立商业目标与社会价值的平衡考核机制；行业建立自律准则；政府通过立法进行外部监管，明确平台责任。</a:t>
                </a:r>
                <a:endParaRPr lang="en-US" sz="1100"/>
              </a:p>
            </p:txBody>
          </p:sp>
          <p:sp>
            <p:nvSpPr>
              <p:cNvPr id="14" name="TextBox 14"/>
              <p:cNvSpPr txBox="1"/>
              <p:nvPr/>
            </p:nvSpPr>
            <p:spPr>
              <a:xfrm>
                <a:off x="3162515" y="3021980"/>
                <a:ext cx="10399570" cy="442362"/>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寻求平衡点</a:t>
                </a:r>
                <a:endParaRPr lang="en-US" sz="1100"/>
              </a:p>
            </p:txBody>
          </p:sp>
          <p:sp>
            <p:nvSpPr>
              <p:cNvPr id="15" name="TextBox 15"/>
              <p:cNvSpPr txBox="1"/>
              <p:nvPr/>
            </p:nvSpPr>
            <p:spPr>
              <a:xfrm>
                <a:off x="2703585" y="3005956"/>
                <a:ext cx="458930" cy="458385"/>
              </a:xfrm>
              <a:custGeom>
                <a:avLst/>
                <a:gdLst/>
                <a:ahLst/>
                <a:cxnLst/>
                <a:rect l="l" t="t" r="r" b="b"/>
                <a:pathLst>
                  <a:path w="5586262" h="5579627">
                    <a:moveTo>
                      <a:pt x="1103290" y="1263016"/>
                    </a:moveTo>
                    <a:cubicBezTo>
                      <a:pt x="1103290" y="1263016"/>
                      <a:pt x="1495939" y="-39182"/>
                      <a:pt x="2733547" y="448"/>
                    </a:cubicBezTo>
                    <a:cubicBezTo>
                      <a:pt x="2877682" y="-441"/>
                      <a:pt x="3817083" y="-29370"/>
                      <a:pt x="4324047" y="1198300"/>
                    </a:cubicBezTo>
                    <a:cubicBezTo>
                      <a:pt x="4483106" y="1262889"/>
                      <a:pt x="5820107" y="1734955"/>
                      <a:pt x="5559306" y="3248545"/>
                    </a:cubicBezTo>
                    <a:cubicBezTo>
                      <a:pt x="5477283" y="3531860"/>
                      <a:pt x="5410059" y="4124022"/>
                      <a:pt x="4411151" y="4484026"/>
                    </a:cubicBezTo>
                    <a:cubicBezTo>
                      <a:pt x="4351514" y="4611426"/>
                      <a:pt x="4055783" y="5443019"/>
                      <a:pt x="3056748" y="5562226"/>
                    </a:cubicBezTo>
                    <a:cubicBezTo>
                      <a:pt x="2798295" y="5596998"/>
                      <a:pt x="1858895" y="5691436"/>
                      <a:pt x="1242598" y="4458813"/>
                    </a:cubicBezTo>
                    <a:cubicBezTo>
                      <a:pt x="999041" y="4374314"/>
                      <a:pt x="-59631" y="3951848"/>
                      <a:pt x="9944" y="2644633"/>
                    </a:cubicBezTo>
                    <a:cubicBezTo>
                      <a:pt x="6545" y="2484716"/>
                      <a:pt x="129119" y="1678050"/>
                      <a:pt x="1103290" y="1263016"/>
                    </a:cubicBezTo>
                    <a:close/>
                  </a:path>
                </a:pathLst>
              </a:custGeom>
              <a:gradFill>
                <a:gsLst>
                  <a:gs pos="23000">
                    <a:srgbClr val="FF6100">
                      <a:alpha val="100000"/>
                    </a:srgbClr>
                  </a:gs>
                  <a:gs pos="100000">
                    <a:srgbClr val="FF6100">
                      <a:alpha val="100000"/>
                      <a:lumMod val="60000"/>
                      <a:lumOff val="40000"/>
                    </a:srgbClr>
                  </a:gs>
                </a:gsLst>
                <a:lin ang="13500000"/>
              </a:gra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3</a:t>
                </a:r>
                <a:endParaRPr lang="en-US" sz="1100"/>
              </a:p>
            </p:txBody>
          </p:sp>
        </p:grpSp>
      </p:grpSp>
      <p:sp>
        <p:nvSpPr>
          <p:cNvPr id="16" name="TextBox 16"/>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企业与公共利益冲突</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756400" y="2571750"/>
            <a:ext cx="4762500" cy="857250"/>
          </a:xfrm>
          <a:prstGeom prst="rect">
            <a:avLst/>
          </a:prstGeom>
          <a:ln>
            <a:headEnd type="none"/>
            <a:tailEnd type="none"/>
          </a:ln>
        </p:spPr>
        <p:txBody>
          <a:bodyPr vert="horz" wrap="square" lIns="91440" tIns="45720" rIns="91440" bIns="45720" rtlCol="0" anchor="b" anchorCtr="0"/>
          <a:lstStyle/>
          <a:p>
            <a:pPr algn="r">
              <a:lnSpc>
                <a:spcPct val="100000"/>
              </a:lnSpc>
              <a:spcBef>
                <a:spcPts val="0"/>
              </a:spcBef>
              <a:defRPr/>
            </a:pPr>
            <a:r>
              <a:rPr lang="en-US" sz="3600" b="1" i="0">
                <a:ln/>
                <a:solidFill>
                  <a:srgbClr val="FFFFFF">
                    <a:alpha val="100000"/>
                  </a:srgbClr>
                </a:solidFill>
                <a:latin typeface="微软雅黑"/>
                <a:ea typeface="微软雅黑"/>
                <a:cs typeface="微软雅黑"/>
              </a:rPr>
              <a:t>启示与未来思考</a:t>
            </a:r>
            <a:endParaRPr lang="en-US" sz="1100"/>
          </a:p>
        </p:txBody>
      </p:sp>
      <p:sp>
        <p:nvSpPr>
          <p:cNvPr id="3" name="TextBox 3"/>
          <p:cNvSpPr txBox="1"/>
          <p:nvPr/>
        </p:nvSpPr>
        <p:spPr>
          <a:xfrm>
            <a:off x="6756400" y="3429000"/>
            <a:ext cx="4762500" cy="952500"/>
          </a:xfrm>
          <a:prstGeom prst="rect">
            <a:avLst/>
          </a:prstGeom>
          <a:ln>
            <a:headEnd type="none"/>
            <a:tailEnd type="none"/>
          </a:ln>
        </p:spPr>
        <p:txBody>
          <a:bodyPr vert="horz" wrap="square" lIns="91440" tIns="45720" rIns="91440" bIns="45720" rtlCol="0" anchor="t" anchorCtr="0"/>
          <a:lstStyle/>
          <a:p>
            <a:pPr algn="r">
              <a:lnSpc>
                <a:spcPct val="120000"/>
              </a:lnSpc>
              <a:spcBef>
                <a:spcPts val="1000"/>
              </a:spcBef>
              <a:defRPr/>
            </a:pPr>
            <a:r>
              <a:rPr lang="en-US" sz="1600" b="0" i="0">
                <a:ln/>
                <a:solidFill>
                  <a:srgbClr val="FFFFFF">
                    <a:alpha val="100000"/>
                  </a:srgbClr>
                </a:solidFill>
                <a:latin typeface="微软雅黑"/>
                <a:ea typeface="微软雅黑"/>
                <a:cs typeface="微软雅黑"/>
              </a:rPr>
              <a:t>基于前述分析，探讨应对“信息茧房”与算法极端化的可能路径，从技术、监管、个人等多维度展望一个更负责任的数字未来。</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b509be7d-cf47-444d-9348-4ac43a655864"/>
          <p:cNvGrpSpPr/>
          <p:nvPr/>
        </p:nvGrpSpPr>
        <p:grpSpPr>
          <a:xfrm>
            <a:off x="660400" y="1130300"/>
            <a:ext cx="10858500" cy="5003800"/>
            <a:chOff x="660400" y="1130300"/>
            <a:chExt cx="10858500" cy="5003800"/>
          </a:xfrm>
        </p:grpSpPr>
        <p:sp>
          <p:nvSpPr>
            <p:cNvPr id="3" name="TextBox 3"/>
            <p:cNvSpPr txBox="1"/>
            <p:nvPr/>
          </p:nvSpPr>
          <p:spPr>
            <a:xfrm>
              <a:off x="660400" y="1130300"/>
              <a:ext cx="10858500" cy="615950"/>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微软雅黑"/>
                  <a:ea typeface="微软雅黑"/>
                  <a:cs typeface="微软雅黑"/>
                </a:rPr>
                <a:t>打破“黑箱”，赋予用户认知与选择的权利</a:t>
              </a:r>
              <a:endParaRPr lang="en-US" sz="1100"/>
            </a:p>
          </p:txBody>
        </p:sp>
        <p:sp>
          <p:nvSpPr>
            <p:cNvPr id="4" name="AutoShape 4"/>
            <p:cNvSpPr/>
            <p:nvPr/>
          </p:nvSpPr>
          <p:spPr>
            <a:xfrm>
              <a:off x="887412" y="2336381"/>
              <a:ext cx="0" cy="3035719"/>
            </a:xfrm>
            <a:prstGeom prst="line">
              <a:avLst/>
            </a:prstGeom>
            <a:ln w="6350">
              <a:solidFill>
                <a:srgbClr val="000000">
                  <a:alpha val="50196"/>
                </a:srgbClr>
              </a:solidFill>
              <a:prstDash val="solid"/>
              <a:headEnd type="none"/>
              <a:tailEnd type="none"/>
            </a:ln>
          </p:spPr>
        </p:sp>
        <p:grpSp>
          <p:nvGrpSpPr>
            <p:cNvPr id="5" name="Group 5"/>
            <p:cNvGrpSpPr/>
            <p:nvPr/>
          </p:nvGrpSpPr>
          <p:grpSpPr>
            <a:xfrm>
              <a:off x="660400" y="1900237"/>
              <a:ext cx="10858500" cy="1116218"/>
              <a:chOff x="660400" y="1608137"/>
              <a:chExt cx="10858500" cy="1116218"/>
            </a:xfrm>
          </p:grpSpPr>
          <p:sp>
            <p:nvSpPr>
              <p:cNvPr id="6" name="TextBox 6"/>
              <p:cNvSpPr txBox="1"/>
              <p:nvPr/>
            </p:nvSpPr>
            <p:spPr>
              <a:xfrm>
                <a:off x="660400" y="1608137"/>
                <a:ext cx="454025" cy="453485"/>
              </a:xfrm>
              <a:prstGeom prst="ellipse">
                <a:avLst/>
              </a:prstGeom>
              <a:solidFill>
                <a:srgbClr val="FF6100">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1</a:t>
                </a:r>
                <a:endParaRPr lang="en-US" sz="1100"/>
              </a:p>
            </p:txBody>
          </p:sp>
          <p:sp>
            <p:nvSpPr>
              <p:cNvPr id="7" name="TextBox 7"/>
              <p:cNvSpPr txBox="1"/>
              <p:nvPr/>
            </p:nvSpPr>
            <p:spPr>
              <a:xfrm>
                <a:off x="1135860" y="1649292"/>
                <a:ext cx="10383040" cy="371174"/>
              </a:xfrm>
              <a:prstGeom prst="rect">
                <a:avLst/>
              </a:prstGeom>
              <a:ln>
                <a:headEnd type="none"/>
                <a:tailEnd type="none"/>
              </a:ln>
            </p:spPr>
            <p:txBody>
              <a:bodyPr vert="horz" wrap="square" lIns="91440" tIns="45720" rIns="91440" bIns="45720" rtlCol="0" anchor="ctr" anchorCtr="0"/>
              <a:lstStyle/>
              <a:p>
                <a:pPr algn="l">
                  <a:lnSpc>
                    <a:spcPct val="108000"/>
                  </a:lnSpc>
                  <a:spcBef>
                    <a:spcPts val="0"/>
                  </a:spcBef>
                  <a:defRPr/>
                </a:pPr>
                <a:r>
                  <a:rPr lang="en-US" sz="1800" b="1" i="0">
                    <a:ln/>
                    <a:solidFill>
                      <a:srgbClr val="000000">
                        <a:alpha val="100000"/>
                      </a:srgbClr>
                    </a:solidFill>
                    <a:latin typeface="微软雅黑"/>
                    <a:ea typeface="微软雅黑"/>
                    <a:cs typeface="微软雅黑"/>
                  </a:rPr>
                  <a:t>为何重要</a:t>
                </a:r>
                <a:endParaRPr lang="en-US" sz="1100"/>
              </a:p>
            </p:txBody>
          </p:sp>
          <p:sp>
            <p:nvSpPr>
              <p:cNvPr id="8" name="TextBox 8"/>
              <p:cNvSpPr txBox="1"/>
              <p:nvPr/>
            </p:nvSpPr>
            <p:spPr>
              <a:xfrm>
                <a:off x="1135860" y="2023459"/>
                <a:ext cx="10383040" cy="700896"/>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算法透明是问责制的前提。如果连平台自己都无法解释为何推荐特定内容，就更无法评估其是否存在偏见或危害。用户有权了解影响其世界观的机制。</a:t>
                </a:r>
                <a:endParaRPr lang="en-US" sz="1100"/>
              </a:p>
            </p:txBody>
          </p:sp>
        </p:grpSp>
        <p:grpSp>
          <p:nvGrpSpPr>
            <p:cNvPr id="9" name="Group 9"/>
            <p:cNvGrpSpPr/>
            <p:nvPr/>
          </p:nvGrpSpPr>
          <p:grpSpPr>
            <a:xfrm>
              <a:off x="660400" y="3459059"/>
              <a:ext cx="10858500" cy="1116218"/>
              <a:chOff x="660400" y="3166959"/>
              <a:chExt cx="10858500" cy="1116218"/>
            </a:xfrm>
          </p:grpSpPr>
          <p:sp>
            <p:nvSpPr>
              <p:cNvPr id="10" name="TextBox 10"/>
              <p:cNvSpPr txBox="1"/>
              <p:nvPr/>
            </p:nvSpPr>
            <p:spPr>
              <a:xfrm>
                <a:off x="660400" y="3166959"/>
                <a:ext cx="454025" cy="453485"/>
              </a:xfrm>
              <a:prstGeom prst="ellipse">
                <a:avLst/>
              </a:prstGeom>
              <a:solidFill>
                <a:srgbClr val="FF6100">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2</a:t>
                </a:r>
                <a:endParaRPr lang="en-US" sz="1100"/>
              </a:p>
            </p:txBody>
          </p:sp>
          <p:sp>
            <p:nvSpPr>
              <p:cNvPr id="11" name="TextBox 11"/>
              <p:cNvSpPr txBox="1"/>
              <p:nvPr/>
            </p:nvSpPr>
            <p:spPr>
              <a:xfrm>
                <a:off x="1135860" y="3208114"/>
                <a:ext cx="10383040" cy="371174"/>
              </a:xfrm>
              <a:prstGeom prst="rect">
                <a:avLst/>
              </a:prstGeom>
              <a:ln>
                <a:headEnd type="none"/>
                <a:tailEnd type="none"/>
              </a:ln>
            </p:spPr>
            <p:txBody>
              <a:bodyPr vert="horz" wrap="square" lIns="91440" tIns="45720" rIns="91440" bIns="45720" rtlCol="0" anchor="ctr" anchorCtr="0"/>
              <a:lstStyle/>
              <a:p>
                <a:pPr algn="l">
                  <a:lnSpc>
                    <a:spcPct val="108000"/>
                  </a:lnSpc>
                  <a:spcBef>
                    <a:spcPts val="0"/>
                  </a:spcBef>
                  <a:defRPr/>
                </a:pPr>
                <a:r>
                  <a:rPr lang="en-US" sz="1800" b="1" i="0">
                    <a:ln/>
                    <a:solidFill>
                      <a:srgbClr val="000000">
                        <a:alpha val="100000"/>
                      </a:srgbClr>
                    </a:solidFill>
                    <a:latin typeface="微软雅黑"/>
                    <a:ea typeface="微软雅黑"/>
                    <a:cs typeface="微软雅黑"/>
                  </a:rPr>
                  <a:t>实践路径</a:t>
                </a:r>
                <a:endParaRPr lang="en-US" sz="1100"/>
              </a:p>
            </p:txBody>
          </p:sp>
          <p:sp>
            <p:nvSpPr>
              <p:cNvPr id="12" name="TextBox 12"/>
              <p:cNvSpPr txBox="1"/>
              <p:nvPr/>
            </p:nvSpPr>
            <p:spPr>
              <a:xfrm>
                <a:off x="1135860" y="3582281"/>
                <a:ext cx="10383040" cy="700896"/>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推动“可解释AI”（XAI）在推荐系统中的应用，使算法决策过程不再是不可追溯的黑箱。同时，平台应向用户提供简明的推荐理由，如“因为你观看了XX视频”。</a:t>
                </a:r>
                <a:endParaRPr lang="en-US" sz="1100"/>
              </a:p>
            </p:txBody>
          </p:sp>
        </p:grpSp>
        <p:grpSp>
          <p:nvGrpSpPr>
            <p:cNvPr id="13" name="Group 13"/>
            <p:cNvGrpSpPr/>
            <p:nvPr/>
          </p:nvGrpSpPr>
          <p:grpSpPr>
            <a:xfrm>
              <a:off x="660400" y="5017882"/>
              <a:ext cx="10858500" cy="1116218"/>
              <a:chOff x="660400" y="4725782"/>
              <a:chExt cx="10858500" cy="1116218"/>
            </a:xfrm>
          </p:grpSpPr>
          <p:sp>
            <p:nvSpPr>
              <p:cNvPr id="14" name="TextBox 14"/>
              <p:cNvSpPr txBox="1"/>
              <p:nvPr/>
            </p:nvSpPr>
            <p:spPr>
              <a:xfrm>
                <a:off x="660400" y="4725782"/>
                <a:ext cx="454025" cy="453485"/>
              </a:xfrm>
              <a:prstGeom prst="ellipse">
                <a:avLst/>
              </a:prstGeom>
              <a:solidFill>
                <a:srgbClr val="FF6100">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3</a:t>
                </a:r>
                <a:endParaRPr lang="en-US" sz="1100"/>
              </a:p>
            </p:txBody>
          </p:sp>
          <p:sp>
            <p:nvSpPr>
              <p:cNvPr id="15" name="TextBox 15"/>
              <p:cNvSpPr txBox="1"/>
              <p:nvPr/>
            </p:nvSpPr>
            <p:spPr>
              <a:xfrm>
                <a:off x="1135860" y="4766937"/>
                <a:ext cx="10383040" cy="371174"/>
              </a:xfrm>
              <a:prstGeom prst="rect">
                <a:avLst/>
              </a:prstGeom>
              <a:ln>
                <a:headEnd type="none"/>
                <a:tailEnd type="none"/>
              </a:ln>
            </p:spPr>
            <p:txBody>
              <a:bodyPr vert="horz" wrap="square" lIns="91440" tIns="45720" rIns="91440" bIns="45720" rtlCol="0" anchor="ctr" anchorCtr="0"/>
              <a:lstStyle/>
              <a:p>
                <a:pPr algn="l">
                  <a:lnSpc>
                    <a:spcPct val="108000"/>
                  </a:lnSpc>
                  <a:spcBef>
                    <a:spcPts val="0"/>
                  </a:spcBef>
                  <a:defRPr/>
                </a:pPr>
                <a:r>
                  <a:rPr lang="en-US" sz="1800" b="1" i="0">
                    <a:ln/>
                    <a:solidFill>
                      <a:srgbClr val="000000">
                        <a:alpha val="100000"/>
                      </a:srgbClr>
                    </a:solidFill>
                    <a:latin typeface="微软雅黑"/>
                    <a:ea typeface="微软雅黑"/>
                    <a:cs typeface="微软雅黑"/>
                  </a:rPr>
                  <a:t>挑战与权衡</a:t>
                </a:r>
                <a:endParaRPr lang="en-US" sz="1100"/>
              </a:p>
            </p:txBody>
          </p:sp>
          <p:sp>
            <p:nvSpPr>
              <p:cNvPr id="16" name="TextBox 16"/>
              <p:cNvSpPr txBox="1"/>
              <p:nvPr/>
            </p:nvSpPr>
            <p:spPr>
              <a:xfrm>
                <a:off x="1135860" y="5141104"/>
                <a:ext cx="10383040" cy="700896"/>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000000">
                        <a:alpha val="100000"/>
                      </a:srgbClr>
                    </a:solidFill>
                    <a:latin typeface="微软雅黑"/>
                    <a:ea typeface="微软雅黑"/>
                    <a:cs typeface="微软雅黑"/>
                  </a:rPr>
                  <a:t>完全的透明可能暴露核心商业机密，并被恶意利用以操纵系统。因此，需要在商业秘密、技术可行性与公众知情权之间寻求平衡。</a:t>
                </a:r>
                <a:endParaRPr lang="en-US" sz="1100"/>
              </a:p>
            </p:txBody>
          </p:sp>
        </p:grpSp>
      </p:grpSp>
      <p:sp>
        <p:nvSpPr>
          <p:cNvPr id="17" name="TextBox 17"/>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算法透明与可解释性</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85be87cc-63f2-4a26-b816-3f1808f982f6"/>
          <p:cNvGrpSpPr/>
          <p:nvPr/>
        </p:nvGrpSpPr>
        <p:grpSpPr>
          <a:xfrm>
            <a:off x="660399" y="1130301"/>
            <a:ext cx="10858501" cy="5003799"/>
            <a:chOff x="660399" y="1130301"/>
            <a:chExt cx="10858501" cy="5003799"/>
          </a:xfrm>
        </p:grpSpPr>
        <p:sp>
          <p:nvSpPr>
            <p:cNvPr id="3" name="TextBox 3"/>
            <p:cNvSpPr txBox="1"/>
            <p:nvPr/>
          </p:nvSpPr>
          <p:spPr>
            <a:xfrm>
              <a:off x="660399" y="1130301"/>
              <a:ext cx="10858500" cy="596900"/>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000000">
                      <a:alpha val="100000"/>
                    </a:srgbClr>
                  </a:solidFill>
                  <a:latin typeface="微软雅黑"/>
                  <a:ea typeface="微软雅黑"/>
                  <a:cs typeface="微软雅黑"/>
                </a:rPr>
                <a:t>从技术上主动“反哺”，打破信息闭环</a:t>
              </a:r>
              <a:endParaRPr lang="en-US" sz="1100"/>
            </a:p>
          </p:txBody>
        </p:sp>
        <p:grpSp>
          <p:nvGrpSpPr>
            <p:cNvPr id="4" name="Group 4"/>
            <p:cNvGrpSpPr/>
            <p:nvPr/>
          </p:nvGrpSpPr>
          <p:grpSpPr>
            <a:xfrm>
              <a:off x="660400" y="1828801"/>
              <a:ext cx="10858500" cy="1403350"/>
              <a:chOff x="923925" y="1885951"/>
              <a:chExt cx="12980876" cy="1677645"/>
            </a:xfrm>
          </p:grpSpPr>
          <p:sp>
            <p:nvSpPr>
              <p:cNvPr id="5" name="TextBox 5"/>
              <p:cNvSpPr txBox="1"/>
              <p:nvPr/>
            </p:nvSpPr>
            <p:spPr>
              <a:xfrm>
                <a:off x="1013699" y="2587307"/>
                <a:ext cx="12769645" cy="907968"/>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defRPr/>
                </a:pPr>
                <a:r>
                  <a:rPr lang="en-US" sz="1200" b="0" i="0" strike="noStrike">
                    <a:ln/>
                    <a:solidFill>
                      <a:srgbClr val="000000">
                        <a:alpha val="100000"/>
                      </a:srgbClr>
                    </a:solidFill>
                    <a:latin typeface="微软雅黑"/>
                    <a:ea typeface="微软雅黑"/>
                    <a:cs typeface="微软雅黑"/>
                  </a:rPr>
                  <a:t>工程师可以在推荐模型中主动引入“多样性”和“新颖性”指标，作为对“相关性”的补充和制衡。例如，定期向用户推荐少量其兴趣领域之外的优质、权威内容。</a:t>
                </a:r>
                <a:endParaRPr lang="en-US" sz="1100"/>
              </a:p>
            </p:txBody>
          </p:sp>
          <p:sp>
            <p:nvSpPr>
              <p:cNvPr id="6" name="TextBox 6"/>
              <p:cNvSpPr txBox="1"/>
              <p:nvPr/>
            </p:nvSpPr>
            <p:spPr>
              <a:xfrm>
                <a:off x="1600200" y="1958514"/>
                <a:ext cx="12183142" cy="556260"/>
              </a:xfrm>
              <a:prstGeom prst="plaque">
                <a:avLst>
                  <a:gd name="adj" fmla="val 0"/>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技术干预的可能</a:t>
                </a:r>
                <a:endParaRPr lang="en-US" sz="1100"/>
              </a:p>
            </p:txBody>
          </p:sp>
          <p:sp>
            <p:nvSpPr>
              <p:cNvPr id="7" name="AutoShape 7"/>
              <p:cNvSpPr/>
              <p:nvPr/>
            </p:nvSpPr>
            <p:spPr>
              <a:xfrm>
                <a:off x="923925" y="1885951"/>
                <a:ext cx="12980876" cy="1677645"/>
              </a:xfrm>
              <a:prstGeom prst="roundRect">
                <a:avLst>
                  <a:gd name="adj" fmla="val 4000"/>
                </a:avLst>
              </a:prstGeom>
              <a:ln w="6350">
                <a:solidFill>
                  <a:srgbClr val="000000">
                    <a:alpha val="50196"/>
                  </a:srgbClr>
                </a:solidFill>
                <a:prstDash val="solid"/>
                <a:headEnd type="none"/>
                <a:tailEnd type="none"/>
              </a:ln>
            </p:spPr>
          </p:sp>
          <p:sp>
            <p:nvSpPr>
              <p:cNvPr id="8" name="TextBox 8"/>
              <p:cNvSpPr txBox="1"/>
              <p:nvPr/>
            </p:nvSpPr>
            <p:spPr>
              <a:xfrm>
                <a:off x="1013460" y="1958513"/>
                <a:ext cx="556260" cy="556259"/>
              </a:xfrm>
              <a:prstGeom prst="roundRect">
                <a:avLst>
                  <a:gd name="adj" fmla="val 10458"/>
                </a:avLst>
              </a:prstGeom>
              <a:solidFill>
                <a:srgbClr val="FF6100">
                  <a:alpha val="100000"/>
                </a:srgbClr>
              </a:solidFill>
              <a:ln>
                <a:headEnd type="none"/>
                <a:tailEnd type="none"/>
              </a:ln>
            </p:spPr>
            <p:txBody>
              <a:bodyPr vert="horz" wrap="none" lIns="108000" tIns="108000" rIns="108000" bIns="108000" rtlCol="0" anchor="ctr" anchorCtr="0"/>
              <a:lstStyle/>
              <a:p>
                <a:pPr algn="ctr">
                  <a:defRPr/>
                </a:pPr>
                <a:r>
                  <a:rPr lang="en-US" sz="1600" b="1" i="0">
                    <a:ln/>
                    <a:solidFill>
                      <a:srgbClr val="FFFFFF">
                        <a:alpha val="100000"/>
                      </a:srgbClr>
                    </a:solidFill>
                    <a:latin typeface="Arial"/>
                    <a:ea typeface="Arial"/>
                    <a:cs typeface="Arial"/>
                  </a:rPr>
                  <a:t>1</a:t>
                </a:r>
                <a:endParaRPr lang="en-US" sz="1100"/>
              </a:p>
            </p:txBody>
          </p:sp>
        </p:grpSp>
        <p:grpSp>
          <p:nvGrpSpPr>
            <p:cNvPr id="9" name="Group 9"/>
            <p:cNvGrpSpPr/>
            <p:nvPr/>
          </p:nvGrpSpPr>
          <p:grpSpPr>
            <a:xfrm>
              <a:off x="660400" y="3279776"/>
              <a:ext cx="10858500" cy="1403350"/>
              <a:chOff x="923925" y="1885951"/>
              <a:chExt cx="12980876" cy="1677645"/>
            </a:xfrm>
          </p:grpSpPr>
          <p:sp>
            <p:nvSpPr>
              <p:cNvPr id="10" name="TextBox 10"/>
              <p:cNvSpPr txBox="1"/>
              <p:nvPr/>
            </p:nvSpPr>
            <p:spPr>
              <a:xfrm>
                <a:off x="1013699" y="2587307"/>
                <a:ext cx="12769645" cy="907968"/>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defRPr/>
                </a:pPr>
                <a:r>
                  <a:rPr lang="en-US" sz="1200" b="0" i="0" strike="noStrike">
                    <a:ln/>
                    <a:solidFill>
                      <a:srgbClr val="000000">
                        <a:alpha val="100000"/>
                      </a:srgbClr>
                    </a:solidFill>
                    <a:latin typeface="微软雅黑"/>
                    <a:ea typeface="微软雅黑"/>
                    <a:cs typeface="微软雅黑"/>
                  </a:rPr>
                  <a:t>算法推荐与人工编辑并非对立关系。可以建立人机协同的内容策展机制，由专业编辑团队筛选重要、多元的公共议题，通过算法进行广泛分发，提升优质内容的可见性。</a:t>
                </a:r>
                <a:endParaRPr lang="en-US" sz="1100"/>
              </a:p>
            </p:txBody>
          </p:sp>
          <p:sp>
            <p:nvSpPr>
              <p:cNvPr id="11" name="TextBox 11"/>
              <p:cNvSpPr txBox="1"/>
              <p:nvPr/>
            </p:nvSpPr>
            <p:spPr>
              <a:xfrm>
                <a:off x="1600200" y="1958513"/>
                <a:ext cx="12183142" cy="556259"/>
              </a:xfrm>
              <a:prstGeom prst="plaque">
                <a:avLst>
                  <a:gd name="adj" fmla="val 0"/>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人机协同策展</a:t>
                </a:r>
                <a:endParaRPr lang="en-US" sz="1100"/>
              </a:p>
            </p:txBody>
          </p:sp>
          <p:sp>
            <p:nvSpPr>
              <p:cNvPr id="12" name="AutoShape 12"/>
              <p:cNvSpPr/>
              <p:nvPr/>
            </p:nvSpPr>
            <p:spPr>
              <a:xfrm>
                <a:off x="923925" y="1885951"/>
                <a:ext cx="12980876" cy="1677645"/>
              </a:xfrm>
              <a:prstGeom prst="roundRect">
                <a:avLst>
                  <a:gd name="adj" fmla="val 4000"/>
                </a:avLst>
              </a:prstGeom>
              <a:ln w="6350">
                <a:solidFill>
                  <a:srgbClr val="000000">
                    <a:alpha val="50196"/>
                  </a:srgbClr>
                </a:solidFill>
                <a:prstDash val="solid"/>
                <a:headEnd type="none"/>
                <a:tailEnd type="none"/>
              </a:ln>
            </p:spPr>
          </p:sp>
          <p:sp>
            <p:nvSpPr>
              <p:cNvPr id="13" name="TextBox 13"/>
              <p:cNvSpPr txBox="1"/>
              <p:nvPr/>
            </p:nvSpPr>
            <p:spPr>
              <a:xfrm>
                <a:off x="1013460" y="1958513"/>
                <a:ext cx="556260" cy="556259"/>
              </a:xfrm>
              <a:prstGeom prst="roundRect">
                <a:avLst>
                  <a:gd name="adj" fmla="val 10458"/>
                </a:avLst>
              </a:prstGeom>
              <a:solidFill>
                <a:srgbClr val="F28217">
                  <a:alpha val="100000"/>
                </a:srgbClr>
              </a:solidFill>
              <a:ln>
                <a:headEnd type="none"/>
                <a:tailEnd type="none"/>
              </a:ln>
            </p:spPr>
            <p:txBody>
              <a:bodyPr vert="horz" wrap="none" lIns="108000" tIns="108000" rIns="108000" bIns="108000" rtlCol="0" anchor="ctr" anchorCtr="0"/>
              <a:lstStyle/>
              <a:p>
                <a:pPr algn="ctr">
                  <a:defRPr/>
                </a:pPr>
                <a:r>
                  <a:rPr lang="en-US" sz="1600" b="1" i="0">
                    <a:ln/>
                    <a:solidFill>
                      <a:srgbClr val="FFFFFF">
                        <a:alpha val="100000"/>
                      </a:srgbClr>
                    </a:solidFill>
                    <a:latin typeface="Arial"/>
                    <a:ea typeface="Arial"/>
                    <a:cs typeface="Arial"/>
                  </a:rPr>
                  <a:t>2</a:t>
                </a:r>
                <a:endParaRPr lang="en-US" sz="1100"/>
              </a:p>
            </p:txBody>
          </p:sp>
        </p:grpSp>
        <p:grpSp>
          <p:nvGrpSpPr>
            <p:cNvPr id="14" name="Group 14"/>
            <p:cNvGrpSpPr/>
            <p:nvPr/>
          </p:nvGrpSpPr>
          <p:grpSpPr>
            <a:xfrm>
              <a:off x="660400" y="4730750"/>
              <a:ext cx="10858500" cy="1403350"/>
              <a:chOff x="923925" y="1885951"/>
              <a:chExt cx="12980876" cy="1677645"/>
            </a:xfrm>
          </p:grpSpPr>
          <p:sp>
            <p:nvSpPr>
              <p:cNvPr id="15" name="TextBox 15"/>
              <p:cNvSpPr txBox="1"/>
              <p:nvPr/>
            </p:nvSpPr>
            <p:spPr>
              <a:xfrm>
                <a:off x="1013699" y="2587307"/>
                <a:ext cx="12769645" cy="907968"/>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defRPr/>
                </a:pPr>
                <a:r>
                  <a:rPr lang="en-US" sz="1200" b="0" i="0" strike="noStrike">
                    <a:ln/>
                    <a:solidFill>
                      <a:srgbClr val="000000">
                        <a:alpha val="100000"/>
                      </a:srgbClr>
                    </a:solidFill>
                    <a:latin typeface="微软雅黑"/>
                    <a:ea typeface="微软雅黑"/>
                    <a:cs typeface="微软雅黑"/>
                  </a:rPr>
                  <a:t>为用户提供更强大的自定义工具，允许他们主动调整推荐内容的“多样性滑块”，或选择订阅不同“信息食谱”，从被动接收者变为主动选择者。</a:t>
                </a:r>
                <a:endParaRPr lang="en-US" sz="1100"/>
              </a:p>
            </p:txBody>
          </p:sp>
          <p:sp>
            <p:nvSpPr>
              <p:cNvPr id="16" name="TextBox 16"/>
              <p:cNvSpPr txBox="1"/>
              <p:nvPr/>
            </p:nvSpPr>
            <p:spPr>
              <a:xfrm>
                <a:off x="1600200" y="1958513"/>
                <a:ext cx="12183142" cy="556259"/>
              </a:xfrm>
              <a:prstGeom prst="plaque">
                <a:avLst>
                  <a:gd name="adj" fmla="val 0"/>
                </a:avLst>
              </a:prstGeom>
              <a:ln>
                <a:prstDash val="solid"/>
                <a:headEnd type="none"/>
                <a:tailEnd type="none"/>
              </a:ln>
            </p:spPr>
            <p:txBody>
              <a:bodyPr vert="horz" wrap="square" lIns="91440" tIns="45720" rIns="91440" bIns="45720" rtlCol="0" anchor="ctr" anchorCtr="0"/>
              <a:lstStyle/>
              <a:p>
                <a:pPr algn="l">
                  <a:lnSpc>
                    <a:spcPct val="120000"/>
                  </a:lnSpc>
                  <a:defRPr/>
                </a:pPr>
                <a:r>
                  <a:rPr lang="en-US" sz="1800" b="1" i="0">
                    <a:ln/>
                    <a:solidFill>
                      <a:srgbClr val="000000">
                        <a:alpha val="100000"/>
                      </a:srgbClr>
                    </a:solidFill>
                    <a:latin typeface="微软雅黑"/>
                    <a:ea typeface="微软雅黑"/>
                    <a:cs typeface="微软雅黑"/>
                  </a:rPr>
                  <a:t>用户主动选择</a:t>
                </a:r>
                <a:endParaRPr lang="en-US" sz="1100"/>
              </a:p>
            </p:txBody>
          </p:sp>
          <p:sp>
            <p:nvSpPr>
              <p:cNvPr id="17" name="AutoShape 17"/>
              <p:cNvSpPr/>
              <p:nvPr/>
            </p:nvSpPr>
            <p:spPr>
              <a:xfrm>
                <a:off x="923925" y="1885951"/>
                <a:ext cx="12980876" cy="1677645"/>
              </a:xfrm>
              <a:prstGeom prst="roundRect">
                <a:avLst>
                  <a:gd name="adj" fmla="val 4000"/>
                </a:avLst>
              </a:prstGeom>
              <a:ln w="6350">
                <a:solidFill>
                  <a:srgbClr val="000000">
                    <a:alpha val="50196"/>
                  </a:srgbClr>
                </a:solidFill>
                <a:prstDash val="solid"/>
                <a:headEnd type="none"/>
                <a:tailEnd type="none"/>
              </a:ln>
            </p:spPr>
          </p:sp>
          <p:sp>
            <p:nvSpPr>
              <p:cNvPr id="18" name="TextBox 18"/>
              <p:cNvSpPr txBox="1"/>
              <p:nvPr/>
            </p:nvSpPr>
            <p:spPr>
              <a:xfrm>
                <a:off x="1013460" y="1958513"/>
                <a:ext cx="556260" cy="556259"/>
              </a:xfrm>
              <a:prstGeom prst="roundRect">
                <a:avLst>
                  <a:gd name="adj" fmla="val 10458"/>
                </a:avLst>
              </a:prstGeom>
              <a:solidFill>
                <a:srgbClr val="FF6100">
                  <a:alpha val="100000"/>
                </a:srgbClr>
              </a:solidFill>
              <a:ln>
                <a:headEnd type="none"/>
                <a:tailEnd type="none"/>
              </a:ln>
            </p:spPr>
            <p:txBody>
              <a:bodyPr vert="horz" wrap="none" lIns="108000" tIns="108000" rIns="108000" bIns="108000" rtlCol="0" anchor="ctr" anchorCtr="0"/>
              <a:lstStyle/>
              <a:p>
                <a:pPr algn="ctr">
                  <a:defRPr/>
                </a:pPr>
                <a:r>
                  <a:rPr lang="en-US" sz="1600" b="1" i="0">
                    <a:ln/>
                    <a:solidFill>
                      <a:srgbClr val="FFFFFF">
                        <a:alpha val="100000"/>
                      </a:srgbClr>
                    </a:solidFill>
                    <a:latin typeface="Arial"/>
                    <a:ea typeface="Arial"/>
                    <a:cs typeface="Arial"/>
                  </a:rPr>
                  <a:t>3</a:t>
                </a:r>
                <a:endParaRPr lang="en-US" sz="1100"/>
              </a:p>
            </p:txBody>
          </p:sp>
        </p:grpSp>
      </p:grpSp>
      <p:sp>
        <p:nvSpPr>
          <p:cNvPr id="19" name="TextBox 19"/>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多元化信息生态构建</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edc61c90-d47c-4160-bea9-34b7b4142bf4"/>
          <p:cNvGrpSpPr/>
          <p:nvPr/>
        </p:nvGrpSpPr>
        <p:grpSpPr>
          <a:xfrm>
            <a:off x="660399" y="1255790"/>
            <a:ext cx="10858501" cy="4979909"/>
            <a:chOff x="660399" y="1255790"/>
            <a:chExt cx="10858501" cy="4979909"/>
          </a:xfrm>
        </p:grpSpPr>
        <p:sp>
          <p:nvSpPr>
            <p:cNvPr id="3" name="AutoShape 3"/>
            <p:cNvSpPr/>
            <p:nvPr/>
          </p:nvSpPr>
          <p:spPr>
            <a:xfrm>
              <a:off x="4231916" y="2951643"/>
              <a:ext cx="0" cy="2277128"/>
            </a:xfrm>
            <a:prstGeom prst="line">
              <a:avLst/>
            </a:prstGeom>
            <a:ln w="12700">
              <a:solidFill>
                <a:srgbClr val="000000">
                  <a:alpha val="10196"/>
                  <a:lumMod val="50000"/>
                  <a:lumOff val="50000"/>
                </a:srgbClr>
              </a:solidFill>
              <a:prstDash val="solid"/>
              <a:headEnd type="none"/>
              <a:tailEnd type="none"/>
            </a:ln>
          </p:spPr>
        </p:sp>
        <p:sp>
          <p:nvSpPr>
            <p:cNvPr id="4" name="AutoShape 4"/>
            <p:cNvSpPr/>
            <p:nvPr/>
          </p:nvSpPr>
          <p:spPr>
            <a:xfrm>
              <a:off x="7972785" y="2951643"/>
              <a:ext cx="0" cy="2277128"/>
            </a:xfrm>
            <a:prstGeom prst="line">
              <a:avLst/>
            </a:prstGeom>
            <a:ln w="12700">
              <a:solidFill>
                <a:srgbClr val="000000">
                  <a:alpha val="10196"/>
                  <a:lumMod val="50000"/>
                  <a:lumOff val="50000"/>
                </a:srgbClr>
              </a:solidFill>
              <a:prstDash val="solid"/>
              <a:headEnd type="none"/>
              <a:tailEnd type="none"/>
            </a:ln>
          </p:spPr>
        </p:sp>
        <p:sp>
          <p:nvSpPr>
            <p:cNvPr id="5" name="TextBox 5"/>
            <p:cNvSpPr txBox="1"/>
            <p:nvPr/>
          </p:nvSpPr>
          <p:spPr>
            <a:xfrm>
              <a:off x="660400" y="1255790"/>
              <a:ext cx="10858500" cy="650638"/>
            </a:xfrm>
            <a:prstGeom prst="rect">
              <a:avLst/>
            </a:prstGeom>
            <a:ln>
              <a:headEnd type="none"/>
              <a:tailEnd type="none"/>
            </a:ln>
          </p:spPr>
          <p:txBody>
            <a:bodyPr vert="horz" wrap="square" lIns="91440" tIns="45720" rIns="91440" bIns="45720" rtlCol="0" anchor="t" anchorCtr="0"/>
            <a:lstStyle/>
            <a:p>
              <a:pPr algn="ctr">
                <a:defRPr/>
              </a:pPr>
              <a:r>
                <a:rPr lang="en-US" sz="2400" b="1" i="0">
                  <a:ln/>
                  <a:solidFill>
                    <a:srgbClr val="000000">
                      <a:alpha val="100000"/>
                      <a:lumMod val="95000"/>
                      <a:lumOff val="5000"/>
                    </a:srgbClr>
                  </a:solidFill>
                  <a:latin typeface="微软雅黑"/>
                  <a:ea typeface="微软雅黑"/>
                  <a:cs typeface="微软雅黑"/>
                </a:rPr>
                <a:t>制度建设是约束技术向善的基石</a:t>
              </a:r>
              <a:endParaRPr lang="en-US" sz="1100"/>
            </a:p>
          </p:txBody>
        </p:sp>
        <p:grpSp>
          <p:nvGrpSpPr>
            <p:cNvPr id="6" name="Group 6"/>
            <p:cNvGrpSpPr/>
            <p:nvPr/>
          </p:nvGrpSpPr>
          <p:grpSpPr>
            <a:xfrm>
              <a:off x="660399" y="2023532"/>
              <a:ext cx="3558813" cy="4212167"/>
              <a:chOff x="660399" y="2023532"/>
              <a:chExt cx="3558813" cy="4212167"/>
            </a:xfrm>
          </p:grpSpPr>
          <p:sp>
            <p:nvSpPr>
              <p:cNvPr id="7" name="AutoShape 7"/>
              <p:cNvSpPr/>
              <p:nvPr/>
            </p:nvSpPr>
            <p:spPr>
              <a:xfrm>
                <a:off x="660399" y="2023532"/>
                <a:ext cx="3558813" cy="4212167"/>
              </a:xfrm>
              <a:prstGeom prst="rect">
                <a:avLst/>
              </a:prstGeom>
              <a:solidFill>
                <a:srgbClr val="FFFFFF">
                  <a:alpha val="100000"/>
                </a:srgbClr>
              </a:solidFill>
              <a:ln>
                <a:prstDash val="solid"/>
                <a:headEnd type="none"/>
                <a:tailEnd type="none"/>
              </a:ln>
            </p:spPr>
          </p:sp>
          <p:sp>
            <p:nvSpPr>
              <p:cNvPr id="8" name="TextBox 8"/>
              <p:cNvSpPr txBox="1"/>
              <p:nvPr/>
            </p:nvSpPr>
            <p:spPr>
              <a:xfrm>
                <a:off x="846545" y="3598526"/>
                <a:ext cx="3042580" cy="1525018"/>
              </a:xfrm>
              <a:prstGeom prst="rect">
                <a:avLst/>
              </a:prstGeom>
              <a:ln>
                <a:headEnd type="none"/>
                <a:tailEnd type="none"/>
              </a:ln>
            </p:spPr>
            <p:txBody>
              <a:bodyPr vert="horz" wrap="square" lIns="91440" tIns="45720" rIns="91440" bIns="45720" rtlCol="0" anchor="t" anchorCtr="1"/>
              <a:lstStyle/>
              <a:p>
                <a:pPr algn="l">
                  <a:lnSpc>
                    <a:spcPct val="120000"/>
                  </a:lnSpc>
                  <a:defRPr/>
                </a:pPr>
                <a:r>
                  <a:rPr lang="en-US" sz="1200" b="0" i="0">
                    <a:ln/>
                    <a:solidFill>
                      <a:srgbClr val="000000">
                        <a:alpha val="100000"/>
                        <a:lumMod val="95000"/>
                        <a:lumOff val="5000"/>
                      </a:srgbClr>
                    </a:solidFill>
                    <a:latin typeface="微软雅黑"/>
                    <a:ea typeface="微软雅黑"/>
                    <a:cs typeface="微软雅黑"/>
                  </a:rPr>
                  <a:t>各国应加快针对大型互联网平台的算法监管立法，明确平台在内容审核、防止算法歧视和保护用户隐私等方面的责任与义务。如欧盟的《数字服务法》。</a:t>
                </a:r>
                <a:endParaRPr lang="en-US" sz="1100"/>
              </a:p>
            </p:txBody>
          </p:sp>
          <p:sp>
            <p:nvSpPr>
              <p:cNvPr id="9" name="TextBox 9"/>
              <p:cNvSpPr txBox="1"/>
              <p:nvPr/>
            </p:nvSpPr>
            <p:spPr>
              <a:xfrm>
                <a:off x="846544" y="2729767"/>
                <a:ext cx="3042578" cy="751654"/>
              </a:xfrm>
              <a:prstGeom prst="rect">
                <a:avLst/>
              </a:prstGeom>
              <a:ln>
                <a:headEnd type="none"/>
                <a:tailEnd type="none"/>
              </a:ln>
            </p:spPr>
            <p:txBody>
              <a:bodyPr vert="horz" wrap="square" lIns="91440" tIns="45720" rIns="91440" bIns="45720" rtlCol="0" anchor="b" anchorCtr="0"/>
              <a:lstStyle/>
              <a:p>
                <a:pPr algn="ctr">
                  <a:defRPr/>
                </a:pPr>
                <a:r>
                  <a:rPr lang="en-US" sz="4400" b="1" i="0">
                    <a:ln/>
                    <a:solidFill>
                      <a:srgbClr val="FF6100">
                        <a:alpha val="100000"/>
                      </a:srgbClr>
                    </a:solidFill>
                    <a:latin typeface="Arial"/>
                    <a:ea typeface="Arial"/>
                    <a:cs typeface="Arial"/>
                  </a:rPr>
                  <a:t>1</a:t>
                </a:r>
                <a:endParaRPr lang="en-US" sz="1100"/>
              </a:p>
            </p:txBody>
          </p:sp>
          <p:sp>
            <p:nvSpPr>
              <p:cNvPr id="10" name="TextBox 10"/>
              <p:cNvSpPr txBox="1"/>
              <p:nvPr/>
            </p:nvSpPr>
            <p:spPr>
              <a:xfrm>
                <a:off x="846543" y="5228771"/>
                <a:ext cx="3042582" cy="706664"/>
              </a:xfrm>
              <a:prstGeom prst="rect">
                <a:avLst/>
              </a:prstGeom>
              <a:solidFill>
                <a:srgbClr val="FF6100">
                  <a:alpha val="100000"/>
                </a:srgbClr>
              </a:solidFill>
              <a:ln>
                <a:prstDash val="solid"/>
                <a:headEnd type="none"/>
                <a:tailEnd type="none"/>
              </a:ln>
            </p:spPr>
            <p:txBody>
              <a:bodyPr vert="horz" wrap="square" lIns="91440" tIns="45720" rIns="91440" bIns="45720" rtlCol="0" anchor="ctr" anchorCtr="1"/>
              <a:lstStyle/>
              <a:p>
                <a:pPr algn="ctr">
                  <a:defRPr/>
                </a:pPr>
                <a:r>
                  <a:rPr lang="en-US" sz="1800" b="1" i="0">
                    <a:ln/>
                    <a:solidFill>
                      <a:srgbClr val="FFFFFF">
                        <a:alpha val="100000"/>
                      </a:srgbClr>
                    </a:solidFill>
                    <a:latin typeface="微软雅黑"/>
                    <a:ea typeface="微软雅黑"/>
                    <a:cs typeface="微软雅黑"/>
                  </a:rPr>
                  <a:t>法律法规完善</a:t>
                </a:r>
                <a:endParaRPr lang="en-US" sz="1100"/>
              </a:p>
            </p:txBody>
          </p:sp>
        </p:grpSp>
        <p:grpSp>
          <p:nvGrpSpPr>
            <p:cNvPr id="11" name="Group 11"/>
            <p:cNvGrpSpPr/>
            <p:nvPr/>
          </p:nvGrpSpPr>
          <p:grpSpPr>
            <a:xfrm>
              <a:off x="4574709" y="2729767"/>
              <a:ext cx="3042582" cy="3205668"/>
              <a:chOff x="4574709" y="2729767"/>
              <a:chExt cx="3042582" cy="3205668"/>
            </a:xfrm>
          </p:grpSpPr>
          <p:sp>
            <p:nvSpPr>
              <p:cNvPr id="12" name="TextBox 12"/>
              <p:cNvSpPr txBox="1"/>
              <p:nvPr/>
            </p:nvSpPr>
            <p:spPr>
              <a:xfrm>
                <a:off x="4574711" y="3598526"/>
                <a:ext cx="3042580" cy="1525018"/>
              </a:xfrm>
              <a:prstGeom prst="rect">
                <a:avLst/>
              </a:prstGeom>
              <a:ln>
                <a:headEnd type="none"/>
                <a:tailEnd type="none"/>
              </a:ln>
            </p:spPr>
            <p:txBody>
              <a:bodyPr vert="horz" wrap="square" lIns="91440" tIns="45720" rIns="91440" bIns="45720" rtlCol="0" anchor="t" anchorCtr="1"/>
              <a:lstStyle/>
              <a:p>
                <a:pPr algn="l">
                  <a:lnSpc>
                    <a:spcPct val="120000"/>
                  </a:lnSpc>
                  <a:defRPr/>
                </a:pPr>
                <a:r>
                  <a:rPr lang="en-US" sz="1200" b="0" i="0">
                    <a:ln/>
                    <a:solidFill>
                      <a:srgbClr val="000000">
                        <a:alpha val="100000"/>
                        <a:lumMod val="95000"/>
                        <a:lumOff val="5000"/>
                      </a:srgbClr>
                    </a:solidFill>
                    <a:latin typeface="微软雅黑"/>
                    <a:ea typeface="微软雅黑"/>
                    <a:cs typeface="微软雅黑"/>
                  </a:rPr>
                  <a:t>建立行业公认的伦理准则和技术标准，对符合“负责任创新”原则的推荐系统进行第三方认证，引导行业良性竞争。</a:t>
                </a:r>
                <a:endParaRPr lang="en-US" sz="1100"/>
              </a:p>
            </p:txBody>
          </p:sp>
          <p:sp>
            <p:nvSpPr>
              <p:cNvPr id="13" name="TextBox 13"/>
              <p:cNvSpPr txBox="1"/>
              <p:nvPr/>
            </p:nvSpPr>
            <p:spPr>
              <a:xfrm>
                <a:off x="4574710" y="2729767"/>
                <a:ext cx="3042578" cy="751654"/>
              </a:xfrm>
              <a:prstGeom prst="rect">
                <a:avLst/>
              </a:prstGeom>
              <a:ln>
                <a:headEnd type="none"/>
                <a:tailEnd type="none"/>
              </a:ln>
            </p:spPr>
            <p:txBody>
              <a:bodyPr vert="horz" wrap="square" lIns="91440" tIns="45720" rIns="91440" bIns="45720" rtlCol="0" anchor="b" anchorCtr="0"/>
              <a:lstStyle/>
              <a:p>
                <a:pPr algn="ctr">
                  <a:defRPr/>
                </a:pPr>
                <a:r>
                  <a:rPr lang="en-US" sz="4400" b="1" i="0">
                    <a:ln/>
                    <a:solidFill>
                      <a:srgbClr val="FF6100">
                        <a:alpha val="100000"/>
                      </a:srgbClr>
                    </a:solidFill>
                    <a:latin typeface="Arial"/>
                    <a:ea typeface="Arial"/>
                    <a:cs typeface="Arial"/>
                  </a:rPr>
                  <a:t>2</a:t>
                </a:r>
                <a:endParaRPr lang="en-US" sz="1100"/>
              </a:p>
            </p:txBody>
          </p:sp>
          <p:sp>
            <p:nvSpPr>
              <p:cNvPr id="14" name="TextBox 14"/>
              <p:cNvSpPr txBox="1"/>
              <p:nvPr/>
            </p:nvSpPr>
            <p:spPr>
              <a:xfrm>
                <a:off x="4574709" y="5228771"/>
                <a:ext cx="3042582" cy="706664"/>
              </a:xfrm>
              <a:prstGeom prst="rect">
                <a:avLst/>
              </a:prstGeom>
              <a:solidFill>
                <a:srgbClr val="FF6100">
                  <a:alpha val="100000"/>
                </a:srgbClr>
              </a:solidFill>
              <a:ln>
                <a:prstDash val="solid"/>
                <a:headEnd type="none"/>
                <a:tailEnd type="none"/>
              </a:ln>
            </p:spPr>
            <p:txBody>
              <a:bodyPr vert="horz" wrap="square" lIns="91440" tIns="45720" rIns="91440" bIns="45720" rtlCol="0" anchor="ctr" anchorCtr="1"/>
              <a:lstStyle/>
              <a:p>
                <a:pPr algn="ctr">
                  <a:defRPr/>
                </a:pPr>
                <a:r>
                  <a:rPr lang="en-US" sz="1800" b="1" i="0">
                    <a:ln/>
                    <a:solidFill>
                      <a:srgbClr val="FFFFFF">
                        <a:alpha val="100000"/>
                      </a:srgbClr>
                    </a:solidFill>
                    <a:latin typeface="微软雅黑"/>
                    <a:ea typeface="微软雅黑"/>
                    <a:cs typeface="微软雅黑"/>
                  </a:rPr>
                  <a:t>行业标准与认证</a:t>
                </a:r>
                <a:endParaRPr lang="en-US" sz="1100"/>
              </a:p>
            </p:txBody>
          </p:sp>
        </p:grpSp>
        <p:grpSp>
          <p:nvGrpSpPr>
            <p:cNvPr id="15" name="Group 15"/>
            <p:cNvGrpSpPr/>
            <p:nvPr/>
          </p:nvGrpSpPr>
          <p:grpSpPr>
            <a:xfrm>
              <a:off x="8327382" y="2729767"/>
              <a:ext cx="3042582" cy="3205668"/>
              <a:chOff x="8327382" y="2729767"/>
              <a:chExt cx="3042582" cy="3205668"/>
            </a:xfrm>
          </p:grpSpPr>
          <p:sp>
            <p:nvSpPr>
              <p:cNvPr id="16" name="TextBox 16"/>
              <p:cNvSpPr txBox="1"/>
              <p:nvPr/>
            </p:nvSpPr>
            <p:spPr>
              <a:xfrm>
                <a:off x="8327384" y="3598526"/>
                <a:ext cx="3042580" cy="1525018"/>
              </a:xfrm>
              <a:prstGeom prst="rect">
                <a:avLst/>
              </a:prstGeom>
              <a:ln>
                <a:headEnd type="none"/>
                <a:tailEnd type="none"/>
              </a:ln>
            </p:spPr>
            <p:txBody>
              <a:bodyPr vert="horz" wrap="square" lIns="91440" tIns="45720" rIns="91440" bIns="45720" rtlCol="0" anchor="t" anchorCtr="1"/>
              <a:lstStyle/>
              <a:p>
                <a:pPr algn="l">
                  <a:lnSpc>
                    <a:spcPct val="120000"/>
                  </a:lnSpc>
                  <a:defRPr/>
                </a:pPr>
                <a:r>
                  <a:rPr lang="en-US" sz="1200" b="0" i="0">
                    <a:ln/>
                    <a:solidFill>
                      <a:srgbClr val="000000">
                        <a:alpha val="100000"/>
                        <a:lumMod val="95000"/>
                        <a:lumOff val="5000"/>
                      </a:srgbClr>
                    </a:solidFill>
                    <a:latin typeface="微软雅黑"/>
                    <a:ea typeface="微软雅黑"/>
                    <a:cs typeface="微软雅黑"/>
                  </a:rPr>
                  <a:t>引入独立的第三方机构，对大型平台的推荐算法进行定期审计，评估其对社会极化、虚假信息传播等方面的影响，并将结果向社会公布。</a:t>
                </a:r>
                <a:endParaRPr lang="en-US" sz="1100"/>
              </a:p>
            </p:txBody>
          </p:sp>
          <p:sp>
            <p:nvSpPr>
              <p:cNvPr id="17" name="TextBox 17"/>
              <p:cNvSpPr txBox="1"/>
              <p:nvPr/>
            </p:nvSpPr>
            <p:spPr>
              <a:xfrm>
                <a:off x="8327383" y="2729767"/>
                <a:ext cx="3042578" cy="751654"/>
              </a:xfrm>
              <a:prstGeom prst="rect">
                <a:avLst/>
              </a:prstGeom>
              <a:ln>
                <a:headEnd type="none"/>
                <a:tailEnd type="none"/>
              </a:ln>
            </p:spPr>
            <p:txBody>
              <a:bodyPr vert="horz" wrap="square" lIns="91440" tIns="45720" rIns="91440" bIns="45720" rtlCol="0" anchor="b" anchorCtr="0"/>
              <a:lstStyle/>
              <a:p>
                <a:pPr algn="ctr">
                  <a:defRPr/>
                </a:pPr>
                <a:r>
                  <a:rPr lang="en-US" sz="4400" b="1" i="0">
                    <a:ln/>
                    <a:solidFill>
                      <a:srgbClr val="FF6100">
                        <a:alpha val="100000"/>
                      </a:srgbClr>
                    </a:solidFill>
                    <a:latin typeface="Arial"/>
                    <a:ea typeface="Arial"/>
                    <a:cs typeface="Arial"/>
                  </a:rPr>
                  <a:t>3</a:t>
                </a:r>
                <a:endParaRPr lang="en-US" sz="1100"/>
              </a:p>
            </p:txBody>
          </p:sp>
          <p:sp>
            <p:nvSpPr>
              <p:cNvPr id="18" name="TextBox 18"/>
              <p:cNvSpPr txBox="1"/>
              <p:nvPr/>
            </p:nvSpPr>
            <p:spPr>
              <a:xfrm>
                <a:off x="8327382" y="5228771"/>
                <a:ext cx="3042582" cy="706664"/>
              </a:xfrm>
              <a:prstGeom prst="rect">
                <a:avLst/>
              </a:prstGeom>
              <a:solidFill>
                <a:srgbClr val="FF6100">
                  <a:alpha val="100000"/>
                </a:srgbClr>
              </a:solidFill>
              <a:ln>
                <a:prstDash val="solid"/>
                <a:headEnd type="none"/>
                <a:tailEnd type="none"/>
              </a:ln>
            </p:spPr>
            <p:txBody>
              <a:bodyPr vert="horz" wrap="square" lIns="91440" tIns="45720" rIns="91440" bIns="45720" rtlCol="0" anchor="ctr" anchorCtr="1"/>
              <a:lstStyle/>
              <a:p>
                <a:pPr algn="ctr">
                  <a:defRPr/>
                </a:pPr>
                <a:r>
                  <a:rPr lang="en-US" sz="1800" b="1" i="0">
                    <a:ln/>
                    <a:solidFill>
                      <a:srgbClr val="FFFFFF">
                        <a:alpha val="100000"/>
                      </a:srgbClr>
                    </a:solidFill>
                    <a:latin typeface="微软雅黑"/>
                    <a:ea typeface="微软雅黑"/>
                    <a:cs typeface="微软雅黑"/>
                  </a:rPr>
                  <a:t>独立审计与监督</a:t>
                </a:r>
                <a:endParaRPr lang="en-US" sz="1100"/>
              </a:p>
            </p:txBody>
          </p:sp>
        </p:grpSp>
      </p:grpSp>
      <p:sp>
        <p:nvSpPr>
          <p:cNvPr id="19" name="TextBox 19"/>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外部监管与行业自律</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76172eb-5f6e-4e65-b63e-e6f364bfe70f"/>
          <p:cNvGrpSpPr/>
          <p:nvPr/>
        </p:nvGrpSpPr>
        <p:grpSpPr>
          <a:xfrm>
            <a:off x="630316" y="1130300"/>
            <a:ext cx="10918669" cy="4840046"/>
            <a:chOff x="630316" y="1130300"/>
            <a:chExt cx="10918669" cy="4840046"/>
          </a:xfrm>
        </p:grpSpPr>
        <p:sp>
          <p:nvSpPr>
            <p:cNvPr id="3" name="AutoShape 3"/>
            <p:cNvSpPr/>
            <p:nvPr/>
          </p:nvSpPr>
          <p:spPr>
            <a:xfrm>
              <a:off x="4836108" y="1886039"/>
              <a:ext cx="2507085" cy="45719"/>
            </a:xfrm>
            <a:prstGeom prst="rect">
              <a:avLst/>
            </a:prstGeom>
            <a:gradFill>
              <a:gsLst>
                <a:gs pos="15000">
                  <a:srgbClr val="FF6100">
                    <a:alpha val="72941"/>
                  </a:srgbClr>
                </a:gs>
                <a:gs pos="100000">
                  <a:srgbClr val="F28217">
                    <a:alpha val="0"/>
                  </a:srgbClr>
                </a:gs>
              </a:gsLst>
              <a:lin ang="0"/>
            </a:gradFill>
            <a:ln>
              <a:prstDash val="solid"/>
              <a:headEnd type="none"/>
              <a:tailEnd type="none"/>
            </a:ln>
          </p:spPr>
        </p:sp>
        <p:sp>
          <p:nvSpPr>
            <p:cNvPr id="4" name="TextBox 4"/>
            <p:cNvSpPr txBox="1"/>
            <p:nvPr/>
          </p:nvSpPr>
          <p:spPr>
            <a:xfrm>
              <a:off x="660400" y="1130300"/>
              <a:ext cx="10858500" cy="666562"/>
            </a:xfrm>
            <a:prstGeom prst="rect">
              <a:avLst/>
            </a:prstGeom>
            <a:ln>
              <a:headEnd type="none"/>
              <a:tailEnd type="none"/>
            </a:ln>
          </p:spPr>
          <p:txBody>
            <a:bodyPr vert="horz" wrap="square" lIns="91440" tIns="45720" rIns="91440" bIns="45720" rtlCol="0" anchor="ctr" anchorCtr="0"/>
            <a:lstStyle/>
            <a:p>
              <a:pPr algn="ctr">
                <a:defRPr/>
              </a:pPr>
              <a:r>
                <a:rPr lang="en-US" sz="2400" b="1" i="0">
                  <a:ln/>
                  <a:solidFill>
                    <a:srgbClr val="000000">
                      <a:alpha val="100000"/>
                    </a:srgbClr>
                  </a:solidFill>
                  <a:latin typeface="微软雅黑"/>
                  <a:ea typeface="微软雅黑"/>
                  <a:cs typeface="微软雅黑"/>
                </a:rPr>
                <a:t>唤醒“沉睡”的用户，承担个人责任</a:t>
              </a:r>
              <a:endParaRPr lang="en-US" sz="1100"/>
            </a:p>
          </p:txBody>
        </p:sp>
        <p:grpSp>
          <p:nvGrpSpPr>
            <p:cNvPr id="5" name="Group 5"/>
            <p:cNvGrpSpPr/>
            <p:nvPr/>
          </p:nvGrpSpPr>
          <p:grpSpPr>
            <a:xfrm>
              <a:off x="630316" y="2126893"/>
              <a:ext cx="2609921" cy="3428173"/>
              <a:chOff x="630316" y="2126893"/>
              <a:chExt cx="2609921" cy="3428173"/>
            </a:xfrm>
          </p:grpSpPr>
          <p:sp>
            <p:nvSpPr>
              <p:cNvPr id="6" name="AutoShape 6"/>
              <p:cNvSpPr/>
              <p:nvPr/>
            </p:nvSpPr>
            <p:spPr>
              <a:xfrm>
                <a:off x="636320" y="2131611"/>
                <a:ext cx="2597914" cy="2347869"/>
              </a:xfrm>
              <a:custGeom>
                <a:avLst/>
                <a:gdLst/>
                <a:ahLst/>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a:gsLst>
                  <a:gs pos="0">
                    <a:srgbClr val="FF6100">
                      <a:alpha val="100000"/>
                    </a:srgbClr>
                  </a:gs>
                  <a:gs pos="100000">
                    <a:srgbClr val="F28217">
                      <a:alpha val="0"/>
                    </a:srgbClr>
                  </a:gs>
                </a:gsLst>
                <a:lin ang="5400000"/>
              </a:gradFill>
              <a:ln>
                <a:prstDash val="solid"/>
                <a:headEnd type="none"/>
                <a:tailEnd type="none"/>
              </a:ln>
            </p:spPr>
          </p:sp>
          <p:sp>
            <p:nvSpPr>
              <p:cNvPr id="7" name="AutoShape 7"/>
              <p:cNvSpPr/>
              <p:nvPr/>
            </p:nvSpPr>
            <p:spPr>
              <a:xfrm>
                <a:off x="697372" y="2182782"/>
                <a:ext cx="863693" cy="95157"/>
              </a:xfrm>
              <a:custGeom>
                <a:avLst/>
                <a:gdLst/>
                <a:ahLst/>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a:gsLst>
                  <a:gs pos="0">
                    <a:srgbClr val="FF6100">
                      <a:alpha val="100000"/>
                    </a:srgbClr>
                  </a:gs>
                  <a:gs pos="100000">
                    <a:srgbClr val="F28217">
                      <a:alpha val="100000"/>
                    </a:srgbClr>
                  </a:gs>
                </a:gsLst>
                <a:lin ang="0"/>
              </a:gradFill>
              <a:ln>
                <a:prstDash val="solid"/>
                <a:headEnd type="none"/>
                <a:tailEnd type="none"/>
              </a:ln>
            </p:spPr>
          </p:sp>
          <p:sp>
            <p:nvSpPr>
              <p:cNvPr id="8" name="AutoShape 8"/>
              <p:cNvSpPr/>
              <p:nvPr/>
            </p:nvSpPr>
            <p:spPr>
              <a:xfrm>
                <a:off x="2132797" y="2178137"/>
                <a:ext cx="750178" cy="76358"/>
              </a:xfrm>
              <a:custGeom>
                <a:avLst/>
                <a:gdLst/>
                <a:ahLst/>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a:gsLst>
                  <a:gs pos="0">
                    <a:srgbClr val="FF6100">
                      <a:alpha val="100000"/>
                    </a:srgbClr>
                  </a:gs>
                  <a:gs pos="100000">
                    <a:srgbClr val="F28217">
                      <a:alpha val="100000"/>
                    </a:srgbClr>
                  </a:gs>
                </a:gsLst>
                <a:lin ang="0"/>
              </a:gradFill>
              <a:ln>
                <a:prstDash val="solid"/>
                <a:headEnd type="none"/>
                <a:tailEnd type="none"/>
              </a:ln>
            </p:spPr>
          </p:sp>
          <p:sp>
            <p:nvSpPr>
              <p:cNvPr id="9" name="AutoShape 9"/>
              <p:cNvSpPr/>
              <p:nvPr/>
            </p:nvSpPr>
            <p:spPr>
              <a:xfrm>
                <a:off x="630316" y="2126893"/>
                <a:ext cx="619760" cy="242793"/>
              </a:xfrm>
              <a:custGeom>
                <a:avLst/>
                <a:gdLst/>
                <a:ahLst/>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a:gsLst>
                  <a:gs pos="0">
                    <a:srgbClr val="FF6100">
                      <a:alpha val="100000"/>
                      <a:lumMod val="60000"/>
                      <a:lumOff val="40000"/>
                    </a:srgbClr>
                  </a:gs>
                  <a:gs pos="46999">
                    <a:srgbClr val="F28217">
                      <a:alpha val="100000"/>
                    </a:srgbClr>
                  </a:gs>
                  <a:gs pos="100000">
                    <a:srgbClr val="F28217">
                      <a:alpha val="100000"/>
                    </a:srgbClr>
                  </a:gs>
                </a:gsLst>
                <a:lin ang="5400000"/>
              </a:gradFill>
              <a:ln>
                <a:prstDash val="solid"/>
                <a:headEnd type="none"/>
                <a:tailEnd type="none"/>
              </a:ln>
            </p:spPr>
          </p:sp>
          <p:sp>
            <p:nvSpPr>
              <p:cNvPr id="10" name="AutoShape 10"/>
              <p:cNvSpPr/>
              <p:nvPr/>
            </p:nvSpPr>
            <p:spPr>
              <a:xfrm>
                <a:off x="2986606" y="2270971"/>
                <a:ext cx="253631" cy="147127"/>
              </a:xfrm>
              <a:custGeom>
                <a:avLst/>
                <a:gdLst/>
                <a:ahLst/>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a:gsLst>
                  <a:gs pos="0">
                    <a:srgbClr val="F28217">
                      <a:alpha val="100000"/>
                      <a:lumMod val="60000"/>
                      <a:lumOff val="40000"/>
                    </a:srgbClr>
                  </a:gs>
                  <a:gs pos="44999">
                    <a:srgbClr val="F28217">
                      <a:alpha val="100000"/>
                    </a:srgbClr>
                  </a:gs>
                  <a:gs pos="100000">
                    <a:srgbClr val="FF6100">
                      <a:alpha val="100000"/>
                    </a:srgbClr>
                  </a:gs>
                </a:gsLst>
                <a:lin ang="5400000"/>
              </a:gradFill>
              <a:ln>
                <a:prstDash val="solid"/>
                <a:headEnd type="none"/>
                <a:tailEnd type="none"/>
              </a:ln>
            </p:spPr>
          </p:sp>
          <p:grpSp>
            <p:nvGrpSpPr>
              <p:cNvPr id="11" name="Group 11"/>
              <p:cNvGrpSpPr/>
              <p:nvPr/>
            </p:nvGrpSpPr>
            <p:grpSpPr>
              <a:xfrm>
                <a:off x="642600" y="2137635"/>
                <a:ext cx="2583875" cy="3417431"/>
                <a:chOff x="642600" y="2137635"/>
                <a:chExt cx="2583875" cy="3417431"/>
              </a:xfrm>
            </p:grpSpPr>
            <p:sp>
              <p:nvSpPr>
                <p:cNvPr id="12" name="AutoShape 12"/>
                <p:cNvSpPr/>
                <p:nvPr/>
              </p:nvSpPr>
              <p:spPr>
                <a:xfrm>
                  <a:off x="642600" y="2137635"/>
                  <a:ext cx="2583875" cy="3284095"/>
                </a:xfrm>
                <a:custGeom>
                  <a:avLst/>
                  <a:gdLst/>
                  <a:ahLst/>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rgbClr val="FF6100">
                        <a:alpha val="30196"/>
                      </a:srgbClr>
                    </a:gs>
                    <a:gs pos="87999">
                      <a:srgbClr val="FF6100">
                        <a:alpha val="0"/>
                      </a:srgbClr>
                    </a:gs>
                  </a:gsLst>
                  <a:lin ang="5400000"/>
                </a:gradFill>
                <a:ln>
                  <a:prstDash val="solid"/>
                  <a:headEnd type="none"/>
                  <a:tailEnd type="none"/>
                </a:ln>
              </p:spPr>
            </p:sp>
            <p:sp>
              <p:nvSpPr>
                <p:cNvPr id="13" name="TextBox 13"/>
                <p:cNvSpPr txBox="1"/>
                <p:nvPr/>
              </p:nvSpPr>
              <p:spPr>
                <a:xfrm>
                  <a:off x="1447651" y="2439028"/>
                  <a:ext cx="975251" cy="823705"/>
                </a:xfrm>
                <a:prstGeom prst="rect">
                  <a:avLst/>
                </a:prstGeom>
                <a:ln>
                  <a:headEnd type="none"/>
                  <a:tailEnd type="none"/>
                </a:ln>
              </p:spPr>
              <p:txBody>
                <a:bodyPr vert="horz" wrap="none" lIns="91440" tIns="45720" rIns="91440" bIns="45720" rtlCol="0" anchor="b" anchorCtr="0"/>
                <a:lstStyle/>
                <a:p>
                  <a:pPr algn="ctr">
                    <a:lnSpc>
                      <a:spcPct val="108000"/>
                    </a:lnSpc>
                    <a:defRPr/>
                  </a:pPr>
                  <a:r>
                    <a:rPr lang="en-US" sz="4600" b="1" i="1">
                      <a:ln/>
                      <a:solidFill>
                        <a:srgbClr val="000000">
                          <a:alpha val="100000"/>
                        </a:srgbClr>
                      </a:solidFill>
                      <a:latin typeface="Arial"/>
                      <a:ea typeface="Arial"/>
                      <a:cs typeface="Arial"/>
                    </a:rPr>
                    <a:t>1</a:t>
                  </a:r>
                  <a:endParaRPr lang="en-US" sz="1100"/>
                </a:p>
              </p:txBody>
            </p:sp>
            <p:sp>
              <p:nvSpPr>
                <p:cNvPr id="14" name="TextBox 14"/>
                <p:cNvSpPr txBox="1"/>
                <p:nvPr/>
              </p:nvSpPr>
              <p:spPr>
                <a:xfrm>
                  <a:off x="709188" y="3385725"/>
                  <a:ext cx="2449859" cy="778646"/>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1600" b="1" i="0" strike="noStrike">
                      <a:ln/>
                      <a:solidFill>
                        <a:srgbClr val="000000">
                          <a:alpha val="100000"/>
                        </a:srgbClr>
                      </a:solidFill>
                      <a:latin typeface="微软雅黑"/>
                      <a:ea typeface="微软雅黑"/>
                      <a:cs typeface="微软雅黑"/>
                    </a:rPr>
                    <a:t>认知觉醒</a:t>
                  </a:r>
                  <a:endParaRPr lang="en-US" sz="1100"/>
                </a:p>
              </p:txBody>
            </p:sp>
            <p:sp>
              <p:nvSpPr>
                <p:cNvPr id="15" name="TextBox 15"/>
                <p:cNvSpPr txBox="1"/>
                <p:nvPr/>
              </p:nvSpPr>
              <p:spPr>
                <a:xfrm>
                  <a:off x="709189" y="4278772"/>
                  <a:ext cx="2449859" cy="1276294"/>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defRPr/>
                  </a:pPr>
                  <a:r>
                    <a:rPr lang="en-US" sz="1000" b="0" i="0" strike="noStrike">
                      <a:ln/>
                      <a:solidFill>
                        <a:srgbClr val="000000">
                          <a:alpha val="100000"/>
                        </a:srgbClr>
                      </a:solidFill>
                      <a:latin typeface="微软雅黑"/>
                      <a:ea typeface="微软雅黑"/>
                      <a:cs typeface="微软雅黑"/>
                    </a:rPr>
                    <a:t>用户需要认识到，自己在平台上的每一次点击、停留，都在“训练”一个为自己量身定制的算法。要对信息环境的“投喂”保持警觉。</a:t>
                  </a:r>
                  <a:endParaRPr lang="en-US" sz="1100"/>
                </a:p>
              </p:txBody>
            </p:sp>
          </p:grpSp>
        </p:grpSp>
        <p:grpSp>
          <p:nvGrpSpPr>
            <p:cNvPr id="16" name="Group 16"/>
            <p:cNvGrpSpPr/>
            <p:nvPr/>
          </p:nvGrpSpPr>
          <p:grpSpPr>
            <a:xfrm>
              <a:off x="3399899" y="2596435"/>
              <a:ext cx="2609921" cy="3373911"/>
              <a:chOff x="3399899" y="2596435"/>
              <a:chExt cx="2609921" cy="3373911"/>
            </a:xfrm>
          </p:grpSpPr>
          <p:sp>
            <p:nvSpPr>
              <p:cNvPr id="17" name="AutoShape 17"/>
              <p:cNvSpPr/>
              <p:nvPr/>
            </p:nvSpPr>
            <p:spPr>
              <a:xfrm>
                <a:off x="3405903" y="2601153"/>
                <a:ext cx="2597914" cy="2347869"/>
              </a:xfrm>
              <a:custGeom>
                <a:avLst/>
                <a:gdLst/>
                <a:ahLst/>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a:gsLst>
                  <a:gs pos="0">
                    <a:srgbClr val="FF6100">
                      <a:alpha val="100000"/>
                    </a:srgbClr>
                  </a:gs>
                  <a:gs pos="100000">
                    <a:srgbClr val="F28217">
                      <a:alpha val="0"/>
                    </a:srgbClr>
                  </a:gs>
                </a:gsLst>
                <a:lin ang="5400000"/>
              </a:gradFill>
              <a:ln>
                <a:prstDash val="solid"/>
                <a:headEnd type="none"/>
                <a:tailEnd type="none"/>
              </a:ln>
            </p:spPr>
          </p:sp>
          <p:sp>
            <p:nvSpPr>
              <p:cNvPr id="18" name="AutoShape 18"/>
              <p:cNvSpPr/>
              <p:nvPr/>
            </p:nvSpPr>
            <p:spPr>
              <a:xfrm>
                <a:off x="3466955" y="2652324"/>
                <a:ext cx="863693" cy="95157"/>
              </a:xfrm>
              <a:custGeom>
                <a:avLst/>
                <a:gdLst/>
                <a:ahLst/>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a:gsLst>
                  <a:gs pos="0">
                    <a:srgbClr val="FF6100">
                      <a:alpha val="100000"/>
                    </a:srgbClr>
                  </a:gs>
                  <a:gs pos="100000">
                    <a:srgbClr val="F28217">
                      <a:alpha val="100000"/>
                    </a:srgbClr>
                  </a:gs>
                </a:gsLst>
                <a:lin ang="0"/>
              </a:gradFill>
              <a:ln>
                <a:prstDash val="solid"/>
                <a:headEnd type="none"/>
                <a:tailEnd type="none"/>
              </a:ln>
            </p:spPr>
          </p:sp>
          <p:sp>
            <p:nvSpPr>
              <p:cNvPr id="19" name="AutoShape 19"/>
              <p:cNvSpPr/>
              <p:nvPr/>
            </p:nvSpPr>
            <p:spPr>
              <a:xfrm>
                <a:off x="4902380" y="2647679"/>
                <a:ext cx="750178" cy="76358"/>
              </a:xfrm>
              <a:custGeom>
                <a:avLst/>
                <a:gdLst/>
                <a:ahLst/>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a:gsLst>
                  <a:gs pos="0">
                    <a:srgbClr val="FF6100">
                      <a:alpha val="100000"/>
                    </a:srgbClr>
                  </a:gs>
                  <a:gs pos="100000">
                    <a:srgbClr val="F28217">
                      <a:alpha val="100000"/>
                    </a:srgbClr>
                  </a:gs>
                </a:gsLst>
                <a:lin ang="0"/>
              </a:gradFill>
              <a:ln>
                <a:prstDash val="solid"/>
                <a:headEnd type="none"/>
                <a:tailEnd type="none"/>
              </a:ln>
            </p:spPr>
          </p:sp>
          <p:sp>
            <p:nvSpPr>
              <p:cNvPr id="20" name="AutoShape 20"/>
              <p:cNvSpPr/>
              <p:nvPr/>
            </p:nvSpPr>
            <p:spPr>
              <a:xfrm>
                <a:off x="3399899" y="2596435"/>
                <a:ext cx="619760" cy="242793"/>
              </a:xfrm>
              <a:custGeom>
                <a:avLst/>
                <a:gdLst/>
                <a:ahLst/>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a:gsLst>
                  <a:gs pos="0">
                    <a:srgbClr val="FF6100">
                      <a:alpha val="100000"/>
                      <a:lumMod val="60000"/>
                      <a:lumOff val="40000"/>
                    </a:srgbClr>
                  </a:gs>
                  <a:gs pos="46999">
                    <a:srgbClr val="F28217">
                      <a:alpha val="100000"/>
                    </a:srgbClr>
                  </a:gs>
                  <a:gs pos="100000">
                    <a:srgbClr val="F28217">
                      <a:alpha val="100000"/>
                    </a:srgbClr>
                  </a:gs>
                </a:gsLst>
                <a:lin ang="5400000"/>
              </a:gradFill>
              <a:ln>
                <a:prstDash val="solid"/>
                <a:headEnd type="none"/>
                <a:tailEnd type="none"/>
              </a:ln>
            </p:spPr>
          </p:sp>
          <p:sp>
            <p:nvSpPr>
              <p:cNvPr id="21" name="AutoShape 21"/>
              <p:cNvSpPr/>
              <p:nvPr/>
            </p:nvSpPr>
            <p:spPr>
              <a:xfrm>
                <a:off x="5756189" y="2740513"/>
                <a:ext cx="253631" cy="147127"/>
              </a:xfrm>
              <a:custGeom>
                <a:avLst/>
                <a:gdLst/>
                <a:ahLst/>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a:gsLst>
                  <a:gs pos="0">
                    <a:srgbClr val="F28217">
                      <a:alpha val="100000"/>
                      <a:lumMod val="60000"/>
                      <a:lumOff val="40000"/>
                    </a:srgbClr>
                  </a:gs>
                  <a:gs pos="44999">
                    <a:srgbClr val="F28217">
                      <a:alpha val="100000"/>
                    </a:srgbClr>
                  </a:gs>
                  <a:gs pos="100000">
                    <a:srgbClr val="FF6100">
                      <a:alpha val="100000"/>
                    </a:srgbClr>
                  </a:gs>
                </a:gsLst>
                <a:lin ang="5400000"/>
              </a:gradFill>
              <a:ln>
                <a:prstDash val="solid"/>
                <a:headEnd type="none"/>
                <a:tailEnd type="none"/>
              </a:ln>
            </p:spPr>
          </p:sp>
          <p:grpSp>
            <p:nvGrpSpPr>
              <p:cNvPr id="22" name="Group 22"/>
              <p:cNvGrpSpPr/>
              <p:nvPr/>
            </p:nvGrpSpPr>
            <p:grpSpPr>
              <a:xfrm>
                <a:off x="3412183" y="2607177"/>
                <a:ext cx="2583875" cy="3363169"/>
                <a:chOff x="3412183" y="2607177"/>
                <a:chExt cx="2583875" cy="3363169"/>
              </a:xfrm>
            </p:grpSpPr>
            <p:sp>
              <p:nvSpPr>
                <p:cNvPr id="23" name="AutoShape 23"/>
                <p:cNvSpPr/>
                <p:nvPr/>
              </p:nvSpPr>
              <p:spPr>
                <a:xfrm>
                  <a:off x="3412183" y="2607177"/>
                  <a:ext cx="2583875" cy="3284095"/>
                </a:xfrm>
                <a:custGeom>
                  <a:avLst/>
                  <a:gdLst/>
                  <a:ahLst/>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rgbClr val="FF6100">
                        <a:alpha val="30196"/>
                      </a:srgbClr>
                    </a:gs>
                    <a:gs pos="87999">
                      <a:srgbClr val="FF6100">
                        <a:alpha val="0"/>
                      </a:srgbClr>
                    </a:gs>
                  </a:gsLst>
                  <a:lin ang="5400000"/>
                </a:gradFill>
                <a:ln>
                  <a:prstDash val="solid"/>
                  <a:headEnd type="none"/>
                  <a:tailEnd type="none"/>
                </a:ln>
              </p:spPr>
            </p:sp>
            <p:sp>
              <p:nvSpPr>
                <p:cNvPr id="24" name="TextBox 24"/>
                <p:cNvSpPr txBox="1"/>
                <p:nvPr/>
              </p:nvSpPr>
              <p:spPr>
                <a:xfrm>
                  <a:off x="4217234" y="2908570"/>
                  <a:ext cx="975251" cy="823705"/>
                </a:xfrm>
                <a:prstGeom prst="rect">
                  <a:avLst/>
                </a:prstGeom>
                <a:ln>
                  <a:headEnd type="none"/>
                  <a:tailEnd type="none"/>
                </a:ln>
              </p:spPr>
              <p:txBody>
                <a:bodyPr vert="horz" wrap="none" lIns="91440" tIns="45720" rIns="91440" bIns="45720" rtlCol="0" anchor="b" anchorCtr="0"/>
                <a:lstStyle/>
                <a:p>
                  <a:pPr algn="ctr">
                    <a:lnSpc>
                      <a:spcPct val="108000"/>
                    </a:lnSpc>
                    <a:defRPr/>
                  </a:pPr>
                  <a:r>
                    <a:rPr lang="en-US" sz="4600" b="1" i="1">
                      <a:ln/>
                      <a:solidFill>
                        <a:srgbClr val="000000">
                          <a:alpha val="100000"/>
                        </a:srgbClr>
                      </a:solidFill>
                      <a:latin typeface="Arial"/>
                      <a:ea typeface="Arial"/>
                      <a:cs typeface="Arial"/>
                    </a:rPr>
                    <a:t>2</a:t>
                  </a:r>
                  <a:endParaRPr lang="en-US" sz="1100"/>
                </a:p>
              </p:txBody>
            </p:sp>
            <p:sp>
              <p:nvSpPr>
                <p:cNvPr id="25" name="TextBox 25"/>
                <p:cNvSpPr txBox="1"/>
                <p:nvPr/>
              </p:nvSpPr>
              <p:spPr>
                <a:xfrm>
                  <a:off x="3479929" y="3801006"/>
                  <a:ext cx="2449859" cy="778648"/>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1600" b="1" i="0" strike="noStrike">
                      <a:ln/>
                      <a:solidFill>
                        <a:srgbClr val="000000">
                          <a:alpha val="100000"/>
                        </a:srgbClr>
                      </a:solidFill>
                      <a:latin typeface="微软雅黑"/>
                      <a:ea typeface="微软雅黑"/>
                      <a:cs typeface="微软雅黑"/>
                    </a:rPr>
                    <a:t>批判性思维培养</a:t>
                  </a:r>
                  <a:endParaRPr lang="en-US" sz="1100"/>
                </a:p>
              </p:txBody>
            </p:sp>
            <p:sp>
              <p:nvSpPr>
                <p:cNvPr id="26" name="TextBox 26"/>
                <p:cNvSpPr txBox="1"/>
                <p:nvPr/>
              </p:nvSpPr>
              <p:spPr>
                <a:xfrm>
                  <a:off x="3479930" y="4694053"/>
                  <a:ext cx="2449859" cy="1276293"/>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defRPr/>
                  </a:pPr>
                  <a:r>
                    <a:rPr lang="en-US" sz="1000" b="0" i="0" strike="noStrike">
                      <a:ln/>
                      <a:solidFill>
                        <a:srgbClr val="000000">
                          <a:alpha val="100000"/>
                        </a:srgbClr>
                      </a:solidFill>
                      <a:latin typeface="微软雅黑"/>
                      <a:ea typeface="微软雅黑"/>
                      <a:cs typeface="微软雅黑"/>
                    </a:rPr>
                    <a:t>主动接触多元观点，特别是与自己既有认知相左的信息。学会辨别事实与观点，识别情绪化煽动和逻辑谬误，是抵御极端化的根本。</a:t>
                  </a:r>
                  <a:endParaRPr lang="en-US" sz="1100"/>
                </a:p>
              </p:txBody>
            </p:sp>
          </p:grpSp>
        </p:grpSp>
        <p:grpSp>
          <p:nvGrpSpPr>
            <p:cNvPr id="27" name="Group 27"/>
            <p:cNvGrpSpPr/>
            <p:nvPr/>
          </p:nvGrpSpPr>
          <p:grpSpPr>
            <a:xfrm>
              <a:off x="6169482" y="2596435"/>
              <a:ext cx="2609921" cy="3373911"/>
              <a:chOff x="6169482" y="2596435"/>
              <a:chExt cx="2609921" cy="3373911"/>
            </a:xfrm>
          </p:grpSpPr>
          <p:sp>
            <p:nvSpPr>
              <p:cNvPr id="28" name="AutoShape 28"/>
              <p:cNvSpPr/>
              <p:nvPr/>
            </p:nvSpPr>
            <p:spPr>
              <a:xfrm flipH="1">
                <a:off x="6175485" y="2601153"/>
                <a:ext cx="2597914" cy="2347869"/>
              </a:xfrm>
              <a:custGeom>
                <a:avLst/>
                <a:gdLst/>
                <a:ahLst/>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a:gsLst>
                  <a:gs pos="0">
                    <a:srgbClr val="FF6100">
                      <a:alpha val="100000"/>
                    </a:srgbClr>
                  </a:gs>
                  <a:gs pos="100000">
                    <a:srgbClr val="F28217">
                      <a:alpha val="0"/>
                    </a:srgbClr>
                  </a:gs>
                </a:gsLst>
                <a:lin ang="5400000"/>
              </a:gradFill>
              <a:ln>
                <a:prstDash val="solid"/>
                <a:headEnd type="none"/>
                <a:tailEnd type="none"/>
              </a:ln>
            </p:spPr>
          </p:sp>
          <p:sp>
            <p:nvSpPr>
              <p:cNvPr id="29" name="AutoShape 29"/>
              <p:cNvSpPr/>
              <p:nvPr/>
            </p:nvSpPr>
            <p:spPr>
              <a:xfrm flipH="1">
                <a:off x="7848653" y="2652324"/>
                <a:ext cx="863693" cy="95157"/>
              </a:xfrm>
              <a:custGeom>
                <a:avLst/>
                <a:gdLst/>
                <a:ahLst/>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a:gsLst>
                  <a:gs pos="0">
                    <a:srgbClr val="FF6100">
                      <a:alpha val="100000"/>
                    </a:srgbClr>
                  </a:gs>
                  <a:gs pos="100000">
                    <a:srgbClr val="F28217">
                      <a:alpha val="100000"/>
                    </a:srgbClr>
                  </a:gs>
                </a:gsLst>
                <a:lin ang="0"/>
              </a:gradFill>
              <a:ln>
                <a:prstDash val="solid"/>
                <a:headEnd type="none"/>
                <a:tailEnd type="none"/>
              </a:ln>
            </p:spPr>
          </p:sp>
          <p:sp>
            <p:nvSpPr>
              <p:cNvPr id="30" name="AutoShape 30"/>
              <p:cNvSpPr/>
              <p:nvPr/>
            </p:nvSpPr>
            <p:spPr>
              <a:xfrm flipH="1">
                <a:off x="6526744" y="2647679"/>
                <a:ext cx="750178" cy="76358"/>
              </a:xfrm>
              <a:custGeom>
                <a:avLst/>
                <a:gdLst/>
                <a:ahLst/>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a:gsLst>
                  <a:gs pos="0">
                    <a:srgbClr val="FF6100">
                      <a:alpha val="100000"/>
                    </a:srgbClr>
                  </a:gs>
                  <a:gs pos="100000">
                    <a:srgbClr val="F28217">
                      <a:alpha val="100000"/>
                    </a:srgbClr>
                  </a:gs>
                </a:gsLst>
                <a:lin ang="0"/>
              </a:gradFill>
              <a:ln>
                <a:prstDash val="solid"/>
                <a:headEnd type="none"/>
                <a:tailEnd type="none"/>
              </a:ln>
            </p:spPr>
          </p:sp>
          <p:sp>
            <p:nvSpPr>
              <p:cNvPr id="31" name="AutoShape 31"/>
              <p:cNvSpPr/>
              <p:nvPr/>
            </p:nvSpPr>
            <p:spPr>
              <a:xfrm flipH="1">
                <a:off x="8159643" y="2596435"/>
                <a:ext cx="619760" cy="242793"/>
              </a:xfrm>
              <a:custGeom>
                <a:avLst/>
                <a:gdLst/>
                <a:ahLst/>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a:gsLst>
                  <a:gs pos="0">
                    <a:srgbClr val="FF6100">
                      <a:alpha val="100000"/>
                      <a:lumMod val="60000"/>
                      <a:lumOff val="40000"/>
                    </a:srgbClr>
                  </a:gs>
                  <a:gs pos="46999">
                    <a:srgbClr val="F28217">
                      <a:alpha val="100000"/>
                    </a:srgbClr>
                  </a:gs>
                  <a:gs pos="100000">
                    <a:srgbClr val="F28217">
                      <a:alpha val="100000"/>
                    </a:srgbClr>
                  </a:gs>
                </a:gsLst>
                <a:lin ang="5400000"/>
              </a:gradFill>
              <a:ln>
                <a:prstDash val="solid"/>
                <a:headEnd type="none"/>
                <a:tailEnd type="none"/>
              </a:ln>
            </p:spPr>
          </p:sp>
          <p:sp>
            <p:nvSpPr>
              <p:cNvPr id="32" name="AutoShape 32"/>
              <p:cNvSpPr/>
              <p:nvPr/>
            </p:nvSpPr>
            <p:spPr>
              <a:xfrm flipH="1">
                <a:off x="6169482" y="2740513"/>
                <a:ext cx="253631" cy="147127"/>
              </a:xfrm>
              <a:custGeom>
                <a:avLst/>
                <a:gdLst/>
                <a:ahLst/>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a:gsLst>
                  <a:gs pos="0">
                    <a:srgbClr val="F28217">
                      <a:alpha val="100000"/>
                      <a:lumMod val="60000"/>
                      <a:lumOff val="40000"/>
                    </a:srgbClr>
                  </a:gs>
                  <a:gs pos="44999">
                    <a:srgbClr val="F28217">
                      <a:alpha val="100000"/>
                    </a:srgbClr>
                  </a:gs>
                  <a:gs pos="100000">
                    <a:srgbClr val="FF6100">
                      <a:alpha val="100000"/>
                    </a:srgbClr>
                  </a:gs>
                </a:gsLst>
                <a:lin ang="5400000"/>
              </a:gradFill>
              <a:ln>
                <a:prstDash val="solid"/>
                <a:headEnd type="none"/>
                <a:tailEnd type="none"/>
              </a:ln>
            </p:spPr>
          </p:sp>
          <p:grpSp>
            <p:nvGrpSpPr>
              <p:cNvPr id="33" name="Group 33"/>
              <p:cNvGrpSpPr/>
              <p:nvPr/>
            </p:nvGrpSpPr>
            <p:grpSpPr>
              <a:xfrm>
                <a:off x="6183244" y="2607177"/>
                <a:ext cx="2583875" cy="3363169"/>
                <a:chOff x="6183244" y="2607177"/>
                <a:chExt cx="2583875" cy="3363169"/>
              </a:xfrm>
            </p:grpSpPr>
            <p:sp>
              <p:nvSpPr>
                <p:cNvPr id="34" name="AutoShape 34"/>
                <p:cNvSpPr/>
                <p:nvPr/>
              </p:nvSpPr>
              <p:spPr>
                <a:xfrm flipH="1">
                  <a:off x="6183244" y="2607177"/>
                  <a:ext cx="2583875" cy="3284095"/>
                </a:xfrm>
                <a:custGeom>
                  <a:avLst/>
                  <a:gdLst/>
                  <a:ahLst/>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rgbClr val="FF6100">
                        <a:alpha val="30196"/>
                      </a:srgbClr>
                    </a:gs>
                    <a:gs pos="87999">
                      <a:srgbClr val="FF6100">
                        <a:alpha val="0"/>
                      </a:srgbClr>
                    </a:gs>
                  </a:gsLst>
                  <a:lin ang="5400000"/>
                </a:gradFill>
                <a:ln>
                  <a:prstDash val="solid"/>
                  <a:headEnd type="none"/>
                  <a:tailEnd type="none"/>
                </a:ln>
              </p:spPr>
            </p:sp>
            <p:sp>
              <p:nvSpPr>
                <p:cNvPr id="35" name="TextBox 35"/>
                <p:cNvSpPr txBox="1"/>
                <p:nvPr/>
              </p:nvSpPr>
              <p:spPr>
                <a:xfrm flipH="1">
                  <a:off x="6986816" y="2908570"/>
                  <a:ext cx="975251" cy="823705"/>
                </a:xfrm>
                <a:prstGeom prst="rect">
                  <a:avLst/>
                </a:prstGeom>
                <a:ln>
                  <a:headEnd type="none"/>
                  <a:tailEnd type="none"/>
                </a:ln>
              </p:spPr>
              <p:txBody>
                <a:bodyPr vert="horz" wrap="none" lIns="91440" tIns="45720" rIns="91440" bIns="45720" rtlCol="0" anchor="b" anchorCtr="0"/>
                <a:lstStyle/>
                <a:p>
                  <a:pPr algn="ctr">
                    <a:lnSpc>
                      <a:spcPct val="108000"/>
                    </a:lnSpc>
                    <a:defRPr/>
                  </a:pPr>
                  <a:r>
                    <a:rPr lang="en-US" sz="4600" b="1" i="1">
                      <a:ln/>
                      <a:solidFill>
                        <a:srgbClr val="000000">
                          <a:alpha val="100000"/>
                        </a:srgbClr>
                      </a:solidFill>
                      <a:latin typeface="Arial"/>
                      <a:ea typeface="Arial"/>
                      <a:cs typeface="Arial"/>
                    </a:rPr>
                    <a:t>3</a:t>
                  </a:r>
                  <a:endParaRPr lang="en-US" sz="1100"/>
                </a:p>
              </p:txBody>
            </p:sp>
            <p:sp>
              <p:nvSpPr>
                <p:cNvPr id="36" name="TextBox 36"/>
                <p:cNvSpPr txBox="1"/>
                <p:nvPr/>
              </p:nvSpPr>
              <p:spPr>
                <a:xfrm flipH="1">
                  <a:off x="6249512" y="3801006"/>
                  <a:ext cx="2449859" cy="778648"/>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1600" b="1" i="0" strike="noStrike">
                      <a:ln/>
                      <a:solidFill>
                        <a:srgbClr val="000000">
                          <a:alpha val="100000"/>
                        </a:srgbClr>
                      </a:solidFill>
                      <a:latin typeface="微软雅黑"/>
                      <a:ea typeface="微软雅黑"/>
                      <a:cs typeface="微软雅黑"/>
                    </a:rPr>
                    <a:t>主动探索世界</a:t>
                  </a:r>
                  <a:endParaRPr lang="en-US" sz="1100"/>
                </a:p>
              </p:txBody>
            </p:sp>
            <p:sp>
              <p:nvSpPr>
                <p:cNvPr id="37" name="TextBox 37"/>
                <p:cNvSpPr txBox="1"/>
                <p:nvPr/>
              </p:nvSpPr>
              <p:spPr>
                <a:xfrm flipH="1">
                  <a:off x="6249510" y="4694053"/>
                  <a:ext cx="2449859" cy="1276293"/>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defRPr/>
                  </a:pPr>
                  <a:r>
                    <a:rPr lang="en-US" sz="1000" b="0" i="0" strike="noStrike">
                      <a:ln/>
                      <a:solidFill>
                        <a:srgbClr val="000000">
                          <a:alpha val="100000"/>
                        </a:srgbClr>
                      </a:solidFill>
                      <a:latin typeface="微软雅黑"/>
                      <a:ea typeface="微软雅黑"/>
                      <a:cs typeface="微软雅黑"/>
                    </a:rPr>
                    <a:t>不应完全依赖社交媒体获取信息。通过主动搜索、阅读深度报道、参与线下交流等方式，建立更立体、更客观的世界认知。</a:t>
                  </a:r>
                  <a:endParaRPr lang="en-US" sz="1100"/>
                </a:p>
              </p:txBody>
            </p:sp>
          </p:grpSp>
        </p:grpSp>
        <p:grpSp>
          <p:nvGrpSpPr>
            <p:cNvPr id="38" name="Group 38"/>
            <p:cNvGrpSpPr/>
            <p:nvPr/>
          </p:nvGrpSpPr>
          <p:grpSpPr>
            <a:xfrm>
              <a:off x="8939064" y="2126893"/>
              <a:ext cx="2609921" cy="3428173"/>
              <a:chOff x="8939064" y="2126893"/>
              <a:chExt cx="2609921" cy="3428173"/>
            </a:xfrm>
          </p:grpSpPr>
          <p:sp>
            <p:nvSpPr>
              <p:cNvPr id="39" name="AutoShape 39"/>
              <p:cNvSpPr/>
              <p:nvPr/>
            </p:nvSpPr>
            <p:spPr>
              <a:xfrm flipH="1">
                <a:off x="8945067" y="2131611"/>
                <a:ext cx="2597914" cy="2347869"/>
              </a:xfrm>
              <a:custGeom>
                <a:avLst/>
                <a:gdLst/>
                <a:ahLst/>
                <a:cxnLst/>
                <a:rect l="l" t="t" r="r" b="b"/>
                <a:pathLst>
                  <a:path w="4078981" h="4690964">
                    <a:moveTo>
                      <a:pt x="181130" y="37996"/>
                    </a:moveTo>
                    <a:lnTo>
                      <a:pt x="37995" y="176199"/>
                    </a:lnTo>
                    <a:lnTo>
                      <a:pt x="37995" y="370671"/>
                    </a:lnTo>
                    <a:lnTo>
                      <a:pt x="38140" y="370671"/>
                    </a:lnTo>
                    <a:lnTo>
                      <a:pt x="38140" y="4308547"/>
                    </a:lnTo>
                    <a:lnTo>
                      <a:pt x="37995" y="4308547"/>
                    </a:lnTo>
                    <a:lnTo>
                      <a:pt x="37995" y="4509690"/>
                    </a:lnTo>
                    <a:lnTo>
                      <a:pt x="176199" y="4652824"/>
                    </a:lnTo>
                    <a:lnTo>
                      <a:pt x="351964" y="4652824"/>
                    </a:lnTo>
                    <a:lnTo>
                      <a:pt x="362840" y="4652824"/>
                    </a:lnTo>
                    <a:lnTo>
                      <a:pt x="3753700" y="4652824"/>
                    </a:lnTo>
                    <a:lnTo>
                      <a:pt x="3759211" y="4652824"/>
                    </a:lnTo>
                    <a:lnTo>
                      <a:pt x="3902781" y="4652824"/>
                    </a:lnTo>
                    <a:lnTo>
                      <a:pt x="4040840" y="4509690"/>
                    </a:lnTo>
                    <a:lnTo>
                      <a:pt x="4040840" y="4346107"/>
                    </a:lnTo>
                    <a:lnTo>
                      <a:pt x="4040840" y="4317248"/>
                    </a:lnTo>
                    <a:lnTo>
                      <a:pt x="4040840" y="633449"/>
                    </a:lnTo>
                    <a:lnTo>
                      <a:pt x="4040841" y="633449"/>
                    </a:lnTo>
                    <a:lnTo>
                      <a:pt x="4040841" y="463920"/>
                    </a:lnTo>
                    <a:lnTo>
                      <a:pt x="3897706" y="325861"/>
                    </a:lnTo>
                    <a:lnTo>
                      <a:pt x="3751380" y="325861"/>
                    </a:lnTo>
                    <a:lnTo>
                      <a:pt x="3742824" y="325861"/>
                    </a:lnTo>
                    <a:lnTo>
                      <a:pt x="2411975" y="325861"/>
                    </a:lnTo>
                    <a:lnTo>
                      <a:pt x="2161815" y="37996"/>
                    </a:lnTo>
                    <a:close/>
                    <a:moveTo>
                      <a:pt x="175184" y="0"/>
                    </a:moveTo>
                    <a:lnTo>
                      <a:pt x="2192269" y="0"/>
                    </a:lnTo>
                    <a:lnTo>
                      <a:pt x="2443299" y="287720"/>
                    </a:lnTo>
                    <a:lnTo>
                      <a:pt x="3742824" y="287720"/>
                    </a:lnTo>
                    <a:lnTo>
                      <a:pt x="3751380" y="287720"/>
                    </a:lnTo>
                    <a:lnTo>
                      <a:pt x="3903796" y="287720"/>
                    </a:lnTo>
                    <a:lnTo>
                      <a:pt x="4078981" y="456668"/>
                    </a:lnTo>
                    <a:lnTo>
                      <a:pt x="4078981" y="469140"/>
                    </a:lnTo>
                    <a:lnTo>
                      <a:pt x="4078981" y="494229"/>
                    </a:lnTo>
                    <a:lnTo>
                      <a:pt x="4078981" y="650706"/>
                    </a:lnTo>
                    <a:lnTo>
                      <a:pt x="4078980" y="650706"/>
                    </a:lnTo>
                    <a:lnTo>
                      <a:pt x="4078980" y="4317248"/>
                    </a:lnTo>
                    <a:lnTo>
                      <a:pt x="4078980" y="4346107"/>
                    </a:lnTo>
                    <a:lnTo>
                      <a:pt x="4078980" y="4515635"/>
                    </a:lnTo>
                    <a:lnTo>
                      <a:pt x="3910032" y="4690819"/>
                    </a:lnTo>
                    <a:lnTo>
                      <a:pt x="3897560" y="4690819"/>
                    </a:lnTo>
                    <a:lnTo>
                      <a:pt x="3872472" y="4690819"/>
                    </a:lnTo>
                    <a:lnTo>
                      <a:pt x="3759211" y="4690819"/>
                    </a:lnTo>
                    <a:lnTo>
                      <a:pt x="3759211" y="4690964"/>
                    </a:lnTo>
                    <a:lnTo>
                      <a:pt x="351964" y="4690964"/>
                    </a:lnTo>
                    <a:lnTo>
                      <a:pt x="351964" y="4690820"/>
                    </a:lnTo>
                    <a:lnTo>
                      <a:pt x="206364" y="4690820"/>
                    </a:lnTo>
                    <a:lnTo>
                      <a:pt x="181420" y="4690820"/>
                    </a:lnTo>
                    <a:lnTo>
                      <a:pt x="168948" y="4690820"/>
                    </a:lnTo>
                    <a:lnTo>
                      <a:pt x="0" y="4515636"/>
                    </a:lnTo>
                    <a:lnTo>
                      <a:pt x="0" y="4308547"/>
                    </a:lnTo>
                    <a:lnTo>
                      <a:pt x="0" y="4279688"/>
                    </a:lnTo>
                    <a:lnTo>
                      <a:pt x="0" y="400401"/>
                    </a:lnTo>
                    <a:lnTo>
                      <a:pt x="0" y="370671"/>
                    </a:lnTo>
                    <a:lnTo>
                      <a:pt x="0" y="206364"/>
                    </a:lnTo>
                    <a:lnTo>
                      <a:pt x="0" y="181420"/>
                    </a:lnTo>
                    <a:lnTo>
                      <a:pt x="0" y="168948"/>
                    </a:lnTo>
                    <a:close/>
                  </a:path>
                </a:pathLst>
              </a:custGeom>
              <a:gradFill>
                <a:gsLst>
                  <a:gs pos="0">
                    <a:srgbClr val="FF6100">
                      <a:alpha val="100000"/>
                    </a:srgbClr>
                  </a:gs>
                  <a:gs pos="100000">
                    <a:srgbClr val="F28217">
                      <a:alpha val="0"/>
                    </a:srgbClr>
                  </a:gs>
                </a:gsLst>
                <a:lin ang="5400000"/>
              </a:gradFill>
              <a:ln>
                <a:prstDash val="solid"/>
                <a:headEnd type="none"/>
                <a:tailEnd type="none"/>
              </a:ln>
            </p:spPr>
          </p:sp>
          <p:sp>
            <p:nvSpPr>
              <p:cNvPr id="40" name="AutoShape 40"/>
              <p:cNvSpPr/>
              <p:nvPr/>
            </p:nvSpPr>
            <p:spPr>
              <a:xfrm flipH="1">
                <a:off x="10618235" y="2182782"/>
                <a:ext cx="863693" cy="95157"/>
              </a:xfrm>
              <a:custGeom>
                <a:avLst/>
                <a:gdLst/>
                <a:ahLst/>
                <a:cxnLst/>
                <a:rect l="l" t="t" r="r" b="b"/>
                <a:pathLst>
                  <a:path w="1356083" h="190121">
                    <a:moveTo>
                      <a:pt x="221446" y="0"/>
                    </a:moveTo>
                    <a:lnTo>
                      <a:pt x="226087" y="0"/>
                    </a:lnTo>
                    <a:lnTo>
                      <a:pt x="237833" y="0"/>
                    </a:lnTo>
                    <a:lnTo>
                      <a:pt x="1356083" y="0"/>
                    </a:lnTo>
                    <a:lnTo>
                      <a:pt x="1356083" y="20738"/>
                    </a:lnTo>
                    <a:lnTo>
                      <a:pt x="231307" y="20738"/>
                    </a:lnTo>
                    <a:lnTo>
                      <a:pt x="142700" y="106300"/>
                    </a:lnTo>
                    <a:lnTo>
                      <a:pt x="142700" y="75410"/>
                    </a:lnTo>
                    <a:close/>
                    <a:moveTo>
                      <a:pt x="116741" y="0"/>
                    </a:moveTo>
                    <a:lnTo>
                      <a:pt x="197082" y="0"/>
                    </a:lnTo>
                    <a:lnTo>
                      <a:pt x="0" y="190121"/>
                    </a:lnTo>
                    <a:lnTo>
                      <a:pt x="0" y="109780"/>
                    </a:lnTo>
                    <a:close/>
                  </a:path>
                </a:pathLst>
              </a:custGeom>
              <a:gradFill>
                <a:gsLst>
                  <a:gs pos="0">
                    <a:srgbClr val="FF6100">
                      <a:alpha val="100000"/>
                    </a:srgbClr>
                  </a:gs>
                  <a:gs pos="100000">
                    <a:srgbClr val="F28217">
                      <a:alpha val="100000"/>
                    </a:srgbClr>
                  </a:gs>
                </a:gsLst>
                <a:lin ang="0"/>
              </a:gradFill>
              <a:ln>
                <a:prstDash val="solid"/>
                <a:headEnd type="none"/>
                <a:tailEnd type="none"/>
              </a:ln>
            </p:spPr>
          </p:sp>
          <p:sp>
            <p:nvSpPr>
              <p:cNvPr id="41" name="AutoShape 41"/>
              <p:cNvSpPr/>
              <p:nvPr/>
            </p:nvSpPr>
            <p:spPr>
              <a:xfrm flipH="1">
                <a:off x="9296326" y="2178137"/>
                <a:ext cx="750178" cy="76358"/>
              </a:xfrm>
              <a:custGeom>
                <a:avLst/>
                <a:gdLst/>
                <a:ahLst/>
                <a:cxnLst/>
                <a:rect l="l" t="t" r="r" b="b"/>
                <a:pathLst>
                  <a:path w="1177853" h="152561">
                    <a:moveTo>
                      <a:pt x="964818" y="0"/>
                    </a:moveTo>
                    <a:lnTo>
                      <a:pt x="1041099" y="0"/>
                    </a:lnTo>
                    <a:lnTo>
                      <a:pt x="1177853" y="152561"/>
                    </a:lnTo>
                    <a:lnTo>
                      <a:pt x="1101572" y="152561"/>
                    </a:lnTo>
                    <a:close/>
                    <a:moveTo>
                      <a:pt x="827484" y="0"/>
                    </a:moveTo>
                    <a:lnTo>
                      <a:pt x="903765" y="0"/>
                    </a:lnTo>
                    <a:lnTo>
                      <a:pt x="1040664" y="152561"/>
                    </a:lnTo>
                    <a:lnTo>
                      <a:pt x="964383" y="152561"/>
                    </a:lnTo>
                    <a:close/>
                    <a:moveTo>
                      <a:pt x="690295" y="0"/>
                    </a:moveTo>
                    <a:lnTo>
                      <a:pt x="766576" y="0"/>
                    </a:lnTo>
                    <a:lnTo>
                      <a:pt x="903475" y="152561"/>
                    </a:lnTo>
                    <a:lnTo>
                      <a:pt x="827049" y="152561"/>
                    </a:lnTo>
                    <a:close/>
                    <a:moveTo>
                      <a:pt x="553106" y="0"/>
                    </a:moveTo>
                    <a:lnTo>
                      <a:pt x="629387" y="0"/>
                    </a:lnTo>
                    <a:lnTo>
                      <a:pt x="766141" y="152561"/>
                    </a:lnTo>
                    <a:lnTo>
                      <a:pt x="689860" y="152561"/>
                    </a:lnTo>
                    <a:close/>
                    <a:moveTo>
                      <a:pt x="415917" y="0"/>
                    </a:moveTo>
                    <a:lnTo>
                      <a:pt x="492198" y="0"/>
                    </a:lnTo>
                    <a:lnTo>
                      <a:pt x="628951" y="152561"/>
                    </a:lnTo>
                    <a:lnTo>
                      <a:pt x="552671" y="152561"/>
                    </a:lnTo>
                    <a:close/>
                    <a:moveTo>
                      <a:pt x="0" y="0"/>
                    </a:moveTo>
                    <a:lnTo>
                      <a:pt x="352544" y="0"/>
                    </a:lnTo>
                    <a:lnTo>
                      <a:pt x="489298" y="152561"/>
                    </a:lnTo>
                    <a:lnTo>
                      <a:pt x="136754" y="152561"/>
                    </a:lnTo>
                    <a:close/>
                  </a:path>
                </a:pathLst>
              </a:custGeom>
              <a:gradFill>
                <a:gsLst>
                  <a:gs pos="0">
                    <a:srgbClr val="FF6100">
                      <a:alpha val="100000"/>
                    </a:srgbClr>
                  </a:gs>
                  <a:gs pos="100000">
                    <a:srgbClr val="F28217">
                      <a:alpha val="100000"/>
                    </a:srgbClr>
                  </a:gs>
                </a:gsLst>
                <a:lin ang="0"/>
              </a:gradFill>
              <a:ln>
                <a:prstDash val="solid"/>
                <a:headEnd type="none"/>
                <a:tailEnd type="none"/>
              </a:ln>
            </p:spPr>
          </p:sp>
          <p:sp>
            <p:nvSpPr>
              <p:cNvPr id="42" name="AutoShape 42"/>
              <p:cNvSpPr/>
              <p:nvPr/>
            </p:nvSpPr>
            <p:spPr>
              <a:xfrm flipH="1">
                <a:off x="10929225" y="2126893"/>
                <a:ext cx="619760" cy="242793"/>
              </a:xfrm>
              <a:custGeom>
                <a:avLst/>
                <a:gdLst/>
                <a:ahLst/>
                <a:cxnLst/>
                <a:rect l="l" t="t" r="r" b="b"/>
                <a:pathLst>
                  <a:path w="973084" h="485092">
                    <a:moveTo>
                      <a:pt x="973085" y="56848"/>
                    </a:moveTo>
                    <a:lnTo>
                      <a:pt x="973085" y="0"/>
                    </a:lnTo>
                    <a:lnTo>
                      <a:pt x="181420" y="0"/>
                    </a:lnTo>
                    <a:lnTo>
                      <a:pt x="0" y="175184"/>
                    </a:lnTo>
                    <a:lnTo>
                      <a:pt x="0" y="187656"/>
                    </a:lnTo>
                    <a:lnTo>
                      <a:pt x="0" y="212744"/>
                    </a:lnTo>
                    <a:lnTo>
                      <a:pt x="0" y="485092"/>
                    </a:lnTo>
                    <a:lnTo>
                      <a:pt x="56848" y="485092"/>
                    </a:lnTo>
                    <a:lnTo>
                      <a:pt x="56848" y="188671"/>
                    </a:lnTo>
                    <a:lnTo>
                      <a:pt x="193747" y="56848"/>
                    </a:lnTo>
                    <a:close/>
                  </a:path>
                </a:pathLst>
              </a:custGeom>
              <a:gradFill>
                <a:gsLst>
                  <a:gs pos="0">
                    <a:srgbClr val="FF6100">
                      <a:alpha val="100000"/>
                      <a:lumMod val="60000"/>
                      <a:lumOff val="40000"/>
                    </a:srgbClr>
                  </a:gs>
                  <a:gs pos="46999">
                    <a:srgbClr val="F28217">
                      <a:alpha val="100000"/>
                    </a:srgbClr>
                  </a:gs>
                  <a:gs pos="100000">
                    <a:srgbClr val="F28217">
                      <a:alpha val="100000"/>
                    </a:srgbClr>
                  </a:gs>
                </a:gsLst>
                <a:lin ang="5400000"/>
              </a:gradFill>
              <a:ln>
                <a:prstDash val="solid"/>
                <a:headEnd type="none"/>
                <a:tailEnd type="none"/>
              </a:ln>
            </p:spPr>
          </p:sp>
          <p:sp>
            <p:nvSpPr>
              <p:cNvPr id="43" name="AutoShape 43"/>
              <p:cNvSpPr/>
              <p:nvPr/>
            </p:nvSpPr>
            <p:spPr>
              <a:xfrm flipH="1">
                <a:off x="8939064" y="2270971"/>
                <a:ext cx="253631" cy="147127"/>
              </a:xfrm>
              <a:custGeom>
                <a:avLst/>
                <a:gdLst/>
                <a:ahLst/>
                <a:cxnLst/>
                <a:rect l="l" t="t" r="r" b="b"/>
                <a:pathLst>
                  <a:path w="398225" h="293955">
                    <a:moveTo>
                      <a:pt x="0" y="56848"/>
                    </a:moveTo>
                    <a:lnTo>
                      <a:pt x="0" y="0"/>
                    </a:lnTo>
                    <a:lnTo>
                      <a:pt x="216805" y="0"/>
                    </a:lnTo>
                    <a:lnTo>
                      <a:pt x="398225" y="175184"/>
                    </a:lnTo>
                    <a:lnTo>
                      <a:pt x="398225" y="187656"/>
                    </a:lnTo>
                    <a:lnTo>
                      <a:pt x="398225" y="212599"/>
                    </a:lnTo>
                    <a:lnTo>
                      <a:pt x="398225" y="293956"/>
                    </a:lnTo>
                    <a:lnTo>
                      <a:pt x="341377" y="293956"/>
                    </a:lnTo>
                    <a:lnTo>
                      <a:pt x="341377" y="188671"/>
                    </a:lnTo>
                    <a:lnTo>
                      <a:pt x="204478" y="56848"/>
                    </a:lnTo>
                    <a:close/>
                  </a:path>
                </a:pathLst>
              </a:custGeom>
              <a:gradFill>
                <a:gsLst>
                  <a:gs pos="0">
                    <a:srgbClr val="F28217">
                      <a:alpha val="100000"/>
                      <a:lumMod val="60000"/>
                      <a:lumOff val="40000"/>
                    </a:srgbClr>
                  </a:gs>
                  <a:gs pos="44999">
                    <a:srgbClr val="F28217">
                      <a:alpha val="100000"/>
                    </a:srgbClr>
                  </a:gs>
                  <a:gs pos="100000">
                    <a:srgbClr val="FF6100">
                      <a:alpha val="100000"/>
                    </a:srgbClr>
                  </a:gs>
                </a:gsLst>
                <a:lin ang="5400000"/>
              </a:gradFill>
              <a:ln>
                <a:prstDash val="solid"/>
                <a:headEnd type="none"/>
                <a:tailEnd type="none"/>
              </a:ln>
            </p:spPr>
          </p:sp>
          <p:grpSp>
            <p:nvGrpSpPr>
              <p:cNvPr id="44" name="Group 44"/>
              <p:cNvGrpSpPr/>
              <p:nvPr/>
            </p:nvGrpSpPr>
            <p:grpSpPr>
              <a:xfrm>
                <a:off x="8952826" y="2137635"/>
                <a:ext cx="2583875" cy="3417431"/>
                <a:chOff x="8952826" y="2137635"/>
                <a:chExt cx="2583875" cy="3417431"/>
              </a:xfrm>
            </p:grpSpPr>
            <p:sp>
              <p:nvSpPr>
                <p:cNvPr id="45" name="AutoShape 45"/>
                <p:cNvSpPr/>
                <p:nvPr/>
              </p:nvSpPr>
              <p:spPr>
                <a:xfrm flipH="1">
                  <a:off x="8952826" y="2137635"/>
                  <a:ext cx="2583875" cy="3284095"/>
                </a:xfrm>
                <a:custGeom>
                  <a:avLst/>
                  <a:gdLst/>
                  <a:ahLst/>
                  <a:cxnLst/>
                  <a:rect l="l" t="t" r="r" b="b"/>
                  <a:pathLst>
                    <a:path w="2653684" h="3372822">
                      <a:moveTo>
                        <a:pt x="113736" y="0"/>
                      </a:moveTo>
                      <a:lnTo>
                        <a:pt x="1415393" y="0"/>
                      </a:lnTo>
                      <a:lnTo>
                        <a:pt x="1585950" y="153935"/>
                      </a:lnTo>
                      <a:lnTo>
                        <a:pt x="2540044" y="153935"/>
                      </a:lnTo>
                      <a:lnTo>
                        <a:pt x="2653684" y="233400"/>
                      </a:lnTo>
                      <a:lnTo>
                        <a:pt x="2653684" y="1207219"/>
                      </a:lnTo>
                      <a:lnTo>
                        <a:pt x="2653684" y="2319538"/>
                      </a:lnTo>
                      <a:lnTo>
                        <a:pt x="2653684" y="3293357"/>
                      </a:lnTo>
                      <a:lnTo>
                        <a:pt x="2552659" y="3372822"/>
                      </a:lnTo>
                      <a:lnTo>
                        <a:pt x="107381" y="3372822"/>
                      </a:lnTo>
                      <a:lnTo>
                        <a:pt x="0" y="3288362"/>
                      </a:lnTo>
                      <a:lnTo>
                        <a:pt x="0" y="2314543"/>
                      </a:lnTo>
                      <a:lnTo>
                        <a:pt x="0" y="1053284"/>
                      </a:lnTo>
                      <a:lnTo>
                        <a:pt x="0" y="79465"/>
                      </a:lnTo>
                      <a:close/>
                    </a:path>
                  </a:pathLst>
                </a:custGeom>
                <a:gradFill>
                  <a:gsLst>
                    <a:gs pos="0">
                      <a:srgbClr val="FF6100">
                        <a:alpha val="30196"/>
                      </a:srgbClr>
                    </a:gs>
                    <a:gs pos="87999">
                      <a:srgbClr val="FF6100">
                        <a:alpha val="0"/>
                      </a:srgbClr>
                    </a:gs>
                  </a:gsLst>
                  <a:lin ang="5400000"/>
                </a:gradFill>
                <a:ln>
                  <a:prstDash val="solid"/>
                  <a:headEnd type="none"/>
                  <a:tailEnd type="none"/>
                </a:ln>
              </p:spPr>
            </p:sp>
            <p:sp>
              <p:nvSpPr>
                <p:cNvPr id="46" name="TextBox 46"/>
                <p:cNvSpPr txBox="1"/>
                <p:nvPr/>
              </p:nvSpPr>
              <p:spPr>
                <a:xfrm flipH="1">
                  <a:off x="9020252" y="3385725"/>
                  <a:ext cx="2449860" cy="778646"/>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1600" b="1" i="0" strike="noStrike">
                      <a:ln/>
                      <a:solidFill>
                        <a:srgbClr val="000000">
                          <a:alpha val="100000"/>
                        </a:srgbClr>
                      </a:solidFill>
                      <a:latin typeface="微软雅黑"/>
                      <a:ea typeface="微软雅黑"/>
                      <a:cs typeface="微软雅黑"/>
                    </a:rPr>
                    <a:t>数字公民意识</a:t>
                  </a:r>
                  <a:endParaRPr lang="en-US" sz="1100"/>
                </a:p>
              </p:txBody>
            </p:sp>
            <p:sp>
              <p:nvSpPr>
                <p:cNvPr id="47" name="TextBox 47"/>
                <p:cNvSpPr txBox="1"/>
                <p:nvPr/>
              </p:nvSpPr>
              <p:spPr>
                <a:xfrm flipH="1">
                  <a:off x="9020250" y="4278772"/>
                  <a:ext cx="2449860" cy="1276294"/>
                </a:xfrm>
                <a:prstGeom prst="rect">
                  <a:avLst/>
                </a:prstGeom>
                <a:ln>
                  <a:headEnd type="none"/>
                  <a:tailEnd type="none"/>
                </a:ln>
              </p:spPr>
              <p:txBody>
                <a:bodyPr vert="horz" wrap="square" lIns="91440" tIns="45720" rIns="91440" bIns="45720" rtlCol="0" anchor="t" anchorCtr="0"/>
                <a:lstStyle/>
                <a:p>
                  <a:pPr algn="l">
                    <a:lnSpc>
                      <a:spcPct val="120000"/>
                    </a:lnSpc>
                    <a:spcBef>
                      <a:spcPts val="0"/>
                    </a:spcBef>
                    <a:spcAft>
                      <a:spcPts val="0"/>
                    </a:spcAft>
                    <a:defRPr/>
                  </a:pPr>
                  <a:r>
                    <a:rPr lang="en-US" sz="1000" b="0" i="0" strike="noStrike">
                      <a:ln/>
                      <a:solidFill>
                        <a:srgbClr val="000000">
                          <a:alpha val="100000"/>
                        </a:srgbClr>
                      </a:solidFill>
                      <a:latin typeface="微软雅黑"/>
                      <a:ea typeface="微软雅黑"/>
                      <a:cs typeface="微软雅黑"/>
                    </a:rPr>
                    <a:t>每个用户都应意识到自己是数字社会的一员，其在线行为不仅影响自身，也共同塑造着整个网络生态的健康与否。理性发言，尊重差异，是数字时代的基本素养。</a:t>
                  </a:r>
                  <a:endParaRPr lang="en-US" sz="1100"/>
                </a:p>
              </p:txBody>
            </p:sp>
            <p:sp>
              <p:nvSpPr>
                <p:cNvPr id="48" name="TextBox 48"/>
                <p:cNvSpPr txBox="1"/>
                <p:nvPr/>
              </p:nvSpPr>
              <p:spPr>
                <a:xfrm flipH="1">
                  <a:off x="9756398" y="2439028"/>
                  <a:ext cx="975251" cy="823705"/>
                </a:xfrm>
                <a:prstGeom prst="rect">
                  <a:avLst/>
                </a:prstGeom>
                <a:ln>
                  <a:headEnd type="none"/>
                  <a:tailEnd type="none"/>
                </a:ln>
              </p:spPr>
              <p:txBody>
                <a:bodyPr vert="horz" wrap="none" lIns="91440" tIns="45720" rIns="91440" bIns="45720" rtlCol="0" anchor="b" anchorCtr="0"/>
                <a:lstStyle/>
                <a:p>
                  <a:pPr algn="ctr">
                    <a:lnSpc>
                      <a:spcPct val="108000"/>
                    </a:lnSpc>
                    <a:defRPr/>
                  </a:pPr>
                  <a:r>
                    <a:rPr lang="en-US" sz="4600" b="1" i="1">
                      <a:ln/>
                      <a:solidFill>
                        <a:srgbClr val="000000">
                          <a:alpha val="100000"/>
                        </a:srgbClr>
                      </a:solidFill>
                      <a:latin typeface="Arial"/>
                      <a:ea typeface="Arial"/>
                      <a:cs typeface="Arial"/>
                    </a:rPr>
                    <a:t>4</a:t>
                  </a:r>
                  <a:endParaRPr lang="en-US" sz="1100"/>
                </a:p>
              </p:txBody>
            </p:sp>
          </p:grpSp>
        </p:grpSp>
      </p:grpSp>
      <p:sp>
        <p:nvSpPr>
          <p:cNvPr id="49" name="TextBox 49"/>
          <p:cNvSpPr txBox="1"/>
          <p:nvPr/>
        </p:nvSpPr>
        <p:spPr>
          <a:xfrm>
            <a:off x="660399" y="0"/>
            <a:ext cx="10858500" cy="102870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000000">
                    <a:alpha val="100000"/>
                  </a:srgbClr>
                </a:solidFill>
                <a:latin typeface="微软雅黑"/>
                <a:ea typeface="微软雅黑"/>
                <a:cs typeface="微软雅黑"/>
              </a:rPr>
              <a:t>用户媒介素养提升</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2891964"/>
            <a:ext cx="6377517" cy="1296214"/>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6000" b="1" i="0">
                <a:ln/>
                <a:solidFill>
                  <a:srgbClr val="FFFFFF">
                    <a:alpha val="100000"/>
                  </a:srgbClr>
                </a:solidFill>
                <a:latin typeface="微软雅黑"/>
                <a:ea typeface="微软雅黑"/>
                <a:cs typeface="微软雅黑"/>
              </a:rPr>
              <a:t>谢谢观看</a:t>
            </a:r>
            <a:endParaRPr lang="en-US" sz="1100"/>
          </a:p>
        </p:txBody>
      </p:sp>
      <p:sp>
        <p:nvSpPr>
          <p:cNvPr id="3" name="TextBox 3"/>
          <p:cNvSpPr txBox="1"/>
          <p:nvPr/>
        </p:nvSpPr>
        <p:spPr>
          <a:xfrm>
            <a:off x="676275" y="5781674"/>
            <a:ext cx="2044700" cy="342900"/>
          </a:xfrm>
          <a:prstGeom prst="rect">
            <a:avLst/>
          </a:prstGeom>
          <a:ln>
            <a:headEnd type="none"/>
            <a:tailEnd type="none"/>
          </a:ln>
        </p:spPr>
        <p:txBody>
          <a:bodyPr vert="horz" wrap="square" lIns="91440" tIns="45720" rIns="91440" bIns="45720" rtlCol="0" anchor="ctr" anchorCtr="0"/>
          <a:lstStyle/>
          <a:p>
            <a:pPr algn="l">
              <a:lnSpc>
                <a:spcPct val="100000"/>
              </a:lnSpc>
              <a:spcBef>
                <a:spcPts val="1000"/>
              </a:spcBef>
              <a:defRPr/>
            </a:pPr>
            <a:r>
              <a:rPr lang="en-US" sz="1200" b="0" i="0">
                <a:ln/>
                <a:solidFill>
                  <a:srgbClr val="FFFFFF">
                    <a:alpha val="100000"/>
                  </a:srgbClr>
                </a:solidFill>
                <a:latin typeface="微软雅黑"/>
                <a:ea typeface="微软雅黑"/>
                <a:cs typeface="微软雅黑"/>
              </a:rPr>
              <a:t>报告人名称</a:t>
            </a:r>
            <a:endParaRPr lang="en-US" sz="1100"/>
          </a:p>
        </p:txBody>
      </p:sp>
      <p:sp>
        <p:nvSpPr>
          <p:cNvPr id="4" name="TextBox 4"/>
          <p:cNvSpPr txBox="1"/>
          <p:nvPr/>
        </p:nvSpPr>
        <p:spPr>
          <a:xfrm>
            <a:off x="10001250" y="5781674"/>
            <a:ext cx="1514475" cy="342900"/>
          </a:xfrm>
          <a:prstGeom prst="rect">
            <a:avLst/>
          </a:prstGeom>
          <a:ln>
            <a:headEnd type="none"/>
            <a:tailEnd type="none"/>
          </a:ln>
        </p:spPr>
        <p:txBody>
          <a:bodyPr vert="horz" wrap="square" lIns="91440" tIns="45720" rIns="91440" bIns="45720" rtlCol="0" anchor="ctr" anchorCtr="0"/>
          <a:lstStyle/>
          <a:p>
            <a:pPr algn="r">
              <a:lnSpc>
                <a:spcPct val="100000"/>
              </a:lnSpc>
              <a:spcBef>
                <a:spcPts val="1000"/>
              </a:spcBef>
              <a:defRPr/>
            </a:pPr>
            <a:r>
              <a:rPr lang="en-US" altLang="zh-CN" sz="1200">
                <a:ln/>
                <a:solidFill>
                  <a:srgbClr val="FFFFFF">
                    <a:alpha val="100000"/>
                  </a:srgbClr>
                </a:solidFill>
                <a:latin typeface="微软雅黑"/>
                <a:ea typeface="微软雅黑"/>
                <a:cs typeface="微软雅黑"/>
              </a:rPr>
              <a:t>2026.4.20</a:t>
            </a:r>
            <a:endParaRPr lang="en-US" altLang="zh-CN" sz="1100" dirty="0"/>
          </a:p>
        </p:txBody>
      </p:sp>
    </p:spTree>
  </p:cSld>
  <p:clrMapOvr>
    <a:masterClrMapping/>
  </p:clrMapOvr>
</p:sld>
</file>

<file path=ppt/theme/theme1.xml><?xml version="1.0" encoding="utf-8"?>
<a:theme xmlns:a="http://schemas.openxmlformats.org/drawingml/2006/main" name="c138db19-6d61-40f2-b9eb-c87d45aeeb9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757</Words>
  <Application>Microsoft Office PowerPoint</Application>
  <PresentationFormat>宽屏</PresentationFormat>
  <Paragraphs>184</Paragraphs>
  <Slides>21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21</vt:i4>
      </vt:variant>
    </vt:vector>
  </HeadingPairs>
  <TitlesOfParts>
    <vt:vector size="25" baseType="lpstr">
      <vt:lpstr>微软雅黑</vt:lpstr>
      <vt:lpstr>Arial</vt:lpstr>
      <vt:lpstr>Calibri</vt:lpstr>
      <vt:lpstr>c138db19-6d61-40f2-b9eb-c87d45aeeb99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Luis Qin</cp:lastModifiedBy>
  <cp:revision>3</cp:revision>
  <dcterms:created xsi:type="dcterms:W3CDTF">2006-08-16T00:00:00Z</dcterms:created>
  <dcterms:modified xsi:type="dcterms:W3CDTF">2026-04-14T12:57:15Z</dcterms:modified>
</cp:coreProperties>
</file>