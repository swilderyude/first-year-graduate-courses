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ustom.xml" ContentType="application/vnd.openxmlformats-officedocument.custom-propertie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 Id="rId4" Type="http://schemas.openxmlformats.org/officeDocument/2006/relationships/custom-properties" Target="docProps/custom.xml" />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6256000" cy="9144000"/>
  <p:notesSz cx="9144000" cy="16256000"/>
  <p:embeddedFontLst>
    <p:embeddedFont>
      <p:font typeface="MiSans" charset="-122" pitchFamily="34"/>
      <p:regular r:id="rId24"/>
    </p:embeddedFont>
    <p:embeddedFont>
      <p:font typeface="Liter" charset="-122" pitchFamily="34"/>
      <p:regular r:id="rId25"/>
    </p:embeddedFont>
    <p:embeddedFont>
      <p:font typeface="Noto Sans SC" charset="-122" pitchFamily="34"/>
      <p:regular r:id="rId26"/>
    </p:embeddedFont>
    <p:embeddedFont>
      <p:font typeface="Quattrocento Sans" charset="-122" pitchFamily="34"/>
      <p:regular r:id="rId27"/>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 Id="rId24" Type="http://schemas.openxmlformats.org/officeDocument/2006/relationships/font" Target="fonts/font1.fntdata"/><Relationship Id="rId25" Type="http://schemas.openxmlformats.org/officeDocument/2006/relationships/font" Target="fonts/font2.fntdata"/><Relationship Id="rId26" Type="http://schemas.openxmlformats.org/officeDocument/2006/relationships/font" Target="fonts/font3.fntdata"/><Relationship Id="rId27" Type="http://schemas.openxmlformats.org/officeDocument/2006/relationships/font" Target="fonts/font4.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PTIST_MASTER">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8F9FA"/>
        </a:solidFill>
      </p:bgPr>
    </p:bg>
    <p:spTree>
      <p:nvGrpSpPr>
        <p:cNvPr id="1" name=""/>
        <p:cNvGrpSpPr/>
        <p:nvPr/>
      </p:nvGrpSpPr>
      <p:grpSpPr>
        <a:xfrm>
          <a:off x="0" y="0"/>
          <a:ext cx="0" cy="0"/>
          <a:chOff x="0" y="0"/>
          <a:chExt cx="0" cy="0"/>
        </a:xfrm>
      </p:grpSpPr>
      <p:pic>
        <p:nvPicPr>
          <p:cNvPr id="2" name="Image 0" descr="https://kimi-web-img.moonshot.cn/img/images.stockcake.com/e234d6cf6b230a019feb25ed229d99cba9177c60.jpg">    </p:cNvPr>
          <p:cNvPicPr>
            <a:picLocks noChangeAspect="1"/>
          </p:cNvPicPr>
          <p:nvPr/>
        </p:nvPicPr>
        <p:blipFill>
          <a:blip r:embed="rId1">
            <a:alphaModFix amt="30000"/>
          </a:blip>
          <a:srcRect l="0" r="0" t="21875" b="21875"/>
          <a:stretch/>
        </p:blipFill>
        <p:spPr>
          <a:xfrm>
            <a:off x="0" y="0"/>
            <a:ext cx="16256000" cy="9144000"/>
          </a:xfrm>
          <a:prstGeom prst="roundRect">
            <a:avLst>
              <a:gd name="adj" fmla="val 0"/>
            </a:avLst>
          </a:prstGeom>
        </p:spPr>
      </p:pic>
      <p:sp>
        <p:nvSpPr>
          <p:cNvPr id="3" name="Shape 0"/>
          <p:cNvSpPr/>
          <p:nvPr/>
        </p:nvSpPr>
        <p:spPr>
          <a:xfrm>
            <a:off x="0" y="0"/>
            <a:ext cx="16256000" cy="9144000"/>
          </a:xfrm>
          <a:custGeom>
            <a:avLst/>
            <a:gdLst/>
            <a:ahLst/>
            <a:cxnLst/>
            <a:rect l="l" t="t" r="r" b="b"/>
            <a:pathLst>
              <a:path w="16256000" h="9144000">
                <a:moveTo>
                  <a:pt x="0" y="0"/>
                </a:moveTo>
                <a:lnTo>
                  <a:pt x="16256000" y="0"/>
                </a:lnTo>
                <a:lnTo>
                  <a:pt x="16256000" y="9144000"/>
                </a:lnTo>
                <a:lnTo>
                  <a:pt x="0" y="9144000"/>
                </a:lnTo>
                <a:lnTo>
                  <a:pt x="0" y="0"/>
                </a:lnTo>
                <a:close/>
              </a:path>
            </a:pathLst>
          </a:custGeom>
          <a:gradFill rotWithShape="1" flip="none">
            <a:gsLst>
              <a:gs pos="0">
                <a:srgbClr val="495057">
                  <a:alpha val="80000"/>
                </a:srgbClr>
              </a:gs>
              <a:gs pos="50000">
                <a:srgbClr val="495057">
                  <a:alpha val="60000"/>
                </a:srgbClr>
              </a:gs>
              <a:gs pos="100000">
                <a:srgbClr val="000000">
                  <a:alpha val="0"/>
                </a:srgbClr>
              </a:gs>
            </a:gsLst>
            <a:lin ang="2700000" scaled="1"/>
          </a:gradFill>
          <a:ln/>
        </p:spPr>
      </p:sp>
      <p:sp>
        <p:nvSpPr>
          <p:cNvPr id="4" name="Shape 1"/>
          <p:cNvSpPr/>
          <p:nvPr/>
        </p:nvSpPr>
        <p:spPr>
          <a:xfrm>
            <a:off x="508000" y="1708150"/>
            <a:ext cx="2832100" cy="457200"/>
          </a:xfrm>
          <a:custGeom>
            <a:avLst/>
            <a:gdLst/>
            <a:ahLst/>
            <a:cxnLst/>
            <a:rect l="l" t="t" r="r" b="b"/>
            <a:pathLst>
              <a:path w="2832100" h="457200">
                <a:moveTo>
                  <a:pt x="50799" y="0"/>
                </a:moveTo>
                <a:lnTo>
                  <a:pt x="2781301" y="0"/>
                </a:lnTo>
                <a:cubicBezTo>
                  <a:pt x="2809356" y="0"/>
                  <a:pt x="2832100" y="22744"/>
                  <a:pt x="2832100" y="50799"/>
                </a:cubicBezTo>
                <a:lnTo>
                  <a:pt x="2832100" y="406401"/>
                </a:lnTo>
                <a:cubicBezTo>
                  <a:pt x="2832100" y="434456"/>
                  <a:pt x="2809356" y="457200"/>
                  <a:pt x="2781301" y="457200"/>
                </a:cubicBezTo>
                <a:lnTo>
                  <a:pt x="50799" y="457200"/>
                </a:lnTo>
                <a:cubicBezTo>
                  <a:pt x="22744" y="457200"/>
                  <a:pt x="0" y="434456"/>
                  <a:pt x="0" y="406401"/>
                </a:cubicBezTo>
                <a:lnTo>
                  <a:pt x="0" y="50799"/>
                </a:lnTo>
                <a:cubicBezTo>
                  <a:pt x="0" y="22762"/>
                  <a:pt x="22762" y="0"/>
                  <a:pt x="50799" y="0"/>
                </a:cubicBezTo>
                <a:close/>
              </a:path>
            </a:pathLst>
          </a:custGeom>
          <a:solidFill>
            <a:srgbClr val="A67B5C">
              <a:alpha val="20000"/>
            </a:srgbClr>
          </a:solidFill>
          <a:ln/>
        </p:spPr>
      </p:sp>
      <p:sp>
        <p:nvSpPr>
          <p:cNvPr id="5" name="Text 2"/>
          <p:cNvSpPr/>
          <p:nvPr/>
        </p:nvSpPr>
        <p:spPr>
          <a:xfrm>
            <a:off x="762000" y="1809750"/>
            <a:ext cx="2413000" cy="254000"/>
          </a:xfrm>
          <a:prstGeom prst="rect">
            <a:avLst/>
          </a:prstGeom>
          <a:noFill/>
          <a:ln/>
        </p:spPr>
        <p:txBody>
          <a:bodyPr wrap="square" lIns="0" tIns="0" rIns="0" bIns="0" rtlCol="0" anchor="ctr"/>
          <a:lstStyle/>
          <a:p>
            <a:pPr>
              <a:lnSpc>
                <a:spcPct val="120000"/>
              </a:lnSpc>
            </a:pPr>
            <a:r>
              <a:rPr lang="en-US" sz="1400" b="1" spc="140" kern="0" dirty="0">
                <a:solidFill>
                  <a:srgbClr val="F8F9FA"/>
                </a:solidFill>
                <a:latin typeface="MiSans" pitchFamily="34" charset="0"/>
                <a:ea typeface="MiSans" pitchFamily="34" charset="-122"/>
                <a:cs typeface="MiSans" pitchFamily="34" charset="-120"/>
              </a:rPr>
              <a:t>CIKM 2017 | 论文复现汇报</a:t>
            </a:r>
            <a:endParaRPr lang="en-US" sz="1600" dirty="0"/>
          </a:p>
        </p:txBody>
      </p:sp>
      <p:sp>
        <p:nvSpPr>
          <p:cNvPr id="6" name="Text 3"/>
          <p:cNvSpPr/>
          <p:nvPr/>
        </p:nvSpPr>
        <p:spPr>
          <a:xfrm>
            <a:off x="508000" y="2470150"/>
            <a:ext cx="8585200" cy="1143000"/>
          </a:xfrm>
          <a:prstGeom prst="rect">
            <a:avLst/>
          </a:prstGeom>
          <a:noFill/>
          <a:ln/>
        </p:spPr>
        <p:txBody>
          <a:bodyPr wrap="square" lIns="0" tIns="0" rIns="0" bIns="0" rtlCol="0" anchor="ctr"/>
          <a:lstStyle/>
          <a:p>
            <a:pPr>
              <a:lnSpc>
                <a:spcPct val="100000"/>
              </a:lnSpc>
            </a:pPr>
            <a:r>
              <a:rPr lang="en-US" sz="7200" b="1" dirty="0">
                <a:solidFill>
                  <a:srgbClr val="F8F9FA"/>
                </a:solidFill>
                <a:latin typeface="Liter" pitchFamily="34" charset="0"/>
                <a:ea typeface="Liter" pitchFamily="34" charset="-122"/>
                <a:cs typeface="Liter" pitchFamily="34" charset="-120"/>
              </a:rPr>
              <a:t>MultiSentiNet</a:t>
            </a:r>
            <a:endParaRPr lang="en-US" sz="1600" dirty="0"/>
          </a:p>
        </p:txBody>
      </p:sp>
      <p:sp>
        <p:nvSpPr>
          <p:cNvPr id="7" name="Text 4"/>
          <p:cNvSpPr/>
          <p:nvPr/>
        </p:nvSpPr>
        <p:spPr>
          <a:xfrm>
            <a:off x="508000" y="3917950"/>
            <a:ext cx="8356600" cy="1485900"/>
          </a:xfrm>
          <a:prstGeom prst="rect">
            <a:avLst/>
          </a:prstGeom>
          <a:noFill/>
          <a:ln/>
        </p:spPr>
        <p:txBody>
          <a:bodyPr wrap="square" lIns="0" tIns="0" rIns="0" bIns="0" rtlCol="0" anchor="ctr"/>
          <a:lstStyle/>
          <a:p>
            <a:pPr>
              <a:lnSpc>
                <a:spcPct val="140000"/>
              </a:lnSpc>
            </a:pPr>
            <a:r>
              <a:rPr lang="en-US" sz="3600" b="1" dirty="0">
                <a:solidFill>
                  <a:srgbClr val="F8F9FA">
                    <a:alpha val="90000"/>
                  </a:srgbClr>
                </a:solidFill>
                <a:latin typeface="Noto Sans SC" pitchFamily="34" charset="0"/>
                <a:ea typeface="Noto Sans SC" pitchFamily="34" charset="-122"/>
                <a:cs typeface="Noto Sans SC" pitchFamily="34" charset="-120"/>
              </a:rPr>
              <a:t>一种用于多模态情感分析的</a:t>
            </a:r>
            <a:endParaRPr lang="en-US" sz="1600" dirty="0"/>
          </a:p>
          <a:p>
            <a:pPr>
              <a:lnSpc>
                <a:spcPct val="140000"/>
              </a:lnSpc>
            </a:pPr>
            <a:r>
              <a:rPr lang="en-US" sz="3600" b="1" dirty="0">
                <a:solidFill>
                  <a:srgbClr val="F8F9FA">
                    <a:alpha val="90000"/>
                  </a:srgbClr>
                </a:solidFill>
                <a:latin typeface="Noto Sans SC" pitchFamily="34" charset="0"/>
                <a:ea typeface="Noto Sans SC" pitchFamily="34" charset="-122"/>
                <a:cs typeface="Noto Sans SC" pitchFamily="34" charset="-120"/>
              </a:rPr>
              <a:t>深度语义网络</a:t>
            </a:r>
            <a:endParaRPr lang="en-US" sz="1600" dirty="0"/>
          </a:p>
        </p:txBody>
      </p:sp>
      <p:sp>
        <p:nvSpPr>
          <p:cNvPr id="8" name="Shape 5"/>
          <p:cNvSpPr/>
          <p:nvPr/>
        </p:nvSpPr>
        <p:spPr>
          <a:xfrm>
            <a:off x="508000" y="5981700"/>
            <a:ext cx="1219200" cy="12700"/>
          </a:xfrm>
          <a:custGeom>
            <a:avLst/>
            <a:gdLst/>
            <a:ahLst/>
            <a:cxnLst/>
            <a:rect l="l" t="t" r="r" b="b"/>
            <a:pathLst>
              <a:path w="1219200" h="12700">
                <a:moveTo>
                  <a:pt x="0" y="0"/>
                </a:moveTo>
                <a:lnTo>
                  <a:pt x="1219200" y="0"/>
                </a:lnTo>
                <a:lnTo>
                  <a:pt x="1219200" y="12700"/>
                </a:lnTo>
                <a:lnTo>
                  <a:pt x="0" y="12700"/>
                </a:lnTo>
                <a:lnTo>
                  <a:pt x="0" y="0"/>
                </a:lnTo>
                <a:close/>
              </a:path>
            </a:pathLst>
          </a:custGeom>
          <a:solidFill>
            <a:srgbClr val="A67B5C"/>
          </a:solidFill>
          <a:ln/>
        </p:spPr>
      </p:sp>
      <p:sp>
        <p:nvSpPr>
          <p:cNvPr id="9" name="Text 6"/>
          <p:cNvSpPr/>
          <p:nvPr/>
        </p:nvSpPr>
        <p:spPr>
          <a:xfrm>
            <a:off x="2133600" y="5810250"/>
            <a:ext cx="6629400" cy="355600"/>
          </a:xfrm>
          <a:prstGeom prst="rect">
            <a:avLst/>
          </a:prstGeom>
          <a:noFill/>
          <a:ln/>
        </p:spPr>
        <p:txBody>
          <a:bodyPr wrap="square" lIns="0" tIns="0" rIns="0" bIns="0" rtlCol="0" anchor="ctr"/>
          <a:lstStyle/>
          <a:p>
            <a:pPr>
              <a:lnSpc>
                <a:spcPct val="120000"/>
              </a:lnSpc>
            </a:pPr>
            <a:r>
              <a:rPr lang="en-US" sz="2000" dirty="0">
                <a:solidFill>
                  <a:srgbClr val="F8F9FA">
                    <a:alpha val="80000"/>
                  </a:srgbClr>
                </a:solidFill>
                <a:latin typeface="Quattrocento Sans" pitchFamily="34" charset="0"/>
                <a:ea typeface="Quattrocento Sans" pitchFamily="34" charset="-122"/>
                <a:cs typeface="Quattrocento Sans" pitchFamily="34" charset="-120"/>
              </a:rPr>
              <a:t>Deep Semantic Network for Multimodal Sentiment Analysis</a:t>
            </a:r>
            <a:endParaRPr lang="en-US" sz="1600" dirty="0"/>
          </a:p>
        </p:txBody>
      </p:sp>
      <p:sp>
        <p:nvSpPr>
          <p:cNvPr id="10" name="Shape 7"/>
          <p:cNvSpPr/>
          <p:nvPr/>
        </p:nvSpPr>
        <p:spPr>
          <a:xfrm>
            <a:off x="508000" y="6851650"/>
            <a:ext cx="508000" cy="508000"/>
          </a:xfrm>
          <a:custGeom>
            <a:avLst/>
            <a:gdLst/>
            <a:ahLst/>
            <a:cxnLst/>
            <a:rect l="l" t="t" r="r" b="b"/>
            <a:pathLst>
              <a:path w="508000" h="508000">
                <a:moveTo>
                  <a:pt x="254000" y="0"/>
                </a:moveTo>
                <a:lnTo>
                  <a:pt x="254000" y="0"/>
                </a:lnTo>
                <a:cubicBezTo>
                  <a:pt x="394186" y="0"/>
                  <a:pt x="508000" y="113814"/>
                  <a:pt x="508000" y="254000"/>
                </a:cubicBezTo>
                <a:lnTo>
                  <a:pt x="508000" y="254000"/>
                </a:lnTo>
                <a:cubicBezTo>
                  <a:pt x="508000" y="394186"/>
                  <a:pt x="394186" y="508000"/>
                  <a:pt x="254000" y="508000"/>
                </a:cubicBezTo>
                <a:lnTo>
                  <a:pt x="254000" y="508000"/>
                </a:lnTo>
                <a:cubicBezTo>
                  <a:pt x="113814" y="508000"/>
                  <a:pt x="0" y="394186"/>
                  <a:pt x="0" y="254000"/>
                </a:cubicBezTo>
                <a:lnTo>
                  <a:pt x="0" y="254000"/>
                </a:lnTo>
                <a:cubicBezTo>
                  <a:pt x="0" y="113814"/>
                  <a:pt x="113814" y="0"/>
                  <a:pt x="254000" y="0"/>
                </a:cubicBezTo>
                <a:close/>
              </a:path>
            </a:pathLst>
          </a:custGeom>
          <a:solidFill>
            <a:srgbClr val="A67B5C">
              <a:alpha val="30196"/>
            </a:srgbClr>
          </a:solidFill>
          <a:ln/>
        </p:spPr>
      </p:sp>
      <p:sp>
        <p:nvSpPr>
          <p:cNvPr id="11" name="Shape 8"/>
          <p:cNvSpPr/>
          <p:nvPr/>
        </p:nvSpPr>
        <p:spPr>
          <a:xfrm>
            <a:off x="673100" y="7004050"/>
            <a:ext cx="177800" cy="203200"/>
          </a:xfrm>
          <a:custGeom>
            <a:avLst/>
            <a:gdLst/>
            <a:ahLst/>
            <a:cxnLst/>
            <a:rect l="l" t="t" r="r" b="b"/>
            <a:pathLst>
              <a:path w="177800" h="203200">
                <a:moveTo>
                  <a:pt x="88900" y="98425"/>
                </a:moveTo>
                <a:cubicBezTo>
                  <a:pt x="115185" y="98425"/>
                  <a:pt x="136525" y="77085"/>
                  <a:pt x="136525" y="50800"/>
                </a:cubicBezTo>
                <a:cubicBezTo>
                  <a:pt x="136525" y="24515"/>
                  <a:pt x="115185" y="3175"/>
                  <a:pt x="88900" y="3175"/>
                </a:cubicBezTo>
                <a:cubicBezTo>
                  <a:pt x="62615" y="3175"/>
                  <a:pt x="41275" y="24515"/>
                  <a:pt x="41275" y="50800"/>
                </a:cubicBezTo>
                <a:cubicBezTo>
                  <a:pt x="41275" y="77085"/>
                  <a:pt x="62615" y="98425"/>
                  <a:pt x="88900" y="98425"/>
                </a:cubicBezTo>
                <a:close/>
                <a:moveTo>
                  <a:pt x="77113" y="120650"/>
                </a:moveTo>
                <a:cubicBezTo>
                  <a:pt x="38021" y="120650"/>
                  <a:pt x="6350" y="152321"/>
                  <a:pt x="6350" y="191413"/>
                </a:cubicBezTo>
                <a:cubicBezTo>
                  <a:pt x="6350" y="197922"/>
                  <a:pt x="11628" y="203200"/>
                  <a:pt x="18137" y="203200"/>
                </a:cubicBezTo>
                <a:lnTo>
                  <a:pt x="159663" y="203200"/>
                </a:lnTo>
                <a:cubicBezTo>
                  <a:pt x="166172" y="203200"/>
                  <a:pt x="171450" y="197922"/>
                  <a:pt x="171450" y="191413"/>
                </a:cubicBezTo>
                <a:cubicBezTo>
                  <a:pt x="171450" y="152321"/>
                  <a:pt x="139779" y="120650"/>
                  <a:pt x="100687" y="120650"/>
                </a:cubicBezTo>
                <a:lnTo>
                  <a:pt x="77113" y="120650"/>
                </a:lnTo>
                <a:close/>
              </a:path>
            </a:pathLst>
          </a:custGeom>
          <a:solidFill>
            <a:srgbClr val="F8F9FA"/>
          </a:solidFill>
          <a:ln/>
        </p:spPr>
      </p:sp>
      <p:sp>
        <p:nvSpPr>
          <p:cNvPr id="12" name="Text 9"/>
          <p:cNvSpPr/>
          <p:nvPr/>
        </p:nvSpPr>
        <p:spPr>
          <a:xfrm>
            <a:off x="1168400" y="6775450"/>
            <a:ext cx="863600" cy="304800"/>
          </a:xfrm>
          <a:prstGeom prst="rect">
            <a:avLst/>
          </a:prstGeom>
          <a:noFill/>
          <a:ln/>
        </p:spPr>
        <p:txBody>
          <a:bodyPr wrap="square" lIns="0" tIns="0" rIns="0" bIns="0" rtlCol="0" anchor="ctr"/>
          <a:lstStyle/>
          <a:p>
            <a:pPr>
              <a:lnSpc>
                <a:spcPct val="130000"/>
              </a:lnSpc>
            </a:pPr>
            <a:r>
              <a:rPr lang="en-US" sz="1600" dirty="0">
                <a:solidFill>
                  <a:srgbClr val="F8F9FA">
                    <a:alpha val="60000"/>
                  </a:srgbClr>
                </a:solidFill>
                <a:latin typeface="MiSans" pitchFamily="34" charset="0"/>
                <a:ea typeface="MiSans" pitchFamily="34" charset="-122"/>
                <a:cs typeface="MiSans" pitchFamily="34" charset="-120"/>
              </a:rPr>
              <a:t>汇报人</a:t>
            </a:r>
            <a:endParaRPr lang="en-US" sz="1600" dirty="0"/>
          </a:p>
        </p:txBody>
      </p:sp>
      <p:sp>
        <p:nvSpPr>
          <p:cNvPr id="13" name="Text 10"/>
          <p:cNvSpPr/>
          <p:nvPr/>
        </p:nvSpPr>
        <p:spPr>
          <a:xfrm>
            <a:off x="1168400" y="7080250"/>
            <a:ext cx="889000" cy="355600"/>
          </a:xfrm>
          <a:prstGeom prst="rect">
            <a:avLst/>
          </a:prstGeom>
          <a:noFill/>
          <a:ln/>
        </p:spPr>
        <p:txBody>
          <a:bodyPr wrap="square" lIns="0" tIns="0" rIns="0" bIns="0" rtlCol="0" anchor="ctr"/>
          <a:lstStyle/>
          <a:p>
            <a:pPr>
              <a:lnSpc>
                <a:spcPct val="120000"/>
              </a:lnSpc>
            </a:pPr>
            <a:r>
              <a:rPr lang="en-US" sz="2000" b="1" dirty="0">
                <a:solidFill>
                  <a:srgbClr val="F8F9FA"/>
                </a:solidFill>
                <a:latin typeface="Noto Sans SC" pitchFamily="34" charset="0"/>
                <a:ea typeface="Noto Sans SC" pitchFamily="34" charset="-122"/>
                <a:cs typeface="Noto Sans SC" pitchFamily="34" charset="-120"/>
              </a:rPr>
              <a:t>赵红玉</a:t>
            </a:r>
            <a:endParaRPr lang="en-US" sz="1600" dirty="0"/>
          </a:p>
        </p:txBody>
      </p:sp>
      <p:sp>
        <p:nvSpPr>
          <p:cNvPr id="14" name="Shape 11"/>
          <p:cNvSpPr/>
          <p:nvPr/>
        </p:nvSpPr>
        <p:spPr>
          <a:xfrm>
            <a:off x="2235200" y="6851650"/>
            <a:ext cx="12700" cy="508000"/>
          </a:xfrm>
          <a:custGeom>
            <a:avLst/>
            <a:gdLst/>
            <a:ahLst/>
            <a:cxnLst/>
            <a:rect l="l" t="t" r="r" b="b"/>
            <a:pathLst>
              <a:path w="12700" h="508000">
                <a:moveTo>
                  <a:pt x="0" y="0"/>
                </a:moveTo>
                <a:lnTo>
                  <a:pt x="12700" y="0"/>
                </a:lnTo>
                <a:lnTo>
                  <a:pt x="12700" y="508000"/>
                </a:lnTo>
                <a:lnTo>
                  <a:pt x="0" y="508000"/>
                </a:lnTo>
                <a:lnTo>
                  <a:pt x="0" y="0"/>
                </a:lnTo>
                <a:close/>
              </a:path>
            </a:pathLst>
          </a:custGeom>
          <a:solidFill>
            <a:srgbClr val="F8F9FA">
              <a:alpha val="30196"/>
            </a:srgbClr>
          </a:solidFill>
          <a:ln/>
        </p:spPr>
      </p:sp>
      <p:sp>
        <p:nvSpPr>
          <p:cNvPr id="15" name="Shape 12"/>
          <p:cNvSpPr/>
          <p:nvPr/>
        </p:nvSpPr>
        <p:spPr>
          <a:xfrm>
            <a:off x="2552700" y="6851650"/>
            <a:ext cx="508000" cy="508000"/>
          </a:xfrm>
          <a:custGeom>
            <a:avLst/>
            <a:gdLst/>
            <a:ahLst/>
            <a:cxnLst/>
            <a:rect l="l" t="t" r="r" b="b"/>
            <a:pathLst>
              <a:path w="508000" h="508000">
                <a:moveTo>
                  <a:pt x="254000" y="0"/>
                </a:moveTo>
                <a:lnTo>
                  <a:pt x="254000" y="0"/>
                </a:lnTo>
                <a:cubicBezTo>
                  <a:pt x="394186" y="0"/>
                  <a:pt x="508000" y="113814"/>
                  <a:pt x="508000" y="254000"/>
                </a:cubicBezTo>
                <a:lnTo>
                  <a:pt x="508000" y="254000"/>
                </a:lnTo>
                <a:cubicBezTo>
                  <a:pt x="508000" y="394186"/>
                  <a:pt x="394186" y="508000"/>
                  <a:pt x="254000" y="508000"/>
                </a:cubicBezTo>
                <a:lnTo>
                  <a:pt x="254000" y="508000"/>
                </a:lnTo>
                <a:cubicBezTo>
                  <a:pt x="113814" y="508000"/>
                  <a:pt x="0" y="394186"/>
                  <a:pt x="0" y="254000"/>
                </a:cubicBezTo>
                <a:lnTo>
                  <a:pt x="0" y="254000"/>
                </a:lnTo>
                <a:cubicBezTo>
                  <a:pt x="0" y="113814"/>
                  <a:pt x="113814" y="0"/>
                  <a:pt x="254000" y="0"/>
                </a:cubicBezTo>
                <a:close/>
              </a:path>
            </a:pathLst>
          </a:custGeom>
          <a:solidFill>
            <a:srgbClr val="A67B5C">
              <a:alpha val="30196"/>
            </a:srgbClr>
          </a:solidFill>
          <a:ln/>
        </p:spPr>
      </p:sp>
      <p:sp>
        <p:nvSpPr>
          <p:cNvPr id="16" name="Shape 13"/>
          <p:cNvSpPr/>
          <p:nvPr/>
        </p:nvSpPr>
        <p:spPr>
          <a:xfrm>
            <a:off x="2692400" y="7004050"/>
            <a:ext cx="228600" cy="203200"/>
          </a:xfrm>
          <a:custGeom>
            <a:avLst/>
            <a:gdLst/>
            <a:ahLst/>
            <a:cxnLst/>
            <a:rect l="l" t="t" r="r" b="b"/>
            <a:pathLst>
              <a:path w="228600" h="203200">
                <a:moveTo>
                  <a:pt x="0" y="38100"/>
                </a:moveTo>
                <a:cubicBezTo>
                  <a:pt x="0" y="24090"/>
                  <a:pt x="11390" y="12700"/>
                  <a:pt x="25400" y="12700"/>
                </a:cubicBezTo>
                <a:lnTo>
                  <a:pt x="203200" y="12700"/>
                </a:lnTo>
                <a:cubicBezTo>
                  <a:pt x="217210" y="12700"/>
                  <a:pt x="228600" y="24090"/>
                  <a:pt x="228600" y="38100"/>
                </a:cubicBezTo>
                <a:lnTo>
                  <a:pt x="0" y="38100"/>
                </a:lnTo>
                <a:close/>
                <a:moveTo>
                  <a:pt x="0" y="57150"/>
                </a:moveTo>
                <a:lnTo>
                  <a:pt x="228600" y="57150"/>
                </a:lnTo>
                <a:lnTo>
                  <a:pt x="228600" y="165100"/>
                </a:lnTo>
                <a:cubicBezTo>
                  <a:pt x="228600" y="179110"/>
                  <a:pt x="217210" y="190500"/>
                  <a:pt x="203200" y="190500"/>
                </a:cubicBezTo>
                <a:lnTo>
                  <a:pt x="25400" y="190500"/>
                </a:lnTo>
                <a:cubicBezTo>
                  <a:pt x="11390" y="190500"/>
                  <a:pt x="0" y="179110"/>
                  <a:pt x="0" y="165100"/>
                </a:cubicBezTo>
                <a:lnTo>
                  <a:pt x="0" y="57150"/>
                </a:lnTo>
                <a:close/>
                <a:moveTo>
                  <a:pt x="98147" y="165100"/>
                </a:moveTo>
                <a:cubicBezTo>
                  <a:pt x="106164" y="165100"/>
                  <a:pt x="112157" y="157401"/>
                  <a:pt x="107037" y="151209"/>
                </a:cubicBezTo>
                <a:cubicBezTo>
                  <a:pt x="101203" y="144185"/>
                  <a:pt x="92392" y="139700"/>
                  <a:pt x="82550" y="139700"/>
                </a:cubicBezTo>
                <a:lnTo>
                  <a:pt x="57150" y="139700"/>
                </a:lnTo>
                <a:cubicBezTo>
                  <a:pt x="47308" y="139700"/>
                  <a:pt x="38497" y="144185"/>
                  <a:pt x="32663" y="151209"/>
                </a:cubicBezTo>
                <a:cubicBezTo>
                  <a:pt x="27543" y="157401"/>
                  <a:pt x="33536" y="165100"/>
                  <a:pt x="41553" y="165100"/>
                </a:cubicBezTo>
                <a:lnTo>
                  <a:pt x="98108" y="165100"/>
                </a:lnTo>
                <a:close/>
                <a:moveTo>
                  <a:pt x="69850" y="123825"/>
                </a:moveTo>
                <a:cubicBezTo>
                  <a:pt x="82116" y="123825"/>
                  <a:pt x="92075" y="113866"/>
                  <a:pt x="92075" y="101600"/>
                </a:cubicBezTo>
                <a:cubicBezTo>
                  <a:pt x="92075" y="89334"/>
                  <a:pt x="82116" y="79375"/>
                  <a:pt x="69850" y="79375"/>
                </a:cubicBezTo>
                <a:cubicBezTo>
                  <a:pt x="57584" y="79375"/>
                  <a:pt x="47625" y="89334"/>
                  <a:pt x="47625" y="101600"/>
                </a:cubicBezTo>
                <a:cubicBezTo>
                  <a:pt x="47625" y="113866"/>
                  <a:pt x="57584" y="123825"/>
                  <a:pt x="69850" y="123825"/>
                </a:cubicBezTo>
                <a:close/>
                <a:moveTo>
                  <a:pt x="142875" y="82550"/>
                </a:moveTo>
                <a:cubicBezTo>
                  <a:pt x="137597" y="82550"/>
                  <a:pt x="133350" y="86797"/>
                  <a:pt x="133350" y="92075"/>
                </a:cubicBezTo>
                <a:cubicBezTo>
                  <a:pt x="133350" y="97353"/>
                  <a:pt x="137597" y="101600"/>
                  <a:pt x="142875" y="101600"/>
                </a:cubicBezTo>
                <a:lnTo>
                  <a:pt x="187325" y="101600"/>
                </a:lnTo>
                <a:cubicBezTo>
                  <a:pt x="192603" y="101600"/>
                  <a:pt x="196850" y="97353"/>
                  <a:pt x="196850" y="92075"/>
                </a:cubicBezTo>
                <a:cubicBezTo>
                  <a:pt x="196850" y="86797"/>
                  <a:pt x="192603" y="82550"/>
                  <a:pt x="187325" y="82550"/>
                </a:cubicBezTo>
                <a:lnTo>
                  <a:pt x="142875" y="82550"/>
                </a:lnTo>
                <a:close/>
                <a:moveTo>
                  <a:pt x="142875" y="120650"/>
                </a:moveTo>
                <a:cubicBezTo>
                  <a:pt x="137597" y="120650"/>
                  <a:pt x="133350" y="124897"/>
                  <a:pt x="133350" y="130175"/>
                </a:cubicBezTo>
                <a:cubicBezTo>
                  <a:pt x="133350" y="135453"/>
                  <a:pt x="137597" y="139700"/>
                  <a:pt x="142875" y="139700"/>
                </a:cubicBezTo>
                <a:lnTo>
                  <a:pt x="187325" y="139700"/>
                </a:lnTo>
                <a:cubicBezTo>
                  <a:pt x="192603" y="139700"/>
                  <a:pt x="196850" y="135453"/>
                  <a:pt x="196850" y="130175"/>
                </a:cubicBezTo>
                <a:cubicBezTo>
                  <a:pt x="196850" y="124897"/>
                  <a:pt x="192603" y="120650"/>
                  <a:pt x="187325" y="120650"/>
                </a:cubicBezTo>
                <a:lnTo>
                  <a:pt x="142875" y="120650"/>
                </a:lnTo>
                <a:close/>
              </a:path>
            </a:pathLst>
          </a:custGeom>
          <a:solidFill>
            <a:srgbClr val="F8F9FA"/>
          </a:solidFill>
          <a:ln/>
        </p:spPr>
      </p:sp>
      <p:sp>
        <p:nvSpPr>
          <p:cNvPr id="17" name="Text 14"/>
          <p:cNvSpPr/>
          <p:nvPr/>
        </p:nvSpPr>
        <p:spPr>
          <a:xfrm>
            <a:off x="3213100" y="6775450"/>
            <a:ext cx="1409700" cy="304800"/>
          </a:xfrm>
          <a:prstGeom prst="rect">
            <a:avLst/>
          </a:prstGeom>
          <a:noFill/>
          <a:ln/>
        </p:spPr>
        <p:txBody>
          <a:bodyPr wrap="square" lIns="0" tIns="0" rIns="0" bIns="0" rtlCol="0" anchor="ctr"/>
          <a:lstStyle/>
          <a:p>
            <a:pPr>
              <a:lnSpc>
                <a:spcPct val="130000"/>
              </a:lnSpc>
            </a:pPr>
            <a:r>
              <a:rPr lang="en-US" sz="1600" dirty="0">
                <a:solidFill>
                  <a:srgbClr val="F8F9FA">
                    <a:alpha val="60000"/>
                  </a:srgbClr>
                </a:solidFill>
                <a:latin typeface="MiSans" pitchFamily="34" charset="0"/>
                <a:ea typeface="MiSans" pitchFamily="34" charset="-122"/>
                <a:cs typeface="MiSans" pitchFamily="34" charset="-120"/>
              </a:rPr>
              <a:t>学号</a:t>
            </a:r>
            <a:endParaRPr lang="en-US" sz="1600" dirty="0"/>
          </a:p>
        </p:txBody>
      </p:sp>
      <p:sp>
        <p:nvSpPr>
          <p:cNvPr id="18" name="Text 15"/>
          <p:cNvSpPr/>
          <p:nvPr/>
        </p:nvSpPr>
        <p:spPr>
          <a:xfrm>
            <a:off x="3213100" y="7080250"/>
            <a:ext cx="1435100" cy="355600"/>
          </a:xfrm>
          <a:prstGeom prst="rect">
            <a:avLst/>
          </a:prstGeom>
          <a:noFill/>
          <a:ln/>
        </p:spPr>
        <p:txBody>
          <a:bodyPr wrap="square" lIns="0" tIns="0" rIns="0" bIns="0" rtlCol="0" anchor="ctr"/>
          <a:lstStyle/>
          <a:p>
            <a:pPr>
              <a:lnSpc>
                <a:spcPct val="120000"/>
              </a:lnSpc>
            </a:pPr>
            <a:r>
              <a:rPr lang="en-US" sz="2000" b="1" dirty="0">
                <a:solidFill>
                  <a:srgbClr val="F8F9FA"/>
                </a:solidFill>
                <a:latin typeface="Quattrocento Sans" pitchFamily="34" charset="0"/>
                <a:ea typeface="Quattrocento Sans" pitchFamily="34" charset="-122"/>
                <a:cs typeface="Quattrocento Sans" pitchFamily="34" charset="-120"/>
              </a:rPr>
              <a:t>2025214338</a:t>
            </a:r>
            <a:endParaRPr lang="en-US" sz="1600" dirty="0"/>
          </a:p>
        </p:txBody>
      </p:sp>
    </p:spTree>
  </p:cSld>
  <p:clrMapOvr>
    <a:masterClrMapping/>
  </p:clrMapOvr>
  <p:transition>
    <p:fade/>
    <p:spd val="med"/>
  </p:transition>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9FA"/>
        </a:solidFill>
      </p:bgPr>
    </p:bg>
    <p:spTree>
      <p:nvGrpSpPr>
        <p:cNvPr id="1" name=""/>
        <p:cNvGrpSpPr/>
        <p:nvPr/>
      </p:nvGrpSpPr>
      <p:grpSpPr>
        <a:xfrm>
          <a:off x="0" y="0"/>
          <a:ext cx="0" cy="0"/>
          <a:chOff x="0" y="0"/>
          <a:chExt cx="0" cy="0"/>
        </a:xfrm>
      </p:grpSpPr>
      <p:sp>
        <p:nvSpPr>
          <p:cNvPr id="2" name="Text 0"/>
          <p:cNvSpPr/>
          <p:nvPr/>
        </p:nvSpPr>
        <p:spPr>
          <a:xfrm>
            <a:off x="508000" y="508000"/>
            <a:ext cx="15544800" cy="609600"/>
          </a:xfrm>
          <a:prstGeom prst="rect">
            <a:avLst/>
          </a:prstGeom>
          <a:noFill/>
          <a:ln/>
        </p:spPr>
        <p:txBody>
          <a:bodyPr wrap="square" lIns="0" tIns="0" rIns="0" bIns="0" rtlCol="0" anchor="ctr"/>
          <a:lstStyle/>
          <a:p>
            <a:pPr>
              <a:lnSpc>
                <a:spcPct val="80000"/>
              </a:lnSpc>
            </a:pPr>
            <a:r>
              <a:rPr lang="en-US" sz="4800" b="1" dirty="0">
                <a:solidFill>
                  <a:srgbClr val="495057"/>
                </a:solidFill>
                <a:latin typeface="Noto Sans SC" pitchFamily="34" charset="0"/>
                <a:ea typeface="Noto Sans SC" pitchFamily="34" charset="-122"/>
                <a:cs typeface="Noto Sans SC" pitchFamily="34" charset="-120"/>
              </a:rPr>
              <a:t>目录</a:t>
            </a:r>
            <a:endParaRPr lang="en-US" sz="1600" dirty="0"/>
          </a:p>
        </p:txBody>
      </p:sp>
      <p:sp>
        <p:nvSpPr>
          <p:cNvPr id="3" name="Shape 1"/>
          <p:cNvSpPr/>
          <p:nvPr/>
        </p:nvSpPr>
        <p:spPr>
          <a:xfrm>
            <a:off x="508000" y="1270000"/>
            <a:ext cx="1016000" cy="50800"/>
          </a:xfrm>
          <a:custGeom>
            <a:avLst/>
            <a:gdLst/>
            <a:ahLst/>
            <a:cxnLst/>
            <a:rect l="l" t="t" r="r" b="b"/>
            <a:pathLst>
              <a:path w="1016000" h="50800">
                <a:moveTo>
                  <a:pt x="0" y="0"/>
                </a:moveTo>
                <a:lnTo>
                  <a:pt x="1016000" y="0"/>
                </a:lnTo>
                <a:lnTo>
                  <a:pt x="1016000" y="50800"/>
                </a:lnTo>
                <a:lnTo>
                  <a:pt x="0" y="50800"/>
                </a:lnTo>
                <a:lnTo>
                  <a:pt x="0" y="0"/>
                </a:lnTo>
                <a:close/>
              </a:path>
            </a:pathLst>
          </a:custGeom>
          <a:solidFill>
            <a:srgbClr val="A67B5C"/>
          </a:solidFill>
          <a:ln/>
        </p:spPr>
      </p:sp>
      <p:sp>
        <p:nvSpPr>
          <p:cNvPr id="4" name="Shape 2"/>
          <p:cNvSpPr/>
          <p:nvPr/>
        </p:nvSpPr>
        <p:spPr>
          <a:xfrm>
            <a:off x="533400" y="3581400"/>
            <a:ext cx="7442200" cy="1447800"/>
          </a:xfrm>
          <a:custGeom>
            <a:avLst/>
            <a:gdLst/>
            <a:ahLst/>
            <a:cxnLst/>
            <a:rect l="l" t="t" r="r" b="b"/>
            <a:pathLst>
              <a:path w="7442200" h="1447800">
                <a:moveTo>
                  <a:pt x="50800" y="0"/>
                </a:moveTo>
                <a:lnTo>
                  <a:pt x="7289805" y="0"/>
                </a:lnTo>
                <a:cubicBezTo>
                  <a:pt x="7373914" y="0"/>
                  <a:pt x="7442200" y="68286"/>
                  <a:pt x="7442200" y="152395"/>
                </a:cubicBezTo>
                <a:lnTo>
                  <a:pt x="7442200" y="1295405"/>
                </a:lnTo>
                <a:cubicBezTo>
                  <a:pt x="7442200" y="1379514"/>
                  <a:pt x="7373914" y="1447800"/>
                  <a:pt x="7289805" y="1447800"/>
                </a:cubicBezTo>
                <a:lnTo>
                  <a:pt x="50800" y="1447800"/>
                </a:lnTo>
                <a:cubicBezTo>
                  <a:pt x="22744" y="1447800"/>
                  <a:pt x="0" y="1425056"/>
                  <a:pt x="0" y="1397000"/>
                </a:cubicBezTo>
                <a:lnTo>
                  <a:pt x="0" y="50800"/>
                </a:lnTo>
                <a:cubicBezTo>
                  <a:pt x="0" y="22763"/>
                  <a:pt x="22763" y="0"/>
                  <a:pt x="50800" y="0"/>
                </a:cubicBezTo>
                <a:close/>
              </a:path>
            </a:pathLst>
          </a:custGeom>
          <a:solidFill>
            <a:srgbClr val="FFFFFF"/>
          </a:solidFill>
          <a:ln/>
          <a:effectLst>
            <a:outerShdw sx="100000" sy="100000" kx="0" ky="0" algn="bl" rotWithShape="0" blurRad="190500" dist="127000" dir="5400000">
              <a:srgbClr val="000000">
                <a:alpha val="10196"/>
              </a:srgbClr>
            </a:outerShdw>
          </a:effectLst>
        </p:spPr>
      </p:sp>
      <p:sp>
        <p:nvSpPr>
          <p:cNvPr id="5" name="Shape 3"/>
          <p:cNvSpPr/>
          <p:nvPr/>
        </p:nvSpPr>
        <p:spPr>
          <a:xfrm>
            <a:off x="533400" y="3581400"/>
            <a:ext cx="50800" cy="1447800"/>
          </a:xfrm>
          <a:custGeom>
            <a:avLst/>
            <a:gdLst/>
            <a:ahLst/>
            <a:cxnLst/>
            <a:rect l="l" t="t" r="r" b="b"/>
            <a:pathLst>
              <a:path w="50800" h="1447800">
                <a:moveTo>
                  <a:pt x="50800" y="0"/>
                </a:moveTo>
                <a:lnTo>
                  <a:pt x="50800" y="0"/>
                </a:lnTo>
                <a:lnTo>
                  <a:pt x="50800" y="1447800"/>
                </a:lnTo>
                <a:lnTo>
                  <a:pt x="50800" y="1447800"/>
                </a:lnTo>
                <a:cubicBezTo>
                  <a:pt x="22763" y="1447800"/>
                  <a:pt x="0" y="1425037"/>
                  <a:pt x="0" y="1397000"/>
                </a:cubicBezTo>
                <a:lnTo>
                  <a:pt x="0" y="50800"/>
                </a:lnTo>
                <a:cubicBezTo>
                  <a:pt x="0" y="22763"/>
                  <a:pt x="22763" y="0"/>
                  <a:pt x="50800" y="0"/>
                </a:cubicBezTo>
                <a:close/>
              </a:path>
            </a:pathLst>
          </a:custGeom>
          <a:solidFill>
            <a:srgbClr val="A67B5C"/>
          </a:solidFill>
          <a:ln/>
        </p:spPr>
      </p:sp>
      <p:sp>
        <p:nvSpPr>
          <p:cNvPr id="6" name="Shape 4"/>
          <p:cNvSpPr/>
          <p:nvPr/>
        </p:nvSpPr>
        <p:spPr>
          <a:xfrm>
            <a:off x="863600" y="3886200"/>
            <a:ext cx="812800" cy="812800"/>
          </a:xfrm>
          <a:custGeom>
            <a:avLst/>
            <a:gdLst/>
            <a:ahLst/>
            <a:cxnLst/>
            <a:rect l="l" t="t" r="r" b="b"/>
            <a:pathLst>
              <a:path w="812800" h="812800">
                <a:moveTo>
                  <a:pt x="406400" y="0"/>
                </a:moveTo>
                <a:lnTo>
                  <a:pt x="406400" y="0"/>
                </a:lnTo>
                <a:cubicBezTo>
                  <a:pt x="630698" y="0"/>
                  <a:pt x="812800" y="182102"/>
                  <a:pt x="812800" y="406400"/>
                </a:cubicBezTo>
                <a:lnTo>
                  <a:pt x="812800" y="406400"/>
                </a:lnTo>
                <a:cubicBezTo>
                  <a:pt x="812800" y="630698"/>
                  <a:pt x="630698" y="812800"/>
                  <a:pt x="406400" y="812800"/>
                </a:cubicBezTo>
                <a:lnTo>
                  <a:pt x="406400" y="812800"/>
                </a:lnTo>
                <a:cubicBezTo>
                  <a:pt x="182102" y="812800"/>
                  <a:pt x="0" y="630698"/>
                  <a:pt x="0" y="406400"/>
                </a:cubicBezTo>
                <a:lnTo>
                  <a:pt x="0" y="406400"/>
                </a:lnTo>
                <a:cubicBezTo>
                  <a:pt x="0" y="182102"/>
                  <a:pt x="182102" y="0"/>
                  <a:pt x="406400" y="0"/>
                </a:cubicBezTo>
                <a:close/>
              </a:path>
            </a:pathLst>
          </a:custGeom>
          <a:solidFill>
            <a:srgbClr val="495057"/>
          </a:solidFill>
          <a:ln/>
        </p:spPr>
      </p:sp>
      <p:sp>
        <p:nvSpPr>
          <p:cNvPr id="7" name="Text 5"/>
          <p:cNvSpPr/>
          <p:nvPr/>
        </p:nvSpPr>
        <p:spPr>
          <a:xfrm>
            <a:off x="1072257" y="4064000"/>
            <a:ext cx="584200" cy="457200"/>
          </a:xfrm>
          <a:prstGeom prst="rect">
            <a:avLst/>
          </a:prstGeom>
          <a:noFill/>
          <a:ln/>
        </p:spPr>
        <p:txBody>
          <a:bodyPr wrap="square" lIns="0" tIns="0" rIns="0" bIns="0" rtlCol="0" anchor="ctr"/>
          <a:lstStyle/>
          <a:p>
            <a:pPr>
              <a:lnSpc>
                <a:spcPct val="100000"/>
              </a:lnSpc>
            </a:pPr>
            <a:r>
              <a:rPr lang="en-US" sz="3000" b="1" dirty="0">
                <a:solidFill>
                  <a:srgbClr val="F8F9FA"/>
                </a:solidFill>
                <a:latin typeface="Liter" pitchFamily="34" charset="0"/>
                <a:ea typeface="Liter" pitchFamily="34" charset="-122"/>
                <a:cs typeface="Liter" pitchFamily="34" charset="-120"/>
              </a:rPr>
              <a:t>01</a:t>
            </a:r>
            <a:endParaRPr lang="en-US" sz="1600" dirty="0"/>
          </a:p>
        </p:txBody>
      </p:sp>
      <p:sp>
        <p:nvSpPr>
          <p:cNvPr id="8" name="Text 6"/>
          <p:cNvSpPr/>
          <p:nvPr/>
        </p:nvSpPr>
        <p:spPr>
          <a:xfrm>
            <a:off x="1879600" y="3886200"/>
            <a:ext cx="5943600" cy="406400"/>
          </a:xfrm>
          <a:prstGeom prst="rect">
            <a:avLst/>
          </a:prstGeom>
          <a:noFill/>
          <a:ln/>
        </p:spPr>
        <p:txBody>
          <a:bodyPr wrap="square" lIns="0" tIns="0" rIns="0" bIns="0" rtlCol="0" anchor="ctr"/>
          <a:lstStyle/>
          <a:p>
            <a:pPr>
              <a:lnSpc>
                <a:spcPct val="110000"/>
              </a:lnSpc>
            </a:pPr>
            <a:r>
              <a:rPr lang="en-US" sz="2400" b="1" dirty="0">
                <a:solidFill>
                  <a:srgbClr val="495057"/>
                </a:solidFill>
                <a:latin typeface="Noto Sans SC" pitchFamily="34" charset="0"/>
                <a:ea typeface="Noto Sans SC" pitchFamily="34" charset="-122"/>
                <a:cs typeface="Noto Sans SC" pitchFamily="34" charset="-120"/>
              </a:rPr>
              <a:t>研究背景与问题定义</a:t>
            </a:r>
            <a:endParaRPr lang="en-US" sz="1600" dirty="0"/>
          </a:p>
        </p:txBody>
      </p:sp>
      <p:sp>
        <p:nvSpPr>
          <p:cNvPr id="9" name="Text 7"/>
          <p:cNvSpPr/>
          <p:nvPr/>
        </p:nvSpPr>
        <p:spPr>
          <a:xfrm>
            <a:off x="1879600" y="4394200"/>
            <a:ext cx="5892800" cy="330200"/>
          </a:xfrm>
          <a:prstGeom prst="rect">
            <a:avLst/>
          </a:prstGeom>
          <a:noFill/>
          <a:ln/>
        </p:spPr>
        <p:txBody>
          <a:bodyPr wrap="square" lIns="0" tIns="0" rIns="0" bIns="0" rtlCol="0" anchor="ctr"/>
          <a:lstStyle/>
          <a:p>
            <a:pPr>
              <a:lnSpc>
                <a:spcPct val="140000"/>
              </a:lnSpc>
            </a:pPr>
            <a:r>
              <a:rPr lang="en-US" sz="1600" dirty="0">
                <a:solidFill>
                  <a:srgbClr val="495057">
                    <a:alpha val="70000"/>
                  </a:srgbClr>
                </a:solidFill>
                <a:latin typeface="MiSans" pitchFamily="34" charset="0"/>
                <a:ea typeface="MiSans" pitchFamily="34" charset="-122"/>
                <a:cs typeface="MiSans" pitchFamily="34" charset="-120"/>
              </a:rPr>
              <a:t>多模态情感分析的挑战与动机</a:t>
            </a:r>
            <a:endParaRPr lang="en-US" sz="1600" dirty="0"/>
          </a:p>
        </p:txBody>
      </p:sp>
      <p:sp>
        <p:nvSpPr>
          <p:cNvPr id="10" name="Shape 8"/>
          <p:cNvSpPr/>
          <p:nvPr/>
        </p:nvSpPr>
        <p:spPr>
          <a:xfrm>
            <a:off x="533400" y="5334000"/>
            <a:ext cx="7442200" cy="1447800"/>
          </a:xfrm>
          <a:custGeom>
            <a:avLst/>
            <a:gdLst/>
            <a:ahLst/>
            <a:cxnLst/>
            <a:rect l="l" t="t" r="r" b="b"/>
            <a:pathLst>
              <a:path w="7442200" h="1447800">
                <a:moveTo>
                  <a:pt x="50800" y="0"/>
                </a:moveTo>
                <a:lnTo>
                  <a:pt x="7289805" y="0"/>
                </a:lnTo>
                <a:cubicBezTo>
                  <a:pt x="7373914" y="0"/>
                  <a:pt x="7442200" y="68286"/>
                  <a:pt x="7442200" y="152395"/>
                </a:cubicBezTo>
                <a:lnTo>
                  <a:pt x="7442200" y="1295405"/>
                </a:lnTo>
                <a:cubicBezTo>
                  <a:pt x="7442200" y="1379514"/>
                  <a:pt x="7373914" y="1447800"/>
                  <a:pt x="7289805" y="1447800"/>
                </a:cubicBezTo>
                <a:lnTo>
                  <a:pt x="50800" y="1447800"/>
                </a:lnTo>
                <a:cubicBezTo>
                  <a:pt x="22744" y="1447800"/>
                  <a:pt x="0" y="1425056"/>
                  <a:pt x="0" y="1397000"/>
                </a:cubicBezTo>
                <a:lnTo>
                  <a:pt x="0" y="50800"/>
                </a:lnTo>
                <a:cubicBezTo>
                  <a:pt x="0" y="22763"/>
                  <a:pt x="22763" y="0"/>
                  <a:pt x="50800" y="0"/>
                </a:cubicBezTo>
                <a:close/>
              </a:path>
            </a:pathLst>
          </a:custGeom>
          <a:solidFill>
            <a:srgbClr val="FFFFFF"/>
          </a:solidFill>
          <a:ln/>
          <a:effectLst>
            <a:outerShdw sx="100000" sy="100000" kx="0" ky="0" algn="bl" rotWithShape="0" blurRad="190500" dist="127000" dir="5400000">
              <a:srgbClr val="000000">
                <a:alpha val="10196"/>
              </a:srgbClr>
            </a:outerShdw>
          </a:effectLst>
        </p:spPr>
      </p:sp>
      <p:sp>
        <p:nvSpPr>
          <p:cNvPr id="11" name="Shape 9"/>
          <p:cNvSpPr/>
          <p:nvPr/>
        </p:nvSpPr>
        <p:spPr>
          <a:xfrm>
            <a:off x="533400" y="5334000"/>
            <a:ext cx="50800" cy="1447800"/>
          </a:xfrm>
          <a:custGeom>
            <a:avLst/>
            <a:gdLst/>
            <a:ahLst/>
            <a:cxnLst/>
            <a:rect l="l" t="t" r="r" b="b"/>
            <a:pathLst>
              <a:path w="50800" h="1447800">
                <a:moveTo>
                  <a:pt x="50800" y="0"/>
                </a:moveTo>
                <a:lnTo>
                  <a:pt x="50800" y="0"/>
                </a:lnTo>
                <a:lnTo>
                  <a:pt x="50800" y="1447800"/>
                </a:lnTo>
                <a:lnTo>
                  <a:pt x="50800" y="1447800"/>
                </a:lnTo>
                <a:cubicBezTo>
                  <a:pt x="22763" y="1447800"/>
                  <a:pt x="0" y="1425037"/>
                  <a:pt x="0" y="1397000"/>
                </a:cubicBezTo>
                <a:lnTo>
                  <a:pt x="0" y="50800"/>
                </a:lnTo>
                <a:cubicBezTo>
                  <a:pt x="0" y="22763"/>
                  <a:pt x="22763" y="0"/>
                  <a:pt x="50800" y="0"/>
                </a:cubicBezTo>
                <a:close/>
              </a:path>
            </a:pathLst>
          </a:custGeom>
          <a:solidFill>
            <a:srgbClr val="495057"/>
          </a:solidFill>
          <a:ln/>
        </p:spPr>
      </p:sp>
      <p:sp>
        <p:nvSpPr>
          <p:cNvPr id="12" name="Shape 10"/>
          <p:cNvSpPr/>
          <p:nvPr/>
        </p:nvSpPr>
        <p:spPr>
          <a:xfrm>
            <a:off x="863600" y="5638800"/>
            <a:ext cx="812800" cy="812800"/>
          </a:xfrm>
          <a:custGeom>
            <a:avLst/>
            <a:gdLst/>
            <a:ahLst/>
            <a:cxnLst/>
            <a:rect l="l" t="t" r="r" b="b"/>
            <a:pathLst>
              <a:path w="812800" h="812800">
                <a:moveTo>
                  <a:pt x="406400" y="0"/>
                </a:moveTo>
                <a:lnTo>
                  <a:pt x="406400" y="0"/>
                </a:lnTo>
                <a:cubicBezTo>
                  <a:pt x="630698" y="0"/>
                  <a:pt x="812800" y="182102"/>
                  <a:pt x="812800" y="406400"/>
                </a:cubicBezTo>
                <a:lnTo>
                  <a:pt x="812800" y="406400"/>
                </a:lnTo>
                <a:cubicBezTo>
                  <a:pt x="812800" y="630698"/>
                  <a:pt x="630698" y="812800"/>
                  <a:pt x="406400" y="812800"/>
                </a:cubicBezTo>
                <a:lnTo>
                  <a:pt x="406400" y="812800"/>
                </a:lnTo>
                <a:cubicBezTo>
                  <a:pt x="182102" y="812800"/>
                  <a:pt x="0" y="630698"/>
                  <a:pt x="0" y="406400"/>
                </a:cubicBezTo>
                <a:lnTo>
                  <a:pt x="0" y="406400"/>
                </a:lnTo>
                <a:cubicBezTo>
                  <a:pt x="0" y="182102"/>
                  <a:pt x="182102" y="0"/>
                  <a:pt x="406400" y="0"/>
                </a:cubicBezTo>
                <a:close/>
              </a:path>
            </a:pathLst>
          </a:custGeom>
          <a:solidFill>
            <a:srgbClr val="A67B5C"/>
          </a:solidFill>
          <a:ln/>
        </p:spPr>
      </p:sp>
      <p:sp>
        <p:nvSpPr>
          <p:cNvPr id="13" name="Text 11"/>
          <p:cNvSpPr/>
          <p:nvPr/>
        </p:nvSpPr>
        <p:spPr>
          <a:xfrm>
            <a:off x="1037729" y="5816600"/>
            <a:ext cx="660400" cy="457200"/>
          </a:xfrm>
          <a:prstGeom prst="rect">
            <a:avLst/>
          </a:prstGeom>
          <a:noFill/>
          <a:ln/>
        </p:spPr>
        <p:txBody>
          <a:bodyPr wrap="square" lIns="0" tIns="0" rIns="0" bIns="0" rtlCol="0" anchor="ctr"/>
          <a:lstStyle/>
          <a:p>
            <a:pPr>
              <a:lnSpc>
                <a:spcPct val="100000"/>
              </a:lnSpc>
            </a:pPr>
            <a:r>
              <a:rPr lang="en-US" sz="3000" b="1" dirty="0">
                <a:solidFill>
                  <a:srgbClr val="F8F9FA"/>
                </a:solidFill>
                <a:latin typeface="Liter" pitchFamily="34" charset="0"/>
                <a:ea typeface="Liter" pitchFamily="34" charset="-122"/>
                <a:cs typeface="Liter" pitchFamily="34" charset="-120"/>
              </a:rPr>
              <a:t>02</a:t>
            </a:r>
            <a:endParaRPr lang="en-US" sz="1600" dirty="0"/>
          </a:p>
        </p:txBody>
      </p:sp>
      <p:sp>
        <p:nvSpPr>
          <p:cNvPr id="14" name="Text 12"/>
          <p:cNvSpPr/>
          <p:nvPr/>
        </p:nvSpPr>
        <p:spPr>
          <a:xfrm>
            <a:off x="1879600" y="5638800"/>
            <a:ext cx="5943600" cy="406400"/>
          </a:xfrm>
          <a:prstGeom prst="rect">
            <a:avLst/>
          </a:prstGeom>
          <a:noFill/>
          <a:ln/>
        </p:spPr>
        <p:txBody>
          <a:bodyPr wrap="square" lIns="0" tIns="0" rIns="0" bIns="0" rtlCol="0" anchor="ctr"/>
          <a:lstStyle/>
          <a:p>
            <a:pPr>
              <a:lnSpc>
                <a:spcPct val="110000"/>
              </a:lnSpc>
            </a:pPr>
            <a:r>
              <a:rPr lang="en-US" sz="2400" b="1" dirty="0">
                <a:solidFill>
                  <a:srgbClr val="495057"/>
                </a:solidFill>
                <a:latin typeface="Noto Sans SC" pitchFamily="34" charset="0"/>
                <a:ea typeface="Noto Sans SC" pitchFamily="34" charset="-122"/>
                <a:cs typeface="Noto Sans SC" pitchFamily="34" charset="-120"/>
              </a:rPr>
              <a:t>MultiSentiNet模型架构</a:t>
            </a:r>
            <a:endParaRPr lang="en-US" sz="1600" dirty="0"/>
          </a:p>
        </p:txBody>
      </p:sp>
      <p:sp>
        <p:nvSpPr>
          <p:cNvPr id="15" name="Text 13"/>
          <p:cNvSpPr/>
          <p:nvPr/>
        </p:nvSpPr>
        <p:spPr>
          <a:xfrm>
            <a:off x="1879600" y="6146800"/>
            <a:ext cx="5892800" cy="330200"/>
          </a:xfrm>
          <a:prstGeom prst="rect">
            <a:avLst/>
          </a:prstGeom>
          <a:noFill/>
          <a:ln/>
        </p:spPr>
        <p:txBody>
          <a:bodyPr wrap="square" lIns="0" tIns="0" rIns="0" bIns="0" rtlCol="0" anchor="ctr"/>
          <a:lstStyle/>
          <a:p>
            <a:pPr>
              <a:lnSpc>
                <a:spcPct val="140000"/>
              </a:lnSpc>
            </a:pPr>
            <a:r>
              <a:rPr lang="en-US" sz="1600" dirty="0">
                <a:solidFill>
                  <a:srgbClr val="495057">
                    <a:alpha val="70000"/>
                  </a:srgbClr>
                </a:solidFill>
                <a:latin typeface="MiSans" pitchFamily="34" charset="0"/>
                <a:ea typeface="MiSans" pitchFamily="34" charset="-122"/>
                <a:cs typeface="MiSans" pitchFamily="34" charset="-120"/>
              </a:rPr>
              <a:t>深度语义网络的设计与实现</a:t>
            </a:r>
            <a:endParaRPr lang="en-US" sz="1600" dirty="0"/>
          </a:p>
        </p:txBody>
      </p:sp>
      <p:sp>
        <p:nvSpPr>
          <p:cNvPr id="16" name="Shape 14"/>
          <p:cNvSpPr/>
          <p:nvPr/>
        </p:nvSpPr>
        <p:spPr>
          <a:xfrm>
            <a:off x="8305800" y="3581400"/>
            <a:ext cx="7442200" cy="1447800"/>
          </a:xfrm>
          <a:custGeom>
            <a:avLst/>
            <a:gdLst/>
            <a:ahLst/>
            <a:cxnLst/>
            <a:rect l="l" t="t" r="r" b="b"/>
            <a:pathLst>
              <a:path w="7442200" h="1447800">
                <a:moveTo>
                  <a:pt x="50800" y="0"/>
                </a:moveTo>
                <a:lnTo>
                  <a:pt x="7289805" y="0"/>
                </a:lnTo>
                <a:cubicBezTo>
                  <a:pt x="7373914" y="0"/>
                  <a:pt x="7442200" y="68286"/>
                  <a:pt x="7442200" y="152395"/>
                </a:cubicBezTo>
                <a:lnTo>
                  <a:pt x="7442200" y="1295405"/>
                </a:lnTo>
                <a:cubicBezTo>
                  <a:pt x="7442200" y="1379514"/>
                  <a:pt x="7373914" y="1447800"/>
                  <a:pt x="7289805" y="1447800"/>
                </a:cubicBezTo>
                <a:lnTo>
                  <a:pt x="50800" y="1447800"/>
                </a:lnTo>
                <a:cubicBezTo>
                  <a:pt x="22744" y="1447800"/>
                  <a:pt x="0" y="1425056"/>
                  <a:pt x="0" y="1397000"/>
                </a:cubicBezTo>
                <a:lnTo>
                  <a:pt x="0" y="50800"/>
                </a:lnTo>
                <a:cubicBezTo>
                  <a:pt x="0" y="22763"/>
                  <a:pt x="22763" y="0"/>
                  <a:pt x="50800" y="0"/>
                </a:cubicBezTo>
                <a:close/>
              </a:path>
            </a:pathLst>
          </a:custGeom>
          <a:solidFill>
            <a:srgbClr val="FFFFFF"/>
          </a:solidFill>
          <a:ln/>
          <a:effectLst>
            <a:outerShdw sx="100000" sy="100000" kx="0" ky="0" algn="bl" rotWithShape="0" blurRad="190500" dist="127000" dir="5400000">
              <a:srgbClr val="000000">
                <a:alpha val="10196"/>
              </a:srgbClr>
            </a:outerShdw>
          </a:effectLst>
        </p:spPr>
      </p:sp>
      <p:sp>
        <p:nvSpPr>
          <p:cNvPr id="17" name="Shape 15"/>
          <p:cNvSpPr/>
          <p:nvPr/>
        </p:nvSpPr>
        <p:spPr>
          <a:xfrm>
            <a:off x="8305800" y="3581400"/>
            <a:ext cx="50800" cy="1447800"/>
          </a:xfrm>
          <a:custGeom>
            <a:avLst/>
            <a:gdLst/>
            <a:ahLst/>
            <a:cxnLst/>
            <a:rect l="l" t="t" r="r" b="b"/>
            <a:pathLst>
              <a:path w="50800" h="1447800">
                <a:moveTo>
                  <a:pt x="50800" y="0"/>
                </a:moveTo>
                <a:lnTo>
                  <a:pt x="50800" y="0"/>
                </a:lnTo>
                <a:lnTo>
                  <a:pt x="50800" y="1447800"/>
                </a:lnTo>
                <a:lnTo>
                  <a:pt x="50800" y="1447800"/>
                </a:lnTo>
                <a:cubicBezTo>
                  <a:pt x="22763" y="1447800"/>
                  <a:pt x="0" y="1425037"/>
                  <a:pt x="0" y="1397000"/>
                </a:cubicBezTo>
                <a:lnTo>
                  <a:pt x="0" y="50800"/>
                </a:lnTo>
                <a:cubicBezTo>
                  <a:pt x="0" y="22763"/>
                  <a:pt x="22763" y="0"/>
                  <a:pt x="50800" y="0"/>
                </a:cubicBezTo>
                <a:close/>
              </a:path>
            </a:pathLst>
          </a:custGeom>
          <a:solidFill>
            <a:srgbClr val="ADB5BD"/>
          </a:solidFill>
          <a:ln/>
        </p:spPr>
      </p:sp>
      <p:sp>
        <p:nvSpPr>
          <p:cNvPr id="18" name="Shape 16"/>
          <p:cNvSpPr/>
          <p:nvPr/>
        </p:nvSpPr>
        <p:spPr>
          <a:xfrm>
            <a:off x="8636000" y="3886200"/>
            <a:ext cx="812800" cy="812800"/>
          </a:xfrm>
          <a:custGeom>
            <a:avLst/>
            <a:gdLst/>
            <a:ahLst/>
            <a:cxnLst/>
            <a:rect l="l" t="t" r="r" b="b"/>
            <a:pathLst>
              <a:path w="812800" h="812800">
                <a:moveTo>
                  <a:pt x="406400" y="0"/>
                </a:moveTo>
                <a:lnTo>
                  <a:pt x="406400" y="0"/>
                </a:lnTo>
                <a:cubicBezTo>
                  <a:pt x="630698" y="0"/>
                  <a:pt x="812800" y="182102"/>
                  <a:pt x="812800" y="406400"/>
                </a:cubicBezTo>
                <a:lnTo>
                  <a:pt x="812800" y="406400"/>
                </a:lnTo>
                <a:cubicBezTo>
                  <a:pt x="812800" y="630698"/>
                  <a:pt x="630698" y="812800"/>
                  <a:pt x="406400" y="812800"/>
                </a:cubicBezTo>
                <a:lnTo>
                  <a:pt x="406400" y="812800"/>
                </a:lnTo>
                <a:cubicBezTo>
                  <a:pt x="182102" y="812800"/>
                  <a:pt x="0" y="630698"/>
                  <a:pt x="0" y="406400"/>
                </a:cubicBezTo>
                <a:lnTo>
                  <a:pt x="0" y="406400"/>
                </a:lnTo>
                <a:cubicBezTo>
                  <a:pt x="0" y="182102"/>
                  <a:pt x="182102" y="0"/>
                  <a:pt x="406400" y="0"/>
                </a:cubicBezTo>
                <a:close/>
              </a:path>
            </a:pathLst>
          </a:custGeom>
          <a:solidFill>
            <a:srgbClr val="495057"/>
          </a:solidFill>
          <a:ln/>
        </p:spPr>
      </p:sp>
      <p:sp>
        <p:nvSpPr>
          <p:cNvPr id="19" name="Text 17"/>
          <p:cNvSpPr/>
          <p:nvPr/>
        </p:nvSpPr>
        <p:spPr>
          <a:xfrm>
            <a:off x="8808442" y="4064000"/>
            <a:ext cx="660400" cy="457200"/>
          </a:xfrm>
          <a:prstGeom prst="rect">
            <a:avLst/>
          </a:prstGeom>
          <a:noFill/>
          <a:ln/>
        </p:spPr>
        <p:txBody>
          <a:bodyPr wrap="square" lIns="0" tIns="0" rIns="0" bIns="0" rtlCol="0" anchor="ctr"/>
          <a:lstStyle/>
          <a:p>
            <a:pPr>
              <a:lnSpc>
                <a:spcPct val="100000"/>
              </a:lnSpc>
            </a:pPr>
            <a:r>
              <a:rPr lang="en-US" sz="3000" b="1" dirty="0">
                <a:solidFill>
                  <a:srgbClr val="F8F9FA"/>
                </a:solidFill>
                <a:latin typeface="Liter" pitchFamily="34" charset="0"/>
                <a:ea typeface="Liter" pitchFamily="34" charset="-122"/>
                <a:cs typeface="Liter" pitchFamily="34" charset="-120"/>
              </a:rPr>
              <a:t>03</a:t>
            </a:r>
            <a:endParaRPr lang="en-US" sz="1600" dirty="0"/>
          </a:p>
        </p:txBody>
      </p:sp>
      <p:sp>
        <p:nvSpPr>
          <p:cNvPr id="20" name="Text 18"/>
          <p:cNvSpPr/>
          <p:nvPr/>
        </p:nvSpPr>
        <p:spPr>
          <a:xfrm>
            <a:off x="9652000" y="3886200"/>
            <a:ext cx="5943600" cy="406400"/>
          </a:xfrm>
          <a:prstGeom prst="rect">
            <a:avLst/>
          </a:prstGeom>
          <a:noFill/>
          <a:ln/>
        </p:spPr>
        <p:txBody>
          <a:bodyPr wrap="square" lIns="0" tIns="0" rIns="0" bIns="0" rtlCol="0" anchor="ctr"/>
          <a:lstStyle/>
          <a:p>
            <a:pPr>
              <a:lnSpc>
                <a:spcPct val="110000"/>
              </a:lnSpc>
            </a:pPr>
            <a:r>
              <a:rPr lang="en-US" sz="2400" b="1" dirty="0">
                <a:solidFill>
                  <a:srgbClr val="495057"/>
                </a:solidFill>
                <a:latin typeface="Noto Sans SC" pitchFamily="34" charset="0"/>
                <a:ea typeface="Noto Sans SC" pitchFamily="34" charset="-122"/>
                <a:cs typeface="Noto Sans SC" pitchFamily="34" charset="-120"/>
              </a:rPr>
              <a:t>实验设置与结果分析</a:t>
            </a:r>
            <a:endParaRPr lang="en-US" sz="1600" dirty="0"/>
          </a:p>
        </p:txBody>
      </p:sp>
      <p:sp>
        <p:nvSpPr>
          <p:cNvPr id="21" name="Text 19"/>
          <p:cNvSpPr/>
          <p:nvPr/>
        </p:nvSpPr>
        <p:spPr>
          <a:xfrm>
            <a:off x="9652000" y="4394200"/>
            <a:ext cx="5892800" cy="330200"/>
          </a:xfrm>
          <a:prstGeom prst="rect">
            <a:avLst/>
          </a:prstGeom>
          <a:noFill/>
          <a:ln/>
        </p:spPr>
        <p:txBody>
          <a:bodyPr wrap="square" lIns="0" tIns="0" rIns="0" bIns="0" rtlCol="0" anchor="ctr"/>
          <a:lstStyle/>
          <a:p>
            <a:pPr>
              <a:lnSpc>
                <a:spcPct val="140000"/>
              </a:lnSpc>
            </a:pPr>
            <a:r>
              <a:rPr lang="en-US" sz="1600" dirty="0">
                <a:solidFill>
                  <a:srgbClr val="495057">
                    <a:alpha val="70000"/>
                  </a:srgbClr>
                </a:solidFill>
                <a:latin typeface="MiSans" pitchFamily="34" charset="0"/>
                <a:ea typeface="MiSans" pitchFamily="34" charset="-122"/>
                <a:cs typeface="MiSans" pitchFamily="34" charset="-120"/>
              </a:rPr>
              <a:t>MVSA数据集上的验证与对比</a:t>
            </a:r>
            <a:endParaRPr lang="en-US" sz="1600" dirty="0"/>
          </a:p>
        </p:txBody>
      </p:sp>
      <p:sp>
        <p:nvSpPr>
          <p:cNvPr id="22" name="Shape 20"/>
          <p:cNvSpPr/>
          <p:nvPr/>
        </p:nvSpPr>
        <p:spPr>
          <a:xfrm>
            <a:off x="8305800" y="5334000"/>
            <a:ext cx="7442200" cy="1447800"/>
          </a:xfrm>
          <a:custGeom>
            <a:avLst/>
            <a:gdLst/>
            <a:ahLst/>
            <a:cxnLst/>
            <a:rect l="l" t="t" r="r" b="b"/>
            <a:pathLst>
              <a:path w="7442200" h="1447800">
                <a:moveTo>
                  <a:pt x="50800" y="0"/>
                </a:moveTo>
                <a:lnTo>
                  <a:pt x="7289805" y="0"/>
                </a:lnTo>
                <a:cubicBezTo>
                  <a:pt x="7373914" y="0"/>
                  <a:pt x="7442200" y="68286"/>
                  <a:pt x="7442200" y="152395"/>
                </a:cubicBezTo>
                <a:lnTo>
                  <a:pt x="7442200" y="1295405"/>
                </a:lnTo>
                <a:cubicBezTo>
                  <a:pt x="7442200" y="1379514"/>
                  <a:pt x="7373914" y="1447800"/>
                  <a:pt x="7289805" y="1447800"/>
                </a:cubicBezTo>
                <a:lnTo>
                  <a:pt x="50800" y="1447800"/>
                </a:lnTo>
                <a:cubicBezTo>
                  <a:pt x="22744" y="1447800"/>
                  <a:pt x="0" y="1425056"/>
                  <a:pt x="0" y="1397000"/>
                </a:cubicBezTo>
                <a:lnTo>
                  <a:pt x="0" y="50800"/>
                </a:lnTo>
                <a:cubicBezTo>
                  <a:pt x="0" y="22763"/>
                  <a:pt x="22763" y="0"/>
                  <a:pt x="50800" y="0"/>
                </a:cubicBezTo>
                <a:close/>
              </a:path>
            </a:pathLst>
          </a:custGeom>
          <a:solidFill>
            <a:srgbClr val="FFFFFF"/>
          </a:solidFill>
          <a:ln/>
          <a:effectLst>
            <a:outerShdw sx="100000" sy="100000" kx="0" ky="0" algn="bl" rotWithShape="0" blurRad="190500" dist="127000" dir="5400000">
              <a:srgbClr val="000000">
                <a:alpha val="10196"/>
              </a:srgbClr>
            </a:outerShdw>
          </a:effectLst>
        </p:spPr>
      </p:sp>
      <p:sp>
        <p:nvSpPr>
          <p:cNvPr id="23" name="Shape 21"/>
          <p:cNvSpPr/>
          <p:nvPr/>
        </p:nvSpPr>
        <p:spPr>
          <a:xfrm>
            <a:off x="8305800" y="5334000"/>
            <a:ext cx="50800" cy="1447800"/>
          </a:xfrm>
          <a:custGeom>
            <a:avLst/>
            <a:gdLst/>
            <a:ahLst/>
            <a:cxnLst/>
            <a:rect l="l" t="t" r="r" b="b"/>
            <a:pathLst>
              <a:path w="50800" h="1447800">
                <a:moveTo>
                  <a:pt x="50800" y="0"/>
                </a:moveTo>
                <a:lnTo>
                  <a:pt x="50800" y="0"/>
                </a:lnTo>
                <a:lnTo>
                  <a:pt x="50800" y="1447800"/>
                </a:lnTo>
                <a:lnTo>
                  <a:pt x="50800" y="1447800"/>
                </a:lnTo>
                <a:cubicBezTo>
                  <a:pt x="22763" y="1447800"/>
                  <a:pt x="0" y="1425037"/>
                  <a:pt x="0" y="1397000"/>
                </a:cubicBezTo>
                <a:lnTo>
                  <a:pt x="0" y="50800"/>
                </a:lnTo>
                <a:cubicBezTo>
                  <a:pt x="0" y="22763"/>
                  <a:pt x="22763" y="0"/>
                  <a:pt x="50800" y="0"/>
                </a:cubicBezTo>
                <a:close/>
              </a:path>
            </a:pathLst>
          </a:custGeom>
          <a:solidFill>
            <a:srgbClr val="A67B5C"/>
          </a:solidFill>
          <a:ln/>
        </p:spPr>
      </p:sp>
      <p:sp>
        <p:nvSpPr>
          <p:cNvPr id="24" name="Shape 22"/>
          <p:cNvSpPr/>
          <p:nvPr/>
        </p:nvSpPr>
        <p:spPr>
          <a:xfrm>
            <a:off x="8636000" y="5638800"/>
            <a:ext cx="812800" cy="812800"/>
          </a:xfrm>
          <a:custGeom>
            <a:avLst/>
            <a:gdLst/>
            <a:ahLst/>
            <a:cxnLst/>
            <a:rect l="l" t="t" r="r" b="b"/>
            <a:pathLst>
              <a:path w="812800" h="812800">
                <a:moveTo>
                  <a:pt x="406400" y="0"/>
                </a:moveTo>
                <a:lnTo>
                  <a:pt x="406400" y="0"/>
                </a:lnTo>
                <a:cubicBezTo>
                  <a:pt x="630698" y="0"/>
                  <a:pt x="812800" y="182102"/>
                  <a:pt x="812800" y="406400"/>
                </a:cubicBezTo>
                <a:lnTo>
                  <a:pt x="812800" y="406400"/>
                </a:lnTo>
                <a:cubicBezTo>
                  <a:pt x="812800" y="630698"/>
                  <a:pt x="630698" y="812800"/>
                  <a:pt x="406400" y="812800"/>
                </a:cubicBezTo>
                <a:lnTo>
                  <a:pt x="406400" y="812800"/>
                </a:lnTo>
                <a:cubicBezTo>
                  <a:pt x="182102" y="812800"/>
                  <a:pt x="0" y="630698"/>
                  <a:pt x="0" y="406400"/>
                </a:cubicBezTo>
                <a:lnTo>
                  <a:pt x="0" y="406400"/>
                </a:lnTo>
                <a:cubicBezTo>
                  <a:pt x="0" y="182102"/>
                  <a:pt x="182102" y="0"/>
                  <a:pt x="406400" y="0"/>
                </a:cubicBezTo>
                <a:close/>
              </a:path>
            </a:pathLst>
          </a:custGeom>
          <a:solidFill>
            <a:srgbClr val="A67B5C"/>
          </a:solidFill>
          <a:ln/>
        </p:spPr>
      </p:sp>
      <p:sp>
        <p:nvSpPr>
          <p:cNvPr id="25" name="Text 23"/>
          <p:cNvSpPr/>
          <p:nvPr/>
        </p:nvSpPr>
        <p:spPr>
          <a:xfrm>
            <a:off x="8808641" y="5816600"/>
            <a:ext cx="660400" cy="457200"/>
          </a:xfrm>
          <a:prstGeom prst="rect">
            <a:avLst/>
          </a:prstGeom>
          <a:noFill/>
          <a:ln/>
        </p:spPr>
        <p:txBody>
          <a:bodyPr wrap="square" lIns="0" tIns="0" rIns="0" bIns="0" rtlCol="0" anchor="ctr"/>
          <a:lstStyle/>
          <a:p>
            <a:pPr>
              <a:lnSpc>
                <a:spcPct val="100000"/>
              </a:lnSpc>
            </a:pPr>
            <a:r>
              <a:rPr lang="en-US" sz="3000" b="1" dirty="0">
                <a:solidFill>
                  <a:srgbClr val="F8F9FA"/>
                </a:solidFill>
                <a:latin typeface="Liter" pitchFamily="34" charset="0"/>
                <a:ea typeface="Liter" pitchFamily="34" charset="-122"/>
                <a:cs typeface="Liter" pitchFamily="34" charset="-120"/>
              </a:rPr>
              <a:t>04</a:t>
            </a:r>
            <a:endParaRPr lang="en-US" sz="1600" dirty="0"/>
          </a:p>
        </p:txBody>
      </p:sp>
      <p:sp>
        <p:nvSpPr>
          <p:cNvPr id="26" name="Text 24"/>
          <p:cNvSpPr/>
          <p:nvPr/>
        </p:nvSpPr>
        <p:spPr>
          <a:xfrm>
            <a:off x="9652000" y="5638800"/>
            <a:ext cx="5943600" cy="406400"/>
          </a:xfrm>
          <a:prstGeom prst="rect">
            <a:avLst/>
          </a:prstGeom>
          <a:noFill/>
          <a:ln/>
        </p:spPr>
        <p:txBody>
          <a:bodyPr wrap="square" lIns="0" tIns="0" rIns="0" bIns="0" rtlCol="0" anchor="ctr"/>
          <a:lstStyle/>
          <a:p>
            <a:pPr>
              <a:lnSpc>
                <a:spcPct val="110000"/>
              </a:lnSpc>
            </a:pPr>
            <a:r>
              <a:rPr lang="en-US" sz="2400" b="1" dirty="0">
                <a:solidFill>
                  <a:srgbClr val="495057"/>
                </a:solidFill>
                <a:latin typeface="Noto Sans SC" pitchFamily="34" charset="0"/>
                <a:ea typeface="Noto Sans SC" pitchFamily="34" charset="-122"/>
                <a:cs typeface="Noto Sans SC" pitchFamily="34" charset="-120"/>
              </a:rPr>
              <a:t>核心结论与展望</a:t>
            </a:r>
            <a:endParaRPr lang="en-US" sz="1600" dirty="0"/>
          </a:p>
        </p:txBody>
      </p:sp>
      <p:sp>
        <p:nvSpPr>
          <p:cNvPr id="27" name="Text 25"/>
          <p:cNvSpPr/>
          <p:nvPr/>
        </p:nvSpPr>
        <p:spPr>
          <a:xfrm>
            <a:off x="9652000" y="6146800"/>
            <a:ext cx="5892800" cy="330200"/>
          </a:xfrm>
          <a:prstGeom prst="rect">
            <a:avLst/>
          </a:prstGeom>
          <a:noFill/>
          <a:ln/>
        </p:spPr>
        <p:txBody>
          <a:bodyPr wrap="square" lIns="0" tIns="0" rIns="0" bIns="0" rtlCol="0" anchor="ctr"/>
          <a:lstStyle/>
          <a:p>
            <a:pPr>
              <a:lnSpc>
                <a:spcPct val="140000"/>
              </a:lnSpc>
            </a:pPr>
            <a:r>
              <a:rPr lang="en-US" sz="1600" dirty="0">
                <a:solidFill>
                  <a:srgbClr val="495057">
                    <a:alpha val="70000"/>
                  </a:srgbClr>
                </a:solidFill>
                <a:latin typeface="MiSans" pitchFamily="34" charset="0"/>
                <a:ea typeface="MiSans" pitchFamily="34" charset="-122"/>
                <a:cs typeface="MiSans" pitchFamily="34" charset="-120"/>
              </a:rPr>
              <a:t>验证深度语义网络的有效性</a:t>
            </a:r>
            <a:endParaRPr lang="en-US" sz="1600" dirty="0"/>
          </a:p>
        </p:txBody>
      </p:sp>
    </p:spTree>
  </p:cSld>
  <p:clrMapOvr>
    <a:masterClrMapping/>
  </p:clrMapOvr>
  <p:transition>
    <p:fade/>
    <p:spd val="med"/>
  </p:transition>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9FA"/>
        </a:solidFill>
      </p:bgPr>
    </p:bg>
    <p:spTree>
      <p:nvGrpSpPr>
        <p:cNvPr id="1" name=""/>
        <p:cNvGrpSpPr/>
        <p:nvPr/>
      </p:nvGrpSpPr>
      <p:grpSpPr>
        <a:xfrm>
          <a:off x="0" y="0"/>
          <a:ext cx="0" cy="0"/>
          <a:chOff x="0" y="0"/>
          <a:chExt cx="0" cy="0"/>
        </a:xfrm>
      </p:grpSpPr>
      <p:pic>
        <p:nvPicPr>
          <p:cNvPr id="2" name="Image 0" descr="https://kimi-web-img.moonshot.cn/img/mosaicdatascience.com/1bef71455341a1dcbc67456a2442618a20e537c5.jpg">    </p:cNvPr>
          <p:cNvPicPr>
            <a:picLocks noChangeAspect="1"/>
          </p:cNvPicPr>
          <p:nvPr/>
        </p:nvPicPr>
        <p:blipFill>
          <a:blip r:embed="rId1">
            <a:alphaModFix amt="25000"/>
          </a:blip>
          <a:srcRect l="0" r="0" t="6427" b="6427"/>
          <a:stretch/>
        </p:blipFill>
        <p:spPr>
          <a:xfrm>
            <a:off x="0" y="0"/>
            <a:ext cx="16256000" cy="9144000"/>
          </a:xfrm>
          <a:prstGeom prst="roundRect">
            <a:avLst>
              <a:gd name="adj" fmla="val 0"/>
            </a:avLst>
          </a:prstGeom>
        </p:spPr>
      </p:pic>
      <p:sp>
        <p:nvSpPr>
          <p:cNvPr id="3" name="Shape 0"/>
          <p:cNvSpPr/>
          <p:nvPr/>
        </p:nvSpPr>
        <p:spPr>
          <a:xfrm>
            <a:off x="0" y="0"/>
            <a:ext cx="16256000" cy="9144000"/>
          </a:xfrm>
          <a:custGeom>
            <a:avLst/>
            <a:gdLst/>
            <a:ahLst/>
            <a:cxnLst/>
            <a:rect l="l" t="t" r="r" b="b"/>
            <a:pathLst>
              <a:path w="16256000" h="9144000">
                <a:moveTo>
                  <a:pt x="0" y="0"/>
                </a:moveTo>
                <a:lnTo>
                  <a:pt x="16256000" y="0"/>
                </a:lnTo>
                <a:lnTo>
                  <a:pt x="16256000" y="9144000"/>
                </a:lnTo>
                <a:lnTo>
                  <a:pt x="0" y="9144000"/>
                </a:lnTo>
                <a:lnTo>
                  <a:pt x="0" y="0"/>
                </a:lnTo>
                <a:close/>
              </a:path>
            </a:pathLst>
          </a:custGeom>
          <a:gradFill rotWithShape="1" flip="none">
            <a:gsLst>
              <a:gs pos="0">
                <a:srgbClr val="495057">
                  <a:alpha val="90000"/>
                </a:srgbClr>
              </a:gs>
              <a:gs pos="50000">
                <a:srgbClr val="495057">
                  <a:alpha val="70000"/>
                </a:srgbClr>
              </a:gs>
              <a:gs pos="100000">
                <a:srgbClr val="000000">
                  <a:alpha val="0"/>
                </a:srgbClr>
              </a:gs>
            </a:gsLst>
            <a:lin ang="0" scaled="1"/>
          </a:gradFill>
          <a:ln/>
        </p:spPr>
      </p:sp>
      <p:sp>
        <p:nvSpPr>
          <p:cNvPr id="4" name="Shape 1"/>
          <p:cNvSpPr/>
          <p:nvPr/>
        </p:nvSpPr>
        <p:spPr>
          <a:xfrm>
            <a:off x="508000" y="2179638"/>
            <a:ext cx="2400300" cy="711200"/>
          </a:xfrm>
          <a:custGeom>
            <a:avLst/>
            <a:gdLst/>
            <a:ahLst/>
            <a:cxnLst/>
            <a:rect l="l" t="t" r="r" b="b"/>
            <a:pathLst>
              <a:path w="2400300" h="711200">
                <a:moveTo>
                  <a:pt x="101602" y="0"/>
                </a:moveTo>
                <a:lnTo>
                  <a:pt x="2298698" y="0"/>
                </a:lnTo>
                <a:cubicBezTo>
                  <a:pt x="2354811" y="0"/>
                  <a:pt x="2400300" y="45489"/>
                  <a:pt x="2400300" y="101602"/>
                </a:cubicBezTo>
                <a:lnTo>
                  <a:pt x="2400300" y="609598"/>
                </a:lnTo>
                <a:cubicBezTo>
                  <a:pt x="2400300" y="665711"/>
                  <a:pt x="2354811" y="711200"/>
                  <a:pt x="2298698" y="711200"/>
                </a:cubicBezTo>
                <a:lnTo>
                  <a:pt x="101602" y="711200"/>
                </a:lnTo>
                <a:cubicBezTo>
                  <a:pt x="45489" y="711200"/>
                  <a:pt x="0" y="665711"/>
                  <a:pt x="0" y="609598"/>
                </a:cubicBezTo>
                <a:lnTo>
                  <a:pt x="0" y="101602"/>
                </a:lnTo>
                <a:cubicBezTo>
                  <a:pt x="0" y="45526"/>
                  <a:pt x="45526" y="0"/>
                  <a:pt x="101602" y="0"/>
                </a:cubicBezTo>
                <a:close/>
              </a:path>
            </a:pathLst>
          </a:custGeom>
          <a:solidFill>
            <a:srgbClr val="A67B5C">
              <a:alpha val="30196"/>
            </a:srgbClr>
          </a:solidFill>
          <a:ln/>
        </p:spPr>
      </p:sp>
      <p:sp>
        <p:nvSpPr>
          <p:cNvPr id="5" name="Text 2"/>
          <p:cNvSpPr/>
          <p:nvPr/>
        </p:nvSpPr>
        <p:spPr>
          <a:xfrm>
            <a:off x="812800" y="2332038"/>
            <a:ext cx="1943100" cy="406400"/>
          </a:xfrm>
          <a:prstGeom prst="rect">
            <a:avLst/>
          </a:prstGeom>
          <a:noFill/>
          <a:ln/>
        </p:spPr>
        <p:txBody>
          <a:bodyPr wrap="square" lIns="0" tIns="0" rIns="0" bIns="0" rtlCol="0" anchor="ctr"/>
          <a:lstStyle/>
          <a:p>
            <a:pPr>
              <a:lnSpc>
                <a:spcPct val="110000"/>
              </a:lnSpc>
            </a:pPr>
            <a:r>
              <a:rPr lang="en-US" sz="2400" b="1" spc="120" kern="0" dirty="0">
                <a:solidFill>
                  <a:srgbClr val="F8F9FA"/>
                </a:solidFill>
                <a:latin typeface="Quattrocento Sans" pitchFamily="34" charset="0"/>
                <a:ea typeface="Quattrocento Sans" pitchFamily="34" charset="-122"/>
                <a:cs typeface="Quattrocento Sans" pitchFamily="34" charset="-120"/>
              </a:rPr>
              <a:t>CHAPTER 01</a:t>
            </a:r>
            <a:endParaRPr lang="en-US" sz="1600" dirty="0"/>
          </a:p>
        </p:txBody>
      </p:sp>
      <p:sp>
        <p:nvSpPr>
          <p:cNvPr id="6" name="Text 3"/>
          <p:cNvSpPr/>
          <p:nvPr/>
        </p:nvSpPr>
        <p:spPr>
          <a:xfrm>
            <a:off x="508000" y="3297238"/>
            <a:ext cx="5410200" cy="2286000"/>
          </a:xfrm>
          <a:prstGeom prst="rect">
            <a:avLst/>
          </a:prstGeom>
          <a:noFill/>
          <a:ln/>
        </p:spPr>
        <p:txBody>
          <a:bodyPr wrap="square" lIns="0" tIns="0" rIns="0" bIns="0" rtlCol="0" anchor="ctr"/>
          <a:lstStyle/>
          <a:p>
            <a:pPr>
              <a:lnSpc>
                <a:spcPct val="100000"/>
              </a:lnSpc>
            </a:pPr>
            <a:r>
              <a:rPr lang="en-US" sz="7200" b="1" dirty="0">
                <a:solidFill>
                  <a:srgbClr val="F8F9FA"/>
                </a:solidFill>
                <a:latin typeface="Noto Sans SC" pitchFamily="34" charset="0"/>
                <a:ea typeface="Noto Sans SC" pitchFamily="34" charset="-122"/>
                <a:cs typeface="Noto Sans SC" pitchFamily="34" charset="-120"/>
              </a:rPr>
              <a:t>研究背景与</a:t>
            </a:r>
            <a:endParaRPr lang="en-US" sz="1600" dirty="0"/>
          </a:p>
          <a:p>
            <a:pPr>
              <a:lnSpc>
                <a:spcPct val="100000"/>
              </a:lnSpc>
            </a:pPr>
            <a:r>
              <a:rPr lang="en-US" sz="7200" b="1" dirty="0">
                <a:solidFill>
                  <a:srgbClr val="F8F9FA"/>
                </a:solidFill>
                <a:latin typeface="Noto Sans SC" pitchFamily="34" charset="0"/>
                <a:ea typeface="Noto Sans SC" pitchFamily="34" charset="-122"/>
                <a:cs typeface="Noto Sans SC" pitchFamily="34" charset="-120"/>
              </a:rPr>
              <a:t>问题定义</a:t>
            </a:r>
            <a:endParaRPr lang="en-US" sz="1600" dirty="0"/>
          </a:p>
        </p:txBody>
      </p:sp>
      <p:sp>
        <p:nvSpPr>
          <p:cNvPr id="7" name="Shape 4"/>
          <p:cNvSpPr/>
          <p:nvPr/>
        </p:nvSpPr>
        <p:spPr>
          <a:xfrm>
            <a:off x="508000" y="5888038"/>
            <a:ext cx="1625600" cy="50800"/>
          </a:xfrm>
          <a:custGeom>
            <a:avLst/>
            <a:gdLst/>
            <a:ahLst/>
            <a:cxnLst/>
            <a:rect l="l" t="t" r="r" b="b"/>
            <a:pathLst>
              <a:path w="1625600" h="50800">
                <a:moveTo>
                  <a:pt x="0" y="0"/>
                </a:moveTo>
                <a:lnTo>
                  <a:pt x="1625600" y="0"/>
                </a:lnTo>
                <a:lnTo>
                  <a:pt x="1625600" y="50800"/>
                </a:lnTo>
                <a:lnTo>
                  <a:pt x="0" y="50800"/>
                </a:lnTo>
                <a:lnTo>
                  <a:pt x="0" y="0"/>
                </a:lnTo>
                <a:close/>
              </a:path>
            </a:pathLst>
          </a:custGeom>
          <a:solidFill>
            <a:srgbClr val="A67B5C"/>
          </a:solidFill>
          <a:ln/>
        </p:spPr>
      </p:sp>
      <p:sp>
        <p:nvSpPr>
          <p:cNvPr id="8" name="Text 5"/>
          <p:cNvSpPr/>
          <p:nvPr/>
        </p:nvSpPr>
        <p:spPr>
          <a:xfrm>
            <a:off x="508000" y="6345238"/>
            <a:ext cx="5143500" cy="622300"/>
          </a:xfrm>
          <a:prstGeom prst="rect">
            <a:avLst/>
          </a:prstGeom>
          <a:noFill/>
          <a:ln/>
        </p:spPr>
        <p:txBody>
          <a:bodyPr wrap="square" lIns="0" tIns="0" rIns="0" bIns="0" rtlCol="0" anchor="ctr"/>
          <a:lstStyle/>
          <a:p>
            <a:pPr>
              <a:lnSpc>
                <a:spcPct val="140000"/>
              </a:lnSpc>
            </a:pPr>
            <a:r>
              <a:rPr lang="en-US" sz="3000" dirty="0">
                <a:solidFill>
                  <a:srgbClr val="F8F9FA">
                    <a:alpha val="80000"/>
                  </a:srgbClr>
                </a:solidFill>
                <a:latin typeface="Noto Sans SC" pitchFamily="34" charset="0"/>
                <a:ea typeface="Noto Sans SC" pitchFamily="34" charset="-122"/>
                <a:cs typeface="Noto Sans SC" pitchFamily="34" charset="-120"/>
              </a:rPr>
              <a:t>多模态情感分析的挑战与动机</a:t>
            </a:r>
            <a:endParaRPr lang="en-US" sz="1600" dirty="0"/>
          </a:p>
        </p:txBody>
      </p:sp>
    </p:spTree>
  </p:cSld>
  <p:clrMapOvr>
    <a:masterClrMapping/>
  </p:clrMapOvr>
  <p:transition>
    <p:fade/>
    <p:spd val="med"/>
  </p:transition>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9FA"/>
        </a:solidFill>
      </p:bgPr>
    </p:bg>
    <p:spTree>
      <p:nvGrpSpPr>
        <p:cNvPr id="1" name=""/>
        <p:cNvGrpSpPr/>
        <p:nvPr/>
      </p:nvGrpSpPr>
      <p:grpSpPr>
        <a:xfrm>
          <a:off x="0" y="0"/>
          <a:ext cx="0" cy="0"/>
          <a:chOff x="0" y="0"/>
          <a:chExt cx="0" cy="0"/>
        </a:xfrm>
      </p:grpSpPr>
      <p:sp>
        <p:nvSpPr>
          <p:cNvPr id="2" name="Shape 0"/>
          <p:cNvSpPr/>
          <p:nvPr/>
        </p:nvSpPr>
        <p:spPr>
          <a:xfrm>
            <a:off x="491489" y="540638"/>
            <a:ext cx="393191" cy="393191"/>
          </a:xfrm>
          <a:custGeom>
            <a:avLst/>
            <a:gdLst/>
            <a:ahLst/>
            <a:cxnLst/>
            <a:rect l="l" t="t" r="r" b="b"/>
            <a:pathLst>
              <a:path w="393191" h="393191">
                <a:moveTo>
                  <a:pt x="49149" y="0"/>
                </a:moveTo>
                <a:lnTo>
                  <a:pt x="344042" y="0"/>
                </a:lnTo>
                <a:cubicBezTo>
                  <a:pt x="371187" y="0"/>
                  <a:pt x="393191" y="22005"/>
                  <a:pt x="393191" y="49149"/>
                </a:cubicBezTo>
                <a:lnTo>
                  <a:pt x="393191" y="344042"/>
                </a:lnTo>
                <a:cubicBezTo>
                  <a:pt x="393191" y="371187"/>
                  <a:pt x="371187" y="393191"/>
                  <a:pt x="344042" y="393191"/>
                </a:cubicBezTo>
                <a:lnTo>
                  <a:pt x="49149" y="393191"/>
                </a:lnTo>
                <a:cubicBezTo>
                  <a:pt x="22005" y="393191"/>
                  <a:pt x="0" y="371187"/>
                  <a:pt x="0" y="344042"/>
                </a:cubicBezTo>
                <a:lnTo>
                  <a:pt x="0" y="49149"/>
                </a:lnTo>
                <a:cubicBezTo>
                  <a:pt x="0" y="22023"/>
                  <a:pt x="22023" y="0"/>
                  <a:pt x="49149" y="0"/>
                </a:cubicBezTo>
                <a:close/>
              </a:path>
            </a:pathLst>
          </a:custGeom>
          <a:solidFill>
            <a:srgbClr val="495057"/>
          </a:solidFill>
          <a:ln/>
        </p:spPr>
      </p:sp>
      <p:sp>
        <p:nvSpPr>
          <p:cNvPr id="3" name="Text 1"/>
          <p:cNvSpPr/>
          <p:nvPr/>
        </p:nvSpPr>
        <p:spPr>
          <a:xfrm>
            <a:off x="586043" y="589787"/>
            <a:ext cx="307181" cy="294893"/>
          </a:xfrm>
          <a:prstGeom prst="rect">
            <a:avLst/>
          </a:prstGeom>
          <a:noFill/>
          <a:ln/>
        </p:spPr>
        <p:txBody>
          <a:bodyPr wrap="square" lIns="0" tIns="0" rIns="0" bIns="0" rtlCol="0" anchor="ctr"/>
          <a:lstStyle/>
          <a:p>
            <a:pPr>
              <a:lnSpc>
                <a:spcPct val="130000"/>
              </a:lnSpc>
            </a:pPr>
            <a:r>
              <a:rPr lang="en-US" sz="1548" b="1" dirty="0">
                <a:solidFill>
                  <a:srgbClr val="F8F9FA"/>
                </a:solidFill>
                <a:latin typeface="Liter" pitchFamily="34" charset="0"/>
                <a:ea typeface="Liter" pitchFamily="34" charset="-122"/>
                <a:cs typeface="Liter" pitchFamily="34" charset="-120"/>
              </a:rPr>
              <a:t>01</a:t>
            </a:r>
            <a:endParaRPr lang="en-US" sz="1600" dirty="0"/>
          </a:p>
        </p:txBody>
      </p:sp>
      <p:sp>
        <p:nvSpPr>
          <p:cNvPr id="4" name="Text 2"/>
          <p:cNvSpPr/>
          <p:nvPr/>
        </p:nvSpPr>
        <p:spPr>
          <a:xfrm>
            <a:off x="1032127" y="491489"/>
            <a:ext cx="6856272" cy="491489"/>
          </a:xfrm>
          <a:prstGeom prst="rect">
            <a:avLst/>
          </a:prstGeom>
          <a:noFill/>
          <a:ln/>
        </p:spPr>
        <p:txBody>
          <a:bodyPr wrap="square" lIns="0" tIns="0" rIns="0" bIns="0" rtlCol="0" anchor="ctr"/>
          <a:lstStyle/>
          <a:p>
            <a:pPr>
              <a:lnSpc>
                <a:spcPct val="90000"/>
              </a:lnSpc>
            </a:pPr>
            <a:r>
              <a:rPr lang="en-US" sz="3483" b="1" dirty="0">
                <a:solidFill>
                  <a:srgbClr val="495057"/>
                </a:solidFill>
                <a:latin typeface="Noto Sans SC" pitchFamily="34" charset="0"/>
                <a:ea typeface="Noto Sans SC" pitchFamily="34" charset="-122"/>
                <a:cs typeface="Noto Sans SC" pitchFamily="34" charset="-120"/>
              </a:rPr>
              <a:t>研究背景：多模态情感分析的挑战</a:t>
            </a:r>
            <a:endParaRPr lang="en-US" sz="1600" dirty="0"/>
          </a:p>
        </p:txBody>
      </p:sp>
      <p:sp>
        <p:nvSpPr>
          <p:cNvPr id="5" name="Shape 3"/>
          <p:cNvSpPr/>
          <p:nvPr/>
        </p:nvSpPr>
        <p:spPr>
          <a:xfrm>
            <a:off x="491489" y="1081276"/>
            <a:ext cx="982978" cy="49149"/>
          </a:xfrm>
          <a:custGeom>
            <a:avLst/>
            <a:gdLst/>
            <a:ahLst/>
            <a:cxnLst/>
            <a:rect l="l" t="t" r="r" b="b"/>
            <a:pathLst>
              <a:path w="982978" h="49149">
                <a:moveTo>
                  <a:pt x="0" y="0"/>
                </a:moveTo>
                <a:lnTo>
                  <a:pt x="982978" y="0"/>
                </a:lnTo>
                <a:lnTo>
                  <a:pt x="982978" y="49149"/>
                </a:lnTo>
                <a:lnTo>
                  <a:pt x="0" y="49149"/>
                </a:lnTo>
                <a:lnTo>
                  <a:pt x="0" y="0"/>
                </a:lnTo>
                <a:close/>
              </a:path>
            </a:pathLst>
          </a:custGeom>
          <a:solidFill>
            <a:srgbClr val="A67B5C"/>
          </a:solidFill>
          <a:ln/>
        </p:spPr>
      </p:sp>
      <p:sp>
        <p:nvSpPr>
          <p:cNvPr id="6" name="Shape 4"/>
          <p:cNvSpPr/>
          <p:nvPr/>
        </p:nvSpPr>
        <p:spPr>
          <a:xfrm>
            <a:off x="491489" y="1425318"/>
            <a:ext cx="7507495" cy="3735317"/>
          </a:xfrm>
          <a:custGeom>
            <a:avLst/>
            <a:gdLst/>
            <a:ahLst/>
            <a:cxnLst/>
            <a:rect l="l" t="t" r="r" b="b"/>
            <a:pathLst>
              <a:path w="7507495" h="3735317">
                <a:moveTo>
                  <a:pt x="98314" y="0"/>
                </a:moveTo>
                <a:lnTo>
                  <a:pt x="7409182" y="0"/>
                </a:lnTo>
                <a:cubicBezTo>
                  <a:pt x="7463479" y="0"/>
                  <a:pt x="7507495" y="44016"/>
                  <a:pt x="7507495" y="98314"/>
                </a:cubicBezTo>
                <a:lnTo>
                  <a:pt x="7507495" y="3637003"/>
                </a:lnTo>
                <a:cubicBezTo>
                  <a:pt x="7507495" y="3691300"/>
                  <a:pt x="7463479" y="3735317"/>
                  <a:pt x="7409182" y="3735317"/>
                </a:cubicBezTo>
                <a:lnTo>
                  <a:pt x="98314" y="3735317"/>
                </a:lnTo>
                <a:cubicBezTo>
                  <a:pt x="44016" y="3735317"/>
                  <a:pt x="0" y="3691300"/>
                  <a:pt x="0" y="3637003"/>
                </a:cubicBezTo>
                <a:lnTo>
                  <a:pt x="0" y="98314"/>
                </a:lnTo>
                <a:cubicBezTo>
                  <a:pt x="0" y="44016"/>
                  <a:pt x="44016" y="0"/>
                  <a:pt x="98314" y="0"/>
                </a:cubicBezTo>
                <a:close/>
              </a:path>
            </a:pathLst>
          </a:custGeom>
          <a:solidFill>
            <a:srgbClr val="FFFFFF"/>
          </a:solidFill>
          <a:ln/>
          <a:effectLst>
            <a:outerShdw sx="100000" sy="100000" kx="0" ky="0" algn="bl" rotWithShape="0" blurRad="73723" dist="49149" dir="5400000">
              <a:srgbClr val="000000">
                <a:alpha val="10196"/>
              </a:srgbClr>
            </a:outerShdw>
          </a:effectLst>
        </p:spPr>
      </p:sp>
      <p:sp>
        <p:nvSpPr>
          <p:cNvPr id="7" name="Shape 5"/>
          <p:cNvSpPr/>
          <p:nvPr/>
        </p:nvSpPr>
        <p:spPr>
          <a:xfrm>
            <a:off x="786382" y="1720212"/>
            <a:ext cx="589787" cy="589787"/>
          </a:xfrm>
          <a:custGeom>
            <a:avLst/>
            <a:gdLst/>
            <a:ahLst/>
            <a:cxnLst/>
            <a:rect l="l" t="t" r="r" b="b"/>
            <a:pathLst>
              <a:path w="589787" h="589787">
                <a:moveTo>
                  <a:pt x="98300" y="0"/>
                </a:moveTo>
                <a:lnTo>
                  <a:pt x="491487" y="0"/>
                </a:lnTo>
                <a:cubicBezTo>
                  <a:pt x="545777" y="0"/>
                  <a:pt x="589787" y="44010"/>
                  <a:pt x="589787" y="98300"/>
                </a:cubicBezTo>
                <a:lnTo>
                  <a:pt x="589787" y="491487"/>
                </a:lnTo>
                <a:cubicBezTo>
                  <a:pt x="589787" y="545777"/>
                  <a:pt x="545777" y="589787"/>
                  <a:pt x="491487" y="589787"/>
                </a:cubicBezTo>
                <a:lnTo>
                  <a:pt x="98300" y="589787"/>
                </a:lnTo>
                <a:cubicBezTo>
                  <a:pt x="44010" y="589787"/>
                  <a:pt x="0" y="545777"/>
                  <a:pt x="0" y="491487"/>
                </a:cubicBezTo>
                <a:lnTo>
                  <a:pt x="0" y="98300"/>
                </a:lnTo>
                <a:cubicBezTo>
                  <a:pt x="0" y="44047"/>
                  <a:pt x="44047" y="0"/>
                  <a:pt x="98300" y="0"/>
                </a:cubicBezTo>
                <a:close/>
              </a:path>
            </a:pathLst>
          </a:custGeom>
          <a:solidFill>
            <a:srgbClr val="A67B5C">
              <a:alpha val="10196"/>
            </a:srgbClr>
          </a:solidFill>
          <a:ln/>
        </p:spPr>
      </p:sp>
      <p:sp>
        <p:nvSpPr>
          <p:cNvPr id="8" name="Shape 6"/>
          <p:cNvSpPr/>
          <p:nvPr/>
        </p:nvSpPr>
        <p:spPr>
          <a:xfrm>
            <a:off x="933829" y="1867658"/>
            <a:ext cx="294893" cy="294893"/>
          </a:xfrm>
          <a:custGeom>
            <a:avLst/>
            <a:gdLst/>
            <a:ahLst/>
            <a:cxnLst/>
            <a:rect l="l" t="t" r="r" b="b"/>
            <a:pathLst>
              <a:path w="294893" h="294893">
                <a:moveTo>
                  <a:pt x="36862" y="36862"/>
                </a:moveTo>
                <a:cubicBezTo>
                  <a:pt x="36862" y="26667"/>
                  <a:pt x="28625" y="18431"/>
                  <a:pt x="18431" y="18431"/>
                </a:cubicBezTo>
                <a:cubicBezTo>
                  <a:pt x="8236" y="18431"/>
                  <a:pt x="0" y="26667"/>
                  <a:pt x="0" y="36862"/>
                </a:cubicBezTo>
                <a:lnTo>
                  <a:pt x="0" y="230385"/>
                </a:lnTo>
                <a:cubicBezTo>
                  <a:pt x="0" y="255843"/>
                  <a:pt x="20620" y="276463"/>
                  <a:pt x="46077" y="276463"/>
                </a:cubicBezTo>
                <a:lnTo>
                  <a:pt x="276463" y="276463"/>
                </a:lnTo>
                <a:cubicBezTo>
                  <a:pt x="286657" y="276463"/>
                  <a:pt x="294893" y="268226"/>
                  <a:pt x="294893" y="258032"/>
                </a:cubicBezTo>
                <a:cubicBezTo>
                  <a:pt x="294893" y="247837"/>
                  <a:pt x="286657" y="239601"/>
                  <a:pt x="276463" y="239601"/>
                </a:cubicBezTo>
                <a:lnTo>
                  <a:pt x="46077" y="239601"/>
                </a:lnTo>
                <a:cubicBezTo>
                  <a:pt x="41009" y="239601"/>
                  <a:pt x="36862" y="235454"/>
                  <a:pt x="36862" y="230385"/>
                </a:cubicBezTo>
                <a:lnTo>
                  <a:pt x="36862" y="36862"/>
                </a:lnTo>
                <a:close/>
                <a:moveTo>
                  <a:pt x="271049" y="86740"/>
                </a:moveTo>
                <a:cubicBezTo>
                  <a:pt x="278248" y="79541"/>
                  <a:pt x="278248" y="67849"/>
                  <a:pt x="271049" y="60649"/>
                </a:cubicBezTo>
                <a:cubicBezTo>
                  <a:pt x="263849" y="53449"/>
                  <a:pt x="252157" y="53449"/>
                  <a:pt x="244957" y="60649"/>
                </a:cubicBezTo>
                <a:lnTo>
                  <a:pt x="184308" y="121356"/>
                </a:lnTo>
                <a:lnTo>
                  <a:pt x="151248" y="88353"/>
                </a:lnTo>
                <a:cubicBezTo>
                  <a:pt x="144049" y="81153"/>
                  <a:pt x="132356" y="81153"/>
                  <a:pt x="125157" y="88353"/>
                </a:cubicBezTo>
                <a:lnTo>
                  <a:pt x="69864" y="143645"/>
                </a:lnTo>
                <a:cubicBezTo>
                  <a:pt x="62665" y="150845"/>
                  <a:pt x="62665" y="162537"/>
                  <a:pt x="69864" y="169737"/>
                </a:cubicBezTo>
                <a:cubicBezTo>
                  <a:pt x="77064" y="176936"/>
                  <a:pt x="88756" y="176936"/>
                  <a:pt x="95956" y="169737"/>
                </a:cubicBezTo>
                <a:lnTo>
                  <a:pt x="138231" y="127461"/>
                </a:lnTo>
                <a:lnTo>
                  <a:pt x="171292" y="160521"/>
                </a:lnTo>
                <a:cubicBezTo>
                  <a:pt x="178491" y="167721"/>
                  <a:pt x="190183" y="167721"/>
                  <a:pt x="197383" y="160521"/>
                </a:cubicBezTo>
                <a:lnTo>
                  <a:pt x="271106" y="86798"/>
                </a:lnTo>
                <a:close/>
              </a:path>
            </a:pathLst>
          </a:custGeom>
          <a:solidFill>
            <a:srgbClr val="A67B5C"/>
          </a:solidFill>
          <a:ln/>
        </p:spPr>
      </p:sp>
      <p:sp>
        <p:nvSpPr>
          <p:cNvPr id="9" name="Text 7"/>
          <p:cNvSpPr/>
          <p:nvPr/>
        </p:nvSpPr>
        <p:spPr>
          <a:xfrm>
            <a:off x="1523616" y="1818509"/>
            <a:ext cx="2801488" cy="393191"/>
          </a:xfrm>
          <a:prstGeom prst="rect">
            <a:avLst/>
          </a:prstGeom>
          <a:noFill/>
          <a:ln/>
        </p:spPr>
        <p:txBody>
          <a:bodyPr wrap="square" lIns="0" tIns="0" rIns="0" bIns="0" rtlCol="0" anchor="ctr"/>
          <a:lstStyle/>
          <a:p>
            <a:pPr>
              <a:lnSpc>
                <a:spcPct val="110000"/>
              </a:lnSpc>
            </a:pPr>
            <a:r>
              <a:rPr lang="en-US" sz="2322" b="1" dirty="0">
                <a:solidFill>
                  <a:srgbClr val="495057"/>
                </a:solidFill>
                <a:latin typeface="Noto Sans SC" pitchFamily="34" charset="0"/>
                <a:ea typeface="Noto Sans SC" pitchFamily="34" charset="-122"/>
                <a:cs typeface="Noto Sans SC" pitchFamily="34" charset="-120"/>
              </a:rPr>
              <a:t>社交媒体内容多样化</a:t>
            </a:r>
            <a:endParaRPr lang="en-US" sz="1600" dirty="0"/>
          </a:p>
        </p:txBody>
      </p:sp>
      <p:sp>
        <p:nvSpPr>
          <p:cNvPr id="10" name="Text 8"/>
          <p:cNvSpPr/>
          <p:nvPr/>
        </p:nvSpPr>
        <p:spPr>
          <a:xfrm>
            <a:off x="786382" y="2506594"/>
            <a:ext cx="7016006" cy="1277872"/>
          </a:xfrm>
          <a:prstGeom prst="rect">
            <a:avLst/>
          </a:prstGeom>
          <a:noFill/>
          <a:ln/>
        </p:spPr>
        <p:txBody>
          <a:bodyPr wrap="square" lIns="0" tIns="0" rIns="0" bIns="0" rtlCol="0" anchor="ctr"/>
          <a:lstStyle/>
          <a:p>
            <a:pPr>
              <a:lnSpc>
                <a:spcPct val="140000"/>
              </a:lnSpc>
            </a:pPr>
            <a:r>
              <a:rPr lang="en-US" sz="1548" dirty="0">
                <a:solidFill>
                  <a:srgbClr val="495057">
                    <a:alpha val="80000"/>
                  </a:srgbClr>
                </a:solidFill>
                <a:latin typeface="MiSans" pitchFamily="34" charset="0"/>
                <a:ea typeface="MiSans" pitchFamily="34" charset="-122"/>
                <a:cs typeface="MiSans" pitchFamily="34" charset="-120"/>
              </a:rPr>
              <a:t>随着社交网络（Twitter、微博等）的飞速发展，用户生成内容（UGC）的形式日益多样化。越来越多的推文不再局限于单一的文本描述，而是倾向于</a:t>
            </a:r>
            <a:pPr>
              <a:lnSpc>
                <a:spcPct val="140000"/>
              </a:lnSpc>
            </a:pPr>
            <a:r>
              <a:rPr lang="en-US" sz="1548" dirty="0">
                <a:solidFill>
                  <a:srgbClr val="495057"/>
                </a:solidFill>
                <a:highlight>
                  <a:srgbClr val="A67B5C">
                    <a:alpha val="20000"/>
                  </a:srgbClr>
                </a:highlight>
                <a:latin typeface="MiSans" pitchFamily="34" charset="0"/>
                <a:ea typeface="MiSans" pitchFamily="34" charset="-122"/>
                <a:cs typeface="MiSans" pitchFamily="34" charset="-120"/>
              </a:rPr>
              <a:t> 同时包含文本与视觉图像 </a:t>
            </a:r>
            <a:pPr>
              <a:lnSpc>
                <a:spcPct val="140000"/>
              </a:lnSpc>
            </a:pPr>
            <a:r>
              <a:rPr lang="en-US" sz="1548" dirty="0">
                <a:solidFill>
                  <a:srgbClr val="495057">
                    <a:alpha val="80000"/>
                  </a:srgbClr>
                </a:solidFill>
                <a:latin typeface="Quattrocento Sans" pitchFamily="34" charset="0"/>
                <a:ea typeface="Quattrocento Sans" pitchFamily="34" charset="-122"/>
                <a:cs typeface="Quattrocento Sans" pitchFamily="34" charset="-120"/>
              </a:rPr>
              <a:t>。</a:t>
            </a:r>
            <a:endParaRPr lang="en-US" sz="1600" dirty="0"/>
          </a:p>
        </p:txBody>
      </p:sp>
      <p:sp>
        <p:nvSpPr>
          <p:cNvPr id="11" name="Shape 9"/>
          <p:cNvSpPr/>
          <p:nvPr/>
        </p:nvSpPr>
        <p:spPr>
          <a:xfrm>
            <a:off x="786382" y="3981061"/>
            <a:ext cx="6917708" cy="884680"/>
          </a:xfrm>
          <a:custGeom>
            <a:avLst/>
            <a:gdLst/>
            <a:ahLst/>
            <a:cxnLst/>
            <a:rect l="l" t="t" r="r" b="b"/>
            <a:pathLst>
              <a:path w="6917708" h="884680">
                <a:moveTo>
                  <a:pt x="49153" y="0"/>
                </a:moveTo>
                <a:lnTo>
                  <a:pt x="6868555" y="0"/>
                </a:lnTo>
                <a:cubicBezTo>
                  <a:pt x="6895702" y="0"/>
                  <a:pt x="6917708" y="22006"/>
                  <a:pt x="6917708" y="49153"/>
                </a:cubicBezTo>
                <a:lnTo>
                  <a:pt x="6917708" y="835527"/>
                </a:lnTo>
                <a:cubicBezTo>
                  <a:pt x="6917708" y="862674"/>
                  <a:pt x="6895702" y="884680"/>
                  <a:pt x="6868555" y="884680"/>
                </a:cubicBezTo>
                <a:lnTo>
                  <a:pt x="49153" y="884680"/>
                </a:lnTo>
                <a:cubicBezTo>
                  <a:pt x="22025" y="884680"/>
                  <a:pt x="0" y="862656"/>
                  <a:pt x="0" y="835527"/>
                </a:cubicBezTo>
                <a:lnTo>
                  <a:pt x="0" y="49153"/>
                </a:lnTo>
                <a:cubicBezTo>
                  <a:pt x="0" y="22025"/>
                  <a:pt x="22025" y="0"/>
                  <a:pt x="49153" y="0"/>
                </a:cubicBezTo>
                <a:close/>
              </a:path>
            </a:pathLst>
          </a:custGeom>
          <a:solidFill>
            <a:srgbClr val="495057">
              <a:alpha val="5098"/>
            </a:srgbClr>
          </a:solidFill>
          <a:ln/>
        </p:spPr>
      </p:sp>
      <p:sp>
        <p:nvSpPr>
          <p:cNvPr id="12" name="Text 10"/>
          <p:cNvSpPr/>
          <p:nvPr/>
        </p:nvSpPr>
        <p:spPr>
          <a:xfrm>
            <a:off x="933829" y="4128508"/>
            <a:ext cx="6721113" cy="589787"/>
          </a:xfrm>
          <a:prstGeom prst="rect">
            <a:avLst/>
          </a:prstGeom>
          <a:noFill/>
          <a:ln/>
        </p:spPr>
        <p:txBody>
          <a:bodyPr wrap="square" lIns="0" tIns="0" rIns="0" bIns="0" rtlCol="0" anchor="ctr"/>
          <a:lstStyle/>
          <a:p>
            <a:pPr>
              <a:lnSpc>
                <a:spcPct val="130000"/>
              </a:lnSpc>
            </a:pPr>
            <a:r>
              <a:rPr lang="en-US" sz="1548" dirty="0">
                <a:solidFill>
                  <a:srgbClr val="495057">
                    <a:alpha val="70000"/>
                  </a:srgbClr>
                </a:solidFill>
                <a:latin typeface="MiSans" pitchFamily="34" charset="0"/>
                <a:ea typeface="MiSans" pitchFamily="34" charset="-122"/>
                <a:cs typeface="MiSans" pitchFamily="34" charset="-120"/>
              </a:rPr>
              <a:t>这种多模态的信息表达方式，使得多模态情感分析成为学术界和工业界的研究热点。</a:t>
            </a:r>
            <a:endParaRPr lang="en-US" sz="1600" dirty="0"/>
          </a:p>
        </p:txBody>
      </p:sp>
      <p:sp>
        <p:nvSpPr>
          <p:cNvPr id="13" name="Shape 11"/>
          <p:cNvSpPr/>
          <p:nvPr/>
        </p:nvSpPr>
        <p:spPr>
          <a:xfrm>
            <a:off x="8248760" y="1425318"/>
            <a:ext cx="7507495" cy="3735317"/>
          </a:xfrm>
          <a:custGeom>
            <a:avLst/>
            <a:gdLst/>
            <a:ahLst/>
            <a:cxnLst/>
            <a:rect l="l" t="t" r="r" b="b"/>
            <a:pathLst>
              <a:path w="7507495" h="3735317">
                <a:moveTo>
                  <a:pt x="98314" y="0"/>
                </a:moveTo>
                <a:lnTo>
                  <a:pt x="7409182" y="0"/>
                </a:lnTo>
                <a:cubicBezTo>
                  <a:pt x="7463479" y="0"/>
                  <a:pt x="7507495" y="44016"/>
                  <a:pt x="7507495" y="98314"/>
                </a:cubicBezTo>
                <a:lnTo>
                  <a:pt x="7507495" y="3637003"/>
                </a:lnTo>
                <a:cubicBezTo>
                  <a:pt x="7507495" y="3691300"/>
                  <a:pt x="7463479" y="3735317"/>
                  <a:pt x="7409182" y="3735317"/>
                </a:cubicBezTo>
                <a:lnTo>
                  <a:pt x="98314" y="3735317"/>
                </a:lnTo>
                <a:cubicBezTo>
                  <a:pt x="44016" y="3735317"/>
                  <a:pt x="0" y="3691300"/>
                  <a:pt x="0" y="3637003"/>
                </a:cubicBezTo>
                <a:lnTo>
                  <a:pt x="0" y="98314"/>
                </a:lnTo>
                <a:cubicBezTo>
                  <a:pt x="0" y="44016"/>
                  <a:pt x="44016" y="0"/>
                  <a:pt x="98314" y="0"/>
                </a:cubicBezTo>
                <a:close/>
              </a:path>
            </a:pathLst>
          </a:custGeom>
          <a:solidFill>
            <a:srgbClr val="FFFFFF"/>
          </a:solidFill>
          <a:ln/>
          <a:effectLst>
            <a:outerShdw sx="100000" sy="100000" kx="0" ky="0" algn="bl" rotWithShape="0" blurRad="73723" dist="49149" dir="5400000">
              <a:srgbClr val="000000">
                <a:alpha val="10196"/>
              </a:srgbClr>
            </a:outerShdw>
          </a:effectLst>
        </p:spPr>
      </p:sp>
      <p:sp>
        <p:nvSpPr>
          <p:cNvPr id="14" name="Shape 12"/>
          <p:cNvSpPr/>
          <p:nvPr/>
        </p:nvSpPr>
        <p:spPr>
          <a:xfrm>
            <a:off x="8543654" y="1720212"/>
            <a:ext cx="589787" cy="589787"/>
          </a:xfrm>
          <a:custGeom>
            <a:avLst/>
            <a:gdLst/>
            <a:ahLst/>
            <a:cxnLst/>
            <a:rect l="l" t="t" r="r" b="b"/>
            <a:pathLst>
              <a:path w="589787" h="589787">
                <a:moveTo>
                  <a:pt x="98300" y="0"/>
                </a:moveTo>
                <a:lnTo>
                  <a:pt x="491487" y="0"/>
                </a:lnTo>
                <a:cubicBezTo>
                  <a:pt x="545777" y="0"/>
                  <a:pt x="589787" y="44010"/>
                  <a:pt x="589787" y="98300"/>
                </a:cubicBezTo>
                <a:lnTo>
                  <a:pt x="589787" y="491487"/>
                </a:lnTo>
                <a:cubicBezTo>
                  <a:pt x="589787" y="545777"/>
                  <a:pt x="545777" y="589787"/>
                  <a:pt x="491487" y="589787"/>
                </a:cubicBezTo>
                <a:lnTo>
                  <a:pt x="98300" y="589787"/>
                </a:lnTo>
                <a:cubicBezTo>
                  <a:pt x="44010" y="589787"/>
                  <a:pt x="0" y="545777"/>
                  <a:pt x="0" y="491487"/>
                </a:cubicBezTo>
                <a:lnTo>
                  <a:pt x="0" y="98300"/>
                </a:lnTo>
                <a:cubicBezTo>
                  <a:pt x="0" y="44047"/>
                  <a:pt x="44047" y="0"/>
                  <a:pt x="98300" y="0"/>
                </a:cubicBezTo>
                <a:close/>
              </a:path>
            </a:pathLst>
          </a:custGeom>
          <a:solidFill>
            <a:srgbClr val="495057">
              <a:alpha val="10196"/>
            </a:srgbClr>
          </a:solidFill>
          <a:ln/>
        </p:spPr>
      </p:sp>
      <p:sp>
        <p:nvSpPr>
          <p:cNvPr id="15" name="Shape 13"/>
          <p:cNvSpPr/>
          <p:nvPr/>
        </p:nvSpPr>
        <p:spPr>
          <a:xfrm>
            <a:off x="8691101" y="1867658"/>
            <a:ext cx="294893" cy="294893"/>
          </a:xfrm>
          <a:custGeom>
            <a:avLst/>
            <a:gdLst/>
            <a:ahLst/>
            <a:cxnLst/>
            <a:rect l="l" t="t" r="r" b="b"/>
            <a:pathLst>
              <a:path w="294893" h="294893">
                <a:moveTo>
                  <a:pt x="147447" y="0"/>
                </a:moveTo>
                <a:cubicBezTo>
                  <a:pt x="155913" y="0"/>
                  <a:pt x="163689" y="4665"/>
                  <a:pt x="167721" y="12095"/>
                </a:cubicBezTo>
                <a:lnTo>
                  <a:pt x="292129" y="242481"/>
                </a:lnTo>
                <a:cubicBezTo>
                  <a:pt x="295988" y="249623"/>
                  <a:pt x="295815" y="258262"/>
                  <a:pt x="291668" y="265231"/>
                </a:cubicBezTo>
                <a:cubicBezTo>
                  <a:pt x="287521" y="272200"/>
                  <a:pt x="279976" y="276463"/>
                  <a:pt x="271855" y="276463"/>
                </a:cubicBezTo>
                <a:lnTo>
                  <a:pt x="23039" y="276463"/>
                </a:lnTo>
                <a:cubicBezTo>
                  <a:pt x="14917" y="276463"/>
                  <a:pt x="7430" y="272200"/>
                  <a:pt x="3225" y="265231"/>
                </a:cubicBezTo>
                <a:cubicBezTo>
                  <a:pt x="-979" y="258262"/>
                  <a:pt x="-1094" y="249623"/>
                  <a:pt x="2765" y="242481"/>
                </a:cubicBezTo>
                <a:lnTo>
                  <a:pt x="127173" y="12095"/>
                </a:lnTo>
                <a:cubicBezTo>
                  <a:pt x="131205" y="4665"/>
                  <a:pt x="138980" y="0"/>
                  <a:pt x="147447" y="0"/>
                </a:cubicBezTo>
                <a:close/>
                <a:moveTo>
                  <a:pt x="147447" y="96762"/>
                </a:moveTo>
                <a:cubicBezTo>
                  <a:pt x="139786" y="96762"/>
                  <a:pt x="133624" y="102925"/>
                  <a:pt x="133624" y="110585"/>
                </a:cubicBezTo>
                <a:lnTo>
                  <a:pt x="133624" y="175093"/>
                </a:lnTo>
                <a:cubicBezTo>
                  <a:pt x="133624" y="182753"/>
                  <a:pt x="139786" y="188916"/>
                  <a:pt x="147447" y="188916"/>
                </a:cubicBezTo>
                <a:cubicBezTo>
                  <a:pt x="155107" y="188916"/>
                  <a:pt x="161270" y="182753"/>
                  <a:pt x="161270" y="175093"/>
                </a:cubicBezTo>
                <a:lnTo>
                  <a:pt x="161270" y="110585"/>
                </a:lnTo>
                <a:cubicBezTo>
                  <a:pt x="161270" y="102925"/>
                  <a:pt x="155107" y="96762"/>
                  <a:pt x="147447" y="96762"/>
                </a:cubicBezTo>
                <a:close/>
                <a:moveTo>
                  <a:pt x="162825" y="221170"/>
                </a:moveTo>
                <a:cubicBezTo>
                  <a:pt x="163175" y="215462"/>
                  <a:pt x="160328" y="210031"/>
                  <a:pt x="155435" y="207071"/>
                </a:cubicBezTo>
                <a:cubicBezTo>
                  <a:pt x="150541" y="204111"/>
                  <a:pt x="144410" y="204111"/>
                  <a:pt x="139516" y="207071"/>
                </a:cubicBezTo>
                <a:cubicBezTo>
                  <a:pt x="134623" y="210031"/>
                  <a:pt x="131776" y="215462"/>
                  <a:pt x="132126" y="221170"/>
                </a:cubicBezTo>
                <a:cubicBezTo>
                  <a:pt x="131776" y="226878"/>
                  <a:pt x="134623" y="232309"/>
                  <a:pt x="139516" y="235269"/>
                </a:cubicBezTo>
                <a:cubicBezTo>
                  <a:pt x="144410" y="238229"/>
                  <a:pt x="150541" y="238229"/>
                  <a:pt x="155435" y="235269"/>
                </a:cubicBezTo>
                <a:cubicBezTo>
                  <a:pt x="160328" y="232309"/>
                  <a:pt x="163175" y="226878"/>
                  <a:pt x="162825" y="221170"/>
                </a:cubicBezTo>
                <a:close/>
              </a:path>
            </a:pathLst>
          </a:custGeom>
          <a:solidFill>
            <a:srgbClr val="495057"/>
          </a:solidFill>
          <a:ln/>
        </p:spPr>
      </p:sp>
      <p:sp>
        <p:nvSpPr>
          <p:cNvPr id="16" name="Text 14"/>
          <p:cNvSpPr/>
          <p:nvPr/>
        </p:nvSpPr>
        <p:spPr>
          <a:xfrm>
            <a:off x="9280887" y="1818509"/>
            <a:ext cx="2506594" cy="393191"/>
          </a:xfrm>
          <a:prstGeom prst="rect">
            <a:avLst/>
          </a:prstGeom>
          <a:noFill/>
          <a:ln/>
        </p:spPr>
        <p:txBody>
          <a:bodyPr wrap="square" lIns="0" tIns="0" rIns="0" bIns="0" rtlCol="0" anchor="ctr"/>
          <a:lstStyle/>
          <a:p>
            <a:pPr>
              <a:lnSpc>
                <a:spcPct val="110000"/>
              </a:lnSpc>
            </a:pPr>
            <a:r>
              <a:rPr lang="en-US" sz="2322" b="1" dirty="0">
                <a:solidFill>
                  <a:srgbClr val="495057"/>
                </a:solidFill>
                <a:latin typeface="Noto Sans SC" pitchFamily="34" charset="0"/>
                <a:ea typeface="Noto Sans SC" pitchFamily="34" charset="-122"/>
                <a:cs typeface="Noto Sans SC" pitchFamily="34" charset="-120"/>
              </a:rPr>
              <a:t>传统方法的局限性</a:t>
            </a:r>
            <a:endParaRPr lang="en-US" sz="1600" dirty="0"/>
          </a:p>
        </p:txBody>
      </p:sp>
      <p:sp>
        <p:nvSpPr>
          <p:cNvPr id="17" name="Text 15"/>
          <p:cNvSpPr/>
          <p:nvPr/>
        </p:nvSpPr>
        <p:spPr>
          <a:xfrm>
            <a:off x="8543654" y="2506594"/>
            <a:ext cx="7016006" cy="1572765"/>
          </a:xfrm>
          <a:prstGeom prst="rect">
            <a:avLst/>
          </a:prstGeom>
          <a:noFill/>
          <a:ln/>
        </p:spPr>
        <p:txBody>
          <a:bodyPr wrap="square" lIns="0" tIns="0" rIns="0" bIns="0" rtlCol="0" anchor="ctr"/>
          <a:lstStyle/>
          <a:p>
            <a:pPr>
              <a:lnSpc>
                <a:spcPct val="140000"/>
              </a:lnSpc>
            </a:pPr>
            <a:r>
              <a:rPr lang="en-US" sz="1548" dirty="0">
                <a:solidFill>
                  <a:srgbClr val="495057">
                    <a:alpha val="80000"/>
                  </a:srgbClr>
                </a:solidFill>
                <a:latin typeface="MiSans" pitchFamily="34" charset="0"/>
                <a:ea typeface="MiSans" pitchFamily="34" charset="-122"/>
                <a:cs typeface="MiSans" pitchFamily="34" charset="-120"/>
              </a:rPr>
              <a:t>传统情感分析方法主要集中在文本极性判别上。尽管深度神经网络（CNN、RNN）的引入使单模态情感分析取得显著进展，但在处理多模态数据时，早期研究往往只是</a:t>
            </a:r>
            <a:pPr>
              <a:lnSpc>
                <a:spcPct val="140000"/>
              </a:lnSpc>
            </a:pPr>
            <a:r>
              <a:rPr lang="en-US" sz="1548" dirty="0">
                <a:solidFill>
                  <a:srgbClr val="495057"/>
                </a:solidFill>
                <a:highlight>
                  <a:srgbClr val="A67B5C">
                    <a:alpha val="20000"/>
                  </a:srgbClr>
                </a:highlight>
                <a:latin typeface="MiSans" pitchFamily="34" charset="0"/>
                <a:ea typeface="MiSans" pitchFamily="34" charset="-122"/>
                <a:cs typeface="MiSans" pitchFamily="34" charset="-120"/>
              </a:rPr>
              <a:t> 简单地提取各个模态的特征表示并进行拼接融合 </a:t>
            </a:r>
            <a:pPr>
              <a:lnSpc>
                <a:spcPct val="140000"/>
              </a:lnSpc>
            </a:pPr>
            <a:r>
              <a:rPr lang="en-US" sz="1548" dirty="0">
                <a:solidFill>
                  <a:srgbClr val="495057">
                    <a:alpha val="80000"/>
                  </a:srgbClr>
                </a:solidFill>
                <a:latin typeface="Quattrocento Sans" pitchFamily="34" charset="0"/>
                <a:ea typeface="Quattrocento Sans" pitchFamily="34" charset="-122"/>
                <a:cs typeface="Quattrocento Sans" pitchFamily="34" charset="-120"/>
              </a:rPr>
              <a:t>。</a:t>
            </a:r>
            <a:endParaRPr lang="en-US" sz="1600" dirty="0"/>
          </a:p>
        </p:txBody>
      </p:sp>
      <p:sp>
        <p:nvSpPr>
          <p:cNvPr id="18" name="Shape 16"/>
          <p:cNvSpPr/>
          <p:nvPr/>
        </p:nvSpPr>
        <p:spPr>
          <a:xfrm>
            <a:off x="8543654" y="4275955"/>
            <a:ext cx="6917708" cy="589787"/>
          </a:xfrm>
          <a:custGeom>
            <a:avLst/>
            <a:gdLst/>
            <a:ahLst/>
            <a:cxnLst/>
            <a:rect l="l" t="t" r="r" b="b"/>
            <a:pathLst>
              <a:path w="6917708" h="589787">
                <a:moveTo>
                  <a:pt x="49147" y="0"/>
                </a:moveTo>
                <a:lnTo>
                  <a:pt x="6868561" y="0"/>
                </a:lnTo>
                <a:cubicBezTo>
                  <a:pt x="6895704" y="0"/>
                  <a:pt x="6917708" y="22004"/>
                  <a:pt x="6917708" y="49147"/>
                </a:cubicBezTo>
                <a:lnTo>
                  <a:pt x="6917708" y="540640"/>
                </a:lnTo>
                <a:cubicBezTo>
                  <a:pt x="6917708" y="567783"/>
                  <a:pt x="6895704" y="589787"/>
                  <a:pt x="6868561" y="589787"/>
                </a:cubicBezTo>
                <a:lnTo>
                  <a:pt x="49147" y="589787"/>
                </a:lnTo>
                <a:cubicBezTo>
                  <a:pt x="22004" y="589787"/>
                  <a:pt x="0" y="567783"/>
                  <a:pt x="0" y="540640"/>
                </a:cubicBezTo>
                <a:lnTo>
                  <a:pt x="0" y="49147"/>
                </a:lnTo>
                <a:cubicBezTo>
                  <a:pt x="0" y="22022"/>
                  <a:pt x="22022" y="0"/>
                  <a:pt x="49147" y="0"/>
                </a:cubicBezTo>
                <a:close/>
              </a:path>
            </a:pathLst>
          </a:custGeom>
          <a:solidFill>
            <a:srgbClr val="A67B5C">
              <a:alpha val="5098"/>
            </a:srgbClr>
          </a:solidFill>
          <a:ln/>
        </p:spPr>
      </p:sp>
      <p:sp>
        <p:nvSpPr>
          <p:cNvPr id="19" name="Text 17"/>
          <p:cNvSpPr/>
          <p:nvPr/>
        </p:nvSpPr>
        <p:spPr>
          <a:xfrm>
            <a:off x="8691101" y="4423401"/>
            <a:ext cx="6721113" cy="294893"/>
          </a:xfrm>
          <a:prstGeom prst="rect">
            <a:avLst/>
          </a:prstGeom>
          <a:noFill/>
          <a:ln/>
        </p:spPr>
        <p:txBody>
          <a:bodyPr wrap="square" lIns="0" tIns="0" rIns="0" bIns="0" rtlCol="0" anchor="ctr"/>
          <a:lstStyle/>
          <a:p>
            <a:pPr>
              <a:lnSpc>
                <a:spcPct val="130000"/>
              </a:lnSpc>
            </a:pPr>
            <a:r>
              <a:rPr lang="en-US" sz="1548" dirty="0">
                <a:solidFill>
                  <a:srgbClr val="495057">
                    <a:alpha val="70000"/>
                  </a:srgbClr>
                </a:solidFill>
                <a:latin typeface="MiSans" pitchFamily="34" charset="0"/>
                <a:ea typeface="MiSans" pitchFamily="34" charset="-122"/>
                <a:cs typeface="MiSans" pitchFamily="34" charset="-120"/>
              </a:rPr>
              <a:t>这种做法忽略了图像中深层语义信息以及图文之间的内在关联。</a:t>
            </a:r>
            <a:endParaRPr lang="en-US" sz="1600" dirty="0"/>
          </a:p>
        </p:txBody>
      </p:sp>
      <p:sp>
        <p:nvSpPr>
          <p:cNvPr id="20" name="Shape 18"/>
          <p:cNvSpPr/>
          <p:nvPr/>
        </p:nvSpPr>
        <p:spPr>
          <a:xfrm>
            <a:off x="491489" y="5406379"/>
            <a:ext cx="15273022" cy="3735317"/>
          </a:xfrm>
          <a:custGeom>
            <a:avLst/>
            <a:gdLst/>
            <a:ahLst/>
            <a:cxnLst/>
            <a:rect l="l" t="t" r="r" b="b"/>
            <a:pathLst>
              <a:path w="15273022" h="3735317">
                <a:moveTo>
                  <a:pt x="98314" y="0"/>
                </a:moveTo>
                <a:lnTo>
                  <a:pt x="15174708" y="0"/>
                </a:lnTo>
                <a:cubicBezTo>
                  <a:pt x="15229005" y="0"/>
                  <a:pt x="15273022" y="44016"/>
                  <a:pt x="15273022" y="98314"/>
                </a:cubicBezTo>
                <a:lnTo>
                  <a:pt x="15273022" y="3637003"/>
                </a:lnTo>
                <a:cubicBezTo>
                  <a:pt x="15273022" y="3691300"/>
                  <a:pt x="15229005" y="3735317"/>
                  <a:pt x="15174708" y="3735317"/>
                </a:cubicBezTo>
                <a:lnTo>
                  <a:pt x="98314" y="3735317"/>
                </a:lnTo>
                <a:cubicBezTo>
                  <a:pt x="44016" y="3735317"/>
                  <a:pt x="0" y="3691300"/>
                  <a:pt x="0" y="3637003"/>
                </a:cubicBezTo>
                <a:lnTo>
                  <a:pt x="0" y="98314"/>
                </a:lnTo>
                <a:cubicBezTo>
                  <a:pt x="0" y="44016"/>
                  <a:pt x="44016" y="0"/>
                  <a:pt x="98314" y="0"/>
                </a:cubicBezTo>
                <a:close/>
              </a:path>
            </a:pathLst>
          </a:custGeom>
          <a:solidFill>
            <a:srgbClr val="FFFFFF"/>
          </a:solidFill>
          <a:ln/>
          <a:effectLst>
            <a:outerShdw sx="100000" sy="100000" kx="0" ky="0" algn="bl" rotWithShape="0" blurRad="73723" dist="49149" dir="5400000">
              <a:srgbClr val="000000">
                <a:alpha val="10196"/>
              </a:srgbClr>
            </a:outerShdw>
          </a:effectLst>
        </p:spPr>
      </p:sp>
      <p:sp>
        <p:nvSpPr>
          <p:cNvPr id="21" name="Shape 19"/>
          <p:cNvSpPr/>
          <p:nvPr/>
        </p:nvSpPr>
        <p:spPr>
          <a:xfrm>
            <a:off x="786382" y="5701273"/>
            <a:ext cx="589787" cy="589787"/>
          </a:xfrm>
          <a:custGeom>
            <a:avLst/>
            <a:gdLst/>
            <a:ahLst/>
            <a:cxnLst/>
            <a:rect l="l" t="t" r="r" b="b"/>
            <a:pathLst>
              <a:path w="589787" h="589787">
                <a:moveTo>
                  <a:pt x="98300" y="0"/>
                </a:moveTo>
                <a:lnTo>
                  <a:pt x="491487" y="0"/>
                </a:lnTo>
                <a:cubicBezTo>
                  <a:pt x="545777" y="0"/>
                  <a:pt x="589787" y="44010"/>
                  <a:pt x="589787" y="98300"/>
                </a:cubicBezTo>
                <a:lnTo>
                  <a:pt x="589787" y="491487"/>
                </a:lnTo>
                <a:cubicBezTo>
                  <a:pt x="589787" y="545777"/>
                  <a:pt x="545777" y="589787"/>
                  <a:pt x="491487" y="589787"/>
                </a:cubicBezTo>
                <a:lnTo>
                  <a:pt x="98300" y="589787"/>
                </a:lnTo>
                <a:cubicBezTo>
                  <a:pt x="44010" y="589787"/>
                  <a:pt x="0" y="545777"/>
                  <a:pt x="0" y="491487"/>
                </a:cubicBezTo>
                <a:lnTo>
                  <a:pt x="0" y="98300"/>
                </a:lnTo>
                <a:cubicBezTo>
                  <a:pt x="0" y="44047"/>
                  <a:pt x="44047" y="0"/>
                  <a:pt x="98300" y="0"/>
                </a:cubicBezTo>
                <a:close/>
              </a:path>
            </a:pathLst>
          </a:custGeom>
          <a:solidFill>
            <a:srgbClr val="ADB5BD">
              <a:alpha val="10196"/>
            </a:srgbClr>
          </a:solidFill>
          <a:ln/>
        </p:spPr>
      </p:sp>
      <p:sp>
        <p:nvSpPr>
          <p:cNvPr id="22" name="Shape 20"/>
          <p:cNvSpPr/>
          <p:nvPr/>
        </p:nvSpPr>
        <p:spPr>
          <a:xfrm>
            <a:off x="970691" y="5848720"/>
            <a:ext cx="221170" cy="294893"/>
          </a:xfrm>
          <a:custGeom>
            <a:avLst/>
            <a:gdLst/>
            <a:ahLst/>
            <a:cxnLst/>
            <a:rect l="l" t="t" r="r" b="b"/>
            <a:pathLst>
              <a:path w="221170" h="294893">
                <a:moveTo>
                  <a:pt x="168700" y="221170"/>
                </a:moveTo>
                <a:cubicBezTo>
                  <a:pt x="172904" y="208326"/>
                  <a:pt x="181313" y="196692"/>
                  <a:pt x="190817" y="186670"/>
                </a:cubicBezTo>
                <a:cubicBezTo>
                  <a:pt x="209651" y="166857"/>
                  <a:pt x="221170" y="140074"/>
                  <a:pt x="221170" y="110585"/>
                </a:cubicBezTo>
                <a:cubicBezTo>
                  <a:pt x="221170" y="49533"/>
                  <a:pt x="171637" y="0"/>
                  <a:pt x="110585" y="0"/>
                </a:cubicBezTo>
                <a:cubicBezTo>
                  <a:pt x="49533" y="0"/>
                  <a:pt x="0" y="49533"/>
                  <a:pt x="0" y="110585"/>
                </a:cubicBezTo>
                <a:cubicBezTo>
                  <a:pt x="0" y="140074"/>
                  <a:pt x="11519" y="166857"/>
                  <a:pt x="30353" y="186670"/>
                </a:cubicBezTo>
                <a:cubicBezTo>
                  <a:pt x="39857" y="196692"/>
                  <a:pt x="48323" y="208326"/>
                  <a:pt x="52470" y="221170"/>
                </a:cubicBezTo>
                <a:lnTo>
                  <a:pt x="168642" y="221170"/>
                </a:lnTo>
                <a:close/>
                <a:moveTo>
                  <a:pt x="165878" y="248816"/>
                </a:moveTo>
                <a:lnTo>
                  <a:pt x="55293" y="248816"/>
                </a:lnTo>
                <a:lnTo>
                  <a:pt x="55293" y="258032"/>
                </a:lnTo>
                <a:cubicBezTo>
                  <a:pt x="55293" y="283489"/>
                  <a:pt x="75912" y="304109"/>
                  <a:pt x="101370" y="304109"/>
                </a:cubicBezTo>
                <a:lnTo>
                  <a:pt x="119800" y="304109"/>
                </a:lnTo>
                <a:cubicBezTo>
                  <a:pt x="145258" y="304109"/>
                  <a:pt x="165878" y="283489"/>
                  <a:pt x="165878" y="258032"/>
                </a:cubicBezTo>
                <a:lnTo>
                  <a:pt x="165878" y="248816"/>
                </a:lnTo>
                <a:close/>
                <a:moveTo>
                  <a:pt x="105977" y="64508"/>
                </a:moveTo>
                <a:cubicBezTo>
                  <a:pt x="83054" y="64508"/>
                  <a:pt x="64508" y="83054"/>
                  <a:pt x="64508" y="105977"/>
                </a:cubicBezTo>
                <a:cubicBezTo>
                  <a:pt x="64508" y="113638"/>
                  <a:pt x="58345" y="119800"/>
                  <a:pt x="50685" y="119800"/>
                </a:cubicBezTo>
                <a:cubicBezTo>
                  <a:pt x="43024" y="119800"/>
                  <a:pt x="36862" y="113638"/>
                  <a:pt x="36862" y="105977"/>
                </a:cubicBezTo>
                <a:cubicBezTo>
                  <a:pt x="36862" y="67791"/>
                  <a:pt x="67791" y="36862"/>
                  <a:pt x="105977" y="36862"/>
                </a:cubicBezTo>
                <a:cubicBezTo>
                  <a:pt x="113638" y="36862"/>
                  <a:pt x="119800" y="43024"/>
                  <a:pt x="119800" y="50685"/>
                </a:cubicBezTo>
                <a:cubicBezTo>
                  <a:pt x="119800" y="58345"/>
                  <a:pt x="113638" y="64508"/>
                  <a:pt x="105977" y="64508"/>
                </a:cubicBezTo>
                <a:close/>
              </a:path>
            </a:pathLst>
          </a:custGeom>
          <a:solidFill>
            <a:srgbClr val="A67B5C"/>
          </a:solidFill>
          <a:ln/>
        </p:spPr>
      </p:sp>
      <p:sp>
        <p:nvSpPr>
          <p:cNvPr id="23" name="Text 21"/>
          <p:cNvSpPr/>
          <p:nvPr/>
        </p:nvSpPr>
        <p:spPr>
          <a:xfrm>
            <a:off x="1523616" y="5799571"/>
            <a:ext cx="3391274" cy="393191"/>
          </a:xfrm>
          <a:prstGeom prst="rect">
            <a:avLst/>
          </a:prstGeom>
          <a:noFill/>
          <a:ln/>
        </p:spPr>
        <p:txBody>
          <a:bodyPr wrap="square" lIns="0" tIns="0" rIns="0" bIns="0" rtlCol="0" anchor="ctr"/>
          <a:lstStyle/>
          <a:p>
            <a:pPr>
              <a:lnSpc>
                <a:spcPct val="110000"/>
              </a:lnSpc>
            </a:pPr>
            <a:r>
              <a:rPr lang="en-US" sz="2322" b="1" dirty="0">
                <a:solidFill>
                  <a:srgbClr val="495057"/>
                </a:solidFill>
                <a:latin typeface="Noto Sans SC" pitchFamily="34" charset="0"/>
                <a:ea typeface="Noto Sans SC" pitchFamily="34" charset="-122"/>
                <a:cs typeface="Noto Sans SC" pitchFamily="34" charset="-120"/>
              </a:rPr>
              <a:t>关键洞察：情感触发机制</a:t>
            </a:r>
            <a:endParaRPr lang="en-US" sz="1600" dirty="0"/>
          </a:p>
        </p:txBody>
      </p:sp>
      <p:sp>
        <p:nvSpPr>
          <p:cNvPr id="24" name="Shape 22"/>
          <p:cNvSpPr/>
          <p:nvPr/>
        </p:nvSpPr>
        <p:spPr>
          <a:xfrm>
            <a:off x="786382" y="6487655"/>
            <a:ext cx="4767444" cy="1474467"/>
          </a:xfrm>
          <a:custGeom>
            <a:avLst/>
            <a:gdLst/>
            <a:ahLst/>
            <a:cxnLst/>
            <a:rect l="l" t="t" r="r" b="b"/>
            <a:pathLst>
              <a:path w="4767444" h="1474467">
                <a:moveTo>
                  <a:pt x="98303" y="0"/>
                </a:moveTo>
                <a:lnTo>
                  <a:pt x="4669141" y="0"/>
                </a:lnTo>
                <a:cubicBezTo>
                  <a:pt x="4723432" y="0"/>
                  <a:pt x="4767444" y="44012"/>
                  <a:pt x="4767444" y="98303"/>
                </a:cubicBezTo>
                <a:lnTo>
                  <a:pt x="4767444" y="1376164"/>
                </a:lnTo>
                <a:cubicBezTo>
                  <a:pt x="4767444" y="1430455"/>
                  <a:pt x="4723432" y="1474467"/>
                  <a:pt x="4669141" y="1474467"/>
                </a:cubicBezTo>
                <a:lnTo>
                  <a:pt x="98303" y="1474467"/>
                </a:lnTo>
                <a:cubicBezTo>
                  <a:pt x="44012" y="1474467"/>
                  <a:pt x="0" y="1430455"/>
                  <a:pt x="0" y="1376164"/>
                </a:cubicBezTo>
                <a:lnTo>
                  <a:pt x="0" y="98303"/>
                </a:lnTo>
                <a:cubicBezTo>
                  <a:pt x="0" y="44048"/>
                  <a:pt x="44048" y="0"/>
                  <a:pt x="98303" y="0"/>
                </a:cubicBezTo>
                <a:close/>
              </a:path>
            </a:pathLst>
          </a:custGeom>
          <a:solidFill>
            <a:srgbClr val="495057">
              <a:alpha val="5098"/>
            </a:srgbClr>
          </a:solidFill>
          <a:ln/>
        </p:spPr>
      </p:sp>
      <p:sp>
        <p:nvSpPr>
          <p:cNvPr id="25" name="Text 23"/>
          <p:cNvSpPr/>
          <p:nvPr/>
        </p:nvSpPr>
        <p:spPr>
          <a:xfrm>
            <a:off x="982978" y="6684251"/>
            <a:ext cx="4484837" cy="344042"/>
          </a:xfrm>
          <a:prstGeom prst="rect">
            <a:avLst/>
          </a:prstGeom>
          <a:noFill/>
          <a:ln/>
        </p:spPr>
        <p:txBody>
          <a:bodyPr wrap="square" lIns="0" tIns="0" rIns="0" bIns="0" rtlCol="0" anchor="ctr"/>
          <a:lstStyle/>
          <a:p>
            <a:pPr>
              <a:lnSpc>
                <a:spcPct val="130000"/>
              </a:lnSpc>
            </a:pPr>
            <a:r>
              <a:rPr lang="en-US" sz="1742" b="1" dirty="0">
                <a:solidFill>
                  <a:srgbClr val="495057"/>
                </a:solidFill>
                <a:latin typeface="MiSans" pitchFamily="34" charset="0"/>
                <a:ea typeface="MiSans" pitchFamily="34" charset="-122"/>
                <a:cs typeface="MiSans" pitchFamily="34" charset="-120"/>
              </a:rPr>
              <a:t>情感触发场景</a:t>
            </a:r>
            <a:endParaRPr lang="en-US" sz="1600" dirty="0"/>
          </a:p>
        </p:txBody>
      </p:sp>
      <p:sp>
        <p:nvSpPr>
          <p:cNvPr id="26" name="Text 24"/>
          <p:cNvSpPr/>
          <p:nvPr/>
        </p:nvSpPr>
        <p:spPr>
          <a:xfrm>
            <a:off x="982978" y="7126591"/>
            <a:ext cx="4472550" cy="638936"/>
          </a:xfrm>
          <a:prstGeom prst="rect">
            <a:avLst/>
          </a:prstGeom>
          <a:noFill/>
          <a:ln/>
        </p:spPr>
        <p:txBody>
          <a:bodyPr wrap="square" lIns="0" tIns="0" rIns="0" bIns="0" rtlCol="0" anchor="ctr"/>
          <a:lstStyle/>
          <a:p>
            <a:pPr>
              <a:lnSpc>
                <a:spcPct val="140000"/>
              </a:lnSpc>
            </a:pPr>
            <a:r>
              <a:rPr lang="en-US" sz="1548" dirty="0">
                <a:solidFill>
                  <a:srgbClr val="495057">
                    <a:alpha val="80000"/>
                  </a:srgbClr>
                </a:solidFill>
                <a:latin typeface="MiSans" pitchFamily="34" charset="0"/>
                <a:ea typeface="MiSans" pitchFamily="34" charset="-122"/>
                <a:cs typeface="MiSans" pitchFamily="34" charset="-120"/>
              </a:rPr>
              <a:t>用户在社交媒体上表达的情感，通常由</a:t>
            </a:r>
            <a:pPr>
              <a:lnSpc>
                <a:spcPct val="140000"/>
              </a:lnSpc>
            </a:pPr>
            <a:r>
              <a:rPr lang="en-US" sz="1548" b="1" dirty="0">
                <a:solidFill>
                  <a:srgbClr val="A67B5C"/>
                </a:solidFill>
                <a:latin typeface="MiSans" pitchFamily="34" charset="0"/>
                <a:ea typeface="MiSans" pitchFamily="34" charset="-122"/>
                <a:cs typeface="MiSans" pitchFamily="34" charset="-120"/>
              </a:rPr>
              <a:t>特定场景下多个对象与文本词汇的相互作用</a:t>
            </a:r>
            <a:pPr>
              <a:lnSpc>
                <a:spcPct val="140000"/>
              </a:lnSpc>
            </a:pPr>
            <a:r>
              <a:rPr lang="en-US" sz="1548" dirty="0">
                <a:solidFill>
                  <a:srgbClr val="495057">
                    <a:alpha val="80000"/>
                  </a:srgbClr>
                </a:solidFill>
                <a:latin typeface="MiSans" pitchFamily="34" charset="0"/>
                <a:ea typeface="MiSans" pitchFamily="34" charset="-122"/>
                <a:cs typeface="MiSans" pitchFamily="34" charset="-120"/>
              </a:rPr>
              <a:t>触发。</a:t>
            </a:r>
            <a:endParaRPr lang="en-US" sz="1600" dirty="0"/>
          </a:p>
        </p:txBody>
      </p:sp>
      <p:sp>
        <p:nvSpPr>
          <p:cNvPr id="27" name="Shape 25"/>
          <p:cNvSpPr/>
          <p:nvPr/>
        </p:nvSpPr>
        <p:spPr>
          <a:xfrm>
            <a:off x="5769525" y="6487655"/>
            <a:ext cx="4742869" cy="1474467"/>
          </a:xfrm>
          <a:custGeom>
            <a:avLst/>
            <a:gdLst/>
            <a:ahLst/>
            <a:cxnLst/>
            <a:rect l="l" t="t" r="r" b="b"/>
            <a:pathLst>
              <a:path w="4742869" h="1474467">
                <a:moveTo>
                  <a:pt x="49149" y="0"/>
                </a:moveTo>
                <a:lnTo>
                  <a:pt x="4644567" y="0"/>
                </a:lnTo>
                <a:cubicBezTo>
                  <a:pt x="4698858" y="0"/>
                  <a:pt x="4742869" y="44012"/>
                  <a:pt x="4742869" y="98303"/>
                </a:cubicBezTo>
                <a:lnTo>
                  <a:pt x="4742869" y="1376164"/>
                </a:lnTo>
                <a:cubicBezTo>
                  <a:pt x="4742869" y="1430455"/>
                  <a:pt x="4698858" y="1474467"/>
                  <a:pt x="4644567" y="1474467"/>
                </a:cubicBezTo>
                <a:lnTo>
                  <a:pt x="49149" y="1474467"/>
                </a:lnTo>
                <a:cubicBezTo>
                  <a:pt x="22005" y="1474467"/>
                  <a:pt x="0" y="1452462"/>
                  <a:pt x="0" y="1425318"/>
                </a:cubicBezTo>
                <a:lnTo>
                  <a:pt x="0" y="49149"/>
                </a:lnTo>
                <a:cubicBezTo>
                  <a:pt x="0" y="22023"/>
                  <a:pt x="22023" y="0"/>
                  <a:pt x="49149" y="0"/>
                </a:cubicBezTo>
                <a:close/>
              </a:path>
            </a:pathLst>
          </a:custGeom>
          <a:solidFill>
            <a:srgbClr val="A67B5C">
              <a:alpha val="10196"/>
            </a:srgbClr>
          </a:solidFill>
          <a:ln/>
        </p:spPr>
      </p:sp>
      <p:sp>
        <p:nvSpPr>
          <p:cNvPr id="28" name="Shape 26"/>
          <p:cNvSpPr/>
          <p:nvPr/>
        </p:nvSpPr>
        <p:spPr>
          <a:xfrm>
            <a:off x="5769525" y="6487655"/>
            <a:ext cx="49149" cy="1474467"/>
          </a:xfrm>
          <a:custGeom>
            <a:avLst/>
            <a:gdLst/>
            <a:ahLst/>
            <a:cxnLst/>
            <a:rect l="l" t="t" r="r" b="b"/>
            <a:pathLst>
              <a:path w="49149" h="1474467">
                <a:moveTo>
                  <a:pt x="49149" y="0"/>
                </a:moveTo>
                <a:lnTo>
                  <a:pt x="49149" y="0"/>
                </a:lnTo>
                <a:lnTo>
                  <a:pt x="49149" y="1474467"/>
                </a:lnTo>
                <a:lnTo>
                  <a:pt x="49149" y="1474467"/>
                </a:lnTo>
                <a:cubicBezTo>
                  <a:pt x="22005" y="1474467"/>
                  <a:pt x="0" y="1452462"/>
                  <a:pt x="0" y="1425318"/>
                </a:cubicBezTo>
                <a:lnTo>
                  <a:pt x="0" y="49149"/>
                </a:lnTo>
                <a:cubicBezTo>
                  <a:pt x="0" y="22023"/>
                  <a:pt x="22023" y="0"/>
                  <a:pt x="49149" y="0"/>
                </a:cubicBezTo>
                <a:close/>
              </a:path>
            </a:pathLst>
          </a:custGeom>
          <a:solidFill>
            <a:srgbClr val="A67B5C"/>
          </a:solidFill>
          <a:ln/>
        </p:spPr>
      </p:sp>
      <p:sp>
        <p:nvSpPr>
          <p:cNvPr id="29" name="Text 27"/>
          <p:cNvSpPr/>
          <p:nvPr/>
        </p:nvSpPr>
        <p:spPr>
          <a:xfrm>
            <a:off x="5990695" y="6684251"/>
            <a:ext cx="4435689" cy="344042"/>
          </a:xfrm>
          <a:prstGeom prst="rect">
            <a:avLst/>
          </a:prstGeom>
          <a:noFill/>
          <a:ln/>
        </p:spPr>
        <p:txBody>
          <a:bodyPr wrap="square" lIns="0" tIns="0" rIns="0" bIns="0" rtlCol="0" anchor="ctr"/>
          <a:lstStyle/>
          <a:p>
            <a:pPr>
              <a:lnSpc>
                <a:spcPct val="130000"/>
              </a:lnSpc>
            </a:pPr>
            <a:r>
              <a:rPr lang="en-US" sz="1742" b="1" dirty="0">
                <a:solidFill>
                  <a:srgbClr val="495057"/>
                </a:solidFill>
                <a:latin typeface="MiSans" pitchFamily="34" charset="0"/>
                <a:ea typeface="MiSans" pitchFamily="34" charset="-122"/>
                <a:cs typeface="MiSans" pitchFamily="34" charset="-120"/>
              </a:rPr>
              <a:t>示例1：积极情感</a:t>
            </a:r>
            <a:endParaRPr lang="en-US" sz="1600" dirty="0"/>
          </a:p>
        </p:txBody>
      </p:sp>
      <p:sp>
        <p:nvSpPr>
          <p:cNvPr id="30" name="Text 28"/>
          <p:cNvSpPr/>
          <p:nvPr/>
        </p:nvSpPr>
        <p:spPr>
          <a:xfrm>
            <a:off x="5990695" y="7126591"/>
            <a:ext cx="4423401" cy="638936"/>
          </a:xfrm>
          <a:prstGeom prst="rect">
            <a:avLst/>
          </a:prstGeom>
          <a:noFill/>
          <a:ln/>
        </p:spPr>
        <p:txBody>
          <a:bodyPr wrap="square" lIns="0" tIns="0" rIns="0" bIns="0" rtlCol="0" anchor="ctr"/>
          <a:lstStyle/>
          <a:p>
            <a:pPr>
              <a:lnSpc>
                <a:spcPct val="140000"/>
              </a:lnSpc>
            </a:pPr>
            <a:r>
              <a:rPr lang="en-US" sz="1548" dirty="0">
                <a:solidFill>
                  <a:srgbClr val="495057">
                    <a:alpha val="80000"/>
                  </a:srgbClr>
                </a:solidFill>
                <a:latin typeface="MiSans" pitchFamily="34" charset="0"/>
                <a:ea typeface="MiSans" pitchFamily="34" charset="-122"/>
                <a:cs typeface="MiSans" pitchFamily="34" charset="-120"/>
              </a:rPr>
              <a:t>一束</a:t>
            </a:r>
            <a:pPr>
              <a:lnSpc>
                <a:spcPct val="140000"/>
              </a:lnSpc>
            </a:pPr>
            <a:r>
              <a:rPr lang="en-US" sz="1548" b="1" dirty="0">
                <a:solidFill>
                  <a:srgbClr val="A67B5C"/>
                </a:solidFill>
                <a:latin typeface="MiSans" pitchFamily="34" charset="0"/>
                <a:ea typeface="MiSans" pitchFamily="34" charset="-122"/>
                <a:cs typeface="MiSans" pitchFamily="34" charset="-120"/>
              </a:rPr>
              <a:t>玫瑰花</a:t>
            </a:r>
            <a:pPr>
              <a:lnSpc>
                <a:spcPct val="140000"/>
              </a:lnSpc>
            </a:pPr>
            <a:r>
              <a:rPr lang="en-US" sz="1548" dirty="0">
                <a:solidFill>
                  <a:srgbClr val="495057">
                    <a:alpha val="80000"/>
                  </a:srgbClr>
                </a:solidFill>
                <a:latin typeface="MiSans" pitchFamily="34" charset="0"/>
                <a:ea typeface="MiSans" pitchFamily="34" charset="-122"/>
                <a:cs typeface="MiSans" pitchFamily="34" charset="-120"/>
              </a:rPr>
              <a:t>（对象）在</a:t>
            </a:r>
            <a:pPr>
              <a:lnSpc>
                <a:spcPct val="140000"/>
              </a:lnSpc>
            </a:pPr>
            <a:r>
              <a:rPr lang="en-US" sz="1548" b="1" dirty="0">
                <a:solidFill>
                  <a:srgbClr val="A67B5C"/>
                </a:solidFill>
                <a:latin typeface="MiSans" pitchFamily="34" charset="0"/>
                <a:ea typeface="MiSans" pitchFamily="34" charset="-122"/>
                <a:cs typeface="MiSans" pitchFamily="34" charset="-120"/>
              </a:rPr>
              <a:t>婚礼礼堂</a:t>
            </a:r>
            <a:pPr>
              <a:lnSpc>
                <a:spcPct val="140000"/>
              </a:lnSpc>
            </a:pPr>
            <a:r>
              <a:rPr lang="en-US" sz="1548" dirty="0">
                <a:solidFill>
                  <a:srgbClr val="495057">
                    <a:alpha val="80000"/>
                  </a:srgbClr>
                </a:solidFill>
                <a:latin typeface="MiSans" pitchFamily="34" charset="0"/>
                <a:ea typeface="MiSans" pitchFamily="34" charset="-122"/>
                <a:cs typeface="MiSans" pitchFamily="34" charset="-120"/>
              </a:rPr>
              <a:t>（场景）中通常传达出积极的情感</a:t>
            </a:r>
            <a:endParaRPr lang="en-US" sz="1600" dirty="0"/>
          </a:p>
        </p:txBody>
      </p:sp>
      <p:sp>
        <p:nvSpPr>
          <p:cNvPr id="31" name="Shape 29"/>
          <p:cNvSpPr/>
          <p:nvPr/>
        </p:nvSpPr>
        <p:spPr>
          <a:xfrm>
            <a:off x="10728092" y="6487655"/>
            <a:ext cx="4742869" cy="1474467"/>
          </a:xfrm>
          <a:custGeom>
            <a:avLst/>
            <a:gdLst/>
            <a:ahLst/>
            <a:cxnLst/>
            <a:rect l="l" t="t" r="r" b="b"/>
            <a:pathLst>
              <a:path w="4742869" h="1474467">
                <a:moveTo>
                  <a:pt x="49149" y="0"/>
                </a:moveTo>
                <a:lnTo>
                  <a:pt x="4644567" y="0"/>
                </a:lnTo>
                <a:cubicBezTo>
                  <a:pt x="4698858" y="0"/>
                  <a:pt x="4742869" y="44012"/>
                  <a:pt x="4742869" y="98303"/>
                </a:cubicBezTo>
                <a:lnTo>
                  <a:pt x="4742869" y="1376164"/>
                </a:lnTo>
                <a:cubicBezTo>
                  <a:pt x="4742869" y="1430455"/>
                  <a:pt x="4698858" y="1474467"/>
                  <a:pt x="4644567" y="1474467"/>
                </a:cubicBezTo>
                <a:lnTo>
                  <a:pt x="49149" y="1474467"/>
                </a:lnTo>
                <a:cubicBezTo>
                  <a:pt x="22005" y="1474467"/>
                  <a:pt x="0" y="1452462"/>
                  <a:pt x="0" y="1425318"/>
                </a:cubicBezTo>
                <a:lnTo>
                  <a:pt x="0" y="49149"/>
                </a:lnTo>
                <a:cubicBezTo>
                  <a:pt x="0" y="22023"/>
                  <a:pt x="22023" y="0"/>
                  <a:pt x="49149" y="0"/>
                </a:cubicBezTo>
                <a:close/>
              </a:path>
            </a:pathLst>
          </a:custGeom>
          <a:solidFill>
            <a:srgbClr val="495057">
              <a:alpha val="10196"/>
            </a:srgbClr>
          </a:solidFill>
          <a:ln/>
        </p:spPr>
      </p:sp>
      <p:sp>
        <p:nvSpPr>
          <p:cNvPr id="32" name="Shape 30"/>
          <p:cNvSpPr/>
          <p:nvPr/>
        </p:nvSpPr>
        <p:spPr>
          <a:xfrm>
            <a:off x="10728092" y="6487655"/>
            <a:ext cx="49149" cy="1474467"/>
          </a:xfrm>
          <a:custGeom>
            <a:avLst/>
            <a:gdLst/>
            <a:ahLst/>
            <a:cxnLst/>
            <a:rect l="l" t="t" r="r" b="b"/>
            <a:pathLst>
              <a:path w="49149" h="1474467">
                <a:moveTo>
                  <a:pt x="49149" y="0"/>
                </a:moveTo>
                <a:lnTo>
                  <a:pt x="49149" y="0"/>
                </a:lnTo>
                <a:lnTo>
                  <a:pt x="49149" y="1474467"/>
                </a:lnTo>
                <a:lnTo>
                  <a:pt x="49149" y="1474467"/>
                </a:lnTo>
                <a:cubicBezTo>
                  <a:pt x="22005" y="1474467"/>
                  <a:pt x="0" y="1452462"/>
                  <a:pt x="0" y="1425318"/>
                </a:cubicBezTo>
                <a:lnTo>
                  <a:pt x="0" y="49149"/>
                </a:lnTo>
                <a:cubicBezTo>
                  <a:pt x="0" y="22023"/>
                  <a:pt x="22023" y="0"/>
                  <a:pt x="49149" y="0"/>
                </a:cubicBezTo>
                <a:close/>
              </a:path>
            </a:pathLst>
          </a:custGeom>
          <a:solidFill>
            <a:srgbClr val="495057"/>
          </a:solidFill>
          <a:ln/>
        </p:spPr>
      </p:sp>
      <p:sp>
        <p:nvSpPr>
          <p:cNvPr id="33" name="Text 31"/>
          <p:cNvSpPr/>
          <p:nvPr/>
        </p:nvSpPr>
        <p:spPr>
          <a:xfrm>
            <a:off x="10949262" y="6843985"/>
            <a:ext cx="4435689" cy="344042"/>
          </a:xfrm>
          <a:prstGeom prst="rect">
            <a:avLst/>
          </a:prstGeom>
          <a:noFill/>
          <a:ln/>
        </p:spPr>
        <p:txBody>
          <a:bodyPr wrap="square" lIns="0" tIns="0" rIns="0" bIns="0" rtlCol="0" anchor="ctr"/>
          <a:lstStyle/>
          <a:p>
            <a:pPr>
              <a:lnSpc>
                <a:spcPct val="130000"/>
              </a:lnSpc>
            </a:pPr>
            <a:r>
              <a:rPr lang="en-US" sz="1742" b="1" dirty="0">
                <a:solidFill>
                  <a:srgbClr val="495057"/>
                </a:solidFill>
                <a:latin typeface="MiSans" pitchFamily="34" charset="0"/>
                <a:ea typeface="MiSans" pitchFamily="34" charset="-122"/>
                <a:cs typeface="MiSans" pitchFamily="34" charset="-120"/>
              </a:rPr>
              <a:t>示例2：消极情感</a:t>
            </a:r>
            <a:endParaRPr lang="en-US" sz="1600" dirty="0"/>
          </a:p>
        </p:txBody>
      </p:sp>
      <p:sp>
        <p:nvSpPr>
          <p:cNvPr id="34" name="Text 32"/>
          <p:cNvSpPr/>
          <p:nvPr/>
        </p:nvSpPr>
        <p:spPr>
          <a:xfrm>
            <a:off x="10949262" y="7286325"/>
            <a:ext cx="4423401" cy="319468"/>
          </a:xfrm>
          <a:prstGeom prst="rect">
            <a:avLst/>
          </a:prstGeom>
          <a:noFill/>
          <a:ln/>
        </p:spPr>
        <p:txBody>
          <a:bodyPr wrap="square" lIns="0" tIns="0" rIns="0" bIns="0" rtlCol="0" anchor="ctr"/>
          <a:lstStyle/>
          <a:p>
            <a:pPr>
              <a:lnSpc>
                <a:spcPct val="140000"/>
              </a:lnSpc>
            </a:pPr>
            <a:r>
              <a:rPr lang="en-US" sz="1548" dirty="0">
                <a:solidFill>
                  <a:srgbClr val="495057">
                    <a:alpha val="80000"/>
                  </a:srgbClr>
                </a:solidFill>
                <a:latin typeface="MiSans" pitchFamily="34" charset="0"/>
                <a:ea typeface="MiSans" pitchFamily="34" charset="-122"/>
                <a:cs typeface="MiSans" pitchFamily="34" charset="-120"/>
              </a:rPr>
              <a:t>一把</a:t>
            </a:r>
            <a:pPr>
              <a:lnSpc>
                <a:spcPct val="140000"/>
              </a:lnSpc>
            </a:pPr>
            <a:r>
              <a:rPr lang="en-US" sz="1548" b="1" dirty="0">
                <a:solidFill>
                  <a:srgbClr val="495057"/>
                </a:solidFill>
                <a:latin typeface="MiSans" pitchFamily="34" charset="0"/>
                <a:ea typeface="MiSans" pitchFamily="34" charset="-122"/>
                <a:cs typeface="MiSans" pitchFamily="34" charset="-120"/>
              </a:rPr>
              <a:t>枪支</a:t>
            </a:r>
            <a:pPr>
              <a:lnSpc>
                <a:spcPct val="140000"/>
              </a:lnSpc>
            </a:pPr>
            <a:r>
              <a:rPr lang="en-US" sz="1548" dirty="0">
                <a:solidFill>
                  <a:srgbClr val="495057">
                    <a:alpha val="80000"/>
                  </a:srgbClr>
                </a:solidFill>
                <a:latin typeface="MiSans" pitchFamily="34" charset="0"/>
                <a:ea typeface="MiSans" pitchFamily="34" charset="-122"/>
                <a:cs typeface="MiSans" pitchFamily="34" charset="-120"/>
              </a:rPr>
              <a:t>或</a:t>
            </a:r>
            <a:pPr>
              <a:lnSpc>
                <a:spcPct val="140000"/>
              </a:lnSpc>
            </a:pPr>
            <a:r>
              <a:rPr lang="en-US" sz="1548" b="1" dirty="0">
                <a:solidFill>
                  <a:srgbClr val="495057"/>
                </a:solidFill>
                <a:latin typeface="MiSans" pitchFamily="34" charset="0"/>
                <a:ea typeface="MiSans" pitchFamily="34" charset="-122"/>
                <a:cs typeface="MiSans" pitchFamily="34" charset="-120"/>
              </a:rPr>
              <a:t>火灾现场</a:t>
            </a:r>
            <a:pPr>
              <a:lnSpc>
                <a:spcPct val="140000"/>
              </a:lnSpc>
            </a:pPr>
            <a:r>
              <a:rPr lang="en-US" sz="1548" dirty="0">
                <a:solidFill>
                  <a:srgbClr val="495057">
                    <a:alpha val="80000"/>
                  </a:srgbClr>
                </a:solidFill>
                <a:latin typeface="MiSans" pitchFamily="34" charset="0"/>
                <a:ea typeface="MiSans" pitchFamily="34" charset="-122"/>
                <a:cs typeface="MiSans" pitchFamily="34" charset="-120"/>
              </a:rPr>
              <a:t>则更可能诱发消极情绪</a:t>
            </a:r>
            <a:endParaRPr lang="en-US" sz="1600" dirty="0"/>
          </a:p>
        </p:txBody>
      </p:sp>
      <p:sp>
        <p:nvSpPr>
          <p:cNvPr id="35" name="Shape 33"/>
          <p:cNvSpPr/>
          <p:nvPr/>
        </p:nvSpPr>
        <p:spPr>
          <a:xfrm>
            <a:off x="786382" y="8158718"/>
            <a:ext cx="14683235" cy="688085"/>
          </a:xfrm>
          <a:custGeom>
            <a:avLst/>
            <a:gdLst/>
            <a:ahLst/>
            <a:cxnLst/>
            <a:rect l="l" t="t" r="r" b="b"/>
            <a:pathLst>
              <a:path w="14683235" h="688085">
                <a:moveTo>
                  <a:pt x="98300" y="0"/>
                </a:moveTo>
                <a:lnTo>
                  <a:pt x="14584935" y="0"/>
                </a:lnTo>
                <a:cubicBezTo>
                  <a:pt x="14639225" y="0"/>
                  <a:pt x="14683235" y="44010"/>
                  <a:pt x="14683235" y="98300"/>
                </a:cubicBezTo>
                <a:lnTo>
                  <a:pt x="14683235" y="589785"/>
                </a:lnTo>
                <a:cubicBezTo>
                  <a:pt x="14683235" y="644074"/>
                  <a:pt x="14639225" y="688085"/>
                  <a:pt x="14584935" y="688085"/>
                </a:cubicBezTo>
                <a:lnTo>
                  <a:pt x="98300" y="688085"/>
                </a:lnTo>
                <a:cubicBezTo>
                  <a:pt x="44010" y="688085"/>
                  <a:pt x="0" y="644074"/>
                  <a:pt x="0" y="589785"/>
                </a:cubicBezTo>
                <a:lnTo>
                  <a:pt x="0" y="98300"/>
                </a:lnTo>
                <a:cubicBezTo>
                  <a:pt x="0" y="44047"/>
                  <a:pt x="44047" y="0"/>
                  <a:pt x="98300" y="0"/>
                </a:cubicBezTo>
                <a:close/>
              </a:path>
            </a:pathLst>
          </a:custGeom>
          <a:gradFill rotWithShape="1" flip="none">
            <a:gsLst>
              <a:gs pos="0">
                <a:srgbClr val="A67B5C">
                  <a:alpha val="10000"/>
                </a:srgbClr>
              </a:gs>
              <a:gs pos="100000">
                <a:srgbClr val="495057">
                  <a:alpha val="10000"/>
                </a:srgbClr>
              </a:gs>
            </a:gsLst>
            <a:lin ang="0" scaled="1"/>
          </a:gradFill>
          <a:ln/>
        </p:spPr>
      </p:sp>
      <p:sp>
        <p:nvSpPr>
          <p:cNvPr id="36" name="Shape 34"/>
          <p:cNvSpPr/>
          <p:nvPr/>
        </p:nvSpPr>
        <p:spPr>
          <a:xfrm>
            <a:off x="1007553" y="8392175"/>
            <a:ext cx="196596" cy="196596"/>
          </a:xfrm>
          <a:custGeom>
            <a:avLst/>
            <a:gdLst/>
            <a:ahLst/>
            <a:cxnLst/>
            <a:rect l="l" t="t" r="r" b="b"/>
            <a:pathLst>
              <a:path w="196596" h="196596">
                <a:moveTo>
                  <a:pt x="98298" y="196596"/>
                </a:moveTo>
                <a:cubicBezTo>
                  <a:pt x="152550" y="196596"/>
                  <a:pt x="196596" y="152550"/>
                  <a:pt x="196596" y="98298"/>
                </a:cubicBezTo>
                <a:cubicBezTo>
                  <a:pt x="196596" y="44046"/>
                  <a:pt x="152550" y="0"/>
                  <a:pt x="98298" y="0"/>
                </a:cubicBezTo>
                <a:cubicBezTo>
                  <a:pt x="44046" y="0"/>
                  <a:pt x="0" y="44046"/>
                  <a:pt x="0" y="98298"/>
                </a:cubicBezTo>
                <a:cubicBezTo>
                  <a:pt x="0" y="152550"/>
                  <a:pt x="44046" y="196596"/>
                  <a:pt x="98298" y="196596"/>
                </a:cubicBezTo>
                <a:close/>
                <a:moveTo>
                  <a:pt x="130705" y="81672"/>
                </a:moveTo>
                <a:lnTo>
                  <a:pt x="99987" y="130821"/>
                </a:lnTo>
                <a:cubicBezTo>
                  <a:pt x="98375" y="133393"/>
                  <a:pt x="95610" y="135006"/>
                  <a:pt x="92577" y="135159"/>
                </a:cubicBezTo>
                <a:cubicBezTo>
                  <a:pt x="89543" y="135313"/>
                  <a:pt x="86625" y="133931"/>
                  <a:pt x="84820" y="131473"/>
                </a:cubicBezTo>
                <a:lnTo>
                  <a:pt x="66389" y="106899"/>
                </a:lnTo>
                <a:cubicBezTo>
                  <a:pt x="63318" y="102829"/>
                  <a:pt x="64162" y="97069"/>
                  <a:pt x="68233" y="93997"/>
                </a:cubicBezTo>
                <a:cubicBezTo>
                  <a:pt x="72303" y="90925"/>
                  <a:pt x="78062" y="91770"/>
                  <a:pt x="81134" y="95840"/>
                </a:cubicBezTo>
                <a:lnTo>
                  <a:pt x="91501" y="109663"/>
                </a:lnTo>
                <a:lnTo>
                  <a:pt x="115078" y="71919"/>
                </a:lnTo>
                <a:cubicBezTo>
                  <a:pt x="117765" y="67618"/>
                  <a:pt x="123448" y="66274"/>
                  <a:pt x="127787" y="69000"/>
                </a:cubicBezTo>
                <a:cubicBezTo>
                  <a:pt x="132126" y="71727"/>
                  <a:pt x="133432" y="77371"/>
                  <a:pt x="130705" y="81710"/>
                </a:cubicBezTo>
                <a:close/>
              </a:path>
            </a:pathLst>
          </a:custGeom>
          <a:solidFill>
            <a:srgbClr val="A67B5C"/>
          </a:solidFill>
          <a:ln/>
        </p:spPr>
      </p:sp>
      <p:sp>
        <p:nvSpPr>
          <p:cNvPr id="37" name="Text 35"/>
          <p:cNvSpPr/>
          <p:nvPr/>
        </p:nvSpPr>
        <p:spPr>
          <a:xfrm>
            <a:off x="1323826" y="8355314"/>
            <a:ext cx="14047494" cy="294893"/>
          </a:xfrm>
          <a:prstGeom prst="rect">
            <a:avLst/>
          </a:prstGeom>
          <a:noFill/>
          <a:ln/>
        </p:spPr>
        <p:txBody>
          <a:bodyPr wrap="square" lIns="0" tIns="0" rIns="0" bIns="0" rtlCol="0" anchor="ctr"/>
          <a:lstStyle/>
          <a:p>
            <a:pPr>
              <a:lnSpc>
                <a:spcPct val="130000"/>
              </a:lnSpc>
            </a:pPr>
            <a:r>
              <a:rPr lang="en-US" sz="1548" b="1" dirty="0">
                <a:solidFill>
                  <a:srgbClr val="495057"/>
                </a:solidFill>
                <a:latin typeface="MiSans" pitchFamily="34" charset="0"/>
                <a:ea typeface="MiSans" pitchFamily="34" charset="-122"/>
                <a:cs typeface="MiSans" pitchFamily="34" charset="-120"/>
              </a:rPr>
              <a:t>核心结论：提取图像中具有明确语义的"对象"和"场景"作为辅助信息，对于准确理解推文背后的情感至关重要</a:t>
            </a:r>
            <a:endParaRPr lang="en-US" sz="1600" dirty="0"/>
          </a:p>
        </p:txBody>
      </p:sp>
    </p:spTree>
  </p:cSld>
  <p:clrMapOvr>
    <a:masterClrMapping/>
  </p:clrMapOvr>
  <p:transition>
    <p:fade/>
    <p:spd val="med"/>
  </p:transition>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9FA"/>
        </a:solidFill>
      </p:bgPr>
    </p:bg>
    <p:spTree>
      <p:nvGrpSpPr>
        <p:cNvPr id="1" name=""/>
        <p:cNvGrpSpPr/>
        <p:nvPr/>
      </p:nvGrpSpPr>
      <p:grpSpPr>
        <a:xfrm>
          <a:off x="0" y="0"/>
          <a:ext cx="0" cy="0"/>
          <a:chOff x="0" y="0"/>
          <a:chExt cx="0" cy="0"/>
        </a:xfrm>
      </p:grpSpPr>
      <p:sp>
        <p:nvSpPr>
          <p:cNvPr id="2" name="Shape 0"/>
          <p:cNvSpPr/>
          <p:nvPr/>
        </p:nvSpPr>
        <p:spPr>
          <a:xfrm>
            <a:off x="508000" y="558800"/>
            <a:ext cx="406400" cy="406400"/>
          </a:xfrm>
          <a:custGeom>
            <a:avLst/>
            <a:gdLst/>
            <a:ahLst/>
            <a:cxnLst/>
            <a:rect l="l" t="t" r="r" b="b"/>
            <a:pathLst>
              <a:path w="406400" h="406400">
                <a:moveTo>
                  <a:pt x="50800" y="0"/>
                </a:moveTo>
                <a:lnTo>
                  <a:pt x="355600" y="0"/>
                </a:lnTo>
                <a:cubicBezTo>
                  <a:pt x="383637" y="0"/>
                  <a:pt x="406400" y="22763"/>
                  <a:pt x="406400" y="50800"/>
                </a:cubicBezTo>
                <a:lnTo>
                  <a:pt x="406400" y="355600"/>
                </a:lnTo>
                <a:cubicBezTo>
                  <a:pt x="406400" y="383637"/>
                  <a:pt x="383637" y="406400"/>
                  <a:pt x="355600" y="406400"/>
                </a:cubicBezTo>
                <a:lnTo>
                  <a:pt x="50800" y="406400"/>
                </a:lnTo>
                <a:cubicBezTo>
                  <a:pt x="22763" y="406400"/>
                  <a:pt x="0" y="383637"/>
                  <a:pt x="0" y="355600"/>
                </a:cubicBezTo>
                <a:lnTo>
                  <a:pt x="0" y="50800"/>
                </a:lnTo>
                <a:cubicBezTo>
                  <a:pt x="0" y="22763"/>
                  <a:pt x="22763" y="0"/>
                  <a:pt x="50800" y="0"/>
                </a:cubicBezTo>
                <a:close/>
              </a:path>
            </a:pathLst>
          </a:custGeom>
          <a:solidFill>
            <a:srgbClr val="495057"/>
          </a:solidFill>
          <a:ln/>
        </p:spPr>
      </p:sp>
      <p:sp>
        <p:nvSpPr>
          <p:cNvPr id="3" name="Text 1"/>
          <p:cNvSpPr/>
          <p:nvPr/>
        </p:nvSpPr>
        <p:spPr>
          <a:xfrm>
            <a:off x="605730" y="609600"/>
            <a:ext cx="317500" cy="304800"/>
          </a:xfrm>
          <a:prstGeom prst="rect">
            <a:avLst/>
          </a:prstGeom>
          <a:noFill/>
          <a:ln/>
        </p:spPr>
        <p:txBody>
          <a:bodyPr wrap="square" lIns="0" tIns="0" rIns="0" bIns="0" rtlCol="0" anchor="ctr"/>
          <a:lstStyle/>
          <a:p>
            <a:pPr>
              <a:lnSpc>
                <a:spcPct val="130000"/>
              </a:lnSpc>
            </a:pPr>
            <a:r>
              <a:rPr lang="en-US" sz="1600" b="1" dirty="0">
                <a:solidFill>
                  <a:srgbClr val="F8F9FA"/>
                </a:solidFill>
                <a:latin typeface="Liter" pitchFamily="34" charset="0"/>
                <a:ea typeface="Liter" pitchFamily="34" charset="-122"/>
                <a:cs typeface="Liter" pitchFamily="34" charset="-120"/>
              </a:rPr>
              <a:t>01</a:t>
            </a:r>
            <a:endParaRPr lang="en-US" sz="1600" dirty="0"/>
          </a:p>
        </p:txBody>
      </p:sp>
      <p:sp>
        <p:nvSpPr>
          <p:cNvPr id="4" name="Text 2"/>
          <p:cNvSpPr/>
          <p:nvPr/>
        </p:nvSpPr>
        <p:spPr>
          <a:xfrm>
            <a:off x="1066800" y="508000"/>
            <a:ext cx="4343400" cy="508000"/>
          </a:xfrm>
          <a:prstGeom prst="rect">
            <a:avLst/>
          </a:prstGeom>
          <a:noFill/>
          <a:ln/>
        </p:spPr>
        <p:txBody>
          <a:bodyPr wrap="square" lIns="0" tIns="0" rIns="0" bIns="0" rtlCol="0" anchor="ctr"/>
          <a:lstStyle/>
          <a:p>
            <a:pPr>
              <a:lnSpc>
                <a:spcPct val="90000"/>
              </a:lnSpc>
            </a:pPr>
            <a:r>
              <a:rPr lang="en-US" sz="3600" b="1" dirty="0">
                <a:solidFill>
                  <a:srgbClr val="495057"/>
                </a:solidFill>
                <a:latin typeface="Noto Sans SC" pitchFamily="34" charset="0"/>
                <a:ea typeface="Noto Sans SC" pitchFamily="34" charset="-122"/>
                <a:cs typeface="Noto Sans SC" pitchFamily="34" charset="-120"/>
              </a:rPr>
              <a:t>研究动机与核心贡献</a:t>
            </a:r>
            <a:endParaRPr lang="en-US" sz="1600" dirty="0"/>
          </a:p>
        </p:txBody>
      </p:sp>
      <p:sp>
        <p:nvSpPr>
          <p:cNvPr id="5" name="Shape 3"/>
          <p:cNvSpPr/>
          <p:nvPr/>
        </p:nvSpPr>
        <p:spPr>
          <a:xfrm>
            <a:off x="508000" y="1117600"/>
            <a:ext cx="1016000" cy="50800"/>
          </a:xfrm>
          <a:custGeom>
            <a:avLst/>
            <a:gdLst/>
            <a:ahLst/>
            <a:cxnLst/>
            <a:rect l="l" t="t" r="r" b="b"/>
            <a:pathLst>
              <a:path w="1016000" h="50800">
                <a:moveTo>
                  <a:pt x="0" y="0"/>
                </a:moveTo>
                <a:lnTo>
                  <a:pt x="1016000" y="0"/>
                </a:lnTo>
                <a:lnTo>
                  <a:pt x="1016000" y="50800"/>
                </a:lnTo>
                <a:lnTo>
                  <a:pt x="0" y="50800"/>
                </a:lnTo>
                <a:lnTo>
                  <a:pt x="0" y="0"/>
                </a:lnTo>
                <a:close/>
              </a:path>
            </a:pathLst>
          </a:custGeom>
          <a:solidFill>
            <a:srgbClr val="A67B5C"/>
          </a:solidFill>
          <a:ln/>
        </p:spPr>
      </p:sp>
      <p:sp>
        <p:nvSpPr>
          <p:cNvPr id="6" name="Shape 4"/>
          <p:cNvSpPr/>
          <p:nvPr/>
        </p:nvSpPr>
        <p:spPr>
          <a:xfrm>
            <a:off x="508000" y="1473200"/>
            <a:ext cx="15240000" cy="1917700"/>
          </a:xfrm>
          <a:custGeom>
            <a:avLst/>
            <a:gdLst/>
            <a:ahLst/>
            <a:cxnLst/>
            <a:rect l="l" t="t" r="r" b="b"/>
            <a:pathLst>
              <a:path w="15240000" h="1917700">
                <a:moveTo>
                  <a:pt x="101600" y="0"/>
                </a:moveTo>
                <a:lnTo>
                  <a:pt x="15138400" y="0"/>
                </a:lnTo>
                <a:cubicBezTo>
                  <a:pt x="15194512" y="0"/>
                  <a:pt x="15240000" y="45488"/>
                  <a:pt x="15240000" y="101600"/>
                </a:cubicBezTo>
                <a:lnTo>
                  <a:pt x="15240000" y="1816100"/>
                </a:lnTo>
                <a:cubicBezTo>
                  <a:pt x="15240000" y="1872212"/>
                  <a:pt x="15194512" y="1917700"/>
                  <a:pt x="15138400" y="1917700"/>
                </a:cubicBezTo>
                <a:lnTo>
                  <a:pt x="101600" y="1917700"/>
                </a:lnTo>
                <a:cubicBezTo>
                  <a:pt x="45488" y="1917700"/>
                  <a:pt x="0" y="1872212"/>
                  <a:pt x="0" y="1816100"/>
                </a:cubicBezTo>
                <a:lnTo>
                  <a:pt x="0" y="101600"/>
                </a:lnTo>
                <a:cubicBezTo>
                  <a:pt x="0" y="45525"/>
                  <a:pt x="45525" y="0"/>
                  <a:pt x="101600" y="0"/>
                </a:cubicBezTo>
                <a:close/>
              </a:path>
            </a:pathLst>
          </a:custGeom>
          <a:gradFill rotWithShape="1" flip="none">
            <a:gsLst>
              <a:gs pos="0">
                <a:srgbClr val="495057"/>
              </a:gs>
              <a:gs pos="100000">
                <a:srgbClr val="495057">
                  <a:alpha val="90000"/>
                </a:srgbClr>
              </a:gs>
            </a:gsLst>
            <a:lin ang="0" scaled="1"/>
          </a:gradFill>
          <a:ln/>
          <a:effectLst>
            <a:outerShdw sx="100000" sy="100000" kx="0" ky="0" algn="bl" rotWithShape="0" blurRad="190500" dist="127000" dir="5400000">
              <a:srgbClr val="000000">
                <a:alpha val="10196"/>
              </a:srgbClr>
            </a:outerShdw>
          </a:effectLst>
        </p:spPr>
      </p:sp>
      <p:sp>
        <p:nvSpPr>
          <p:cNvPr id="7" name="Shape 5"/>
          <p:cNvSpPr/>
          <p:nvPr/>
        </p:nvSpPr>
        <p:spPr>
          <a:xfrm>
            <a:off x="812800" y="1778000"/>
            <a:ext cx="812800" cy="812800"/>
          </a:xfrm>
          <a:custGeom>
            <a:avLst/>
            <a:gdLst/>
            <a:ahLst/>
            <a:cxnLst/>
            <a:rect l="l" t="t" r="r" b="b"/>
            <a:pathLst>
              <a:path w="812800" h="812800">
                <a:moveTo>
                  <a:pt x="406400" y="0"/>
                </a:moveTo>
                <a:lnTo>
                  <a:pt x="406400" y="0"/>
                </a:lnTo>
                <a:cubicBezTo>
                  <a:pt x="630698" y="0"/>
                  <a:pt x="812800" y="182102"/>
                  <a:pt x="812800" y="406400"/>
                </a:cubicBezTo>
                <a:lnTo>
                  <a:pt x="812800" y="406400"/>
                </a:lnTo>
                <a:cubicBezTo>
                  <a:pt x="812800" y="630698"/>
                  <a:pt x="630698" y="812800"/>
                  <a:pt x="406400" y="812800"/>
                </a:cubicBezTo>
                <a:lnTo>
                  <a:pt x="406400" y="812800"/>
                </a:lnTo>
                <a:cubicBezTo>
                  <a:pt x="182102" y="812800"/>
                  <a:pt x="0" y="630698"/>
                  <a:pt x="0" y="406400"/>
                </a:cubicBezTo>
                <a:lnTo>
                  <a:pt x="0" y="406400"/>
                </a:lnTo>
                <a:cubicBezTo>
                  <a:pt x="0" y="182102"/>
                  <a:pt x="182102" y="0"/>
                  <a:pt x="406400" y="0"/>
                </a:cubicBezTo>
                <a:close/>
              </a:path>
            </a:pathLst>
          </a:custGeom>
          <a:solidFill>
            <a:srgbClr val="A67B5C"/>
          </a:solidFill>
          <a:ln/>
        </p:spPr>
      </p:sp>
      <p:sp>
        <p:nvSpPr>
          <p:cNvPr id="8" name="Shape 6"/>
          <p:cNvSpPr/>
          <p:nvPr/>
        </p:nvSpPr>
        <p:spPr>
          <a:xfrm>
            <a:off x="1031875" y="1993900"/>
            <a:ext cx="381000" cy="381000"/>
          </a:xfrm>
          <a:custGeom>
            <a:avLst/>
            <a:gdLst/>
            <a:ahLst/>
            <a:cxnLst/>
            <a:rect l="l" t="t" r="r" b="b"/>
            <a:pathLst>
              <a:path w="381000" h="381000">
                <a:moveTo>
                  <a:pt x="333375" y="190500"/>
                </a:moveTo>
                <a:cubicBezTo>
                  <a:pt x="333375" y="111645"/>
                  <a:pt x="269355" y="47625"/>
                  <a:pt x="190500" y="47625"/>
                </a:cubicBezTo>
                <a:cubicBezTo>
                  <a:pt x="111645" y="47625"/>
                  <a:pt x="47625" y="111645"/>
                  <a:pt x="47625" y="190500"/>
                </a:cubicBezTo>
                <a:cubicBezTo>
                  <a:pt x="47625" y="269355"/>
                  <a:pt x="111645" y="333375"/>
                  <a:pt x="190500" y="333375"/>
                </a:cubicBezTo>
                <a:cubicBezTo>
                  <a:pt x="269355" y="333375"/>
                  <a:pt x="333375" y="269355"/>
                  <a:pt x="333375" y="190500"/>
                </a:cubicBezTo>
                <a:close/>
                <a:moveTo>
                  <a:pt x="0" y="190500"/>
                </a:moveTo>
                <a:cubicBezTo>
                  <a:pt x="0" y="85360"/>
                  <a:pt x="85360" y="0"/>
                  <a:pt x="190500" y="0"/>
                </a:cubicBezTo>
                <a:cubicBezTo>
                  <a:pt x="295640" y="0"/>
                  <a:pt x="381000" y="85360"/>
                  <a:pt x="381000" y="190500"/>
                </a:cubicBezTo>
                <a:cubicBezTo>
                  <a:pt x="381000" y="295640"/>
                  <a:pt x="295640" y="381000"/>
                  <a:pt x="190500" y="381000"/>
                </a:cubicBezTo>
                <a:cubicBezTo>
                  <a:pt x="85360" y="381000"/>
                  <a:pt x="0" y="295640"/>
                  <a:pt x="0" y="190500"/>
                </a:cubicBezTo>
                <a:close/>
                <a:moveTo>
                  <a:pt x="190500" y="250031"/>
                </a:moveTo>
                <a:cubicBezTo>
                  <a:pt x="223356" y="250031"/>
                  <a:pt x="250031" y="223356"/>
                  <a:pt x="250031" y="190500"/>
                </a:cubicBezTo>
                <a:cubicBezTo>
                  <a:pt x="250031" y="157644"/>
                  <a:pt x="223356" y="130969"/>
                  <a:pt x="190500" y="130969"/>
                </a:cubicBezTo>
                <a:cubicBezTo>
                  <a:pt x="157644" y="130969"/>
                  <a:pt x="130969" y="157644"/>
                  <a:pt x="130969" y="190500"/>
                </a:cubicBezTo>
                <a:cubicBezTo>
                  <a:pt x="130969" y="223356"/>
                  <a:pt x="157644" y="250031"/>
                  <a:pt x="190500" y="250031"/>
                </a:cubicBezTo>
                <a:close/>
                <a:moveTo>
                  <a:pt x="190500" y="83344"/>
                </a:moveTo>
                <a:cubicBezTo>
                  <a:pt x="249641" y="83344"/>
                  <a:pt x="297656" y="131359"/>
                  <a:pt x="297656" y="190500"/>
                </a:cubicBezTo>
                <a:cubicBezTo>
                  <a:pt x="297656" y="249641"/>
                  <a:pt x="249641" y="297656"/>
                  <a:pt x="190500" y="297656"/>
                </a:cubicBezTo>
                <a:cubicBezTo>
                  <a:pt x="131359" y="297656"/>
                  <a:pt x="83344" y="249641"/>
                  <a:pt x="83344" y="190500"/>
                </a:cubicBezTo>
                <a:cubicBezTo>
                  <a:pt x="83344" y="131359"/>
                  <a:pt x="131359" y="83344"/>
                  <a:pt x="190500" y="83344"/>
                </a:cubicBezTo>
                <a:close/>
                <a:moveTo>
                  <a:pt x="166688" y="190500"/>
                </a:moveTo>
                <a:cubicBezTo>
                  <a:pt x="166688" y="177358"/>
                  <a:pt x="177358" y="166688"/>
                  <a:pt x="190500" y="166688"/>
                </a:cubicBezTo>
                <a:cubicBezTo>
                  <a:pt x="203642" y="166688"/>
                  <a:pt x="214313" y="177358"/>
                  <a:pt x="214313" y="190500"/>
                </a:cubicBezTo>
                <a:cubicBezTo>
                  <a:pt x="214313" y="203642"/>
                  <a:pt x="203642" y="214313"/>
                  <a:pt x="190500" y="214313"/>
                </a:cubicBezTo>
                <a:cubicBezTo>
                  <a:pt x="177358" y="214313"/>
                  <a:pt x="166688" y="203642"/>
                  <a:pt x="166688" y="190500"/>
                </a:cubicBezTo>
                <a:close/>
              </a:path>
            </a:pathLst>
          </a:custGeom>
          <a:solidFill>
            <a:srgbClr val="F8F9FA"/>
          </a:solidFill>
          <a:ln/>
        </p:spPr>
      </p:sp>
      <p:sp>
        <p:nvSpPr>
          <p:cNvPr id="9" name="Text 7"/>
          <p:cNvSpPr/>
          <p:nvPr/>
        </p:nvSpPr>
        <p:spPr>
          <a:xfrm>
            <a:off x="1879600" y="1778000"/>
            <a:ext cx="13716000" cy="406400"/>
          </a:xfrm>
          <a:prstGeom prst="rect">
            <a:avLst/>
          </a:prstGeom>
          <a:noFill/>
          <a:ln/>
        </p:spPr>
        <p:txBody>
          <a:bodyPr wrap="square" lIns="0" tIns="0" rIns="0" bIns="0" rtlCol="0" anchor="ctr"/>
          <a:lstStyle/>
          <a:p>
            <a:pPr>
              <a:lnSpc>
                <a:spcPct val="110000"/>
              </a:lnSpc>
            </a:pPr>
            <a:r>
              <a:rPr lang="en-US" sz="2400" b="1" dirty="0">
                <a:solidFill>
                  <a:srgbClr val="F8F9FA"/>
                </a:solidFill>
                <a:latin typeface="Noto Sans SC" pitchFamily="34" charset="0"/>
                <a:ea typeface="Noto Sans SC" pitchFamily="34" charset="-122"/>
                <a:cs typeface="Noto Sans SC" pitchFamily="34" charset="-120"/>
              </a:rPr>
              <a:t>研究目标</a:t>
            </a:r>
            <a:endParaRPr lang="en-US" sz="1600" dirty="0"/>
          </a:p>
        </p:txBody>
      </p:sp>
      <p:sp>
        <p:nvSpPr>
          <p:cNvPr id="10" name="Text 8"/>
          <p:cNvSpPr/>
          <p:nvPr/>
        </p:nvSpPr>
        <p:spPr>
          <a:xfrm>
            <a:off x="1879600" y="2336800"/>
            <a:ext cx="13677900" cy="749300"/>
          </a:xfrm>
          <a:prstGeom prst="rect">
            <a:avLst/>
          </a:prstGeom>
          <a:noFill/>
          <a:ln/>
        </p:spPr>
        <p:txBody>
          <a:bodyPr wrap="square" lIns="0" tIns="0" rIns="0" bIns="0" rtlCol="0" anchor="ctr"/>
          <a:lstStyle/>
          <a:p>
            <a:pPr>
              <a:lnSpc>
                <a:spcPct val="140000"/>
              </a:lnSpc>
            </a:pPr>
            <a:r>
              <a:rPr lang="en-US" sz="1800" dirty="0">
                <a:solidFill>
                  <a:srgbClr val="F8F9FA">
                    <a:alpha val="90000"/>
                  </a:srgbClr>
                </a:solidFill>
                <a:latin typeface="MiSans" pitchFamily="34" charset="0"/>
                <a:ea typeface="MiSans" pitchFamily="34" charset="-122"/>
                <a:cs typeface="MiSans" pitchFamily="34" charset="-120"/>
              </a:rPr>
              <a:t>为解决传统方法忽略图像深层语义信息及图文关联的问题，我们提出深度语义网络</a:t>
            </a:r>
            <a:pPr>
              <a:lnSpc>
                <a:spcPct val="140000"/>
              </a:lnSpc>
            </a:pPr>
            <a:r>
              <a:rPr lang="en-US" sz="1800" b="1" dirty="0">
                <a:solidFill>
                  <a:srgbClr val="A67B5C"/>
                </a:solidFill>
                <a:latin typeface="Quattrocento Sans" pitchFamily="34" charset="0"/>
                <a:ea typeface="Quattrocento Sans" pitchFamily="34" charset="-122"/>
                <a:cs typeface="Quattrocento Sans" pitchFamily="34" charset="-120"/>
              </a:rPr>
              <a:t>MultiSentiNet</a:t>
            </a:r>
            <a:pPr>
              <a:lnSpc>
                <a:spcPct val="140000"/>
              </a:lnSpc>
            </a:pPr>
            <a:r>
              <a:rPr lang="en-US" sz="1800" dirty="0">
                <a:solidFill>
                  <a:srgbClr val="F8F9FA">
                    <a:alpha val="90000"/>
                  </a:srgbClr>
                </a:solidFill>
                <a:latin typeface="MiSans" pitchFamily="34" charset="0"/>
                <a:ea typeface="MiSans" pitchFamily="34" charset="-122"/>
                <a:cs typeface="MiSans" pitchFamily="34" charset="-120"/>
              </a:rPr>
              <a:t>，通过提取图像中的对象和场景作为情感分类的补充信息，实现更精准的多模态情感分析。</a:t>
            </a:r>
            <a:endParaRPr lang="en-US" sz="1600" dirty="0"/>
          </a:p>
        </p:txBody>
      </p:sp>
      <p:sp>
        <p:nvSpPr>
          <p:cNvPr id="11" name="Shape 9"/>
          <p:cNvSpPr/>
          <p:nvPr/>
        </p:nvSpPr>
        <p:spPr>
          <a:xfrm>
            <a:off x="508000" y="3638550"/>
            <a:ext cx="4914900" cy="5003800"/>
          </a:xfrm>
          <a:custGeom>
            <a:avLst/>
            <a:gdLst/>
            <a:ahLst/>
            <a:cxnLst/>
            <a:rect l="l" t="t" r="r" b="b"/>
            <a:pathLst>
              <a:path w="4914900" h="5003800">
                <a:moveTo>
                  <a:pt x="101591" y="0"/>
                </a:moveTo>
                <a:lnTo>
                  <a:pt x="4813309" y="0"/>
                </a:lnTo>
                <a:cubicBezTo>
                  <a:pt x="4869416" y="0"/>
                  <a:pt x="4914900" y="45484"/>
                  <a:pt x="4914900" y="101591"/>
                </a:cubicBezTo>
                <a:lnTo>
                  <a:pt x="4914900" y="4902209"/>
                </a:lnTo>
                <a:cubicBezTo>
                  <a:pt x="4914900" y="4958316"/>
                  <a:pt x="4869416" y="5003800"/>
                  <a:pt x="4813309" y="5003800"/>
                </a:cubicBezTo>
                <a:lnTo>
                  <a:pt x="101591" y="5003800"/>
                </a:lnTo>
                <a:cubicBezTo>
                  <a:pt x="45484" y="5003800"/>
                  <a:pt x="0" y="4958316"/>
                  <a:pt x="0" y="4902209"/>
                </a:cubicBezTo>
                <a:lnTo>
                  <a:pt x="0" y="101591"/>
                </a:lnTo>
                <a:cubicBezTo>
                  <a:pt x="0" y="45484"/>
                  <a:pt x="45484" y="0"/>
                  <a:pt x="101591" y="0"/>
                </a:cubicBezTo>
                <a:close/>
              </a:path>
            </a:pathLst>
          </a:custGeom>
          <a:solidFill>
            <a:srgbClr val="FFFFFF"/>
          </a:solidFill>
          <a:ln/>
          <a:effectLst>
            <a:outerShdw sx="100000" sy="100000" kx="0" ky="0" algn="bl" rotWithShape="0" blurRad="76200" dist="50800" dir="5400000">
              <a:srgbClr val="000000">
                <a:alpha val="10196"/>
              </a:srgbClr>
            </a:outerShdw>
          </a:effectLst>
        </p:spPr>
      </p:sp>
      <p:sp>
        <p:nvSpPr>
          <p:cNvPr id="12" name="Shape 10"/>
          <p:cNvSpPr/>
          <p:nvPr/>
        </p:nvSpPr>
        <p:spPr>
          <a:xfrm>
            <a:off x="812800" y="3943350"/>
            <a:ext cx="609600" cy="609600"/>
          </a:xfrm>
          <a:custGeom>
            <a:avLst/>
            <a:gdLst/>
            <a:ahLst/>
            <a:cxnLst/>
            <a:rect l="l" t="t" r="r" b="b"/>
            <a:pathLst>
              <a:path w="609600" h="609600">
                <a:moveTo>
                  <a:pt x="304800" y="0"/>
                </a:moveTo>
                <a:lnTo>
                  <a:pt x="304800" y="0"/>
                </a:lnTo>
                <a:cubicBezTo>
                  <a:pt x="473024" y="0"/>
                  <a:pt x="609600" y="136576"/>
                  <a:pt x="609600" y="304800"/>
                </a:cubicBezTo>
                <a:lnTo>
                  <a:pt x="609600" y="304800"/>
                </a:lnTo>
                <a:cubicBezTo>
                  <a:pt x="609600" y="473024"/>
                  <a:pt x="473024" y="609600"/>
                  <a:pt x="304800" y="609600"/>
                </a:cubicBezTo>
                <a:lnTo>
                  <a:pt x="304800" y="609600"/>
                </a:lnTo>
                <a:cubicBezTo>
                  <a:pt x="136576" y="609600"/>
                  <a:pt x="0" y="473024"/>
                  <a:pt x="0" y="304800"/>
                </a:cubicBezTo>
                <a:lnTo>
                  <a:pt x="0" y="304800"/>
                </a:lnTo>
                <a:cubicBezTo>
                  <a:pt x="0" y="136576"/>
                  <a:pt x="136576" y="0"/>
                  <a:pt x="304800" y="0"/>
                </a:cubicBezTo>
                <a:close/>
              </a:path>
            </a:pathLst>
          </a:custGeom>
          <a:solidFill>
            <a:srgbClr val="A67B5C"/>
          </a:solidFill>
          <a:ln/>
        </p:spPr>
      </p:sp>
      <p:sp>
        <p:nvSpPr>
          <p:cNvPr id="13" name="Text 11"/>
          <p:cNvSpPr/>
          <p:nvPr/>
        </p:nvSpPr>
        <p:spPr>
          <a:xfrm>
            <a:off x="1056580" y="4044950"/>
            <a:ext cx="279400" cy="406400"/>
          </a:xfrm>
          <a:prstGeom prst="rect">
            <a:avLst/>
          </a:prstGeom>
          <a:noFill/>
          <a:ln/>
        </p:spPr>
        <p:txBody>
          <a:bodyPr wrap="square" lIns="0" tIns="0" rIns="0" bIns="0" rtlCol="0" anchor="ctr"/>
          <a:lstStyle/>
          <a:p>
            <a:pPr>
              <a:lnSpc>
                <a:spcPct val="110000"/>
              </a:lnSpc>
            </a:pPr>
            <a:r>
              <a:rPr lang="en-US" sz="2400" b="1" dirty="0">
                <a:solidFill>
                  <a:srgbClr val="F8F9FA"/>
                </a:solidFill>
                <a:latin typeface="Liter" pitchFamily="34" charset="0"/>
                <a:ea typeface="Liter" pitchFamily="34" charset="-122"/>
                <a:cs typeface="Liter" pitchFamily="34" charset="-120"/>
              </a:rPr>
              <a:t>1</a:t>
            </a:r>
            <a:endParaRPr lang="en-US" sz="1600" dirty="0"/>
          </a:p>
        </p:txBody>
      </p:sp>
      <p:sp>
        <p:nvSpPr>
          <p:cNvPr id="14" name="Text 12"/>
          <p:cNvSpPr/>
          <p:nvPr/>
        </p:nvSpPr>
        <p:spPr>
          <a:xfrm>
            <a:off x="1574800" y="4070350"/>
            <a:ext cx="1651000" cy="355600"/>
          </a:xfrm>
          <a:prstGeom prst="rect">
            <a:avLst/>
          </a:prstGeom>
          <a:noFill/>
          <a:ln/>
        </p:spPr>
        <p:txBody>
          <a:bodyPr wrap="square" lIns="0" tIns="0" rIns="0" bIns="0" rtlCol="0" anchor="ctr"/>
          <a:lstStyle/>
          <a:p>
            <a:pPr>
              <a:lnSpc>
                <a:spcPct val="120000"/>
              </a:lnSpc>
            </a:pPr>
            <a:r>
              <a:rPr lang="en-US" sz="2000" b="1" dirty="0">
                <a:solidFill>
                  <a:srgbClr val="495057"/>
                </a:solidFill>
                <a:latin typeface="Noto Sans SC" pitchFamily="34" charset="0"/>
                <a:ea typeface="Noto Sans SC" pitchFamily="34" charset="-122"/>
                <a:cs typeface="Noto Sans SC" pitchFamily="34" charset="-120"/>
              </a:rPr>
              <a:t>三重特征表示</a:t>
            </a:r>
            <a:endParaRPr lang="en-US" sz="1600" dirty="0"/>
          </a:p>
        </p:txBody>
      </p:sp>
      <p:sp>
        <p:nvSpPr>
          <p:cNvPr id="15" name="Text 13"/>
          <p:cNvSpPr/>
          <p:nvPr/>
        </p:nvSpPr>
        <p:spPr>
          <a:xfrm>
            <a:off x="812800" y="4756150"/>
            <a:ext cx="4406900" cy="1803400"/>
          </a:xfrm>
          <a:prstGeom prst="rect">
            <a:avLst/>
          </a:prstGeom>
          <a:noFill/>
          <a:ln/>
        </p:spPr>
        <p:txBody>
          <a:bodyPr wrap="square" lIns="0" tIns="0" rIns="0" bIns="0" rtlCol="0" anchor="ctr"/>
          <a:lstStyle/>
          <a:p>
            <a:pPr>
              <a:lnSpc>
                <a:spcPct val="140000"/>
              </a:lnSpc>
            </a:pPr>
            <a:r>
              <a:rPr lang="en-US" sz="1600" dirty="0">
                <a:solidFill>
                  <a:srgbClr val="495057">
                    <a:alpha val="80000"/>
                  </a:srgbClr>
                </a:solidFill>
                <a:latin typeface="MiSans" pitchFamily="34" charset="0"/>
                <a:ea typeface="MiSans" pitchFamily="34" charset="-122"/>
                <a:cs typeface="MiSans" pitchFamily="34" charset="-120"/>
              </a:rPr>
              <a:t>定义</a:t>
            </a:r>
            <a:pPr>
              <a:lnSpc>
                <a:spcPct val="140000"/>
              </a:lnSpc>
            </a:pPr>
            <a:r>
              <a:rPr lang="en-US" sz="1600" b="1" dirty="0">
                <a:solidFill>
                  <a:srgbClr val="A67B5C"/>
                </a:solidFill>
                <a:latin typeface="MiSans" pitchFamily="34" charset="0"/>
                <a:ea typeface="MiSans" pitchFamily="34" charset="-122"/>
                <a:cs typeface="MiSans" pitchFamily="34" charset="-120"/>
              </a:rPr>
              <a:t>文本、对象、场景</a:t>
            </a:r>
            <a:pPr>
              <a:lnSpc>
                <a:spcPct val="140000"/>
              </a:lnSpc>
            </a:pPr>
            <a:r>
              <a:rPr lang="en-US" sz="1600" dirty="0">
                <a:solidFill>
                  <a:srgbClr val="495057">
                    <a:alpha val="80000"/>
                  </a:srgbClr>
                </a:solidFill>
                <a:latin typeface="MiSans" pitchFamily="34" charset="0"/>
                <a:ea typeface="MiSans" pitchFamily="34" charset="-122"/>
                <a:cs typeface="MiSans" pitchFamily="34" charset="-120"/>
              </a:rPr>
              <a:t>的三重特征表示，将深层视觉语义特征作为多模态情感分析任务的补充信息。</a:t>
            </a:r>
            <a:endParaRPr lang="en-US" sz="1600" dirty="0"/>
          </a:p>
        </p:txBody>
      </p:sp>
      <p:sp>
        <p:nvSpPr>
          <p:cNvPr id="16" name="Shape 14"/>
          <p:cNvSpPr/>
          <p:nvPr/>
        </p:nvSpPr>
        <p:spPr>
          <a:xfrm>
            <a:off x="812800" y="6756400"/>
            <a:ext cx="4305300" cy="457200"/>
          </a:xfrm>
          <a:custGeom>
            <a:avLst/>
            <a:gdLst/>
            <a:ahLst/>
            <a:cxnLst/>
            <a:rect l="l" t="t" r="r" b="b"/>
            <a:pathLst>
              <a:path w="4305300" h="457200">
                <a:moveTo>
                  <a:pt x="50799" y="0"/>
                </a:moveTo>
                <a:lnTo>
                  <a:pt x="4254501" y="0"/>
                </a:lnTo>
                <a:cubicBezTo>
                  <a:pt x="4282556" y="0"/>
                  <a:pt x="4305300" y="22744"/>
                  <a:pt x="4305300" y="50799"/>
                </a:cubicBezTo>
                <a:lnTo>
                  <a:pt x="4305300" y="406401"/>
                </a:lnTo>
                <a:cubicBezTo>
                  <a:pt x="4305300" y="434456"/>
                  <a:pt x="4282556" y="457200"/>
                  <a:pt x="4254501" y="457200"/>
                </a:cubicBezTo>
                <a:lnTo>
                  <a:pt x="50799" y="457200"/>
                </a:lnTo>
                <a:cubicBezTo>
                  <a:pt x="22744" y="457200"/>
                  <a:pt x="0" y="434456"/>
                  <a:pt x="0" y="406401"/>
                </a:cubicBezTo>
                <a:lnTo>
                  <a:pt x="0" y="50799"/>
                </a:lnTo>
                <a:cubicBezTo>
                  <a:pt x="0" y="22762"/>
                  <a:pt x="22762" y="0"/>
                  <a:pt x="50799" y="0"/>
                </a:cubicBezTo>
                <a:close/>
              </a:path>
            </a:pathLst>
          </a:custGeom>
          <a:solidFill>
            <a:srgbClr val="495057">
              <a:alpha val="5098"/>
            </a:srgbClr>
          </a:solidFill>
          <a:ln/>
        </p:spPr>
      </p:sp>
      <p:sp>
        <p:nvSpPr>
          <p:cNvPr id="17" name="Shape 15"/>
          <p:cNvSpPr/>
          <p:nvPr/>
        </p:nvSpPr>
        <p:spPr>
          <a:xfrm>
            <a:off x="939800" y="6883400"/>
            <a:ext cx="203200" cy="203200"/>
          </a:xfrm>
          <a:custGeom>
            <a:avLst/>
            <a:gdLst/>
            <a:ahLst/>
            <a:cxnLst/>
            <a:rect l="l" t="t" r="r" b="b"/>
            <a:pathLst>
              <a:path w="203200" h="203200">
                <a:moveTo>
                  <a:pt x="113149" y="20122"/>
                </a:moveTo>
                <a:cubicBezTo>
                  <a:pt x="111085" y="15597"/>
                  <a:pt x="106561" y="12700"/>
                  <a:pt x="101600" y="12700"/>
                </a:cubicBezTo>
                <a:cubicBezTo>
                  <a:pt x="96639" y="12700"/>
                  <a:pt x="92115" y="15597"/>
                  <a:pt x="90051" y="20122"/>
                </a:cubicBezTo>
                <a:lnTo>
                  <a:pt x="23614" y="165100"/>
                </a:lnTo>
                <a:lnTo>
                  <a:pt x="19050" y="165100"/>
                </a:lnTo>
                <a:cubicBezTo>
                  <a:pt x="12025" y="165100"/>
                  <a:pt x="6350" y="170775"/>
                  <a:pt x="6350" y="177800"/>
                </a:cubicBezTo>
                <a:cubicBezTo>
                  <a:pt x="6350" y="184825"/>
                  <a:pt x="12025" y="190500"/>
                  <a:pt x="19050" y="190500"/>
                </a:cubicBezTo>
                <a:lnTo>
                  <a:pt x="53975" y="190500"/>
                </a:lnTo>
                <a:cubicBezTo>
                  <a:pt x="61000" y="190500"/>
                  <a:pt x="66675" y="184825"/>
                  <a:pt x="66675" y="177800"/>
                </a:cubicBezTo>
                <a:cubicBezTo>
                  <a:pt x="66675" y="170775"/>
                  <a:pt x="61000" y="165100"/>
                  <a:pt x="53975" y="165100"/>
                </a:cubicBezTo>
                <a:lnTo>
                  <a:pt x="51554" y="165100"/>
                </a:lnTo>
                <a:lnTo>
                  <a:pt x="60285" y="146050"/>
                </a:lnTo>
                <a:lnTo>
                  <a:pt x="142954" y="146050"/>
                </a:lnTo>
                <a:lnTo>
                  <a:pt x="151686" y="165100"/>
                </a:lnTo>
                <a:lnTo>
                  <a:pt x="149265" y="165100"/>
                </a:lnTo>
                <a:cubicBezTo>
                  <a:pt x="142240" y="165100"/>
                  <a:pt x="136565" y="170775"/>
                  <a:pt x="136565" y="177800"/>
                </a:cubicBezTo>
                <a:cubicBezTo>
                  <a:pt x="136565" y="184825"/>
                  <a:pt x="142240" y="190500"/>
                  <a:pt x="149265" y="190500"/>
                </a:cubicBezTo>
                <a:lnTo>
                  <a:pt x="184190" y="190500"/>
                </a:lnTo>
                <a:cubicBezTo>
                  <a:pt x="191214" y="190500"/>
                  <a:pt x="196890" y="184825"/>
                  <a:pt x="196890" y="177800"/>
                </a:cubicBezTo>
                <a:cubicBezTo>
                  <a:pt x="196890" y="170775"/>
                  <a:pt x="191214" y="165100"/>
                  <a:pt x="184190" y="165100"/>
                </a:cubicBezTo>
                <a:lnTo>
                  <a:pt x="179626" y="165100"/>
                </a:lnTo>
                <a:lnTo>
                  <a:pt x="113189" y="20122"/>
                </a:lnTo>
                <a:close/>
                <a:moveTo>
                  <a:pt x="131286" y="120650"/>
                </a:moveTo>
                <a:lnTo>
                  <a:pt x="71914" y="120650"/>
                </a:lnTo>
                <a:lnTo>
                  <a:pt x="101600" y="55880"/>
                </a:lnTo>
                <a:lnTo>
                  <a:pt x="131286" y="120650"/>
                </a:lnTo>
                <a:close/>
              </a:path>
            </a:pathLst>
          </a:custGeom>
          <a:solidFill>
            <a:srgbClr val="495057"/>
          </a:solidFill>
          <a:ln/>
        </p:spPr>
      </p:sp>
      <p:sp>
        <p:nvSpPr>
          <p:cNvPr id="18" name="Text 16"/>
          <p:cNvSpPr/>
          <p:nvPr/>
        </p:nvSpPr>
        <p:spPr>
          <a:xfrm>
            <a:off x="1270000" y="6858000"/>
            <a:ext cx="1282700" cy="254000"/>
          </a:xfrm>
          <a:prstGeom prst="rect">
            <a:avLst/>
          </a:prstGeom>
          <a:noFill/>
          <a:ln/>
        </p:spPr>
        <p:txBody>
          <a:bodyPr wrap="square" lIns="0" tIns="0" rIns="0" bIns="0" rtlCol="0" anchor="ctr"/>
          <a:lstStyle/>
          <a:p>
            <a:pPr>
              <a:lnSpc>
                <a:spcPct val="120000"/>
              </a:lnSpc>
            </a:pPr>
            <a:r>
              <a:rPr lang="en-US" sz="1400" dirty="0">
                <a:solidFill>
                  <a:srgbClr val="495057">
                    <a:alpha val="80000"/>
                  </a:srgbClr>
                </a:solidFill>
                <a:latin typeface="MiSans" pitchFamily="34" charset="0"/>
                <a:ea typeface="MiSans" pitchFamily="34" charset="-122"/>
                <a:cs typeface="MiSans" pitchFamily="34" charset="-120"/>
              </a:rPr>
              <a:t>文本特征 (Text)</a:t>
            </a:r>
            <a:endParaRPr lang="en-US" sz="1600" dirty="0"/>
          </a:p>
        </p:txBody>
      </p:sp>
      <p:sp>
        <p:nvSpPr>
          <p:cNvPr id="19" name="Shape 17"/>
          <p:cNvSpPr/>
          <p:nvPr/>
        </p:nvSpPr>
        <p:spPr>
          <a:xfrm>
            <a:off x="812800" y="7315200"/>
            <a:ext cx="4305300" cy="457200"/>
          </a:xfrm>
          <a:custGeom>
            <a:avLst/>
            <a:gdLst/>
            <a:ahLst/>
            <a:cxnLst/>
            <a:rect l="l" t="t" r="r" b="b"/>
            <a:pathLst>
              <a:path w="4305300" h="457200">
                <a:moveTo>
                  <a:pt x="50799" y="0"/>
                </a:moveTo>
                <a:lnTo>
                  <a:pt x="4254501" y="0"/>
                </a:lnTo>
                <a:cubicBezTo>
                  <a:pt x="4282556" y="0"/>
                  <a:pt x="4305300" y="22744"/>
                  <a:pt x="4305300" y="50799"/>
                </a:cubicBezTo>
                <a:lnTo>
                  <a:pt x="4305300" y="406401"/>
                </a:lnTo>
                <a:cubicBezTo>
                  <a:pt x="4305300" y="434456"/>
                  <a:pt x="4282556" y="457200"/>
                  <a:pt x="4254501" y="457200"/>
                </a:cubicBezTo>
                <a:lnTo>
                  <a:pt x="50799" y="457200"/>
                </a:lnTo>
                <a:cubicBezTo>
                  <a:pt x="22744" y="457200"/>
                  <a:pt x="0" y="434456"/>
                  <a:pt x="0" y="406401"/>
                </a:cubicBezTo>
                <a:lnTo>
                  <a:pt x="0" y="50799"/>
                </a:lnTo>
                <a:cubicBezTo>
                  <a:pt x="0" y="22762"/>
                  <a:pt x="22762" y="0"/>
                  <a:pt x="50799" y="0"/>
                </a:cubicBezTo>
                <a:close/>
              </a:path>
            </a:pathLst>
          </a:custGeom>
          <a:solidFill>
            <a:srgbClr val="A67B5C">
              <a:alpha val="10196"/>
            </a:srgbClr>
          </a:solidFill>
          <a:ln/>
        </p:spPr>
      </p:sp>
      <p:sp>
        <p:nvSpPr>
          <p:cNvPr id="20" name="Shape 18"/>
          <p:cNvSpPr/>
          <p:nvPr/>
        </p:nvSpPr>
        <p:spPr>
          <a:xfrm>
            <a:off x="939800" y="7442200"/>
            <a:ext cx="203200" cy="203200"/>
          </a:xfrm>
          <a:custGeom>
            <a:avLst/>
            <a:gdLst/>
            <a:ahLst/>
            <a:cxnLst/>
            <a:rect l="l" t="t" r="r" b="b"/>
            <a:pathLst>
              <a:path w="203200" h="203200">
                <a:moveTo>
                  <a:pt x="89019" y="-992"/>
                </a:moveTo>
                <a:cubicBezTo>
                  <a:pt x="96877" y="-5517"/>
                  <a:pt x="106561" y="-5517"/>
                  <a:pt x="114419" y="-992"/>
                </a:cubicBezTo>
                <a:lnTo>
                  <a:pt x="184229" y="39291"/>
                </a:lnTo>
                <a:cubicBezTo>
                  <a:pt x="192088" y="43815"/>
                  <a:pt x="196929" y="52229"/>
                  <a:pt x="196929" y="61278"/>
                </a:cubicBezTo>
                <a:lnTo>
                  <a:pt x="196929" y="141843"/>
                </a:lnTo>
                <a:cubicBezTo>
                  <a:pt x="196929" y="150932"/>
                  <a:pt x="192088" y="159306"/>
                  <a:pt x="184229" y="163830"/>
                </a:cubicBezTo>
                <a:lnTo>
                  <a:pt x="114419" y="204192"/>
                </a:lnTo>
                <a:cubicBezTo>
                  <a:pt x="106561" y="208717"/>
                  <a:pt x="96877" y="208717"/>
                  <a:pt x="89019" y="204192"/>
                </a:cubicBezTo>
                <a:lnTo>
                  <a:pt x="19248" y="163909"/>
                </a:lnTo>
                <a:cubicBezTo>
                  <a:pt x="11390" y="159385"/>
                  <a:pt x="6548" y="150971"/>
                  <a:pt x="6548" y="141923"/>
                </a:cubicBezTo>
                <a:lnTo>
                  <a:pt x="6548" y="61357"/>
                </a:lnTo>
                <a:cubicBezTo>
                  <a:pt x="6548" y="52268"/>
                  <a:pt x="11390" y="43894"/>
                  <a:pt x="19248" y="39370"/>
                </a:cubicBezTo>
                <a:lnTo>
                  <a:pt x="89019" y="-992"/>
                </a:lnTo>
                <a:close/>
                <a:moveTo>
                  <a:pt x="171490" y="141883"/>
                </a:moveTo>
                <a:lnTo>
                  <a:pt x="171490" y="75962"/>
                </a:lnTo>
                <a:lnTo>
                  <a:pt x="114419" y="108903"/>
                </a:lnTo>
                <a:lnTo>
                  <a:pt x="114419" y="174823"/>
                </a:lnTo>
                <a:lnTo>
                  <a:pt x="171490" y="141883"/>
                </a:lnTo>
                <a:close/>
              </a:path>
            </a:pathLst>
          </a:custGeom>
          <a:solidFill>
            <a:srgbClr val="A67B5C"/>
          </a:solidFill>
          <a:ln/>
        </p:spPr>
      </p:sp>
      <p:sp>
        <p:nvSpPr>
          <p:cNvPr id="21" name="Text 19"/>
          <p:cNvSpPr/>
          <p:nvPr/>
        </p:nvSpPr>
        <p:spPr>
          <a:xfrm>
            <a:off x="1270000" y="7416800"/>
            <a:ext cx="1473200" cy="254000"/>
          </a:xfrm>
          <a:prstGeom prst="rect">
            <a:avLst/>
          </a:prstGeom>
          <a:noFill/>
          <a:ln/>
        </p:spPr>
        <p:txBody>
          <a:bodyPr wrap="square" lIns="0" tIns="0" rIns="0" bIns="0" rtlCol="0" anchor="ctr"/>
          <a:lstStyle/>
          <a:p>
            <a:pPr>
              <a:lnSpc>
                <a:spcPct val="120000"/>
              </a:lnSpc>
            </a:pPr>
            <a:r>
              <a:rPr lang="en-US" sz="1400" dirty="0">
                <a:solidFill>
                  <a:srgbClr val="495057">
                    <a:alpha val="80000"/>
                  </a:srgbClr>
                </a:solidFill>
                <a:latin typeface="MiSans" pitchFamily="34" charset="0"/>
                <a:ea typeface="MiSans" pitchFamily="34" charset="-122"/>
                <a:cs typeface="MiSans" pitchFamily="34" charset="-120"/>
              </a:rPr>
              <a:t>对象特征 (Object)</a:t>
            </a:r>
            <a:endParaRPr lang="en-US" sz="1600" dirty="0"/>
          </a:p>
        </p:txBody>
      </p:sp>
      <p:sp>
        <p:nvSpPr>
          <p:cNvPr id="22" name="Shape 20"/>
          <p:cNvSpPr/>
          <p:nvPr/>
        </p:nvSpPr>
        <p:spPr>
          <a:xfrm>
            <a:off x="812800" y="7874000"/>
            <a:ext cx="4305300" cy="457200"/>
          </a:xfrm>
          <a:custGeom>
            <a:avLst/>
            <a:gdLst/>
            <a:ahLst/>
            <a:cxnLst/>
            <a:rect l="l" t="t" r="r" b="b"/>
            <a:pathLst>
              <a:path w="4305300" h="457200">
                <a:moveTo>
                  <a:pt x="50799" y="0"/>
                </a:moveTo>
                <a:lnTo>
                  <a:pt x="4254501" y="0"/>
                </a:lnTo>
                <a:cubicBezTo>
                  <a:pt x="4282556" y="0"/>
                  <a:pt x="4305300" y="22744"/>
                  <a:pt x="4305300" y="50799"/>
                </a:cubicBezTo>
                <a:lnTo>
                  <a:pt x="4305300" y="406401"/>
                </a:lnTo>
                <a:cubicBezTo>
                  <a:pt x="4305300" y="434456"/>
                  <a:pt x="4282556" y="457200"/>
                  <a:pt x="4254501" y="457200"/>
                </a:cubicBezTo>
                <a:lnTo>
                  <a:pt x="50799" y="457200"/>
                </a:lnTo>
                <a:cubicBezTo>
                  <a:pt x="22744" y="457200"/>
                  <a:pt x="0" y="434456"/>
                  <a:pt x="0" y="406401"/>
                </a:cubicBezTo>
                <a:lnTo>
                  <a:pt x="0" y="50799"/>
                </a:lnTo>
                <a:cubicBezTo>
                  <a:pt x="0" y="22762"/>
                  <a:pt x="22762" y="0"/>
                  <a:pt x="50799" y="0"/>
                </a:cubicBezTo>
                <a:close/>
              </a:path>
            </a:pathLst>
          </a:custGeom>
          <a:solidFill>
            <a:srgbClr val="ADB5BD">
              <a:alpha val="10196"/>
            </a:srgbClr>
          </a:solidFill>
          <a:ln/>
        </p:spPr>
      </p:sp>
      <p:sp>
        <p:nvSpPr>
          <p:cNvPr id="23" name="Shape 21"/>
          <p:cNvSpPr/>
          <p:nvPr/>
        </p:nvSpPr>
        <p:spPr>
          <a:xfrm>
            <a:off x="952500" y="8001000"/>
            <a:ext cx="177800" cy="203200"/>
          </a:xfrm>
          <a:custGeom>
            <a:avLst/>
            <a:gdLst/>
            <a:ahLst/>
            <a:cxnLst/>
            <a:rect l="l" t="t" r="r" b="b"/>
            <a:pathLst>
              <a:path w="177800" h="203200">
                <a:moveTo>
                  <a:pt x="25400" y="12700"/>
                </a:moveTo>
                <a:cubicBezTo>
                  <a:pt x="11390" y="12700"/>
                  <a:pt x="0" y="24090"/>
                  <a:pt x="0" y="38100"/>
                </a:cubicBezTo>
                <a:lnTo>
                  <a:pt x="0" y="165100"/>
                </a:lnTo>
                <a:cubicBezTo>
                  <a:pt x="0" y="179110"/>
                  <a:pt x="11390" y="190500"/>
                  <a:pt x="25400" y="190500"/>
                </a:cubicBezTo>
                <a:lnTo>
                  <a:pt x="152400" y="190500"/>
                </a:lnTo>
                <a:cubicBezTo>
                  <a:pt x="166410" y="190500"/>
                  <a:pt x="177800" y="179110"/>
                  <a:pt x="177800" y="165100"/>
                </a:cubicBezTo>
                <a:lnTo>
                  <a:pt x="177800" y="38100"/>
                </a:lnTo>
                <a:cubicBezTo>
                  <a:pt x="177800" y="24090"/>
                  <a:pt x="166410" y="12700"/>
                  <a:pt x="152400" y="12700"/>
                </a:cubicBezTo>
                <a:lnTo>
                  <a:pt x="25400" y="12700"/>
                </a:lnTo>
                <a:close/>
                <a:moveTo>
                  <a:pt x="50800" y="44450"/>
                </a:moveTo>
                <a:cubicBezTo>
                  <a:pt x="61314" y="44450"/>
                  <a:pt x="69850" y="52986"/>
                  <a:pt x="69850" y="63500"/>
                </a:cubicBezTo>
                <a:cubicBezTo>
                  <a:pt x="69850" y="74014"/>
                  <a:pt x="61314" y="82550"/>
                  <a:pt x="50800" y="82550"/>
                </a:cubicBezTo>
                <a:cubicBezTo>
                  <a:pt x="40286" y="82550"/>
                  <a:pt x="31750" y="74014"/>
                  <a:pt x="31750" y="63500"/>
                </a:cubicBezTo>
                <a:cubicBezTo>
                  <a:pt x="31750" y="52986"/>
                  <a:pt x="40286" y="44450"/>
                  <a:pt x="50800" y="44450"/>
                </a:cubicBezTo>
                <a:close/>
                <a:moveTo>
                  <a:pt x="107950" y="88900"/>
                </a:moveTo>
                <a:cubicBezTo>
                  <a:pt x="111284" y="88900"/>
                  <a:pt x="114340" y="90646"/>
                  <a:pt x="116086" y="93464"/>
                </a:cubicBezTo>
                <a:lnTo>
                  <a:pt x="151011" y="150614"/>
                </a:lnTo>
                <a:cubicBezTo>
                  <a:pt x="152797" y="153551"/>
                  <a:pt x="152876" y="157242"/>
                  <a:pt x="151209" y="160258"/>
                </a:cubicBezTo>
                <a:cubicBezTo>
                  <a:pt x="149543" y="163274"/>
                  <a:pt x="146328" y="165100"/>
                  <a:pt x="142875" y="165100"/>
                </a:cubicBezTo>
                <a:lnTo>
                  <a:pt x="34925" y="165100"/>
                </a:lnTo>
                <a:cubicBezTo>
                  <a:pt x="31393" y="165100"/>
                  <a:pt x="28099" y="163116"/>
                  <a:pt x="26472" y="159980"/>
                </a:cubicBezTo>
                <a:cubicBezTo>
                  <a:pt x="24844" y="156845"/>
                  <a:pt x="25083" y="153035"/>
                  <a:pt x="27107" y="150138"/>
                </a:cubicBezTo>
                <a:lnTo>
                  <a:pt x="49332" y="118388"/>
                </a:lnTo>
                <a:cubicBezTo>
                  <a:pt x="51118" y="115848"/>
                  <a:pt x="54015" y="114340"/>
                  <a:pt x="57150" y="114340"/>
                </a:cubicBezTo>
                <a:cubicBezTo>
                  <a:pt x="60285" y="114340"/>
                  <a:pt x="63182" y="115848"/>
                  <a:pt x="64968" y="118388"/>
                </a:cubicBezTo>
                <a:lnTo>
                  <a:pt x="75446" y="133390"/>
                </a:lnTo>
                <a:lnTo>
                  <a:pt x="99814" y="93504"/>
                </a:lnTo>
                <a:cubicBezTo>
                  <a:pt x="101560" y="90686"/>
                  <a:pt x="104616" y="88940"/>
                  <a:pt x="107950" y="88940"/>
                </a:cubicBezTo>
                <a:close/>
              </a:path>
            </a:pathLst>
          </a:custGeom>
          <a:solidFill>
            <a:srgbClr val="ADB5BD"/>
          </a:solidFill>
          <a:ln/>
        </p:spPr>
      </p:sp>
      <p:sp>
        <p:nvSpPr>
          <p:cNvPr id="24" name="Text 22"/>
          <p:cNvSpPr/>
          <p:nvPr/>
        </p:nvSpPr>
        <p:spPr>
          <a:xfrm>
            <a:off x="1270000" y="7975600"/>
            <a:ext cx="1422400" cy="254000"/>
          </a:xfrm>
          <a:prstGeom prst="rect">
            <a:avLst/>
          </a:prstGeom>
          <a:noFill/>
          <a:ln/>
        </p:spPr>
        <p:txBody>
          <a:bodyPr wrap="square" lIns="0" tIns="0" rIns="0" bIns="0" rtlCol="0" anchor="ctr"/>
          <a:lstStyle/>
          <a:p>
            <a:pPr>
              <a:lnSpc>
                <a:spcPct val="120000"/>
              </a:lnSpc>
            </a:pPr>
            <a:r>
              <a:rPr lang="en-US" sz="1400" dirty="0">
                <a:solidFill>
                  <a:srgbClr val="495057">
                    <a:alpha val="80000"/>
                  </a:srgbClr>
                </a:solidFill>
                <a:latin typeface="MiSans" pitchFamily="34" charset="0"/>
                <a:ea typeface="MiSans" pitchFamily="34" charset="-122"/>
                <a:cs typeface="MiSans" pitchFamily="34" charset="-120"/>
              </a:rPr>
              <a:t>场景特征 (Scene)</a:t>
            </a:r>
            <a:endParaRPr lang="en-US" sz="1600" dirty="0"/>
          </a:p>
        </p:txBody>
      </p:sp>
      <p:sp>
        <p:nvSpPr>
          <p:cNvPr id="25" name="Shape 23"/>
          <p:cNvSpPr/>
          <p:nvPr/>
        </p:nvSpPr>
        <p:spPr>
          <a:xfrm>
            <a:off x="5672634" y="3638550"/>
            <a:ext cx="4914900" cy="5003800"/>
          </a:xfrm>
          <a:custGeom>
            <a:avLst/>
            <a:gdLst/>
            <a:ahLst/>
            <a:cxnLst/>
            <a:rect l="l" t="t" r="r" b="b"/>
            <a:pathLst>
              <a:path w="4914900" h="5003800">
                <a:moveTo>
                  <a:pt x="101591" y="0"/>
                </a:moveTo>
                <a:lnTo>
                  <a:pt x="4813309" y="0"/>
                </a:lnTo>
                <a:cubicBezTo>
                  <a:pt x="4869416" y="0"/>
                  <a:pt x="4914900" y="45484"/>
                  <a:pt x="4914900" y="101591"/>
                </a:cubicBezTo>
                <a:lnTo>
                  <a:pt x="4914900" y="4902209"/>
                </a:lnTo>
                <a:cubicBezTo>
                  <a:pt x="4914900" y="4958316"/>
                  <a:pt x="4869416" y="5003800"/>
                  <a:pt x="4813309" y="5003800"/>
                </a:cubicBezTo>
                <a:lnTo>
                  <a:pt x="101591" y="5003800"/>
                </a:lnTo>
                <a:cubicBezTo>
                  <a:pt x="45484" y="5003800"/>
                  <a:pt x="0" y="4958316"/>
                  <a:pt x="0" y="4902209"/>
                </a:cubicBezTo>
                <a:lnTo>
                  <a:pt x="0" y="101591"/>
                </a:lnTo>
                <a:cubicBezTo>
                  <a:pt x="0" y="45484"/>
                  <a:pt x="45484" y="0"/>
                  <a:pt x="101591" y="0"/>
                </a:cubicBezTo>
                <a:close/>
              </a:path>
            </a:pathLst>
          </a:custGeom>
          <a:solidFill>
            <a:srgbClr val="FFFFFF"/>
          </a:solidFill>
          <a:ln/>
          <a:effectLst>
            <a:outerShdw sx="100000" sy="100000" kx="0" ky="0" algn="bl" rotWithShape="0" blurRad="76200" dist="50800" dir="5400000">
              <a:srgbClr val="000000">
                <a:alpha val="10196"/>
              </a:srgbClr>
            </a:outerShdw>
          </a:effectLst>
        </p:spPr>
      </p:sp>
      <p:sp>
        <p:nvSpPr>
          <p:cNvPr id="26" name="Shape 24"/>
          <p:cNvSpPr/>
          <p:nvPr/>
        </p:nvSpPr>
        <p:spPr>
          <a:xfrm>
            <a:off x="5977434" y="3943350"/>
            <a:ext cx="609600" cy="609600"/>
          </a:xfrm>
          <a:custGeom>
            <a:avLst/>
            <a:gdLst/>
            <a:ahLst/>
            <a:cxnLst/>
            <a:rect l="l" t="t" r="r" b="b"/>
            <a:pathLst>
              <a:path w="609600" h="609600">
                <a:moveTo>
                  <a:pt x="304800" y="0"/>
                </a:moveTo>
                <a:lnTo>
                  <a:pt x="304800" y="0"/>
                </a:lnTo>
                <a:cubicBezTo>
                  <a:pt x="473024" y="0"/>
                  <a:pt x="609600" y="136576"/>
                  <a:pt x="609600" y="304800"/>
                </a:cubicBezTo>
                <a:lnTo>
                  <a:pt x="609600" y="304800"/>
                </a:lnTo>
                <a:cubicBezTo>
                  <a:pt x="609600" y="473024"/>
                  <a:pt x="473024" y="609600"/>
                  <a:pt x="304800" y="609600"/>
                </a:cubicBezTo>
                <a:lnTo>
                  <a:pt x="304800" y="609600"/>
                </a:lnTo>
                <a:cubicBezTo>
                  <a:pt x="136576" y="609600"/>
                  <a:pt x="0" y="473024"/>
                  <a:pt x="0" y="304800"/>
                </a:cubicBezTo>
                <a:lnTo>
                  <a:pt x="0" y="304800"/>
                </a:lnTo>
                <a:cubicBezTo>
                  <a:pt x="0" y="136576"/>
                  <a:pt x="136576" y="0"/>
                  <a:pt x="304800" y="0"/>
                </a:cubicBezTo>
                <a:close/>
              </a:path>
            </a:pathLst>
          </a:custGeom>
          <a:solidFill>
            <a:srgbClr val="495057"/>
          </a:solidFill>
          <a:ln/>
        </p:spPr>
      </p:sp>
      <p:sp>
        <p:nvSpPr>
          <p:cNvPr id="27" name="Text 25"/>
          <p:cNvSpPr/>
          <p:nvPr/>
        </p:nvSpPr>
        <p:spPr>
          <a:xfrm>
            <a:off x="6193631" y="4044950"/>
            <a:ext cx="330200" cy="406400"/>
          </a:xfrm>
          <a:prstGeom prst="rect">
            <a:avLst/>
          </a:prstGeom>
          <a:noFill/>
          <a:ln/>
        </p:spPr>
        <p:txBody>
          <a:bodyPr wrap="square" lIns="0" tIns="0" rIns="0" bIns="0" rtlCol="0" anchor="ctr"/>
          <a:lstStyle/>
          <a:p>
            <a:pPr>
              <a:lnSpc>
                <a:spcPct val="110000"/>
              </a:lnSpc>
            </a:pPr>
            <a:r>
              <a:rPr lang="en-US" sz="2400" b="1" dirty="0">
                <a:solidFill>
                  <a:srgbClr val="F8F9FA"/>
                </a:solidFill>
                <a:latin typeface="Liter" pitchFamily="34" charset="0"/>
                <a:ea typeface="Liter" pitchFamily="34" charset="-122"/>
                <a:cs typeface="Liter" pitchFamily="34" charset="-120"/>
              </a:rPr>
              <a:t>2</a:t>
            </a:r>
            <a:endParaRPr lang="en-US" sz="1600" dirty="0"/>
          </a:p>
        </p:txBody>
      </p:sp>
      <p:sp>
        <p:nvSpPr>
          <p:cNvPr id="28" name="Text 26"/>
          <p:cNvSpPr/>
          <p:nvPr/>
        </p:nvSpPr>
        <p:spPr>
          <a:xfrm>
            <a:off x="6739434" y="4070350"/>
            <a:ext cx="1905000" cy="355600"/>
          </a:xfrm>
          <a:prstGeom prst="rect">
            <a:avLst/>
          </a:prstGeom>
          <a:noFill/>
          <a:ln/>
        </p:spPr>
        <p:txBody>
          <a:bodyPr wrap="square" lIns="0" tIns="0" rIns="0" bIns="0" rtlCol="0" anchor="ctr"/>
          <a:lstStyle/>
          <a:p>
            <a:pPr>
              <a:lnSpc>
                <a:spcPct val="120000"/>
              </a:lnSpc>
            </a:pPr>
            <a:r>
              <a:rPr lang="en-US" sz="2000" b="1" dirty="0">
                <a:solidFill>
                  <a:srgbClr val="495057"/>
                </a:solidFill>
                <a:latin typeface="Noto Sans SC" pitchFamily="34" charset="0"/>
                <a:ea typeface="Noto Sans SC" pitchFamily="34" charset="-122"/>
                <a:cs typeface="Noto Sans SC" pitchFamily="34" charset="-120"/>
              </a:rPr>
              <a:t>视觉引导注意力</a:t>
            </a:r>
            <a:endParaRPr lang="en-US" sz="1600" dirty="0"/>
          </a:p>
        </p:txBody>
      </p:sp>
      <p:sp>
        <p:nvSpPr>
          <p:cNvPr id="29" name="Text 27"/>
          <p:cNvSpPr/>
          <p:nvPr/>
        </p:nvSpPr>
        <p:spPr>
          <a:xfrm>
            <a:off x="5977434" y="4756150"/>
            <a:ext cx="4406900" cy="2565400"/>
          </a:xfrm>
          <a:prstGeom prst="rect">
            <a:avLst/>
          </a:prstGeom>
          <a:noFill/>
          <a:ln/>
        </p:spPr>
        <p:txBody>
          <a:bodyPr wrap="square" lIns="0" tIns="0" rIns="0" bIns="0" rtlCol="0" anchor="ctr"/>
          <a:lstStyle/>
          <a:p>
            <a:pPr>
              <a:lnSpc>
                <a:spcPct val="140000"/>
              </a:lnSpc>
            </a:pPr>
            <a:r>
              <a:rPr lang="en-US" sz="1600" dirty="0">
                <a:solidFill>
                  <a:srgbClr val="495057">
                    <a:alpha val="80000"/>
                  </a:srgbClr>
                </a:solidFill>
                <a:latin typeface="MiSans" pitchFamily="34" charset="0"/>
                <a:ea typeface="MiSans" pitchFamily="34" charset="-122"/>
                <a:cs typeface="MiSans" pitchFamily="34" charset="-120"/>
              </a:rPr>
              <a:t>提出视觉特征引导的注意力LSTM模型，利用</a:t>
            </a:r>
            <a:pPr>
              <a:lnSpc>
                <a:spcPct val="140000"/>
              </a:lnSpc>
            </a:pPr>
            <a:r>
              <a:rPr lang="en-US" sz="1600" b="1" dirty="0">
                <a:solidFill>
                  <a:srgbClr val="495057"/>
                </a:solidFill>
                <a:latin typeface="MiSans" pitchFamily="34" charset="0"/>
                <a:ea typeface="MiSans" pitchFamily="34" charset="-122"/>
                <a:cs typeface="MiSans" pitchFamily="34" charset="-120"/>
              </a:rPr>
              <a:t>图像语义辅助提取文本中的关键情感词汇</a:t>
            </a:r>
            <a:pPr>
              <a:lnSpc>
                <a:spcPct val="140000"/>
              </a:lnSpc>
            </a:pPr>
            <a:r>
              <a:rPr lang="en-US" sz="1600" dirty="0">
                <a:solidFill>
                  <a:srgbClr val="495057">
                    <a:alpha val="80000"/>
                  </a:srgbClr>
                </a:solidFill>
                <a:latin typeface="Quattrocento Sans" pitchFamily="34" charset="0"/>
                <a:ea typeface="Quattrocento Sans" pitchFamily="34" charset="-122"/>
                <a:cs typeface="Quattrocento Sans" pitchFamily="34" charset="-120"/>
              </a:rPr>
              <a:t>。</a:t>
            </a:r>
            <a:endParaRPr lang="en-US" sz="1600" dirty="0"/>
          </a:p>
        </p:txBody>
      </p:sp>
      <p:sp>
        <p:nvSpPr>
          <p:cNvPr id="30" name="Shape 28"/>
          <p:cNvSpPr/>
          <p:nvPr/>
        </p:nvSpPr>
        <p:spPr>
          <a:xfrm>
            <a:off x="5977434" y="7518400"/>
            <a:ext cx="4305300" cy="812800"/>
          </a:xfrm>
          <a:custGeom>
            <a:avLst/>
            <a:gdLst/>
            <a:ahLst/>
            <a:cxnLst/>
            <a:rect l="l" t="t" r="r" b="b"/>
            <a:pathLst>
              <a:path w="4305300" h="812800">
                <a:moveTo>
                  <a:pt x="50800" y="0"/>
                </a:moveTo>
                <a:lnTo>
                  <a:pt x="4254500" y="0"/>
                </a:lnTo>
                <a:cubicBezTo>
                  <a:pt x="4282537" y="0"/>
                  <a:pt x="4305300" y="22763"/>
                  <a:pt x="4305300" y="50800"/>
                </a:cubicBezTo>
                <a:lnTo>
                  <a:pt x="4305300" y="762000"/>
                </a:lnTo>
                <a:cubicBezTo>
                  <a:pt x="4305300" y="790037"/>
                  <a:pt x="4282537" y="812800"/>
                  <a:pt x="4254500" y="812800"/>
                </a:cubicBezTo>
                <a:lnTo>
                  <a:pt x="50800" y="812800"/>
                </a:lnTo>
                <a:cubicBezTo>
                  <a:pt x="22763" y="812800"/>
                  <a:pt x="0" y="790037"/>
                  <a:pt x="0" y="762000"/>
                </a:cubicBezTo>
                <a:lnTo>
                  <a:pt x="0" y="50800"/>
                </a:lnTo>
                <a:cubicBezTo>
                  <a:pt x="0" y="22763"/>
                  <a:pt x="22763" y="0"/>
                  <a:pt x="50800" y="0"/>
                </a:cubicBezTo>
                <a:close/>
              </a:path>
            </a:pathLst>
          </a:custGeom>
          <a:solidFill>
            <a:srgbClr val="495057">
              <a:alpha val="5098"/>
            </a:srgbClr>
          </a:solidFill>
          <a:ln/>
        </p:spPr>
      </p:sp>
      <p:sp>
        <p:nvSpPr>
          <p:cNvPr id="31" name="Shape 29"/>
          <p:cNvSpPr/>
          <p:nvPr/>
        </p:nvSpPr>
        <p:spPr>
          <a:xfrm>
            <a:off x="6144121" y="7696200"/>
            <a:ext cx="200025" cy="177800"/>
          </a:xfrm>
          <a:custGeom>
            <a:avLst/>
            <a:gdLst/>
            <a:ahLst/>
            <a:cxnLst/>
            <a:rect l="l" t="t" r="r" b="b"/>
            <a:pathLst>
              <a:path w="200025" h="177800">
                <a:moveTo>
                  <a:pt x="100013" y="11112"/>
                </a:moveTo>
                <a:cubicBezTo>
                  <a:pt x="71953" y="11112"/>
                  <a:pt x="49485" y="23892"/>
                  <a:pt x="33129" y="39102"/>
                </a:cubicBezTo>
                <a:cubicBezTo>
                  <a:pt x="16877" y="54208"/>
                  <a:pt x="6008" y="72231"/>
                  <a:pt x="833" y="84629"/>
                </a:cubicBezTo>
                <a:cubicBezTo>
                  <a:pt x="-313" y="87372"/>
                  <a:pt x="-313" y="90428"/>
                  <a:pt x="833" y="93171"/>
                </a:cubicBezTo>
                <a:cubicBezTo>
                  <a:pt x="6008" y="105569"/>
                  <a:pt x="16877" y="123627"/>
                  <a:pt x="33129" y="138698"/>
                </a:cubicBezTo>
                <a:cubicBezTo>
                  <a:pt x="49485" y="153873"/>
                  <a:pt x="71953" y="166688"/>
                  <a:pt x="100013" y="166688"/>
                </a:cubicBezTo>
                <a:cubicBezTo>
                  <a:pt x="128072" y="166688"/>
                  <a:pt x="150540" y="153908"/>
                  <a:pt x="166896" y="138698"/>
                </a:cubicBezTo>
                <a:cubicBezTo>
                  <a:pt x="183148" y="123592"/>
                  <a:pt x="194017" y="105569"/>
                  <a:pt x="199192" y="93171"/>
                </a:cubicBezTo>
                <a:cubicBezTo>
                  <a:pt x="200338" y="90428"/>
                  <a:pt x="200338" y="87372"/>
                  <a:pt x="199192" y="84629"/>
                </a:cubicBezTo>
                <a:cubicBezTo>
                  <a:pt x="194017" y="72231"/>
                  <a:pt x="183148" y="54173"/>
                  <a:pt x="166896" y="39102"/>
                </a:cubicBezTo>
                <a:cubicBezTo>
                  <a:pt x="150540" y="23927"/>
                  <a:pt x="128072" y="11112"/>
                  <a:pt x="100013" y="11112"/>
                </a:cubicBezTo>
                <a:close/>
                <a:moveTo>
                  <a:pt x="50006" y="88900"/>
                </a:moveTo>
                <a:cubicBezTo>
                  <a:pt x="50006" y="61301"/>
                  <a:pt x="72413" y="38894"/>
                  <a:pt x="100013" y="38894"/>
                </a:cubicBezTo>
                <a:cubicBezTo>
                  <a:pt x="127612" y="38894"/>
                  <a:pt x="150019" y="61301"/>
                  <a:pt x="150019" y="88900"/>
                </a:cubicBezTo>
                <a:cubicBezTo>
                  <a:pt x="150019" y="116499"/>
                  <a:pt x="127612" y="138906"/>
                  <a:pt x="100013" y="138906"/>
                </a:cubicBezTo>
                <a:cubicBezTo>
                  <a:pt x="72413" y="138906"/>
                  <a:pt x="50006" y="116499"/>
                  <a:pt x="50006" y="88900"/>
                </a:cubicBezTo>
                <a:close/>
                <a:moveTo>
                  <a:pt x="100013" y="66675"/>
                </a:moveTo>
                <a:cubicBezTo>
                  <a:pt x="100013" y="78933"/>
                  <a:pt x="90046" y="88900"/>
                  <a:pt x="77788" y="88900"/>
                </a:cubicBezTo>
                <a:cubicBezTo>
                  <a:pt x="73794" y="88900"/>
                  <a:pt x="70043" y="87858"/>
                  <a:pt x="66779" y="85983"/>
                </a:cubicBezTo>
                <a:cubicBezTo>
                  <a:pt x="66432" y="89768"/>
                  <a:pt x="66744" y="93658"/>
                  <a:pt x="67786" y="97512"/>
                </a:cubicBezTo>
                <a:cubicBezTo>
                  <a:pt x="72544" y="115292"/>
                  <a:pt x="90845" y="125849"/>
                  <a:pt x="108625" y="121092"/>
                </a:cubicBezTo>
                <a:cubicBezTo>
                  <a:pt x="126405" y="116334"/>
                  <a:pt x="136962" y="98033"/>
                  <a:pt x="132204" y="80253"/>
                </a:cubicBezTo>
                <a:cubicBezTo>
                  <a:pt x="127967" y="64383"/>
                  <a:pt x="112931" y="54278"/>
                  <a:pt x="97095" y="55667"/>
                </a:cubicBezTo>
                <a:cubicBezTo>
                  <a:pt x="98936" y="58896"/>
                  <a:pt x="100013" y="62647"/>
                  <a:pt x="100013" y="66675"/>
                </a:cubicBezTo>
                <a:close/>
              </a:path>
            </a:pathLst>
          </a:custGeom>
          <a:solidFill>
            <a:srgbClr val="495057"/>
          </a:solidFill>
          <a:ln/>
        </p:spPr>
      </p:sp>
      <p:sp>
        <p:nvSpPr>
          <p:cNvPr id="32" name="Text 30"/>
          <p:cNvSpPr/>
          <p:nvPr/>
        </p:nvSpPr>
        <p:spPr>
          <a:xfrm>
            <a:off x="6460034" y="7670800"/>
            <a:ext cx="3759200" cy="508000"/>
          </a:xfrm>
          <a:prstGeom prst="rect">
            <a:avLst/>
          </a:prstGeom>
          <a:noFill/>
          <a:ln/>
        </p:spPr>
        <p:txBody>
          <a:bodyPr wrap="square" lIns="0" tIns="0" rIns="0" bIns="0" rtlCol="0" anchor="ctr"/>
          <a:lstStyle/>
          <a:p>
            <a:pPr>
              <a:lnSpc>
                <a:spcPct val="120000"/>
              </a:lnSpc>
            </a:pPr>
            <a:r>
              <a:rPr lang="en-US" sz="1400" dirty="0">
                <a:solidFill>
                  <a:srgbClr val="495057">
                    <a:alpha val="80000"/>
                  </a:srgbClr>
                </a:solidFill>
                <a:latin typeface="MiSans" pitchFamily="34" charset="0"/>
                <a:ea typeface="MiSans" pitchFamily="34" charset="-122"/>
                <a:cs typeface="MiSans" pitchFamily="34" charset="-120"/>
              </a:rPr>
              <a:t>通过视觉语义引导，模型能精准捕捉与情感相关的核心词汇</a:t>
            </a:r>
            <a:endParaRPr lang="en-US" sz="1600" dirty="0"/>
          </a:p>
        </p:txBody>
      </p:sp>
      <p:sp>
        <p:nvSpPr>
          <p:cNvPr id="33" name="Shape 31"/>
          <p:cNvSpPr/>
          <p:nvPr/>
        </p:nvSpPr>
        <p:spPr>
          <a:xfrm>
            <a:off x="10837267" y="3638550"/>
            <a:ext cx="4914900" cy="5003800"/>
          </a:xfrm>
          <a:custGeom>
            <a:avLst/>
            <a:gdLst/>
            <a:ahLst/>
            <a:cxnLst/>
            <a:rect l="l" t="t" r="r" b="b"/>
            <a:pathLst>
              <a:path w="4914900" h="5003800">
                <a:moveTo>
                  <a:pt x="101591" y="0"/>
                </a:moveTo>
                <a:lnTo>
                  <a:pt x="4813309" y="0"/>
                </a:lnTo>
                <a:cubicBezTo>
                  <a:pt x="4869416" y="0"/>
                  <a:pt x="4914900" y="45484"/>
                  <a:pt x="4914900" y="101591"/>
                </a:cubicBezTo>
                <a:lnTo>
                  <a:pt x="4914900" y="4902209"/>
                </a:lnTo>
                <a:cubicBezTo>
                  <a:pt x="4914900" y="4958316"/>
                  <a:pt x="4869416" y="5003800"/>
                  <a:pt x="4813309" y="5003800"/>
                </a:cubicBezTo>
                <a:lnTo>
                  <a:pt x="101591" y="5003800"/>
                </a:lnTo>
                <a:cubicBezTo>
                  <a:pt x="45484" y="5003800"/>
                  <a:pt x="0" y="4958316"/>
                  <a:pt x="0" y="4902209"/>
                </a:cubicBezTo>
                <a:lnTo>
                  <a:pt x="0" y="101591"/>
                </a:lnTo>
                <a:cubicBezTo>
                  <a:pt x="0" y="45484"/>
                  <a:pt x="45484" y="0"/>
                  <a:pt x="101591" y="0"/>
                </a:cubicBezTo>
                <a:close/>
              </a:path>
            </a:pathLst>
          </a:custGeom>
          <a:solidFill>
            <a:srgbClr val="FFFFFF"/>
          </a:solidFill>
          <a:ln/>
          <a:effectLst>
            <a:outerShdw sx="100000" sy="100000" kx="0" ky="0" algn="bl" rotWithShape="0" blurRad="76200" dist="50800" dir="5400000">
              <a:srgbClr val="000000">
                <a:alpha val="10196"/>
              </a:srgbClr>
            </a:outerShdw>
          </a:effectLst>
        </p:spPr>
      </p:sp>
      <p:sp>
        <p:nvSpPr>
          <p:cNvPr id="34" name="Shape 32"/>
          <p:cNvSpPr/>
          <p:nvPr/>
        </p:nvSpPr>
        <p:spPr>
          <a:xfrm>
            <a:off x="11142067" y="3943350"/>
            <a:ext cx="609600" cy="609600"/>
          </a:xfrm>
          <a:custGeom>
            <a:avLst/>
            <a:gdLst/>
            <a:ahLst/>
            <a:cxnLst/>
            <a:rect l="l" t="t" r="r" b="b"/>
            <a:pathLst>
              <a:path w="609600" h="609600">
                <a:moveTo>
                  <a:pt x="304800" y="0"/>
                </a:moveTo>
                <a:lnTo>
                  <a:pt x="304800" y="0"/>
                </a:lnTo>
                <a:cubicBezTo>
                  <a:pt x="473024" y="0"/>
                  <a:pt x="609600" y="136576"/>
                  <a:pt x="609600" y="304800"/>
                </a:cubicBezTo>
                <a:lnTo>
                  <a:pt x="609600" y="304800"/>
                </a:lnTo>
                <a:cubicBezTo>
                  <a:pt x="609600" y="473024"/>
                  <a:pt x="473024" y="609600"/>
                  <a:pt x="304800" y="609600"/>
                </a:cubicBezTo>
                <a:lnTo>
                  <a:pt x="304800" y="609600"/>
                </a:lnTo>
                <a:cubicBezTo>
                  <a:pt x="136576" y="609600"/>
                  <a:pt x="0" y="473024"/>
                  <a:pt x="0" y="304800"/>
                </a:cubicBezTo>
                <a:lnTo>
                  <a:pt x="0" y="304800"/>
                </a:lnTo>
                <a:cubicBezTo>
                  <a:pt x="0" y="136576"/>
                  <a:pt x="136576" y="0"/>
                  <a:pt x="304800" y="0"/>
                </a:cubicBezTo>
                <a:close/>
              </a:path>
            </a:pathLst>
          </a:custGeom>
          <a:solidFill>
            <a:srgbClr val="A67B5C"/>
          </a:solidFill>
          <a:ln/>
        </p:spPr>
      </p:sp>
      <p:sp>
        <p:nvSpPr>
          <p:cNvPr id="35" name="Text 33"/>
          <p:cNvSpPr/>
          <p:nvPr/>
        </p:nvSpPr>
        <p:spPr>
          <a:xfrm>
            <a:off x="11356876" y="4044950"/>
            <a:ext cx="330200" cy="406400"/>
          </a:xfrm>
          <a:prstGeom prst="rect">
            <a:avLst/>
          </a:prstGeom>
          <a:noFill/>
          <a:ln/>
        </p:spPr>
        <p:txBody>
          <a:bodyPr wrap="square" lIns="0" tIns="0" rIns="0" bIns="0" rtlCol="0" anchor="ctr"/>
          <a:lstStyle/>
          <a:p>
            <a:pPr>
              <a:lnSpc>
                <a:spcPct val="110000"/>
              </a:lnSpc>
            </a:pPr>
            <a:r>
              <a:rPr lang="en-US" sz="2400" b="1" dirty="0">
                <a:solidFill>
                  <a:srgbClr val="F8F9FA"/>
                </a:solidFill>
                <a:latin typeface="Liter" pitchFamily="34" charset="0"/>
                <a:ea typeface="Liter" pitchFamily="34" charset="-122"/>
                <a:cs typeface="Liter" pitchFamily="34" charset="-120"/>
              </a:rPr>
              <a:t>3</a:t>
            </a:r>
            <a:endParaRPr lang="en-US" sz="1600" dirty="0"/>
          </a:p>
        </p:txBody>
      </p:sp>
      <p:sp>
        <p:nvSpPr>
          <p:cNvPr id="36" name="Text 34"/>
          <p:cNvSpPr/>
          <p:nvPr/>
        </p:nvSpPr>
        <p:spPr>
          <a:xfrm>
            <a:off x="11904067" y="4070350"/>
            <a:ext cx="1905000" cy="355600"/>
          </a:xfrm>
          <a:prstGeom prst="rect">
            <a:avLst/>
          </a:prstGeom>
          <a:noFill/>
          <a:ln/>
        </p:spPr>
        <p:txBody>
          <a:bodyPr wrap="square" lIns="0" tIns="0" rIns="0" bIns="0" rtlCol="0" anchor="ctr"/>
          <a:lstStyle/>
          <a:p>
            <a:pPr>
              <a:lnSpc>
                <a:spcPct val="120000"/>
              </a:lnSpc>
            </a:pPr>
            <a:r>
              <a:rPr lang="en-US" sz="2000" b="1" dirty="0">
                <a:solidFill>
                  <a:srgbClr val="495057"/>
                </a:solidFill>
                <a:latin typeface="Noto Sans SC" pitchFamily="34" charset="0"/>
                <a:ea typeface="Noto Sans SC" pitchFamily="34" charset="-122"/>
                <a:cs typeface="Noto Sans SC" pitchFamily="34" charset="-120"/>
              </a:rPr>
              <a:t>多模态聚合表示</a:t>
            </a:r>
            <a:endParaRPr lang="en-US" sz="1600" dirty="0"/>
          </a:p>
        </p:txBody>
      </p:sp>
      <p:sp>
        <p:nvSpPr>
          <p:cNvPr id="37" name="Text 35"/>
          <p:cNvSpPr/>
          <p:nvPr/>
        </p:nvSpPr>
        <p:spPr>
          <a:xfrm>
            <a:off x="11142067" y="4756150"/>
            <a:ext cx="4406900" cy="2819400"/>
          </a:xfrm>
          <a:prstGeom prst="rect">
            <a:avLst/>
          </a:prstGeom>
          <a:noFill/>
          <a:ln/>
        </p:spPr>
        <p:txBody>
          <a:bodyPr wrap="square" lIns="0" tIns="0" rIns="0" bIns="0" rtlCol="0" anchor="ctr"/>
          <a:lstStyle/>
          <a:p>
            <a:pPr>
              <a:lnSpc>
                <a:spcPct val="140000"/>
              </a:lnSpc>
            </a:pPr>
            <a:r>
              <a:rPr lang="en-US" sz="1600" dirty="0">
                <a:solidFill>
                  <a:srgbClr val="495057">
                    <a:alpha val="80000"/>
                  </a:srgbClr>
                </a:solidFill>
                <a:latin typeface="MiSans" pitchFamily="34" charset="0"/>
                <a:ea typeface="MiSans" pitchFamily="34" charset="-122"/>
                <a:cs typeface="MiSans" pitchFamily="34" charset="-120"/>
              </a:rPr>
              <a:t>将文本表示与视觉语义特征聚合，构建</a:t>
            </a:r>
            <a:pPr>
              <a:lnSpc>
                <a:spcPct val="140000"/>
              </a:lnSpc>
            </a:pPr>
            <a:r>
              <a:rPr lang="en-US" sz="1600" b="1" dirty="0">
                <a:solidFill>
                  <a:srgbClr val="A67B5C"/>
                </a:solidFill>
                <a:latin typeface="MiSans" pitchFamily="34" charset="0"/>
                <a:ea typeface="MiSans" pitchFamily="34" charset="-122"/>
                <a:cs typeface="MiSans" pitchFamily="34" charset="-120"/>
              </a:rPr>
              <a:t>更具表达力的多模态情感向量</a:t>
            </a:r>
            <a:pPr>
              <a:lnSpc>
                <a:spcPct val="140000"/>
              </a:lnSpc>
            </a:pPr>
            <a:r>
              <a:rPr lang="en-US" sz="1600" dirty="0">
                <a:solidFill>
                  <a:srgbClr val="495057">
                    <a:alpha val="80000"/>
                  </a:srgbClr>
                </a:solidFill>
                <a:latin typeface="MiSans" pitchFamily="34" charset="0"/>
                <a:ea typeface="MiSans" pitchFamily="34" charset="-122"/>
                <a:cs typeface="MiSans" pitchFamily="34" charset="-120"/>
              </a:rPr>
              <a:t>，提升分类性能。</a:t>
            </a:r>
            <a:endParaRPr lang="en-US" sz="1600" dirty="0"/>
          </a:p>
        </p:txBody>
      </p:sp>
      <p:sp>
        <p:nvSpPr>
          <p:cNvPr id="38" name="Shape 36"/>
          <p:cNvSpPr/>
          <p:nvPr/>
        </p:nvSpPr>
        <p:spPr>
          <a:xfrm>
            <a:off x="11142067" y="7772400"/>
            <a:ext cx="4305300" cy="558800"/>
          </a:xfrm>
          <a:custGeom>
            <a:avLst/>
            <a:gdLst/>
            <a:ahLst/>
            <a:cxnLst/>
            <a:rect l="l" t="t" r="r" b="b"/>
            <a:pathLst>
              <a:path w="4305300" h="558800">
                <a:moveTo>
                  <a:pt x="50801" y="0"/>
                </a:moveTo>
                <a:lnTo>
                  <a:pt x="4254499" y="0"/>
                </a:lnTo>
                <a:cubicBezTo>
                  <a:pt x="4282556" y="0"/>
                  <a:pt x="4305300" y="22744"/>
                  <a:pt x="4305300" y="50801"/>
                </a:cubicBezTo>
                <a:lnTo>
                  <a:pt x="4305300" y="507999"/>
                </a:lnTo>
                <a:cubicBezTo>
                  <a:pt x="4305300" y="536056"/>
                  <a:pt x="4282556" y="558800"/>
                  <a:pt x="4254499" y="558800"/>
                </a:cubicBezTo>
                <a:lnTo>
                  <a:pt x="50801" y="558800"/>
                </a:lnTo>
                <a:cubicBezTo>
                  <a:pt x="22744" y="558800"/>
                  <a:pt x="0" y="536056"/>
                  <a:pt x="0" y="507999"/>
                </a:cubicBezTo>
                <a:lnTo>
                  <a:pt x="0" y="50801"/>
                </a:lnTo>
                <a:cubicBezTo>
                  <a:pt x="0" y="22763"/>
                  <a:pt x="22763" y="0"/>
                  <a:pt x="50801" y="0"/>
                </a:cubicBezTo>
                <a:close/>
              </a:path>
            </a:pathLst>
          </a:custGeom>
          <a:solidFill>
            <a:srgbClr val="A67B5C">
              <a:alpha val="10196"/>
            </a:srgbClr>
          </a:solidFill>
          <a:ln/>
        </p:spPr>
      </p:sp>
      <p:sp>
        <p:nvSpPr>
          <p:cNvPr id="39" name="Shape 37"/>
          <p:cNvSpPr/>
          <p:nvPr/>
        </p:nvSpPr>
        <p:spPr>
          <a:xfrm>
            <a:off x="11319867" y="7950200"/>
            <a:ext cx="177800" cy="177800"/>
          </a:xfrm>
          <a:custGeom>
            <a:avLst/>
            <a:gdLst/>
            <a:ahLst/>
            <a:cxnLst/>
            <a:rect l="l" t="t" r="r" b="b"/>
            <a:pathLst>
              <a:path w="177800" h="177800">
                <a:moveTo>
                  <a:pt x="80739" y="1806"/>
                </a:moveTo>
                <a:cubicBezTo>
                  <a:pt x="85914" y="-590"/>
                  <a:pt x="91886" y="-590"/>
                  <a:pt x="97061" y="1806"/>
                </a:cubicBezTo>
                <a:lnTo>
                  <a:pt x="172973" y="36880"/>
                </a:lnTo>
                <a:cubicBezTo>
                  <a:pt x="175925" y="38234"/>
                  <a:pt x="177800" y="41186"/>
                  <a:pt x="177800" y="44450"/>
                </a:cubicBezTo>
                <a:cubicBezTo>
                  <a:pt x="177800" y="47714"/>
                  <a:pt x="175925" y="50666"/>
                  <a:pt x="172973" y="52020"/>
                </a:cubicBezTo>
                <a:lnTo>
                  <a:pt x="97061" y="87094"/>
                </a:lnTo>
                <a:cubicBezTo>
                  <a:pt x="91886" y="89490"/>
                  <a:pt x="85914" y="89490"/>
                  <a:pt x="80739" y="87094"/>
                </a:cubicBezTo>
                <a:lnTo>
                  <a:pt x="4827" y="52020"/>
                </a:lnTo>
                <a:cubicBezTo>
                  <a:pt x="1875" y="50631"/>
                  <a:pt x="0" y="47680"/>
                  <a:pt x="0" y="44450"/>
                </a:cubicBezTo>
                <a:cubicBezTo>
                  <a:pt x="0" y="41220"/>
                  <a:pt x="1875" y="38234"/>
                  <a:pt x="4827" y="36880"/>
                </a:cubicBezTo>
                <a:lnTo>
                  <a:pt x="80739" y="1806"/>
                </a:lnTo>
                <a:close/>
                <a:moveTo>
                  <a:pt x="16703" y="75843"/>
                </a:moveTo>
                <a:lnTo>
                  <a:pt x="73759" y="102200"/>
                </a:lnTo>
                <a:cubicBezTo>
                  <a:pt x="83378" y="106645"/>
                  <a:pt x="94456" y="106645"/>
                  <a:pt x="104076" y="102200"/>
                </a:cubicBezTo>
                <a:lnTo>
                  <a:pt x="161131" y="75843"/>
                </a:lnTo>
                <a:lnTo>
                  <a:pt x="172973" y="81330"/>
                </a:lnTo>
                <a:cubicBezTo>
                  <a:pt x="175925" y="82684"/>
                  <a:pt x="177800" y="85636"/>
                  <a:pt x="177800" y="88900"/>
                </a:cubicBezTo>
                <a:cubicBezTo>
                  <a:pt x="177800" y="92164"/>
                  <a:pt x="175925" y="95116"/>
                  <a:pt x="172973" y="96470"/>
                </a:cubicBezTo>
                <a:lnTo>
                  <a:pt x="97061" y="131544"/>
                </a:lnTo>
                <a:cubicBezTo>
                  <a:pt x="91886" y="133940"/>
                  <a:pt x="85914" y="133940"/>
                  <a:pt x="80739" y="131544"/>
                </a:cubicBezTo>
                <a:lnTo>
                  <a:pt x="4827" y="96470"/>
                </a:lnTo>
                <a:cubicBezTo>
                  <a:pt x="1875" y="95081"/>
                  <a:pt x="0" y="92130"/>
                  <a:pt x="0" y="88900"/>
                </a:cubicBezTo>
                <a:cubicBezTo>
                  <a:pt x="0" y="85670"/>
                  <a:pt x="1875" y="82684"/>
                  <a:pt x="4827" y="81330"/>
                </a:cubicBezTo>
                <a:lnTo>
                  <a:pt x="16669" y="75843"/>
                </a:lnTo>
                <a:close/>
                <a:moveTo>
                  <a:pt x="4827" y="125780"/>
                </a:moveTo>
                <a:lnTo>
                  <a:pt x="16669" y="120293"/>
                </a:lnTo>
                <a:lnTo>
                  <a:pt x="73724" y="146650"/>
                </a:lnTo>
                <a:cubicBezTo>
                  <a:pt x="83344" y="151095"/>
                  <a:pt x="94422" y="151095"/>
                  <a:pt x="104041" y="146650"/>
                </a:cubicBezTo>
                <a:lnTo>
                  <a:pt x="161097" y="120293"/>
                </a:lnTo>
                <a:lnTo>
                  <a:pt x="172938" y="125780"/>
                </a:lnTo>
                <a:cubicBezTo>
                  <a:pt x="175890" y="127134"/>
                  <a:pt x="177765" y="130086"/>
                  <a:pt x="177765" y="133350"/>
                </a:cubicBezTo>
                <a:cubicBezTo>
                  <a:pt x="177765" y="136614"/>
                  <a:pt x="175890" y="139566"/>
                  <a:pt x="172938" y="140920"/>
                </a:cubicBezTo>
                <a:lnTo>
                  <a:pt x="97026" y="175994"/>
                </a:lnTo>
                <a:cubicBezTo>
                  <a:pt x="91852" y="178390"/>
                  <a:pt x="85879" y="178390"/>
                  <a:pt x="80705" y="175994"/>
                </a:cubicBezTo>
                <a:lnTo>
                  <a:pt x="4827" y="140920"/>
                </a:lnTo>
                <a:cubicBezTo>
                  <a:pt x="1875" y="139531"/>
                  <a:pt x="0" y="136580"/>
                  <a:pt x="0" y="133350"/>
                </a:cubicBezTo>
                <a:cubicBezTo>
                  <a:pt x="0" y="130120"/>
                  <a:pt x="1875" y="127134"/>
                  <a:pt x="4827" y="125780"/>
                </a:cubicBezTo>
                <a:close/>
              </a:path>
            </a:pathLst>
          </a:custGeom>
          <a:solidFill>
            <a:srgbClr val="A67B5C"/>
          </a:solidFill>
          <a:ln/>
        </p:spPr>
      </p:sp>
      <p:sp>
        <p:nvSpPr>
          <p:cNvPr id="40" name="Text 38"/>
          <p:cNvSpPr/>
          <p:nvPr/>
        </p:nvSpPr>
        <p:spPr>
          <a:xfrm>
            <a:off x="11624667" y="7924800"/>
            <a:ext cx="3759200" cy="254000"/>
          </a:xfrm>
          <a:prstGeom prst="rect">
            <a:avLst/>
          </a:prstGeom>
          <a:noFill/>
          <a:ln/>
        </p:spPr>
        <p:txBody>
          <a:bodyPr wrap="square" lIns="0" tIns="0" rIns="0" bIns="0" rtlCol="0" anchor="ctr"/>
          <a:lstStyle/>
          <a:p>
            <a:pPr>
              <a:lnSpc>
                <a:spcPct val="120000"/>
              </a:lnSpc>
            </a:pPr>
            <a:r>
              <a:rPr lang="en-US" sz="1400" dirty="0">
                <a:solidFill>
                  <a:srgbClr val="495057">
                    <a:alpha val="80000"/>
                  </a:srgbClr>
                </a:solidFill>
                <a:latin typeface="MiSans" pitchFamily="34" charset="0"/>
                <a:ea typeface="MiSans" pitchFamily="34" charset="-122"/>
                <a:cs typeface="MiSans" pitchFamily="34" charset="-120"/>
              </a:rPr>
              <a:t>融合三重特征，实现更精准的情感分类</a:t>
            </a:r>
            <a:endParaRPr lang="en-US" sz="1600" dirty="0"/>
          </a:p>
        </p:txBody>
      </p:sp>
    </p:spTree>
  </p:cSld>
  <p:clrMapOvr>
    <a:masterClrMapping/>
  </p:clrMapOvr>
  <p:transition>
    <p:fade/>
    <p:spd val="med"/>
  </p:transition>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9FA"/>
        </a:solidFill>
      </p:bgPr>
    </p:bg>
    <p:spTree>
      <p:nvGrpSpPr>
        <p:cNvPr id="1" name=""/>
        <p:cNvGrpSpPr/>
        <p:nvPr/>
      </p:nvGrpSpPr>
      <p:grpSpPr>
        <a:xfrm>
          <a:off x="0" y="0"/>
          <a:ext cx="0" cy="0"/>
          <a:chOff x="0" y="0"/>
          <a:chExt cx="0" cy="0"/>
        </a:xfrm>
      </p:grpSpPr>
      <p:pic>
        <p:nvPicPr>
          <p:cNvPr id="2" name="Image 0" descr="https://kimi-web-img.moonshot.cn/img/instadeep.com/4b9d7864571b2507f82a7fe030643ef59d013f07.jpg">    </p:cNvPr>
          <p:cNvPicPr>
            <a:picLocks noChangeAspect="1"/>
          </p:cNvPicPr>
          <p:nvPr/>
        </p:nvPicPr>
        <p:blipFill>
          <a:blip r:embed="rId1">
            <a:alphaModFix amt="25000"/>
          </a:blip>
          <a:srcRect l="0" r="0" t="18" b="18"/>
          <a:stretch/>
        </p:blipFill>
        <p:spPr>
          <a:xfrm>
            <a:off x="0" y="0"/>
            <a:ext cx="16256000" cy="9144000"/>
          </a:xfrm>
          <a:prstGeom prst="roundRect">
            <a:avLst>
              <a:gd name="adj" fmla="val 0"/>
            </a:avLst>
          </a:prstGeom>
        </p:spPr>
      </p:pic>
      <p:sp>
        <p:nvSpPr>
          <p:cNvPr id="3" name="Shape 0"/>
          <p:cNvSpPr/>
          <p:nvPr/>
        </p:nvSpPr>
        <p:spPr>
          <a:xfrm>
            <a:off x="0" y="0"/>
            <a:ext cx="16256000" cy="9144000"/>
          </a:xfrm>
          <a:custGeom>
            <a:avLst/>
            <a:gdLst/>
            <a:ahLst/>
            <a:cxnLst/>
            <a:rect l="l" t="t" r="r" b="b"/>
            <a:pathLst>
              <a:path w="16256000" h="9144000">
                <a:moveTo>
                  <a:pt x="0" y="0"/>
                </a:moveTo>
                <a:lnTo>
                  <a:pt x="16256000" y="0"/>
                </a:lnTo>
                <a:lnTo>
                  <a:pt x="16256000" y="9144000"/>
                </a:lnTo>
                <a:lnTo>
                  <a:pt x="0" y="9144000"/>
                </a:lnTo>
                <a:lnTo>
                  <a:pt x="0" y="0"/>
                </a:lnTo>
                <a:close/>
              </a:path>
            </a:pathLst>
          </a:custGeom>
          <a:gradFill rotWithShape="1" flip="none">
            <a:gsLst>
              <a:gs pos="0">
                <a:srgbClr val="495057">
                  <a:alpha val="90000"/>
                </a:srgbClr>
              </a:gs>
              <a:gs pos="50000">
                <a:srgbClr val="495057">
                  <a:alpha val="70000"/>
                </a:srgbClr>
              </a:gs>
              <a:gs pos="100000">
                <a:srgbClr val="000000">
                  <a:alpha val="0"/>
                </a:srgbClr>
              </a:gs>
            </a:gsLst>
            <a:lin ang="0" scaled="1"/>
          </a:gradFill>
          <a:ln/>
        </p:spPr>
      </p:sp>
      <p:sp>
        <p:nvSpPr>
          <p:cNvPr id="4" name="Shape 1"/>
          <p:cNvSpPr/>
          <p:nvPr/>
        </p:nvSpPr>
        <p:spPr>
          <a:xfrm>
            <a:off x="508000" y="2179638"/>
            <a:ext cx="2463800" cy="711200"/>
          </a:xfrm>
          <a:custGeom>
            <a:avLst/>
            <a:gdLst/>
            <a:ahLst/>
            <a:cxnLst/>
            <a:rect l="l" t="t" r="r" b="b"/>
            <a:pathLst>
              <a:path w="2463800" h="711200">
                <a:moveTo>
                  <a:pt x="101602" y="0"/>
                </a:moveTo>
                <a:lnTo>
                  <a:pt x="2362198" y="0"/>
                </a:lnTo>
                <a:cubicBezTo>
                  <a:pt x="2418311" y="0"/>
                  <a:pt x="2463800" y="45489"/>
                  <a:pt x="2463800" y="101602"/>
                </a:cubicBezTo>
                <a:lnTo>
                  <a:pt x="2463800" y="609598"/>
                </a:lnTo>
                <a:cubicBezTo>
                  <a:pt x="2463800" y="665711"/>
                  <a:pt x="2418311" y="711200"/>
                  <a:pt x="2362198" y="711200"/>
                </a:cubicBezTo>
                <a:lnTo>
                  <a:pt x="101602" y="711200"/>
                </a:lnTo>
                <a:cubicBezTo>
                  <a:pt x="45489" y="711200"/>
                  <a:pt x="0" y="665711"/>
                  <a:pt x="0" y="609598"/>
                </a:cubicBezTo>
                <a:lnTo>
                  <a:pt x="0" y="101602"/>
                </a:lnTo>
                <a:cubicBezTo>
                  <a:pt x="0" y="45526"/>
                  <a:pt x="45526" y="0"/>
                  <a:pt x="101602" y="0"/>
                </a:cubicBezTo>
                <a:close/>
              </a:path>
            </a:pathLst>
          </a:custGeom>
          <a:solidFill>
            <a:srgbClr val="A67B5C">
              <a:alpha val="30196"/>
            </a:srgbClr>
          </a:solidFill>
          <a:ln/>
        </p:spPr>
      </p:sp>
      <p:sp>
        <p:nvSpPr>
          <p:cNvPr id="5" name="Text 2"/>
          <p:cNvSpPr/>
          <p:nvPr/>
        </p:nvSpPr>
        <p:spPr>
          <a:xfrm>
            <a:off x="812800" y="2332038"/>
            <a:ext cx="2006600" cy="406400"/>
          </a:xfrm>
          <a:prstGeom prst="rect">
            <a:avLst/>
          </a:prstGeom>
          <a:noFill/>
          <a:ln/>
        </p:spPr>
        <p:txBody>
          <a:bodyPr wrap="square" lIns="0" tIns="0" rIns="0" bIns="0" rtlCol="0" anchor="ctr"/>
          <a:lstStyle/>
          <a:p>
            <a:pPr>
              <a:lnSpc>
                <a:spcPct val="110000"/>
              </a:lnSpc>
            </a:pPr>
            <a:r>
              <a:rPr lang="en-US" sz="2400" b="1" spc="120" kern="0" dirty="0">
                <a:solidFill>
                  <a:srgbClr val="F8F9FA"/>
                </a:solidFill>
                <a:latin typeface="Quattrocento Sans" pitchFamily="34" charset="0"/>
                <a:ea typeface="Quattrocento Sans" pitchFamily="34" charset="-122"/>
                <a:cs typeface="Quattrocento Sans" pitchFamily="34" charset="-120"/>
              </a:rPr>
              <a:t>CHAPTER 02</a:t>
            </a:r>
            <a:endParaRPr lang="en-US" sz="1600" dirty="0"/>
          </a:p>
        </p:txBody>
      </p:sp>
      <p:sp>
        <p:nvSpPr>
          <p:cNvPr id="6" name="Text 3"/>
          <p:cNvSpPr/>
          <p:nvPr/>
        </p:nvSpPr>
        <p:spPr>
          <a:xfrm>
            <a:off x="508000" y="3297238"/>
            <a:ext cx="6070600" cy="2286000"/>
          </a:xfrm>
          <a:prstGeom prst="rect">
            <a:avLst/>
          </a:prstGeom>
          <a:noFill/>
          <a:ln/>
        </p:spPr>
        <p:txBody>
          <a:bodyPr wrap="square" lIns="0" tIns="0" rIns="0" bIns="0" rtlCol="0" anchor="ctr"/>
          <a:lstStyle/>
          <a:p>
            <a:pPr>
              <a:lnSpc>
                <a:spcPct val="100000"/>
              </a:lnSpc>
            </a:pPr>
            <a:r>
              <a:rPr lang="en-US" sz="7200" b="1" dirty="0">
                <a:solidFill>
                  <a:srgbClr val="F8F9FA"/>
                </a:solidFill>
                <a:latin typeface="Liter" pitchFamily="34" charset="0"/>
                <a:ea typeface="Liter" pitchFamily="34" charset="-122"/>
                <a:cs typeface="Liter" pitchFamily="34" charset="-120"/>
              </a:rPr>
              <a:t>MultiSentiNet</a:t>
            </a:r>
            <a:endParaRPr lang="en-US" sz="1600" dirty="0"/>
          </a:p>
          <a:p>
            <a:pPr>
              <a:lnSpc>
                <a:spcPct val="100000"/>
              </a:lnSpc>
            </a:pPr>
            <a:r>
              <a:rPr lang="en-US" sz="7200" b="1" dirty="0">
                <a:solidFill>
                  <a:srgbClr val="F8F9FA"/>
                </a:solidFill>
                <a:latin typeface="Noto Sans SC" pitchFamily="34" charset="0"/>
                <a:ea typeface="Noto Sans SC" pitchFamily="34" charset="-122"/>
                <a:cs typeface="Noto Sans SC" pitchFamily="34" charset="-120"/>
              </a:rPr>
              <a:t>模型架构</a:t>
            </a:r>
            <a:endParaRPr lang="en-US" sz="1600" dirty="0"/>
          </a:p>
        </p:txBody>
      </p:sp>
      <p:sp>
        <p:nvSpPr>
          <p:cNvPr id="7" name="Shape 4"/>
          <p:cNvSpPr/>
          <p:nvPr/>
        </p:nvSpPr>
        <p:spPr>
          <a:xfrm>
            <a:off x="508000" y="5888038"/>
            <a:ext cx="1625600" cy="50800"/>
          </a:xfrm>
          <a:custGeom>
            <a:avLst/>
            <a:gdLst/>
            <a:ahLst/>
            <a:cxnLst/>
            <a:rect l="l" t="t" r="r" b="b"/>
            <a:pathLst>
              <a:path w="1625600" h="50800">
                <a:moveTo>
                  <a:pt x="0" y="0"/>
                </a:moveTo>
                <a:lnTo>
                  <a:pt x="1625600" y="0"/>
                </a:lnTo>
                <a:lnTo>
                  <a:pt x="1625600" y="50800"/>
                </a:lnTo>
                <a:lnTo>
                  <a:pt x="0" y="50800"/>
                </a:lnTo>
                <a:lnTo>
                  <a:pt x="0" y="0"/>
                </a:lnTo>
                <a:close/>
              </a:path>
            </a:pathLst>
          </a:custGeom>
          <a:solidFill>
            <a:srgbClr val="A67B5C"/>
          </a:solidFill>
          <a:ln/>
        </p:spPr>
      </p:sp>
      <p:sp>
        <p:nvSpPr>
          <p:cNvPr id="8" name="Text 5"/>
          <p:cNvSpPr/>
          <p:nvPr/>
        </p:nvSpPr>
        <p:spPr>
          <a:xfrm>
            <a:off x="508000" y="6345238"/>
            <a:ext cx="5803900" cy="622300"/>
          </a:xfrm>
          <a:prstGeom prst="rect">
            <a:avLst/>
          </a:prstGeom>
          <a:noFill/>
          <a:ln/>
        </p:spPr>
        <p:txBody>
          <a:bodyPr wrap="square" lIns="0" tIns="0" rIns="0" bIns="0" rtlCol="0" anchor="ctr"/>
          <a:lstStyle/>
          <a:p>
            <a:pPr>
              <a:lnSpc>
                <a:spcPct val="140000"/>
              </a:lnSpc>
            </a:pPr>
            <a:r>
              <a:rPr lang="en-US" sz="3000" dirty="0">
                <a:solidFill>
                  <a:srgbClr val="F8F9FA">
                    <a:alpha val="80000"/>
                  </a:srgbClr>
                </a:solidFill>
                <a:latin typeface="Noto Sans SC" pitchFamily="34" charset="0"/>
                <a:ea typeface="Noto Sans SC" pitchFamily="34" charset="-122"/>
                <a:cs typeface="Noto Sans SC" pitchFamily="34" charset="-120"/>
              </a:rPr>
              <a:t>深度语义网络的设计与实现</a:t>
            </a:r>
            <a:endParaRPr lang="en-US" sz="1600" dirty="0"/>
          </a:p>
        </p:txBody>
      </p:sp>
    </p:spTree>
  </p:cSld>
  <p:clrMapOvr>
    <a:masterClrMapping/>
  </p:clrMapOvr>
  <p:transition>
    <p:fade/>
    <p:spd val="med"/>
  </p:transition>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9FA"/>
        </a:solidFill>
      </p:bgPr>
    </p:bg>
    <p:spTree>
      <p:nvGrpSpPr>
        <p:cNvPr id="1" name=""/>
        <p:cNvGrpSpPr/>
        <p:nvPr/>
      </p:nvGrpSpPr>
      <p:grpSpPr>
        <a:xfrm>
          <a:off x="0" y="0"/>
          <a:ext cx="0" cy="0"/>
          <a:chOff x="0" y="0"/>
          <a:chExt cx="0" cy="0"/>
        </a:xfrm>
      </p:grpSpPr>
      <p:sp>
        <p:nvSpPr>
          <p:cNvPr id="2" name="Shape 0"/>
          <p:cNvSpPr/>
          <p:nvPr/>
        </p:nvSpPr>
        <p:spPr>
          <a:xfrm>
            <a:off x="508000" y="558800"/>
            <a:ext cx="406400" cy="406400"/>
          </a:xfrm>
          <a:custGeom>
            <a:avLst/>
            <a:gdLst/>
            <a:ahLst/>
            <a:cxnLst/>
            <a:rect l="l" t="t" r="r" b="b"/>
            <a:pathLst>
              <a:path w="406400" h="406400">
                <a:moveTo>
                  <a:pt x="50800" y="0"/>
                </a:moveTo>
                <a:lnTo>
                  <a:pt x="355600" y="0"/>
                </a:lnTo>
                <a:cubicBezTo>
                  <a:pt x="383637" y="0"/>
                  <a:pt x="406400" y="22763"/>
                  <a:pt x="406400" y="50800"/>
                </a:cubicBezTo>
                <a:lnTo>
                  <a:pt x="406400" y="355600"/>
                </a:lnTo>
                <a:cubicBezTo>
                  <a:pt x="406400" y="383637"/>
                  <a:pt x="383637" y="406400"/>
                  <a:pt x="355600" y="406400"/>
                </a:cubicBezTo>
                <a:lnTo>
                  <a:pt x="50800" y="406400"/>
                </a:lnTo>
                <a:cubicBezTo>
                  <a:pt x="22763" y="406400"/>
                  <a:pt x="0" y="383637"/>
                  <a:pt x="0" y="355600"/>
                </a:cubicBezTo>
                <a:lnTo>
                  <a:pt x="0" y="50800"/>
                </a:lnTo>
                <a:cubicBezTo>
                  <a:pt x="0" y="22763"/>
                  <a:pt x="22763" y="0"/>
                  <a:pt x="50800" y="0"/>
                </a:cubicBezTo>
                <a:close/>
              </a:path>
            </a:pathLst>
          </a:custGeom>
          <a:solidFill>
            <a:srgbClr val="A67B5C"/>
          </a:solidFill>
          <a:ln/>
        </p:spPr>
      </p:sp>
      <p:sp>
        <p:nvSpPr>
          <p:cNvPr id="3" name="Text 1"/>
          <p:cNvSpPr/>
          <p:nvPr/>
        </p:nvSpPr>
        <p:spPr>
          <a:xfrm>
            <a:off x="587276" y="609600"/>
            <a:ext cx="355600" cy="304800"/>
          </a:xfrm>
          <a:prstGeom prst="rect">
            <a:avLst/>
          </a:prstGeom>
          <a:noFill/>
          <a:ln/>
        </p:spPr>
        <p:txBody>
          <a:bodyPr wrap="square" lIns="0" tIns="0" rIns="0" bIns="0" rtlCol="0" anchor="ctr"/>
          <a:lstStyle/>
          <a:p>
            <a:pPr>
              <a:lnSpc>
                <a:spcPct val="130000"/>
              </a:lnSpc>
            </a:pPr>
            <a:r>
              <a:rPr lang="en-US" sz="1600" b="1" dirty="0">
                <a:solidFill>
                  <a:srgbClr val="F8F9FA"/>
                </a:solidFill>
                <a:latin typeface="Liter" pitchFamily="34" charset="0"/>
                <a:ea typeface="Liter" pitchFamily="34" charset="-122"/>
                <a:cs typeface="Liter" pitchFamily="34" charset="-120"/>
              </a:rPr>
              <a:t>02</a:t>
            </a:r>
            <a:endParaRPr lang="en-US" sz="1600" dirty="0"/>
          </a:p>
        </p:txBody>
      </p:sp>
      <p:sp>
        <p:nvSpPr>
          <p:cNvPr id="4" name="Text 2"/>
          <p:cNvSpPr/>
          <p:nvPr/>
        </p:nvSpPr>
        <p:spPr>
          <a:xfrm>
            <a:off x="1066800" y="508000"/>
            <a:ext cx="2971800" cy="508000"/>
          </a:xfrm>
          <a:prstGeom prst="rect">
            <a:avLst/>
          </a:prstGeom>
          <a:noFill/>
          <a:ln/>
        </p:spPr>
        <p:txBody>
          <a:bodyPr wrap="square" lIns="0" tIns="0" rIns="0" bIns="0" rtlCol="0" anchor="ctr"/>
          <a:lstStyle/>
          <a:p>
            <a:pPr>
              <a:lnSpc>
                <a:spcPct val="90000"/>
              </a:lnSpc>
            </a:pPr>
            <a:r>
              <a:rPr lang="en-US" sz="3600" b="1" dirty="0">
                <a:solidFill>
                  <a:srgbClr val="495057"/>
                </a:solidFill>
                <a:latin typeface="Noto Sans SC" pitchFamily="34" charset="0"/>
                <a:ea typeface="Noto Sans SC" pitchFamily="34" charset="-122"/>
                <a:cs typeface="Noto Sans SC" pitchFamily="34" charset="-120"/>
              </a:rPr>
              <a:t>模型整体框架</a:t>
            </a:r>
            <a:endParaRPr lang="en-US" sz="1600" dirty="0"/>
          </a:p>
        </p:txBody>
      </p:sp>
      <p:sp>
        <p:nvSpPr>
          <p:cNvPr id="5" name="Shape 3"/>
          <p:cNvSpPr/>
          <p:nvPr/>
        </p:nvSpPr>
        <p:spPr>
          <a:xfrm>
            <a:off x="508000" y="1117600"/>
            <a:ext cx="1016000" cy="50800"/>
          </a:xfrm>
          <a:custGeom>
            <a:avLst/>
            <a:gdLst/>
            <a:ahLst/>
            <a:cxnLst/>
            <a:rect l="l" t="t" r="r" b="b"/>
            <a:pathLst>
              <a:path w="1016000" h="50800">
                <a:moveTo>
                  <a:pt x="0" y="0"/>
                </a:moveTo>
                <a:lnTo>
                  <a:pt x="1016000" y="0"/>
                </a:lnTo>
                <a:lnTo>
                  <a:pt x="1016000" y="50800"/>
                </a:lnTo>
                <a:lnTo>
                  <a:pt x="0" y="50800"/>
                </a:lnTo>
                <a:lnTo>
                  <a:pt x="0" y="0"/>
                </a:lnTo>
                <a:close/>
              </a:path>
            </a:pathLst>
          </a:custGeom>
          <a:solidFill>
            <a:srgbClr val="A67B5C"/>
          </a:solidFill>
          <a:ln/>
        </p:spPr>
      </p:sp>
      <p:sp>
        <p:nvSpPr>
          <p:cNvPr id="6" name="Shape 4"/>
          <p:cNvSpPr/>
          <p:nvPr/>
        </p:nvSpPr>
        <p:spPr>
          <a:xfrm>
            <a:off x="508000" y="1422400"/>
            <a:ext cx="9042400" cy="7213600"/>
          </a:xfrm>
          <a:custGeom>
            <a:avLst/>
            <a:gdLst/>
            <a:ahLst/>
            <a:cxnLst/>
            <a:rect l="l" t="t" r="r" b="b"/>
            <a:pathLst>
              <a:path w="9042400" h="7213600">
                <a:moveTo>
                  <a:pt x="101567" y="0"/>
                </a:moveTo>
                <a:lnTo>
                  <a:pt x="8940833" y="0"/>
                </a:lnTo>
                <a:cubicBezTo>
                  <a:pt x="8996927" y="0"/>
                  <a:pt x="9042400" y="45473"/>
                  <a:pt x="9042400" y="101567"/>
                </a:cubicBezTo>
                <a:lnTo>
                  <a:pt x="9042400" y="7112033"/>
                </a:lnTo>
                <a:cubicBezTo>
                  <a:pt x="9042400" y="7168127"/>
                  <a:pt x="8996927" y="7213600"/>
                  <a:pt x="8940833" y="7213600"/>
                </a:cubicBezTo>
                <a:lnTo>
                  <a:pt x="101567" y="7213600"/>
                </a:lnTo>
                <a:cubicBezTo>
                  <a:pt x="45473" y="7213600"/>
                  <a:pt x="0" y="7168127"/>
                  <a:pt x="0" y="7112033"/>
                </a:cubicBezTo>
                <a:lnTo>
                  <a:pt x="0" y="101567"/>
                </a:lnTo>
                <a:cubicBezTo>
                  <a:pt x="0" y="45511"/>
                  <a:pt x="45511" y="0"/>
                  <a:pt x="101567" y="0"/>
                </a:cubicBezTo>
                <a:close/>
              </a:path>
            </a:pathLst>
          </a:custGeom>
          <a:solidFill>
            <a:srgbClr val="FFFFFF"/>
          </a:solidFill>
          <a:ln/>
          <a:effectLst>
            <a:outerShdw sx="100000" sy="100000" kx="0" ky="0" algn="bl" rotWithShape="0" blurRad="190500" dist="127000" dir="5400000">
              <a:srgbClr val="000000">
                <a:alpha val="10196"/>
              </a:srgbClr>
            </a:outerShdw>
          </a:effectLst>
        </p:spPr>
      </p:sp>
      <p:sp>
        <p:nvSpPr>
          <p:cNvPr id="7" name="Text 5"/>
          <p:cNvSpPr/>
          <p:nvPr/>
        </p:nvSpPr>
        <p:spPr>
          <a:xfrm>
            <a:off x="762000" y="1676400"/>
            <a:ext cx="8661400" cy="355600"/>
          </a:xfrm>
          <a:prstGeom prst="rect">
            <a:avLst/>
          </a:prstGeom>
          <a:noFill/>
          <a:ln/>
        </p:spPr>
        <p:txBody>
          <a:bodyPr wrap="square" lIns="0" tIns="0" rIns="0" bIns="0" rtlCol="0" anchor="ctr"/>
          <a:lstStyle/>
          <a:p>
            <a:pPr>
              <a:lnSpc>
                <a:spcPct val="120000"/>
              </a:lnSpc>
            </a:pPr>
            <a:r>
              <a:rPr lang="en-US" sz="2000" b="1" dirty="0">
                <a:solidFill>
                  <a:srgbClr val="495057"/>
                </a:solidFill>
                <a:latin typeface="Noto Sans SC" pitchFamily="34" charset="0"/>
                <a:ea typeface="Noto Sans SC" pitchFamily="34" charset="-122"/>
                <a:cs typeface="Noto Sans SC" pitchFamily="34" charset="-120"/>
              </a:rPr>
              <a:t>MultiSentiNet架构图</a:t>
            </a:r>
            <a:endParaRPr lang="en-US" sz="1600" dirty="0"/>
          </a:p>
        </p:txBody>
      </p:sp>
      <p:pic>
        <p:nvPicPr>
          <p:cNvPr id="8" name="Image 0" descr="https://kimi-img.moonshot.cn/pub/slides/25-12-30-19:43:33-d59rlpa5hvlloo66cg80.png">    </p:cNvPr>
          <p:cNvPicPr>
            <a:picLocks noChangeAspect="1"/>
          </p:cNvPicPr>
          <p:nvPr/>
        </p:nvPicPr>
        <p:blipFill>
          <a:blip r:embed="rId1"/>
          <a:srcRect l="0" r="0" t="0" b="0"/>
          <a:stretch/>
        </p:blipFill>
        <p:spPr>
          <a:xfrm>
            <a:off x="762000" y="2235200"/>
            <a:ext cx="8534400" cy="6096000"/>
          </a:xfrm>
          <a:prstGeom prst="roundRect">
            <a:avLst>
              <a:gd name="adj" fmla="val 0"/>
            </a:avLst>
          </a:prstGeom>
        </p:spPr>
      </p:pic>
      <p:sp>
        <p:nvSpPr>
          <p:cNvPr id="9" name="Shape 6"/>
          <p:cNvSpPr/>
          <p:nvPr/>
        </p:nvSpPr>
        <p:spPr>
          <a:xfrm>
            <a:off x="9804400" y="1422400"/>
            <a:ext cx="5943600" cy="2667000"/>
          </a:xfrm>
          <a:custGeom>
            <a:avLst/>
            <a:gdLst/>
            <a:ahLst/>
            <a:cxnLst/>
            <a:rect l="l" t="t" r="r" b="b"/>
            <a:pathLst>
              <a:path w="5943600" h="2667000">
                <a:moveTo>
                  <a:pt x="101613" y="0"/>
                </a:moveTo>
                <a:lnTo>
                  <a:pt x="5841987" y="0"/>
                </a:lnTo>
                <a:cubicBezTo>
                  <a:pt x="5898106" y="0"/>
                  <a:pt x="5943600" y="45494"/>
                  <a:pt x="5943600" y="101613"/>
                </a:cubicBezTo>
                <a:lnTo>
                  <a:pt x="5943600" y="2565387"/>
                </a:lnTo>
                <a:cubicBezTo>
                  <a:pt x="5943600" y="2621506"/>
                  <a:pt x="5898106" y="2667000"/>
                  <a:pt x="5841987" y="2667000"/>
                </a:cubicBezTo>
                <a:lnTo>
                  <a:pt x="101613" y="2667000"/>
                </a:lnTo>
                <a:cubicBezTo>
                  <a:pt x="45494" y="2667000"/>
                  <a:pt x="0" y="2621506"/>
                  <a:pt x="0" y="2565387"/>
                </a:cubicBezTo>
                <a:lnTo>
                  <a:pt x="0" y="101613"/>
                </a:lnTo>
                <a:cubicBezTo>
                  <a:pt x="0" y="45531"/>
                  <a:pt x="45531" y="0"/>
                  <a:pt x="101613" y="0"/>
                </a:cubicBezTo>
                <a:close/>
              </a:path>
            </a:pathLst>
          </a:custGeom>
          <a:gradFill rotWithShape="1" flip="none">
            <a:gsLst>
              <a:gs pos="0">
                <a:srgbClr val="A67B5C"/>
              </a:gs>
              <a:gs pos="100000">
                <a:srgbClr val="A67B5C">
                  <a:alpha val="80000"/>
                </a:srgbClr>
              </a:gs>
            </a:gsLst>
            <a:lin ang="2700000" scaled="1"/>
          </a:gradFill>
          <a:ln/>
          <a:effectLst>
            <a:outerShdw sx="100000" sy="100000" kx="0" ky="0" algn="bl" rotWithShape="0" blurRad="190500" dist="127000" dir="5400000">
              <a:srgbClr val="000000">
                <a:alpha val="10196"/>
              </a:srgbClr>
            </a:outerShdw>
          </a:effectLst>
        </p:spPr>
      </p:sp>
      <p:sp>
        <p:nvSpPr>
          <p:cNvPr id="10" name="Shape 7"/>
          <p:cNvSpPr/>
          <p:nvPr/>
        </p:nvSpPr>
        <p:spPr>
          <a:xfrm>
            <a:off x="10058400" y="1676400"/>
            <a:ext cx="508000" cy="508000"/>
          </a:xfrm>
          <a:custGeom>
            <a:avLst/>
            <a:gdLst/>
            <a:ahLst/>
            <a:cxnLst/>
            <a:rect l="l" t="t" r="r" b="b"/>
            <a:pathLst>
              <a:path w="508000" h="508000">
                <a:moveTo>
                  <a:pt x="101600" y="0"/>
                </a:moveTo>
                <a:lnTo>
                  <a:pt x="406400" y="0"/>
                </a:lnTo>
                <a:cubicBezTo>
                  <a:pt x="462475" y="0"/>
                  <a:pt x="508000" y="45525"/>
                  <a:pt x="508000" y="101600"/>
                </a:cubicBezTo>
                <a:lnTo>
                  <a:pt x="508000" y="406400"/>
                </a:lnTo>
                <a:cubicBezTo>
                  <a:pt x="508000" y="462475"/>
                  <a:pt x="462475" y="508000"/>
                  <a:pt x="406400" y="508000"/>
                </a:cubicBezTo>
                <a:lnTo>
                  <a:pt x="101600" y="508000"/>
                </a:lnTo>
                <a:cubicBezTo>
                  <a:pt x="45525" y="508000"/>
                  <a:pt x="0" y="462475"/>
                  <a:pt x="0" y="406400"/>
                </a:cubicBezTo>
                <a:lnTo>
                  <a:pt x="0" y="101600"/>
                </a:lnTo>
                <a:cubicBezTo>
                  <a:pt x="0" y="45525"/>
                  <a:pt x="45525" y="0"/>
                  <a:pt x="101600" y="0"/>
                </a:cubicBezTo>
                <a:close/>
              </a:path>
            </a:pathLst>
          </a:custGeom>
          <a:solidFill>
            <a:srgbClr val="FFFFFF">
              <a:alpha val="20000"/>
            </a:srgbClr>
          </a:solidFill>
          <a:ln/>
        </p:spPr>
      </p:sp>
      <p:sp>
        <p:nvSpPr>
          <p:cNvPr id="11" name="Shape 8"/>
          <p:cNvSpPr/>
          <p:nvPr/>
        </p:nvSpPr>
        <p:spPr>
          <a:xfrm>
            <a:off x="10169525" y="1803400"/>
            <a:ext cx="285750" cy="254000"/>
          </a:xfrm>
          <a:custGeom>
            <a:avLst/>
            <a:gdLst/>
            <a:ahLst/>
            <a:cxnLst/>
            <a:rect l="l" t="t" r="r" b="b"/>
            <a:pathLst>
              <a:path w="285750" h="254000">
                <a:moveTo>
                  <a:pt x="142875" y="15875"/>
                </a:moveTo>
                <a:cubicBezTo>
                  <a:pt x="102791" y="15875"/>
                  <a:pt x="70693" y="34131"/>
                  <a:pt x="47327" y="55860"/>
                </a:cubicBezTo>
                <a:cubicBezTo>
                  <a:pt x="24110" y="77440"/>
                  <a:pt x="8582" y="103188"/>
                  <a:pt x="1191" y="120898"/>
                </a:cubicBezTo>
                <a:cubicBezTo>
                  <a:pt x="-446" y="124817"/>
                  <a:pt x="-446" y="129183"/>
                  <a:pt x="1191" y="133102"/>
                </a:cubicBezTo>
                <a:cubicBezTo>
                  <a:pt x="8582" y="150813"/>
                  <a:pt x="24110" y="176609"/>
                  <a:pt x="47327" y="198140"/>
                </a:cubicBezTo>
                <a:cubicBezTo>
                  <a:pt x="70693" y="219819"/>
                  <a:pt x="102791" y="238125"/>
                  <a:pt x="142875" y="238125"/>
                </a:cubicBezTo>
                <a:cubicBezTo>
                  <a:pt x="182959" y="238125"/>
                  <a:pt x="215057" y="219869"/>
                  <a:pt x="238423" y="198140"/>
                </a:cubicBezTo>
                <a:cubicBezTo>
                  <a:pt x="261640" y="176560"/>
                  <a:pt x="277168" y="150813"/>
                  <a:pt x="284559" y="133102"/>
                </a:cubicBezTo>
                <a:cubicBezTo>
                  <a:pt x="286196" y="129183"/>
                  <a:pt x="286196" y="124817"/>
                  <a:pt x="284559" y="120898"/>
                </a:cubicBezTo>
                <a:cubicBezTo>
                  <a:pt x="277168" y="103187"/>
                  <a:pt x="261640" y="77391"/>
                  <a:pt x="238423" y="55860"/>
                </a:cubicBezTo>
                <a:cubicBezTo>
                  <a:pt x="215057" y="34181"/>
                  <a:pt x="182959" y="15875"/>
                  <a:pt x="142875" y="15875"/>
                </a:cubicBezTo>
                <a:close/>
                <a:moveTo>
                  <a:pt x="71438" y="127000"/>
                </a:moveTo>
                <a:cubicBezTo>
                  <a:pt x="71438" y="87573"/>
                  <a:pt x="103448" y="55563"/>
                  <a:pt x="142875" y="55563"/>
                </a:cubicBezTo>
                <a:cubicBezTo>
                  <a:pt x="182302" y="55563"/>
                  <a:pt x="214313" y="87573"/>
                  <a:pt x="214313" y="127000"/>
                </a:cubicBezTo>
                <a:cubicBezTo>
                  <a:pt x="214313" y="166427"/>
                  <a:pt x="182302" y="198438"/>
                  <a:pt x="142875" y="198438"/>
                </a:cubicBezTo>
                <a:cubicBezTo>
                  <a:pt x="103448" y="198438"/>
                  <a:pt x="71438" y="166427"/>
                  <a:pt x="71438" y="127000"/>
                </a:cubicBezTo>
                <a:close/>
                <a:moveTo>
                  <a:pt x="142875" y="95250"/>
                </a:moveTo>
                <a:cubicBezTo>
                  <a:pt x="142875" y="112762"/>
                  <a:pt x="128637" y="127000"/>
                  <a:pt x="111125" y="127000"/>
                </a:cubicBezTo>
                <a:cubicBezTo>
                  <a:pt x="105420" y="127000"/>
                  <a:pt x="100062" y="125512"/>
                  <a:pt x="95399" y="122833"/>
                </a:cubicBezTo>
                <a:cubicBezTo>
                  <a:pt x="94903" y="128240"/>
                  <a:pt x="95349" y="133796"/>
                  <a:pt x="96838" y="139303"/>
                </a:cubicBezTo>
                <a:cubicBezTo>
                  <a:pt x="103634" y="164703"/>
                  <a:pt x="129778" y="179784"/>
                  <a:pt x="155178" y="172988"/>
                </a:cubicBezTo>
                <a:cubicBezTo>
                  <a:pt x="180578" y="166191"/>
                  <a:pt x="195659" y="140047"/>
                  <a:pt x="188863" y="114647"/>
                </a:cubicBezTo>
                <a:cubicBezTo>
                  <a:pt x="182811" y="91976"/>
                  <a:pt x="161330" y="77539"/>
                  <a:pt x="138708" y="79524"/>
                </a:cubicBezTo>
                <a:cubicBezTo>
                  <a:pt x="141337" y="84138"/>
                  <a:pt x="142875" y="89495"/>
                  <a:pt x="142875" y="95250"/>
                </a:cubicBezTo>
                <a:close/>
              </a:path>
            </a:pathLst>
          </a:custGeom>
          <a:solidFill>
            <a:srgbClr val="FFFFFF"/>
          </a:solidFill>
          <a:ln/>
        </p:spPr>
      </p:sp>
      <p:sp>
        <p:nvSpPr>
          <p:cNvPr id="12" name="Text 9"/>
          <p:cNvSpPr/>
          <p:nvPr/>
        </p:nvSpPr>
        <p:spPr>
          <a:xfrm>
            <a:off x="10718800" y="1752600"/>
            <a:ext cx="1714500" cy="355600"/>
          </a:xfrm>
          <a:prstGeom prst="rect">
            <a:avLst/>
          </a:prstGeom>
          <a:noFill/>
          <a:ln/>
        </p:spPr>
        <p:txBody>
          <a:bodyPr wrap="square" lIns="0" tIns="0" rIns="0" bIns="0" rtlCol="0" anchor="ctr"/>
          <a:lstStyle/>
          <a:p>
            <a:pPr>
              <a:lnSpc>
                <a:spcPct val="130000"/>
              </a:lnSpc>
            </a:pPr>
            <a:r>
              <a:rPr lang="en-US" sz="1800" b="1" dirty="0">
                <a:solidFill>
                  <a:srgbClr val="FFFFFF"/>
                </a:solidFill>
                <a:latin typeface="MiSans" pitchFamily="34" charset="0"/>
                <a:ea typeface="MiSans" pitchFamily="34" charset="-122"/>
                <a:cs typeface="MiSans" pitchFamily="34" charset="-120"/>
              </a:rPr>
              <a:t>视觉特征检测器</a:t>
            </a:r>
            <a:endParaRPr lang="en-US" sz="1600" dirty="0"/>
          </a:p>
        </p:txBody>
      </p:sp>
      <p:sp>
        <p:nvSpPr>
          <p:cNvPr id="13" name="Text 10"/>
          <p:cNvSpPr/>
          <p:nvPr/>
        </p:nvSpPr>
        <p:spPr>
          <a:xfrm>
            <a:off x="10058400" y="2336800"/>
            <a:ext cx="5537200" cy="330200"/>
          </a:xfrm>
          <a:prstGeom prst="rect">
            <a:avLst/>
          </a:prstGeom>
          <a:noFill/>
          <a:ln/>
        </p:spPr>
        <p:txBody>
          <a:bodyPr wrap="square" lIns="0" tIns="0" rIns="0" bIns="0" rtlCol="0" anchor="ctr"/>
          <a:lstStyle/>
          <a:p>
            <a:pPr>
              <a:lnSpc>
                <a:spcPct val="140000"/>
              </a:lnSpc>
            </a:pPr>
            <a:r>
              <a:rPr lang="en-US" sz="1600" dirty="0">
                <a:solidFill>
                  <a:srgbClr val="FFFFFF"/>
                </a:solidFill>
                <a:latin typeface="MiSans" pitchFamily="34" charset="0"/>
                <a:ea typeface="MiSans" pitchFamily="34" charset="-122"/>
                <a:cs typeface="MiSans" pitchFamily="34" charset="-120"/>
              </a:rPr>
              <a:t>提取图像中的</a:t>
            </a:r>
            <a:pPr>
              <a:lnSpc>
                <a:spcPct val="140000"/>
              </a:lnSpc>
            </a:pPr>
            <a:r>
              <a:rPr lang="en-US" sz="1600" b="1" dirty="0">
                <a:solidFill>
                  <a:srgbClr val="FFFFFF"/>
                </a:solidFill>
                <a:latin typeface="MiSans" pitchFamily="34" charset="0"/>
                <a:ea typeface="MiSans" pitchFamily="34" charset="-122"/>
                <a:cs typeface="MiSans" pitchFamily="34" charset="-120"/>
              </a:rPr>
              <a:t>对象</a:t>
            </a:r>
            <a:pPr>
              <a:lnSpc>
                <a:spcPct val="140000"/>
              </a:lnSpc>
            </a:pPr>
            <a:r>
              <a:rPr lang="en-US" sz="1600" dirty="0">
                <a:solidFill>
                  <a:srgbClr val="FFFFFF"/>
                </a:solidFill>
                <a:latin typeface="MiSans" pitchFamily="34" charset="0"/>
                <a:ea typeface="MiSans" pitchFamily="34" charset="-122"/>
                <a:cs typeface="MiSans" pitchFamily="34" charset="-120"/>
              </a:rPr>
              <a:t>和</a:t>
            </a:r>
            <a:pPr>
              <a:lnSpc>
                <a:spcPct val="140000"/>
              </a:lnSpc>
            </a:pPr>
            <a:r>
              <a:rPr lang="en-US" sz="1600" b="1" dirty="0">
                <a:solidFill>
                  <a:srgbClr val="FFFFFF"/>
                </a:solidFill>
                <a:latin typeface="MiSans" pitchFamily="34" charset="0"/>
                <a:ea typeface="MiSans" pitchFamily="34" charset="-122"/>
                <a:cs typeface="MiSans" pitchFamily="34" charset="-120"/>
              </a:rPr>
              <a:t>场景</a:t>
            </a:r>
            <a:pPr>
              <a:lnSpc>
                <a:spcPct val="140000"/>
              </a:lnSpc>
            </a:pPr>
            <a:r>
              <a:rPr lang="en-US" sz="1600" dirty="0">
                <a:solidFill>
                  <a:srgbClr val="FFFFFF"/>
                </a:solidFill>
                <a:latin typeface="MiSans" pitchFamily="34" charset="0"/>
                <a:ea typeface="MiSans" pitchFamily="34" charset="-122"/>
                <a:cs typeface="MiSans" pitchFamily="34" charset="-120"/>
              </a:rPr>
              <a:t>语义特征</a:t>
            </a:r>
            <a:endParaRPr lang="en-US" sz="1600" dirty="0"/>
          </a:p>
        </p:txBody>
      </p:sp>
      <p:sp>
        <p:nvSpPr>
          <p:cNvPr id="14" name="Shape 11"/>
          <p:cNvSpPr/>
          <p:nvPr/>
        </p:nvSpPr>
        <p:spPr>
          <a:xfrm>
            <a:off x="10058400" y="2819400"/>
            <a:ext cx="5435600" cy="457200"/>
          </a:xfrm>
          <a:custGeom>
            <a:avLst/>
            <a:gdLst/>
            <a:ahLst/>
            <a:cxnLst/>
            <a:rect l="l" t="t" r="r" b="b"/>
            <a:pathLst>
              <a:path w="5435600" h="457200">
                <a:moveTo>
                  <a:pt x="50799" y="0"/>
                </a:moveTo>
                <a:lnTo>
                  <a:pt x="5384801" y="0"/>
                </a:lnTo>
                <a:cubicBezTo>
                  <a:pt x="5412856" y="0"/>
                  <a:pt x="5435600" y="22744"/>
                  <a:pt x="5435600" y="50799"/>
                </a:cubicBezTo>
                <a:lnTo>
                  <a:pt x="5435600" y="406401"/>
                </a:lnTo>
                <a:cubicBezTo>
                  <a:pt x="5435600" y="434456"/>
                  <a:pt x="5412856" y="457200"/>
                  <a:pt x="5384801" y="457200"/>
                </a:cubicBezTo>
                <a:lnTo>
                  <a:pt x="50799" y="457200"/>
                </a:lnTo>
                <a:cubicBezTo>
                  <a:pt x="22744" y="457200"/>
                  <a:pt x="0" y="434456"/>
                  <a:pt x="0" y="406401"/>
                </a:cubicBezTo>
                <a:lnTo>
                  <a:pt x="0" y="50799"/>
                </a:lnTo>
                <a:cubicBezTo>
                  <a:pt x="0" y="22762"/>
                  <a:pt x="22762" y="0"/>
                  <a:pt x="50799" y="0"/>
                </a:cubicBezTo>
                <a:close/>
              </a:path>
            </a:pathLst>
          </a:custGeom>
          <a:solidFill>
            <a:srgbClr val="FFFFFF">
              <a:alpha val="10196"/>
            </a:srgbClr>
          </a:solidFill>
          <a:ln/>
        </p:spPr>
      </p:sp>
      <p:sp>
        <p:nvSpPr>
          <p:cNvPr id="15" name="Shape 12"/>
          <p:cNvSpPr/>
          <p:nvPr/>
        </p:nvSpPr>
        <p:spPr>
          <a:xfrm>
            <a:off x="10185400" y="2959100"/>
            <a:ext cx="177800" cy="177800"/>
          </a:xfrm>
          <a:custGeom>
            <a:avLst/>
            <a:gdLst/>
            <a:ahLst/>
            <a:cxnLst/>
            <a:rect l="l" t="t" r="r" b="b"/>
            <a:pathLst>
              <a:path w="177800" h="177800">
                <a:moveTo>
                  <a:pt x="77892" y="-868"/>
                </a:moveTo>
                <a:cubicBezTo>
                  <a:pt x="84768" y="-4827"/>
                  <a:pt x="93241" y="-4827"/>
                  <a:pt x="100117" y="-868"/>
                </a:cubicBezTo>
                <a:lnTo>
                  <a:pt x="161201" y="34379"/>
                </a:lnTo>
                <a:cubicBezTo>
                  <a:pt x="168077" y="38338"/>
                  <a:pt x="172313" y="45700"/>
                  <a:pt x="172313" y="53618"/>
                </a:cubicBezTo>
                <a:lnTo>
                  <a:pt x="172313" y="124113"/>
                </a:lnTo>
                <a:cubicBezTo>
                  <a:pt x="172313" y="132065"/>
                  <a:pt x="168077" y="139392"/>
                  <a:pt x="161201" y="143351"/>
                </a:cubicBezTo>
                <a:lnTo>
                  <a:pt x="100117" y="178668"/>
                </a:lnTo>
                <a:cubicBezTo>
                  <a:pt x="93241" y="182627"/>
                  <a:pt x="84768" y="182627"/>
                  <a:pt x="77892" y="178668"/>
                </a:cubicBezTo>
                <a:lnTo>
                  <a:pt x="16842" y="143421"/>
                </a:lnTo>
                <a:cubicBezTo>
                  <a:pt x="9967" y="139462"/>
                  <a:pt x="5730" y="132100"/>
                  <a:pt x="5730" y="124182"/>
                </a:cubicBezTo>
                <a:lnTo>
                  <a:pt x="5730" y="53687"/>
                </a:lnTo>
                <a:cubicBezTo>
                  <a:pt x="5730" y="45735"/>
                  <a:pt x="9967" y="38408"/>
                  <a:pt x="16842" y="34449"/>
                </a:cubicBezTo>
                <a:lnTo>
                  <a:pt x="77892" y="-868"/>
                </a:lnTo>
                <a:close/>
                <a:moveTo>
                  <a:pt x="150053" y="124147"/>
                </a:moveTo>
                <a:lnTo>
                  <a:pt x="150053" y="66467"/>
                </a:lnTo>
                <a:lnTo>
                  <a:pt x="100117" y="95290"/>
                </a:lnTo>
                <a:lnTo>
                  <a:pt x="100117" y="152971"/>
                </a:lnTo>
                <a:lnTo>
                  <a:pt x="150053" y="124147"/>
                </a:lnTo>
                <a:close/>
              </a:path>
            </a:pathLst>
          </a:custGeom>
          <a:solidFill>
            <a:srgbClr val="FFFFFF"/>
          </a:solidFill>
          <a:ln/>
        </p:spPr>
      </p:sp>
      <p:sp>
        <p:nvSpPr>
          <p:cNvPr id="16" name="Text 13"/>
          <p:cNvSpPr/>
          <p:nvPr/>
        </p:nvSpPr>
        <p:spPr>
          <a:xfrm>
            <a:off x="10483850" y="2921000"/>
            <a:ext cx="1778000" cy="254000"/>
          </a:xfrm>
          <a:prstGeom prst="rect">
            <a:avLst/>
          </a:prstGeom>
          <a:noFill/>
          <a:ln/>
        </p:spPr>
        <p:txBody>
          <a:bodyPr wrap="square" lIns="0" tIns="0" rIns="0" bIns="0" rtlCol="0" anchor="ctr"/>
          <a:lstStyle/>
          <a:p>
            <a:pPr>
              <a:lnSpc>
                <a:spcPct val="120000"/>
              </a:lnSpc>
            </a:pPr>
            <a:r>
              <a:rPr lang="en-US" sz="1400" dirty="0">
                <a:solidFill>
                  <a:srgbClr val="FFFFFF"/>
                </a:solidFill>
                <a:latin typeface="MiSans" pitchFamily="34" charset="0"/>
                <a:ea typeface="MiSans" pitchFamily="34" charset="-122"/>
                <a:cs typeface="MiSans" pitchFamily="34" charset="-120"/>
              </a:rPr>
              <a:t>Object-VGG (1000维)</a:t>
            </a:r>
            <a:endParaRPr lang="en-US" sz="1600" dirty="0"/>
          </a:p>
        </p:txBody>
      </p:sp>
      <p:sp>
        <p:nvSpPr>
          <p:cNvPr id="17" name="Shape 14"/>
          <p:cNvSpPr/>
          <p:nvPr/>
        </p:nvSpPr>
        <p:spPr>
          <a:xfrm>
            <a:off x="10058400" y="3378200"/>
            <a:ext cx="5435600" cy="457200"/>
          </a:xfrm>
          <a:custGeom>
            <a:avLst/>
            <a:gdLst/>
            <a:ahLst/>
            <a:cxnLst/>
            <a:rect l="l" t="t" r="r" b="b"/>
            <a:pathLst>
              <a:path w="5435600" h="457200">
                <a:moveTo>
                  <a:pt x="50799" y="0"/>
                </a:moveTo>
                <a:lnTo>
                  <a:pt x="5384801" y="0"/>
                </a:lnTo>
                <a:cubicBezTo>
                  <a:pt x="5412856" y="0"/>
                  <a:pt x="5435600" y="22744"/>
                  <a:pt x="5435600" y="50799"/>
                </a:cubicBezTo>
                <a:lnTo>
                  <a:pt x="5435600" y="406401"/>
                </a:lnTo>
                <a:cubicBezTo>
                  <a:pt x="5435600" y="434456"/>
                  <a:pt x="5412856" y="457200"/>
                  <a:pt x="5384801" y="457200"/>
                </a:cubicBezTo>
                <a:lnTo>
                  <a:pt x="50799" y="457200"/>
                </a:lnTo>
                <a:cubicBezTo>
                  <a:pt x="22744" y="457200"/>
                  <a:pt x="0" y="434456"/>
                  <a:pt x="0" y="406401"/>
                </a:cubicBezTo>
                <a:lnTo>
                  <a:pt x="0" y="50799"/>
                </a:lnTo>
                <a:cubicBezTo>
                  <a:pt x="0" y="22762"/>
                  <a:pt x="22762" y="0"/>
                  <a:pt x="50799" y="0"/>
                </a:cubicBezTo>
                <a:close/>
              </a:path>
            </a:pathLst>
          </a:custGeom>
          <a:solidFill>
            <a:srgbClr val="FFFFFF">
              <a:alpha val="10196"/>
            </a:srgbClr>
          </a:solidFill>
          <a:ln/>
        </p:spPr>
      </p:sp>
      <p:sp>
        <p:nvSpPr>
          <p:cNvPr id="18" name="Shape 15"/>
          <p:cNvSpPr/>
          <p:nvPr/>
        </p:nvSpPr>
        <p:spPr>
          <a:xfrm>
            <a:off x="10196513" y="3517900"/>
            <a:ext cx="155575" cy="177800"/>
          </a:xfrm>
          <a:custGeom>
            <a:avLst/>
            <a:gdLst/>
            <a:ahLst/>
            <a:cxnLst/>
            <a:rect l="l" t="t" r="r" b="b"/>
            <a:pathLst>
              <a:path w="155575" h="177800">
                <a:moveTo>
                  <a:pt x="22225" y="11112"/>
                </a:moveTo>
                <a:cubicBezTo>
                  <a:pt x="9967" y="11112"/>
                  <a:pt x="0" y="21079"/>
                  <a:pt x="0" y="33337"/>
                </a:cubicBezTo>
                <a:lnTo>
                  <a:pt x="0" y="144463"/>
                </a:lnTo>
                <a:cubicBezTo>
                  <a:pt x="0" y="156721"/>
                  <a:pt x="9967" y="166688"/>
                  <a:pt x="22225" y="166688"/>
                </a:cubicBezTo>
                <a:lnTo>
                  <a:pt x="133350" y="166688"/>
                </a:lnTo>
                <a:cubicBezTo>
                  <a:pt x="145608" y="166688"/>
                  <a:pt x="155575" y="156721"/>
                  <a:pt x="155575" y="144463"/>
                </a:cubicBezTo>
                <a:lnTo>
                  <a:pt x="155575" y="33337"/>
                </a:lnTo>
                <a:cubicBezTo>
                  <a:pt x="155575" y="21079"/>
                  <a:pt x="145608" y="11112"/>
                  <a:pt x="133350" y="11112"/>
                </a:cubicBezTo>
                <a:lnTo>
                  <a:pt x="22225" y="11112"/>
                </a:lnTo>
                <a:close/>
                <a:moveTo>
                  <a:pt x="44450" y="38894"/>
                </a:moveTo>
                <a:cubicBezTo>
                  <a:pt x="53650" y="38894"/>
                  <a:pt x="61119" y="46363"/>
                  <a:pt x="61119" y="55563"/>
                </a:cubicBezTo>
                <a:cubicBezTo>
                  <a:pt x="61119" y="64762"/>
                  <a:pt x="53650" y="72231"/>
                  <a:pt x="44450" y="72231"/>
                </a:cubicBezTo>
                <a:cubicBezTo>
                  <a:pt x="35250" y="72231"/>
                  <a:pt x="27781" y="64762"/>
                  <a:pt x="27781" y="55563"/>
                </a:cubicBezTo>
                <a:cubicBezTo>
                  <a:pt x="27781" y="46363"/>
                  <a:pt x="35250" y="38894"/>
                  <a:pt x="44450" y="38894"/>
                </a:cubicBezTo>
                <a:close/>
                <a:moveTo>
                  <a:pt x="94456" y="77788"/>
                </a:moveTo>
                <a:cubicBezTo>
                  <a:pt x="97373" y="77788"/>
                  <a:pt x="100047" y="79315"/>
                  <a:pt x="101575" y="81781"/>
                </a:cubicBezTo>
                <a:lnTo>
                  <a:pt x="132135" y="131787"/>
                </a:lnTo>
                <a:cubicBezTo>
                  <a:pt x="133697" y="134357"/>
                  <a:pt x="133767" y="137587"/>
                  <a:pt x="132308" y="140226"/>
                </a:cubicBezTo>
                <a:cubicBezTo>
                  <a:pt x="130850" y="142865"/>
                  <a:pt x="128037" y="144463"/>
                  <a:pt x="125016" y="144463"/>
                </a:cubicBezTo>
                <a:lnTo>
                  <a:pt x="30559" y="144463"/>
                </a:lnTo>
                <a:cubicBezTo>
                  <a:pt x="27469" y="144463"/>
                  <a:pt x="24586" y="142726"/>
                  <a:pt x="23163" y="139983"/>
                </a:cubicBezTo>
                <a:cubicBezTo>
                  <a:pt x="21739" y="137239"/>
                  <a:pt x="21947" y="133906"/>
                  <a:pt x="23718" y="131371"/>
                </a:cubicBezTo>
                <a:lnTo>
                  <a:pt x="43165" y="103589"/>
                </a:lnTo>
                <a:cubicBezTo>
                  <a:pt x="44728" y="101367"/>
                  <a:pt x="47263" y="100047"/>
                  <a:pt x="50006" y="100047"/>
                </a:cubicBezTo>
                <a:cubicBezTo>
                  <a:pt x="52750" y="100047"/>
                  <a:pt x="55285" y="101367"/>
                  <a:pt x="56847" y="103589"/>
                </a:cubicBezTo>
                <a:lnTo>
                  <a:pt x="66015" y="116716"/>
                </a:lnTo>
                <a:lnTo>
                  <a:pt x="87337" y="81816"/>
                </a:lnTo>
                <a:cubicBezTo>
                  <a:pt x="88865" y="79350"/>
                  <a:pt x="91539" y="77822"/>
                  <a:pt x="94456" y="77822"/>
                </a:cubicBezTo>
                <a:close/>
              </a:path>
            </a:pathLst>
          </a:custGeom>
          <a:solidFill>
            <a:srgbClr val="FFFFFF"/>
          </a:solidFill>
          <a:ln/>
        </p:spPr>
      </p:sp>
      <p:sp>
        <p:nvSpPr>
          <p:cNvPr id="19" name="Text 16"/>
          <p:cNvSpPr/>
          <p:nvPr/>
        </p:nvSpPr>
        <p:spPr>
          <a:xfrm>
            <a:off x="10483850" y="3479800"/>
            <a:ext cx="1612900" cy="254000"/>
          </a:xfrm>
          <a:prstGeom prst="rect">
            <a:avLst/>
          </a:prstGeom>
          <a:noFill/>
          <a:ln/>
        </p:spPr>
        <p:txBody>
          <a:bodyPr wrap="square" lIns="0" tIns="0" rIns="0" bIns="0" rtlCol="0" anchor="ctr"/>
          <a:lstStyle/>
          <a:p>
            <a:pPr>
              <a:lnSpc>
                <a:spcPct val="120000"/>
              </a:lnSpc>
            </a:pPr>
            <a:r>
              <a:rPr lang="en-US" sz="1400" dirty="0">
                <a:solidFill>
                  <a:srgbClr val="FFFFFF"/>
                </a:solidFill>
                <a:latin typeface="MiSans" pitchFamily="34" charset="0"/>
                <a:ea typeface="MiSans" pitchFamily="34" charset="-122"/>
                <a:cs typeface="MiSans" pitchFamily="34" charset="-120"/>
              </a:rPr>
              <a:t>Scene-VGG (365维)</a:t>
            </a:r>
            <a:endParaRPr lang="en-US" sz="1600" dirty="0"/>
          </a:p>
        </p:txBody>
      </p:sp>
      <p:sp>
        <p:nvSpPr>
          <p:cNvPr id="20" name="Shape 17"/>
          <p:cNvSpPr/>
          <p:nvPr/>
        </p:nvSpPr>
        <p:spPr>
          <a:xfrm>
            <a:off x="9804400" y="4292600"/>
            <a:ext cx="5943600" cy="2070100"/>
          </a:xfrm>
          <a:custGeom>
            <a:avLst/>
            <a:gdLst/>
            <a:ahLst/>
            <a:cxnLst/>
            <a:rect l="l" t="t" r="r" b="b"/>
            <a:pathLst>
              <a:path w="5943600" h="2070100">
                <a:moveTo>
                  <a:pt x="101601" y="0"/>
                </a:moveTo>
                <a:lnTo>
                  <a:pt x="5841999" y="0"/>
                </a:lnTo>
                <a:cubicBezTo>
                  <a:pt x="5898112" y="0"/>
                  <a:pt x="5943600" y="45488"/>
                  <a:pt x="5943600" y="101601"/>
                </a:cubicBezTo>
                <a:lnTo>
                  <a:pt x="5943600" y="1968499"/>
                </a:lnTo>
                <a:cubicBezTo>
                  <a:pt x="5943600" y="2024612"/>
                  <a:pt x="5898112" y="2070100"/>
                  <a:pt x="5841999" y="2070100"/>
                </a:cubicBezTo>
                <a:lnTo>
                  <a:pt x="101601" y="2070100"/>
                </a:lnTo>
                <a:cubicBezTo>
                  <a:pt x="45488" y="2070100"/>
                  <a:pt x="0" y="2024612"/>
                  <a:pt x="0" y="1968499"/>
                </a:cubicBezTo>
                <a:lnTo>
                  <a:pt x="0" y="101601"/>
                </a:lnTo>
                <a:cubicBezTo>
                  <a:pt x="0" y="45526"/>
                  <a:pt x="45526" y="0"/>
                  <a:pt x="101601" y="0"/>
                </a:cubicBezTo>
                <a:close/>
              </a:path>
            </a:pathLst>
          </a:custGeom>
          <a:solidFill>
            <a:srgbClr val="FFFFFF"/>
          </a:solidFill>
          <a:ln/>
          <a:effectLst>
            <a:outerShdw sx="100000" sy="100000" kx="0" ky="0" algn="bl" rotWithShape="0" blurRad="76200" dist="50800" dir="5400000">
              <a:srgbClr val="000000">
                <a:alpha val="10196"/>
              </a:srgbClr>
            </a:outerShdw>
          </a:effectLst>
        </p:spPr>
      </p:sp>
      <p:sp>
        <p:nvSpPr>
          <p:cNvPr id="21" name="Shape 18"/>
          <p:cNvSpPr/>
          <p:nvPr/>
        </p:nvSpPr>
        <p:spPr>
          <a:xfrm>
            <a:off x="10058400" y="4546600"/>
            <a:ext cx="508000" cy="508000"/>
          </a:xfrm>
          <a:custGeom>
            <a:avLst/>
            <a:gdLst/>
            <a:ahLst/>
            <a:cxnLst/>
            <a:rect l="l" t="t" r="r" b="b"/>
            <a:pathLst>
              <a:path w="508000" h="508000">
                <a:moveTo>
                  <a:pt x="101600" y="0"/>
                </a:moveTo>
                <a:lnTo>
                  <a:pt x="406400" y="0"/>
                </a:lnTo>
                <a:cubicBezTo>
                  <a:pt x="462475" y="0"/>
                  <a:pt x="508000" y="45525"/>
                  <a:pt x="508000" y="101600"/>
                </a:cubicBezTo>
                <a:lnTo>
                  <a:pt x="508000" y="406400"/>
                </a:lnTo>
                <a:cubicBezTo>
                  <a:pt x="508000" y="462475"/>
                  <a:pt x="462475" y="508000"/>
                  <a:pt x="406400" y="508000"/>
                </a:cubicBezTo>
                <a:lnTo>
                  <a:pt x="101600" y="508000"/>
                </a:lnTo>
                <a:cubicBezTo>
                  <a:pt x="45525" y="508000"/>
                  <a:pt x="0" y="462475"/>
                  <a:pt x="0" y="406400"/>
                </a:cubicBezTo>
                <a:lnTo>
                  <a:pt x="0" y="101600"/>
                </a:lnTo>
                <a:cubicBezTo>
                  <a:pt x="0" y="45525"/>
                  <a:pt x="45525" y="0"/>
                  <a:pt x="101600" y="0"/>
                </a:cubicBezTo>
                <a:close/>
              </a:path>
            </a:pathLst>
          </a:custGeom>
          <a:solidFill>
            <a:srgbClr val="495057">
              <a:alpha val="10196"/>
            </a:srgbClr>
          </a:solidFill>
          <a:ln/>
        </p:spPr>
      </p:sp>
      <p:sp>
        <p:nvSpPr>
          <p:cNvPr id="22" name="Shape 19"/>
          <p:cNvSpPr/>
          <p:nvPr/>
        </p:nvSpPr>
        <p:spPr>
          <a:xfrm>
            <a:off x="10185400" y="4673600"/>
            <a:ext cx="254000" cy="254000"/>
          </a:xfrm>
          <a:custGeom>
            <a:avLst/>
            <a:gdLst/>
            <a:ahLst/>
            <a:cxnLst/>
            <a:rect l="l" t="t" r="r" b="b"/>
            <a:pathLst>
              <a:path w="254000" h="254000">
                <a:moveTo>
                  <a:pt x="59531" y="27781"/>
                </a:moveTo>
                <a:cubicBezTo>
                  <a:pt x="59531" y="12452"/>
                  <a:pt x="71983" y="0"/>
                  <a:pt x="87313" y="0"/>
                </a:cubicBezTo>
                <a:lnTo>
                  <a:pt x="99219" y="0"/>
                </a:lnTo>
                <a:cubicBezTo>
                  <a:pt x="108000" y="0"/>
                  <a:pt x="115094" y="7094"/>
                  <a:pt x="115094" y="15875"/>
                </a:cubicBezTo>
                <a:lnTo>
                  <a:pt x="115094" y="238125"/>
                </a:lnTo>
                <a:cubicBezTo>
                  <a:pt x="115094" y="246906"/>
                  <a:pt x="108000" y="254000"/>
                  <a:pt x="99219" y="254000"/>
                </a:cubicBezTo>
                <a:lnTo>
                  <a:pt x="83344" y="254000"/>
                </a:lnTo>
                <a:cubicBezTo>
                  <a:pt x="68560" y="254000"/>
                  <a:pt x="56108" y="243880"/>
                  <a:pt x="52586" y="230188"/>
                </a:cubicBezTo>
                <a:cubicBezTo>
                  <a:pt x="52239" y="230188"/>
                  <a:pt x="51941" y="230188"/>
                  <a:pt x="51594" y="230188"/>
                </a:cubicBezTo>
                <a:cubicBezTo>
                  <a:pt x="29666" y="230188"/>
                  <a:pt x="11906" y="212427"/>
                  <a:pt x="11906" y="190500"/>
                </a:cubicBezTo>
                <a:cubicBezTo>
                  <a:pt x="11906" y="181570"/>
                  <a:pt x="14883" y="173335"/>
                  <a:pt x="19844" y="166688"/>
                </a:cubicBezTo>
                <a:cubicBezTo>
                  <a:pt x="10220" y="159445"/>
                  <a:pt x="3969" y="147935"/>
                  <a:pt x="3969" y="134938"/>
                </a:cubicBezTo>
                <a:cubicBezTo>
                  <a:pt x="3969" y="119608"/>
                  <a:pt x="12700" y="106263"/>
                  <a:pt x="25400" y="99665"/>
                </a:cubicBezTo>
                <a:cubicBezTo>
                  <a:pt x="21878" y="93712"/>
                  <a:pt x="19844" y="86767"/>
                  <a:pt x="19844" y="79375"/>
                </a:cubicBezTo>
                <a:cubicBezTo>
                  <a:pt x="19844" y="57448"/>
                  <a:pt x="37604" y="39688"/>
                  <a:pt x="59531" y="39688"/>
                </a:cubicBezTo>
                <a:lnTo>
                  <a:pt x="59531" y="27781"/>
                </a:lnTo>
                <a:close/>
                <a:moveTo>
                  <a:pt x="194469" y="27781"/>
                </a:moveTo>
                <a:lnTo>
                  <a:pt x="194469" y="39688"/>
                </a:lnTo>
                <a:cubicBezTo>
                  <a:pt x="216396" y="39688"/>
                  <a:pt x="234156" y="57448"/>
                  <a:pt x="234156" y="79375"/>
                </a:cubicBezTo>
                <a:cubicBezTo>
                  <a:pt x="234156" y="86816"/>
                  <a:pt x="232122" y="93762"/>
                  <a:pt x="228600" y="99665"/>
                </a:cubicBezTo>
                <a:cubicBezTo>
                  <a:pt x="241350" y="106263"/>
                  <a:pt x="250031" y="119559"/>
                  <a:pt x="250031" y="134938"/>
                </a:cubicBezTo>
                <a:cubicBezTo>
                  <a:pt x="250031" y="147935"/>
                  <a:pt x="243780" y="159445"/>
                  <a:pt x="234156" y="166688"/>
                </a:cubicBezTo>
                <a:cubicBezTo>
                  <a:pt x="239117" y="173335"/>
                  <a:pt x="242094" y="181570"/>
                  <a:pt x="242094" y="190500"/>
                </a:cubicBezTo>
                <a:cubicBezTo>
                  <a:pt x="242094" y="212427"/>
                  <a:pt x="224334" y="230188"/>
                  <a:pt x="202406" y="230188"/>
                </a:cubicBezTo>
                <a:cubicBezTo>
                  <a:pt x="202059" y="230188"/>
                  <a:pt x="201761" y="230188"/>
                  <a:pt x="201414" y="230188"/>
                </a:cubicBezTo>
                <a:cubicBezTo>
                  <a:pt x="197892" y="243880"/>
                  <a:pt x="185440" y="254000"/>
                  <a:pt x="170656" y="254000"/>
                </a:cubicBezTo>
                <a:lnTo>
                  <a:pt x="154781" y="254000"/>
                </a:lnTo>
                <a:cubicBezTo>
                  <a:pt x="146000" y="254000"/>
                  <a:pt x="138906" y="246906"/>
                  <a:pt x="138906" y="238125"/>
                </a:cubicBezTo>
                <a:lnTo>
                  <a:pt x="138906" y="15875"/>
                </a:lnTo>
                <a:cubicBezTo>
                  <a:pt x="138906" y="7094"/>
                  <a:pt x="146000" y="0"/>
                  <a:pt x="154781" y="0"/>
                </a:cubicBezTo>
                <a:lnTo>
                  <a:pt x="166688" y="0"/>
                </a:lnTo>
                <a:cubicBezTo>
                  <a:pt x="182017" y="0"/>
                  <a:pt x="194469" y="12452"/>
                  <a:pt x="194469" y="27781"/>
                </a:cubicBezTo>
                <a:close/>
              </a:path>
            </a:pathLst>
          </a:custGeom>
          <a:solidFill>
            <a:srgbClr val="495057"/>
          </a:solidFill>
          <a:ln/>
        </p:spPr>
      </p:sp>
      <p:sp>
        <p:nvSpPr>
          <p:cNvPr id="23" name="Text 20"/>
          <p:cNvSpPr/>
          <p:nvPr/>
        </p:nvSpPr>
        <p:spPr>
          <a:xfrm>
            <a:off x="10718800" y="4622800"/>
            <a:ext cx="1485900" cy="355600"/>
          </a:xfrm>
          <a:prstGeom prst="rect">
            <a:avLst/>
          </a:prstGeom>
          <a:noFill/>
          <a:ln/>
        </p:spPr>
        <p:txBody>
          <a:bodyPr wrap="square" lIns="0" tIns="0" rIns="0" bIns="0" rtlCol="0" anchor="ctr"/>
          <a:lstStyle/>
          <a:p>
            <a:pPr>
              <a:lnSpc>
                <a:spcPct val="130000"/>
              </a:lnSpc>
            </a:pPr>
            <a:r>
              <a:rPr lang="en-US" sz="1800" b="1" dirty="0">
                <a:solidFill>
                  <a:srgbClr val="495057"/>
                </a:solidFill>
                <a:latin typeface="MiSans" pitchFamily="34" charset="0"/>
                <a:ea typeface="MiSans" pitchFamily="34" charset="-122"/>
                <a:cs typeface="MiSans" pitchFamily="34" charset="-120"/>
              </a:rPr>
              <a:t>文本特征提取</a:t>
            </a:r>
            <a:endParaRPr lang="en-US" sz="1600" dirty="0"/>
          </a:p>
        </p:txBody>
      </p:sp>
      <p:sp>
        <p:nvSpPr>
          <p:cNvPr id="24" name="Text 21"/>
          <p:cNvSpPr/>
          <p:nvPr/>
        </p:nvSpPr>
        <p:spPr>
          <a:xfrm>
            <a:off x="10058400" y="5207000"/>
            <a:ext cx="5537200" cy="901700"/>
          </a:xfrm>
          <a:prstGeom prst="rect">
            <a:avLst/>
          </a:prstGeom>
          <a:noFill/>
          <a:ln/>
        </p:spPr>
        <p:txBody>
          <a:bodyPr wrap="square" lIns="0" tIns="0" rIns="0" bIns="0" rtlCol="0" anchor="ctr"/>
          <a:lstStyle/>
          <a:p>
            <a:pPr>
              <a:lnSpc>
                <a:spcPct val="140000"/>
              </a:lnSpc>
            </a:pPr>
            <a:r>
              <a:rPr lang="en-US" sz="1600" b="1" dirty="0">
                <a:solidFill>
                  <a:srgbClr val="495057"/>
                </a:solidFill>
                <a:latin typeface="MiSans" pitchFamily="34" charset="0"/>
                <a:ea typeface="MiSans" pitchFamily="34" charset="-122"/>
                <a:cs typeface="MiSans" pitchFamily="34" charset="-120"/>
              </a:rPr>
              <a:t>视觉引导的注意力LSTM</a:t>
            </a:r>
            <a:pPr>
              <a:lnSpc>
                <a:spcPct val="140000"/>
              </a:lnSpc>
            </a:pPr>
            <a:r>
              <a:rPr lang="en-US" sz="1600" dirty="0">
                <a:solidFill>
                  <a:srgbClr val="495057">
                    <a:alpha val="80000"/>
                  </a:srgbClr>
                </a:solidFill>
                <a:latin typeface="MiSans" pitchFamily="34" charset="0"/>
                <a:ea typeface="MiSans" pitchFamily="34" charset="-122"/>
                <a:cs typeface="MiSans" pitchFamily="34" charset="-120"/>
              </a:rPr>
              <a:t>：利用图像语义引导文本注意力分配，捕捉关键情感词汇</a:t>
            </a:r>
            <a:endParaRPr lang="en-US" sz="1600" dirty="0"/>
          </a:p>
        </p:txBody>
      </p:sp>
      <p:sp>
        <p:nvSpPr>
          <p:cNvPr id="25" name="Shape 22"/>
          <p:cNvSpPr/>
          <p:nvPr/>
        </p:nvSpPr>
        <p:spPr>
          <a:xfrm>
            <a:off x="9804400" y="6565900"/>
            <a:ext cx="5943600" cy="2070100"/>
          </a:xfrm>
          <a:custGeom>
            <a:avLst/>
            <a:gdLst/>
            <a:ahLst/>
            <a:cxnLst/>
            <a:rect l="l" t="t" r="r" b="b"/>
            <a:pathLst>
              <a:path w="5943600" h="2070100">
                <a:moveTo>
                  <a:pt x="101601" y="0"/>
                </a:moveTo>
                <a:lnTo>
                  <a:pt x="5841999" y="0"/>
                </a:lnTo>
                <a:cubicBezTo>
                  <a:pt x="5898112" y="0"/>
                  <a:pt x="5943600" y="45488"/>
                  <a:pt x="5943600" y="101601"/>
                </a:cubicBezTo>
                <a:lnTo>
                  <a:pt x="5943600" y="1968499"/>
                </a:lnTo>
                <a:cubicBezTo>
                  <a:pt x="5943600" y="2024612"/>
                  <a:pt x="5898112" y="2070100"/>
                  <a:pt x="5841999" y="2070100"/>
                </a:cubicBezTo>
                <a:lnTo>
                  <a:pt x="101601" y="2070100"/>
                </a:lnTo>
                <a:cubicBezTo>
                  <a:pt x="45488" y="2070100"/>
                  <a:pt x="0" y="2024612"/>
                  <a:pt x="0" y="1968499"/>
                </a:cubicBezTo>
                <a:lnTo>
                  <a:pt x="0" y="101601"/>
                </a:lnTo>
                <a:cubicBezTo>
                  <a:pt x="0" y="45526"/>
                  <a:pt x="45526" y="0"/>
                  <a:pt x="101601" y="0"/>
                </a:cubicBezTo>
                <a:close/>
              </a:path>
            </a:pathLst>
          </a:custGeom>
          <a:solidFill>
            <a:srgbClr val="FFFFFF"/>
          </a:solidFill>
          <a:ln/>
          <a:effectLst>
            <a:outerShdw sx="100000" sy="100000" kx="0" ky="0" algn="bl" rotWithShape="0" blurRad="76200" dist="50800" dir="5400000">
              <a:srgbClr val="000000">
                <a:alpha val="10196"/>
              </a:srgbClr>
            </a:outerShdw>
          </a:effectLst>
        </p:spPr>
      </p:sp>
      <p:sp>
        <p:nvSpPr>
          <p:cNvPr id="26" name="Shape 23"/>
          <p:cNvSpPr/>
          <p:nvPr/>
        </p:nvSpPr>
        <p:spPr>
          <a:xfrm>
            <a:off x="10058400" y="6819900"/>
            <a:ext cx="508000" cy="508000"/>
          </a:xfrm>
          <a:custGeom>
            <a:avLst/>
            <a:gdLst/>
            <a:ahLst/>
            <a:cxnLst/>
            <a:rect l="l" t="t" r="r" b="b"/>
            <a:pathLst>
              <a:path w="508000" h="508000">
                <a:moveTo>
                  <a:pt x="101600" y="0"/>
                </a:moveTo>
                <a:lnTo>
                  <a:pt x="406400" y="0"/>
                </a:lnTo>
                <a:cubicBezTo>
                  <a:pt x="462475" y="0"/>
                  <a:pt x="508000" y="45525"/>
                  <a:pt x="508000" y="101600"/>
                </a:cubicBezTo>
                <a:lnTo>
                  <a:pt x="508000" y="406400"/>
                </a:lnTo>
                <a:cubicBezTo>
                  <a:pt x="508000" y="462475"/>
                  <a:pt x="462475" y="508000"/>
                  <a:pt x="406400" y="508000"/>
                </a:cubicBezTo>
                <a:lnTo>
                  <a:pt x="101600" y="508000"/>
                </a:lnTo>
                <a:cubicBezTo>
                  <a:pt x="45525" y="508000"/>
                  <a:pt x="0" y="462475"/>
                  <a:pt x="0" y="406400"/>
                </a:cubicBezTo>
                <a:lnTo>
                  <a:pt x="0" y="101600"/>
                </a:lnTo>
                <a:cubicBezTo>
                  <a:pt x="0" y="45525"/>
                  <a:pt x="45525" y="0"/>
                  <a:pt x="101600" y="0"/>
                </a:cubicBezTo>
                <a:close/>
              </a:path>
            </a:pathLst>
          </a:custGeom>
          <a:solidFill>
            <a:srgbClr val="ADB5BD">
              <a:alpha val="10196"/>
            </a:srgbClr>
          </a:solidFill>
          <a:ln/>
        </p:spPr>
      </p:sp>
      <p:sp>
        <p:nvSpPr>
          <p:cNvPr id="27" name="Shape 24"/>
          <p:cNvSpPr/>
          <p:nvPr/>
        </p:nvSpPr>
        <p:spPr>
          <a:xfrm>
            <a:off x="10185400" y="6946900"/>
            <a:ext cx="254000" cy="254000"/>
          </a:xfrm>
          <a:custGeom>
            <a:avLst/>
            <a:gdLst/>
            <a:ahLst/>
            <a:cxnLst/>
            <a:rect l="l" t="t" r="r" b="b"/>
            <a:pathLst>
              <a:path w="254000" h="254000">
                <a:moveTo>
                  <a:pt x="115342" y="2580"/>
                </a:moveTo>
                <a:cubicBezTo>
                  <a:pt x="122734" y="-843"/>
                  <a:pt x="131266" y="-843"/>
                  <a:pt x="138658" y="2580"/>
                </a:cubicBezTo>
                <a:lnTo>
                  <a:pt x="247104" y="52685"/>
                </a:lnTo>
                <a:cubicBezTo>
                  <a:pt x="251321" y="54620"/>
                  <a:pt x="254000" y="58837"/>
                  <a:pt x="254000" y="63500"/>
                </a:cubicBezTo>
                <a:cubicBezTo>
                  <a:pt x="254000" y="68163"/>
                  <a:pt x="251321" y="72380"/>
                  <a:pt x="247104" y="74315"/>
                </a:cubicBezTo>
                <a:lnTo>
                  <a:pt x="138658" y="124420"/>
                </a:lnTo>
                <a:cubicBezTo>
                  <a:pt x="131266" y="127843"/>
                  <a:pt x="122734" y="127843"/>
                  <a:pt x="115342" y="124420"/>
                </a:cubicBezTo>
                <a:lnTo>
                  <a:pt x="6896" y="74315"/>
                </a:lnTo>
                <a:cubicBezTo>
                  <a:pt x="2679" y="72330"/>
                  <a:pt x="0" y="68114"/>
                  <a:pt x="0" y="63500"/>
                </a:cubicBezTo>
                <a:cubicBezTo>
                  <a:pt x="0" y="58886"/>
                  <a:pt x="2679" y="54620"/>
                  <a:pt x="6896" y="52685"/>
                </a:cubicBezTo>
                <a:lnTo>
                  <a:pt x="115342" y="2580"/>
                </a:lnTo>
                <a:close/>
                <a:moveTo>
                  <a:pt x="23862" y="108347"/>
                </a:moveTo>
                <a:lnTo>
                  <a:pt x="105370" y="146000"/>
                </a:lnTo>
                <a:cubicBezTo>
                  <a:pt x="119112" y="152350"/>
                  <a:pt x="134938" y="152350"/>
                  <a:pt x="148679" y="146000"/>
                </a:cubicBezTo>
                <a:lnTo>
                  <a:pt x="230188" y="108347"/>
                </a:lnTo>
                <a:lnTo>
                  <a:pt x="247104" y="116185"/>
                </a:lnTo>
                <a:cubicBezTo>
                  <a:pt x="251321" y="118120"/>
                  <a:pt x="254000" y="122337"/>
                  <a:pt x="254000" y="127000"/>
                </a:cubicBezTo>
                <a:cubicBezTo>
                  <a:pt x="254000" y="131663"/>
                  <a:pt x="251321" y="135880"/>
                  <a:pt x="247104" y="137815"/>
                </a:cubicBezTo>
                <a:lnTo>
                  <a:pt x="138658" y="187920"/>
                </a:lnTo>
                <a:cubicBezTo>
                  <a:pt x="131266" y="191343"/>
                  <a:pt x="122734" y="191343"/>
                  <a:pt x="115342" y="187920"/>
                </a:cubicBezTo>
                <a:lnTo>
                  <a:pt x="6896" y="137815"/>
                </a:lnTo>
                <a:cubicBezTo>
                  <a:pt x="2679" y="135830"/>
                  <a:pt x="0" y="131614"/>
                  <a:pt x="0" y="127000"/>
                </a:cubicBezTo>
                <a:cubicBezTo>
                  <a:pt x="0" y="122386"/>
                  <a:pt x="2679" y="118120"/>
                  <a:pt x="6896" y="116185"/>
                </a:cubicBezTo>
                <a:lnTo>
                  <a:pt x="23812" y="108347"/>
                </a:lnTo>
                <a:close/>
                <a:moveTo>
                  <a:pt x="6896" y="179685"/>
                </a:moveTo>
                <a:lnTo>
                  <a:pt x="23812" y="171847"/>
                </a:lnTo>
                <a:lnTo>
                  <a:pt x="105321" y="209500"/>
                </a:lnTo>
                <a:cubicBezTo>
                  <a:pt x="119063" y="215850"/>
                  <a:pt x="134888" y="215850"/>
                  <a:pt x="148630" y="209500"/>
                </a:cubicBezTo>
                <a:lnTo>
                  <a:pt x="230138" y="171847"/>
                </a:lnTo>
                <a:lnTo>
                  <a:pt x="247055" y="179685"/>
                </a:lnTo>
                <a:cubicBezTo>
                  <a:pt x="251271" y="181620"/>
                  <a:pt x="253950" y="185837"/>
                  <a:pt x="253950" y="190500"/>
                </a:cubicBezTo>
                <a:cubicBezTo>
                  <a:pt x="253950" y="195163"/>
                  <a:pt x="251271" y="199380"/>
                  <a:pt x="247055" y="201315"/>
                </a:cubicBezTo>
                <a:lnTo>
                  <a:pt x="138609" y="251420"/>
                </a:lnTo>
                <a:cubicBezTo>
                  <a:pt x="131217" y="254843"/>
                  <a:pt x="122684" y="254843"/>
                  <a:pt x="115292" y="251420"/>
                </a:cubicBezTo>
                <a:lnTo>
                  <a:pt x="6896" y="201315"/>
                </a:lnTo>
                <a:cubicBezTo>
                  <a:pt x="2679" y="199330"/>
                  <a:pt x="0" y="195114"/>
                  <a:pt x="0" y="190500"/>
                </a:cubicBezTo>
                <a:cubicBezTo>
                  <a:pt x="0" y="185886"/>
                  <a:pt x="2679" y="181620"/>
                  <a:pt x="6896" y="179685"/>
                </a:cubicBezTo>
                <a:close/>
              </a:path>
            </a:pathLst>
          </a:custGeom>
          <a:solidFill>
            <a:srgbClr val="ADB5BD"/>
          </a:solidFill>
          <a:ln/>
        </p:spPr>
      </p:sp>
      <p:sp>
        <p:nvSpPr>
          <p:cNvPr id="28" name="Text 25"/>
          <p:cNvSpPr/>
          <p:nvPr/>
        </p:nvSpPr>
        <p:spPr>
          <a:xfrm>
            <a:off x="10718800" y="6896100"/>
            <a:ext cx="1028700" cy="355600"/>
          </a:xfrm>
          <a:prstGeom prst="rect">
            <a:avLst/>
          </a:prstGeom>
          <a:noFill/>
          <a:ln/>
        </p:spPr>
        <p:txBody>
          <a:bodyPr wrap="square" lIns="0" tIns="0" rIns="0" bIns="0" rtlCol="0" anchor="ctr"/>
          <a:lstStyle/>
          <a:p>
            <a:pPr>
              <a:lnSpc>
                <a:spcPct val="130000"/>
              </a:lnSpc>
            </a:pPr>
            <a:r>
              <a:rPr lang="en-US" sz="1800" b="1" dirty="0">
                <a:solidFill>
                  <a:srgbClr val="495057"/>
                </a:solidFill>
                <a:latin typeface="MiSans" pitchFamily="34" charset="0"/>
                <a:ea typeface="MiSans" pitchFamily="34" charset="-122"/>
                <a:cs typeface="MiSans" pitchFamily="34" charset="-120"/>
              </a:rPr>
              <a:t>情感分类</a:t>
            </a:r>
            <a:endParaRPr lang="en-US" sz="1600" dirty="0"/>
          </a:p>
        </p:txBody>
      </p:sp>
      <p:sp>
        <p:nvSpPr>
          <p:cNvPr id="29" name="Text 26"/>
          <p:cNvSpPr/>
          <p:nvPr/>
        </p:nvSpPr>
        <p:spPr>
          <a:xfrm>
            <a:off x="10058400" y="7480300"/>
            <a:ext cx="5537200" cy="901700"/>
          </a:xfrm>
          <a:prstGeom prst="rect">
            <a:avLst/>
          </a:prstGeom>
          <a:noFill/>
          <a:ln/>
        </p:spPr>
        <p:txBody>
          <a:bodyPr wrap="square" lIns="0" tIns="0" rIns="0" bIns="0" rtlCol="0" anchor="ctr"/>
          <a:lstStyle/>
          <a:p>
            <a:pPr>
              <a:lnSpc>
                <a:spcPct val="140000"/>
              </a:lnSpc>
            </a:pPr>
            <a:r>
              <a:rPr lang="en-US" sz="1600" dirty="0">
                <a:solidFill>
                  <a:srgbClr val="495057">
                    <a:alpha val="80000"/>
                  </a:srgbClr>
                </a:solidFill>
                <a:latin typeface="MiSans" pitchFamily="34" charset="0"/>
                <a:ea typeface="MiSans" pitchFamily="34" charset="-122"/>
                <a:cs typeface="MiSans" pitchFamily="34" charset="-120"/>
              </a:rPr>
              <a:t>融合三重特征，通过</a:t>
            </a:r>
            <a:pPr>
              <a:lnSpc>
                <a:spcPct val="140000"/>
              </a:lnSpc>
            </a:pPr>
            <a:r>
              <a:rPr lang="en-US" sz="1600" b="1" dirty="0">
                <a:solidFill>
                  <a:srgbClr val="ADB5BD"/>
                </a:solidFill>
                <a:latin typeface="MiSans" pitchFamily="34" charset="0"/>
                <a:ea typeface="MiSans" pitchFamily="34" charset="-122"/>
                <a:cs typeface="MiSans" pitchFamily="34" charset="-120"/>
              </a:rPr>
              <a:t>Softmax分类器</a:t>
            </a:r>
            <a:pPr>
              <a:lnSpc>
                <a:spcPct val="140000"/>
              </a:lnSpc>
            </a:pPr>
            <a:r>
              <a:rPr lang="en-US" sz="1600" dirty="0">
                <a:solidFill>
                  <a:srgbClr val="495057">
                    <a:alpha val="80000"/>
                  </a:srgbClr>
                </a:solidFill>
                <a:latin typeface="MiSans" pitchFamily="34" charset="0"/>
                <a:ea typeface="MiSans" pitchFamily="34" charset="-122"/>
                <a:cs typeface="MiSans" pitchFamily="34" charset="-120"/>
              </a:rPr>
              <a:t>预测情感极性（正面/负面/中性）</a:t>
            </a:r>
            <a:endParaRPr lang="en-US" sz="1600" dirty="0"/>
          </a:p>
        </p:txBody>
      </p:sp>
    </p:spTree>
  </p:cSld>
  <p:clrMapOvr>
    <a:masterClrMapping/>
  </p:clrMapOvr>
  <p:transition>
    <p:fade/>
    <p:spd val="med"/>
  </p:transition>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9FA"/>
        </a:solidFill>
      </p:bgPr>
    </p:bg>
    <p:spTree>
      <p:nvGrpSpPr>
        <p:cNvPr id="1" name=""/>
        <p:cNvGrpSpPr/>
        <p:nvPr/>
      </p:nvGrpSpPr>
      <p:grpSpPr>
        <a:xfrm>
          <a:off x="0" y="0"/>
          <a:ext cx="0" cy="0"/>
          <a:chOff x="0" y="0"/>
          <a:chExt cx="0" cy="0"/>
        </a:xfrm>
      </p:grpSpPr>
      <p:sp>
        <p:nvSpPr>
          <p:cNvPr id="2" name="Shape 0"/>
          <p:cNvSpPr/>
          <p:nvPr/>
        </p:nvSpPr>
        <p:spPr>
          <a:xfrm>
            <a:off x="508000" y="558800"/>
            <a:ext cx="406400" cy="406400"/>
          </a:xfrm>
          <a:custGeom>
            <a:avLst/>
            <a:gdLst/>
            <a:ahLst/>
            <a:cxnLst/>
            <a:rect l="l" t="t" r="r" b="b"/>
            <a:pathLst>
              <a:path w="406400" h="406400">
                <a:moveTo>
                  <a:pt x="50800" y="0"/>
                </a:moveTo>
                <a:lnTo>
                  <a:pt x="355600" y="0"/>
                </a:lnTo>
                <a:cubicBezTo>
                  <a:pt x="383637" y="0"/>
                  <a:pt x="406400" y="22763"/>
                  <a:pt x="406400" y="50800"/>
                </a:cubicBezTo>
                <a:lnTo>
                  <a:pt x="406400" y="355600"/>
                </a:lnTo>
                <a:cubicBezTo>
                  <a:pt x="406400" y="383637"/>
                  <a:pt x="383637" y="406400"/>
                  <a:pt x="355600" y="406400"/>
                </a:cubicBezTo>
                <a:lnTo>
                  <a:pt x="50800" y="406400"/>
                </a:lnTo>
                <a:cubicBezTo>
                  <a:pt x="22763" y="406400"/>
                  <a:pt x="0" y="383637"/>
                  <a:pt x="0" y="355600"/>
                </a:cubicBezTo>
                <a:lnTo>
                  <a:pt x="0" y="50800"/>
                </a:lnTo>
                <a:cubicBezTo>
                  <a:pt x="0" y="22763"/>
                  <a:pt x="22763" y="0"/>
                  <a:pt x="50800" y="0"/>
                </a:cubicBezTo>
                <a:close/>
              </a:path>
            </a:pathLst>
          </a:custGeom>
          <a:solidFill>
            <a:srgbClr val="A67B5C"/>
          </a:solidFill>
          <a:ln/>
        </p:spPr>
      </p:sp>
      <p:sp>
        <p:nvSpPr>
          <p:cNvPr id="3" name="Text 1"/>
          <p:cNvSpPr/>
          <p:nvPr/>
        </p:nvSpPr>
        <p:spPr>
          <a:xfrm>
            <a:off x="587276" y="609600"/>
            <a:ext cx="355600" cy="304800"/>
          </a:xfrm>
          <a:prstGeom prst="rect">
            <a:avLst/>
          </a:prstGeom>
          <a:noFill/>
          <a:ln/>
        </p:spPr>
        <p:txBody>
          <a:bodyPr wrap="square" lIns="0" tIns="0" rIns="0" bIns="0" rtlCol="0" anchor="ctr"/>
          <a:lstStyle/>
          <a:p>
            <a:pPr>
              <a:lnSpc>
                <a:spcPct val="130000"/>
              </a:lnSpc>
            </a:pPr>
            <a:r>
              <a:rPr lang="en-US" sz="1600" b="1" dirty="0">
                <a:solidFill>
                  <a:srgbClr val="F8F9FA"/>
                </a:solidFill>
                <a:latin typeface="Liter" pitchFamily="34" charset="0"/>
                <a:ea typeface="Liter" pitchFamily="34" charset="-122"/>
                <a:cs typeface="Liter" pitchFamily="34" charset="-120"/>
              </a:rPr>
              <a:t>02</a:t>
            </a:r>
            <a:endParaRPr lang="en-US" sz="1600" dirty="0"/>
          </a:p>
        </p:txBody>
      </p:sp>
      <p:sp>
        <p:nvSpPr>
          <p:cNvPr id="4" name="Text 2"/>
          <p:cNvSpPr/>
          <p:nvPr/>
        </p:nvSpPr>
        <p:spPr>
          <a:xfrm>
            <a:off x="1066800" y="508000"/>
            <a:ext cx="7086600" cy="508000"/>
          </a:xfrm>
          <a:prstGeom prst="rect">
            <a:avLst/>
          </a:prstGeom>
          <a:noFill/>
          <a:ln/>
        </p:spPr>
        <p:txBody>
          <a:bodyPr wrap="square" lIns="0" tIns="0" rIns="0" bIns="0" rtlCol="0" anchor="ctr"/>
          <a:lstStyle/>
          <a:p>
            <a:pPr>
              <a:lnSpc>
                <a:spcPct val="90000"/>
              </a:lnSpc>
            </a:pPr>
            <a:r>
              <a:rPr lang="en-US" sz="3600" b="1" dirty="0">
                <a:solidFill>
                  <a:srgbClr val="495057"/>
                </a:solidFill>
                <a:latin typeface="Noto Sans SC" pitchFamily="34" charset="0"/>
                <a:ea typeface="Noto Sans SC" pitchFamily="34" charset="-122"/>
                <a:cs typeface="Noto Sans SC" pitchFamily="34" charset="-120"/>
              </a:rPr>
              <a:t>视觉特征检测器：对象与场景提取</a:t>
            </a:r>
            <a:endParaRPr lang="en-US" sz="1600" dirty="0"/>
          </a:p>
        </p:txBody>
      </p:sp>
      <p:sp>
        <p:nvSpPr>
          <p:cNvPr id="5" name="Shape 3"/>
          <p:cNvSpPr/>
          <p:nvPr/>
        </p:nvSpPr>
        <p:spPr>
          <a:xfrm>
            <a:off x="508000" y="1117600"/>
            <a:ext cx="1016000" cy="50800"/>
          </a:xfrm>
          <a:custGeom>
            <a:avLst/>
            <a:gdLst/>
            <a:ahLst/>
            <a:cxnLst/>
            <a:rect l="l" t="t" r="r" b="b"/>
            <a:pathLst>
              <a:path w="1016000" h="50800">
                <a:moveTo>
                  <a:pt x="0" y="0"/>
                </a:moveTo>
                <a:lnTo>
                  <a:pt x="1016000" y="0"/>
                </a:lnTo>
                <a:lnTo>
                  <a:pt x="1016000" y="50800"/>
                </a:lnTo>
                <a:lnTo>
                  <a:pt x="0" y="50800"/>
                </a:lnTo>
                <a:lnTo>
                  <a:pt x="0" y="0"/>
                </a:lnTo>
                <a:close/>
              </a:path>
            </a:pathLst>
          </a:custGeom>
          <a:solidFill>
            <a:srgbClr val="A67B5C"/>
          </a:solidFill>
          <a:ln/>
        </p:spPr>
      </p:sp>
      <p:sp>
        <p:nvSpPr>
          <p:cNvPr id="6" name="Shape 4"/>
          <p:cNvSpPr/>
          <p:nvPr/>
        </p:nvSpPr>
        <p:spPr>
          <a:xfrm>
            <a:off x="508000" y="1422400"/>
            <a:ext cx="7467600" cy="7213600"/>
          </a:xfrm>
          <a:custGeom>
            <a:avLst/>
            <a:gdLst/>
            <a:ahLst/>
            <a:cxnLst/>
            <a:rect l="l" t="t" r="r" b="b"/>
            <a:pathLst>
              <a:path w="7467600" h="7213600">
                <a:moveTo>
                  <a:pt x="101567" y="0"/>
                </a:moveTo>
                <a:lnTo>
                  <a:pt x="7366033" y="0"/>
                </a:lnTo>
                <a:cubicBezTo>
                  <a:pt x="7422127" y="0"/>
                  <a:pt x="7467600" y="45473"/>
                  <a:pt x="7467600" y="101567"/>
                </a:cubicBezTo>
                <a:lnTo>
                  <a:pt x="7467600" y="7112033"/>
                </a:lnTo>
                <a:cubicBezTo>
                  <a:pt x="7467600" y="7168127"/>
                  <a:pt x="7422127" y="7213600"/>
                  <a:pt x="7366033" y="7213600"/>
                </a:cubicBezTo>
                <a:lnTo>
                  <a:pt x="101567" y="7213600"/>
                </a:lnTo>
                <a:cubicBezTo>
                  <a:pt x="45473" y="7213600"/>
                  <a:pt x="0" y="7168127"/>
                  <a:pt x="0" y="7112033"/>
                </a:cubicBezTo>
                <a:lnTo>
                  <a:pt x="0" y="101567"/>
                </a:lnTo>
                <a:cubicBezTo>
                  <a:pt x="0" y="45511"/>
                  <a:pt x="45511" y="0"/>
                  <a:pt x="101567" y="0"/>
                </a:cubicBezTo>
                <a:close/>
              </a:path>
            </a:pathLst>
          </a:custGeom>
          <a:solidFill>
            <a:srgbClr val="FFFFFF"/>
          </a:solidFill>
          <a:ln/>
          <a:effectLst>
            <a:outerShdw sx="100000" sy="100000" kx="0" ky="0" algn="bl" rotWithShape="0" blurRad="190500" dist="127000" dir="5400000">
              <a:srgbClr val="000000">
                <a:alpha val="10196"/>
              </a:srgbClr>
            </a:outerShdw>
          </a:effectLst>
        </p:spPr>
      </p:sp>
      <p:sp>
        <p:nvSpPr>
          <p:cNvPr id="7" name="Shape 5"/>
          <p:cNvSpPr/>
          <p:nvPr/>
        </p:nvSpPr>
        <p:spPr>
          <a:xfrm>
            <a:off x="812800" y="1752600"/>
            <a:ext cx="609600" cy="609600"/>
          </a:xfrm>
          <a:custGeom>
            <a:avLst/>
            <a:gdLst/>
            <a:ahLst/>
            <a:cxnLst/>
            <a:rect l="l" t="t" r="r" b="b"/>
            <a:pathLst>
              <a:path w="609600" h="609600">
                <a:moveTo>
                  <a:pt x="101602" y="0"/>
                </a:moveTo>
                <a:lnTo>
                  <a:pt x="507998" y="0"/>
                </a:lnTo>
                <a:cubicBezTo>
                  <a:pt x="564111" y="0"/>
                  <a:pt x="609600" y="45489"/>
                  <a:pt x="609600" y="101602"/>
                </a:cubicBezTo>
                <a:lnTo>
                  <a:pt x="609600" y="507998"/>
                </a:lnTo>
                <a:cubicBezTo>
                  <a:pt x="609600" y="564111"/>
                  <a:pt x="564111" y="609600"/>
                  <a:pt x="507998" y="609600"/>
                </a:cubicBezTo>
                <a:lnTo>
                  <a:pt x="101602" y="609600"/>
                </a:lnTo>
                <a:cubicBezTo>
                  <a:pt x="45489" y="609600"/>
                  <a:pt x="0" y="564111"/>
                  <a:pt x="0" y="507998"/>
                </a:cubicBezTo>
                <a:lnTo>
                  <a:pt x="0" y="101602"/>
                </a:lnTo>
                <a:cubicBezTo>
                  <a:pt x="0" y="45526"/>
                  <a:pt x="45526" y="0"/>
                  <a:pt x="101602" y="0"/>
                </a:cubicBezTo>
                <a:close/>
              </a:path>
            </a:pathLst>
          </a:custGeom>
          <a:solidFill>
            <a:srgbClr val="A67B5C">
              <a:alpha val="10196"/>
            </a:srgbClr>
          </a:solidFill>
          <a:ln/>
        </p:spPr>
      </p:sp>
      <p:sp>
        <p:nvSpPr>
          <p:cNvPr id="8" name="Shape 6"/>
          <p:cNvSpPr/>
          <p:nvPr/>
        </p:nvSpPr>
        <p:spPr>
          <a:xfrm>
            <a:off x="965200" y="1905000"/>
            <a:ext cx="304800" cy="304800"/>
          </a:xfrm>
          <a:custGeom>
            <a:avLst/>
            <a:gdLst/>
            <a:ahLst/>
            <a:cxnLst/>
            <a:rect l="l" t="t" r="r" b="b"/>
            <a:pathLst>
              <a:path w="304800" h="304800">
                <a:moveTo>
                  <a:pt x="133529" y="-1488"/>
                </a:moveTo>
                <a:cubicBezTo>
                  <a:pt x="145316" y="-8275"/>
                  <a:pt x="159841" y="-8275"/>
                  <a:pt x="171629" y="-1488"/>
                </a:cubicBezTo>
                <a:lnTo>
                  <a:pt x="276344" y="58936"/>
                </a:lnTo>
                <a:cubicBezTo>
                  <a:pt x="288131" y="65723"/>
                  <a:pt x="295394" y="78343"/>
                  <a:pt x="295394" y="91916"/>
                </a:cubicBezTo>
                <a:lnTo>
                  <a:pt x="295394" y="212765"/>
                </a:lnTo>
                <a:cubicBezTo>
                  <a:pt x="295394" y="226397"/>
                  <a:pt x="288131" y="238958"/>
                  <a:pt x="276344" y="245745"/>
                </a:cubicBezTo>
                <a:lnTo>
                  <a:pt x="171629" y="306288"/>
                </a:lnTo>
                <a:cubicBezTo>
                  <a:pt x="159841" y="313075"/>
                  <a:pt x="145316" y="313075"/>
                  <a:pt x="133529" y="306288"/>
                </a:cubicBezTo>
                <a:lnTo>
                  <a:pt x="28873" y="245864"/>
                </a:lnTo>
                <a:cubicBezTo>
                  <a:pt x="17085" y="239078"/>
                  <a:pt x="9823" y="226457"/>
                  <a:pt x="9823" y="212884"/>
                </a:cubicBezTo>
                <a:lnTo>
                  <a:pt x="9823" y="92035"/>
                </a:lnTo>
                <a:cubicBezTo>
                  <a:pt x="9823" y="78403"/>
                  <a:pt x="17085" y="65842"/>
                  <a:pt x="28873" y="59055"/>
                </a:cubicBezTo>
                <a:lnTo>
                  <a:pt x="133529" y="-1488"/>
                </a:lnTo>
                <a:close/>
                <a:moveTo>
                  <a:pt x="257235" y="212824"/>
                </a:moveTo>
                <a:lnTo>
                  <a:pt x="257235" y="113943"/>
                </a:lnTo>
                <a:lnTo>
                  <a:pt x="171629" y="163354"/>
                </a:lnTo>
                <a:lnTo>
                  <a:pt x="171629" y="262235"/>
                </a:lnTo>
                <a:lnTo>
                  <a:pt x="257235" y="212824"/>
                </a:lnTo>
                <a:close/>
              </a:path>
            </a:pathLst>
          </a:custGeom>
          <a:solidFill>
            <a:srgbClr val="A67B5C"/>
          </a:solidFill>
          <a:ln/>
        </p:spPr>
      </p:sp>
      <p:sp>
        <p:nvSpPr>
          <p:cNvPr id="9" name="Text 7"/>
          <p:cNvSpPr/>
          <p:nvPr/>
        </p:nvSpPr>
        <p:spPr>
          <a:xfrm>
            <a:off x="1574800" y="1727200"/>
            <a:ext cx="3644900" cy="406400"/>
          </a:xfrm>
          <a:prstGeom prst="rect">
            <a:avLst/>
          </a:prstGeom>
          <a:noFill/>
          <a:ln/>
        </p:spPr>
        <p:txBody>
          <a:bodyPr wrap="square" lIns="0" tIns="0" rIns="0" bIns="0" rtlCol="0" anchor="ctr"/>
          <a:lstStyle/>
          <a:p>
            <a:pPr>
              <a:lnSpc>
                <a:spcPct val="110000"/>
              </a:lnSpc>
            </a:pPr>
            <a:r>
              <a:rPr lang="en-US" sz="2400" b="1" dirty="0">
                <a:solidFill>
                  <a:srgbClr val="495057"/>
                </a:solidFill>
                <a:latin typeface="Noto Sans SC" pitchFamily="34" charset="0"/>
                <a:ea typeface="Noto Sans SC" pitchFamily="34" charset="-122"/>
                <a:cs typeface="Noto Sans SC" pitchFamily="34" charset="-120"/>
              </a:rPr>
              <a:t>对象特征 (Object Feature)</a:t>
            </a:r>
            <a:endParaRPr lang="en-US" sz="1600" dirty="0"/>
          </a:p>
        </p:txBody>
      </p:sp>
      <p:sp>
        <p:nvSpPr>
          <p:cNvPr id="10" name="Text 8"/>
          <p:cNvSpPr/>
          <p:nvPr/>
        </p:nvSpPr>
        <p:spPr>
          <a:xfrm>
            <a:off x="1574800" y="2133600"/>
            <a:ext cx="3581400" cy="254000"/>
          </a:xfrm>
          <a:prstGeom prst="rect">
            <a:avLst/>
          </a:prstGeom>
          <a:noFill/>
          <a:ln/>
        </p:spPr>
        <p:txBody>
          <a:bodyPr wrap="square" lIns="0" tIns="0" rIns="0" bIns="0" rtlCol="0" anchor="ctr"/>
          <a:lstStyle/>
          <a:p>
            <a:pPr>
              <a:lnSpc>
                <a:spcPct val="120000"/>
              </a:lnSpc>
            </a:pPr>
            <a:r>
              <a:rPr lang="en-US" sz="1400" dirty="0">
                <a:solidFill>
                  <a:srgbClr val="495057">
                    <a:alpha val="60000"/>
                  </a:srgbClr>
                </a:solidFill>
                <a:latin typeface="Quattrocento Sans" pitchFamily="34" charset="0"/>
                <a:ea typeface="Quattrocento Sans" pitchFamily="34" charset="-122"/>
                <a:cs typeface="Quattrocento Sans" pitchFamily="34" charset="-120"/>
              </a:rPr>
              <a:t>Object-VGG Detector</a:t>
            </a:r>
            <a:endParaRPr lang="en-US" sz="1600" dirty="0"/>
          </a:p>
        </p:txBody>
      </p:sp>
      <p:sp>
        <p:nvSpPr>
          <p:cNvPr id="11" name="Shape 9"/>
          <p:cNvSpPr/>
          <p:nvPr/>
        </p:nvSpPr>
        <p:spPr>
          <a:xfrm>
            <a:off x="838200" y="2590800"/>
            <a:ext cx="6832600" cy="1524000"/>
          </a:xfrm>
          <a:custGeom>
            <a:avLst/>
            <a:gdLst/>
            <a:ahLst/>
            <a:cxnLst/>
            <a:rect l="l" t="t" r="r" b="b"/>
            <a:pathLst>
              <a:path w="6832600" h="1524000">
                <a:moveTo>
                  <a:pt x="50800" y="0"/>
                </a:moveTo>
                <a:lnTo>
                  <a:pt x="6730995" y="0"/>
                </a:lnTo>
                <a:cubicBezTo>
                  <a:pt x="6787110" y="0"/>
                  <a:pt x="6832600" y="45490"/>
                  <a:pt x="6832600" y="101605"/>
                </a:cubicBezTo>
                <a:lnTo>
                  <a:pt x="6832600" y="1422395"/>
                </a:lnTo>
                <a:cubicBezTo>
                  <a:pt x="6832600" y="1478510"/>
                  <a:pt x="6787110" y="1524000"/>
                  <a:pt x="6730995" y="1524000"/>
                </a:cubicBezTo>
                <a:lnTo>
                  <a:pt x="50800" y="1524000"/>
                </a:lnTo>
                <a:cubicBezTo>
                  <a:pt x="22763" y="1524000"/>
                  <a:pt x="0" y="1501237"/>
                  <a:pt x="0" y="1473200"/>
                </a:cubicBezTo>
                <a:lnTo>
                  <a:pt x="0" y="50800"/>
                </a:lnTo>
                <a:cubicBezTo>
                  <a:pt x="0" y="22763"/>
                  <a:pt x="22763" y="0"/>
                  <a:pt x="50800" y="0"/>
                </a:cubicBezTo>
                <a:close/>
              </a:path>
            </a:pathLst>
          </a:custGeom>
          <a:solidFill>
            <a:srgbClr val="A67B5C">
              <a:alpha val="5098"/>
            </a:srgbClr>
          </a:solidFill>
          <a:ln/>
        </p:spPr>
      </p:sp>
      <p:sp>
        <p:nvSpPr>
          <p:cNvPr id="12" name="Shape 10"/>
          <p:cNvSpPr/>
          <p:nvPr/>
        </p:nvSpPr>
        <p:spPr>
          <a:xfrm>
            <a:off x="838200" y="2590800"/>
            <a:ext cx="50800" cy="1524000"/>
          </a:xfrm>
          <a:custGeom>
            <a:avLst/>
            <a:gdLst/>
            <a:ahLst/>
            <a:cxnLst/>
            <a:rect l="l" t="t" r="r" b="b"/>
            <a:pathLst>
              <a:path w="50800" h="1524000">
                <a:moveTo>
                  <a:pt x="50800" y="0"/>
                </a:moveTo>
                <a:lnTo>
                  <a:pt x="50800" y="0"/>
                </a:lnTo>
                <a:lnTo>
                  <a:pt x="50800" y="1524000"/>
                </a:lnTo>
                <a:lnTo>
                  <a:pt x="50800" y="1524000"/>
                </a:lnTo>
                <a:cubicBezTo>
                  <a:pt x="22763" y="1524000"/>
                  <a:pt x="0" y="1501237"/>
                  <a:pt x="0" y="1473200"/>
                </a:cubicBezTo>
                <a:lnTo>
                  <a:pt x="0" y="50800"/>
                </a:lnTo>
                <a:cubicBezTo>
                  <a:pt x="0" y="22763"/>
                  <a:pt x="22763" y="0"/>
                  <a:pt x="50800" y="0"/>
                </a:cubicBezTo>
                <a:close/>
              </a:path>
            </a:pathLst>
          </a:custGeom>
          <a:solidFill>
            <a:srgbClr val="A67B5C"/>
          </a:solidFill>
          <a:ln/>
        </p:spPr>
      </p:sp>
      <p:sp>
        <p:nvSpPr>
          <p:cNvPr id="13" name="Text 11"/>
          <p:cNvSpPr/>
          <p:nvPr/>
        </p:nvSpPr>
        <p:spPr>
          <a:xfrm>
            <a:off x="1066800" y="2794000"/>
            <a:ext cx="6515100" cy="355600"/>
          </a:xfrm>
          <a:prstGeom prst="rect">
            <a:avLst/>
          </a:prstGeom>
          <a:noFill/>
          <a:ln/>
        </p:spPr>
        <p:txBody>
          <a:bodyPr wrap="square" lIns="0" tIns="0" rIns="0" bIns="0" rtlCol="0" anchor="ctr"/>
          <a:lstStyle/>
          <a:p>
            <a:pPr>
              <a:lnSpc>
                <a:spcPct val="130000"/>
              </a:lnSpc>
            </a:pPr>
            <a:r>
              <a:rPr lang="en-US" sz="1800" b="1" dirty="0">
                <a:solidFill>
                  <a:srgbClr val="495057"/>
                </a:solidFill>
                <a:latin typeface="MiSans" pitchFamily="34" charset="0"/>
                <a:ea typeface="MiSans" pitchFamily="34" charset="-122"/>
                <a:cs typeface="MiSans" pitchFamily="34" charset="-120"/>
              </a:rPr>
              <a:t>核心思想</a:t>
            </a:r>
            <a:endParaRPr lang="en-US" sz="1600" dirty="0"/>
          </a:p>
        </p:txBody>
      </p:sp>
      <p:sp>
        <p:nvSpPr>
          <p:cNvPr id="14" name="Text 12"/>
          <p:cNvSpPr/>
          <p:nvPr/>
        </p:nvSpPr>
        <p:spPr>
          <a:xfrm>
            <a:off x="1066800" y="3251200"/>
            <a:ext cx="6502400" cy="660400"/>
          </a:xfrm>
          <a:prstGeom prst="rect">
            <a:avLst/>
          </a:prstGeom>
          <a:noFill/>
          <a:ln/>
        </p:spPr>
        <p:txBody>
          <a:bodyPr wrap="square" lIns="0" tIns="0" rIns="0" bIns="0" rtlCol="0" anchor="ctr"/>
          <a:lstStyle/>
          <a:p>
            <a:pPr>
              <a:lnSpc>
                <a:spcPct val="140000"/>
              </a:lnSpc>
            </a:pPr>
            <a:r>
              <a:rPr lang="en-US" sz="1600" dirty="0">
                <a:solidFill>
                  <a:srgbClr val="495057">
                    <a:alpha val="80000"/>
                  </a:srgbClr>
                </a:solidFill>
                <a:latin typeface="MiSans" pitchFamily="34" charset="0"/>
                <a:ea typeface="MiSans" pitchFamily="34" charset="-122"/>
                <a:cs typeface="MiSans" pitchFamily="34" charset="-120"/>
              </a:rPr>
              <a:t>对象与情感具有</a:t>
            </a:r>
            <a:pPr>
              <a:lnSpc>
                <a:spcPct val="140000"/>
              </a:lnSpc>
            </a:pPr>
            <a:r>
              <a:rPr lang="en-US" sz="1600" b="1" dirty="0">
                <a:solidFill>
                  <a:srgbClr val="A67B5C"/>
                </a:solidFill>
                <a:latin typeface="MiSans" pitchFamily="34" charset="0"/>
                <a:ea typeface="MiSans" pitchFamily="34" charset="-122"/>
                <a:cs typeface="MiSans" pitchFamily="34" charset="-120"/>
              </a:rPr>
              <a:t>强关联性</a:t>
            </a:r>
            <a:pPr>
              <a:lnSpc>
                <a:spcPct val="140000"/>
              </a:lnSpc>
            </a:pPr>
            <a:r>
              <a:rPr lang="en-US" sz="1600" dirty="0">
                <a:solidFill>
                  <a:srgbClr val="495057">
                    <a:alpha val="80000"/>
                  </a:srgbClr>
                </a:solidFill>
                <a:latin typeface="MiSans" pitchFamily="34" charset="0"/>
                <a:ea typeface="MiSans" pitchFamily="34" charset="-122"/>
                <a:cs typeface="MiSans" pitchFamily="34" charset="-120"/>
              </a:rPr>
              <a:t>。例如：玫瑰花象征爱情，带来积极情感；枪支可能导致负面情感。</a:t>
            </a:r>
            <a:endParaRPr lang="en-US" sz="1600" dirty="0"/>
          </a:p>
        </p:txBody>
      </p:sp>
      <p:sp>
        <p:nvSpPr>
          <p:cNvPr id="15" name="Shape 13"/>
          <p:cNvSpPr/>
          <p:nvPr/>
        </p:nvSpPr>
        <p:spPr>
          <a:xfrm>
            <a:off x="812800" y="4318000"/>
            <a:ext cx="6858000" cy="2540000"/>
          </a:xfrm>
          <a:custGeom>
            <a:avLst/>
            <a:gdLst/>
            <a:ahLst/>
            <a:cxnLst/>
            <a:rect l="l" t="t" r="r" b="b"/>
            <a:pathLst>
              <a:path w="6858000" h="2540000">
                <a:moveTo>
                  <a:pt x="101600" y="0"/>
                </a:moveTo>
                <a:lnTo>
                  <a:pt x="6756400" y="0"/>
                </a:lnTo>
                <a:cubicBezTo>
                  <a:pt x="6812475" y="0"/>
                  <a:pt x="6858000" y="45525"/>
                  <a:pt x="6858000" y="101600"/>
                </a:cubicBezTo>
                <a:lnTo>
                  <a:pt x="6858000" y="2438400"/>
                </a:lnTo>
                <a:cubicBezTo>
                  <a:pt x="6858000" y="2494475"/>
                  <a:pt x="6812475" y="2540000"/>
                  <a:pt x="6756400" y="2540000"/>
                </a:cubicBezTo>
                <a:lnTo>
                  <a:pt x="101600" y="2540000"/>
                </a:lnTo>
                <a:cubicBezTo>
                  <a:pt x="45525" y="2540000"/>
                  <a:pt x="0" y="2494475"/>
                  <a:pt x="0" y="2438400"/>
                </a:cubicBezTo>
                <a:lnTo>
                  <a:pt x="0" y="101600"/>
                </a:lnTo>
                <a:cubicBezTo>
                  <a:pt x="0" y="45525"/>
                  <a:pt x="45525" y="0"/>
                  <a:pt x="101600" y="0"/>
                </a:cubicBezTo>
                <a:close/>
              </a:path>
            </a:pathLst>
          </a:custGeom>
          <a:solidFill>
            <a:srgbClr val="495057">
              <a:alpha val="5098"/>
            </a:srgbClr>
          </a:solidFill>
          <a:ln/>
        </p:spPr>
      </p:sp>
      <p:sp>
        <p:nvSpPr>
          <p:cNvPr id="16" name="Text 14"/>
          <p:cNvSpPr/>
          <p:nvPr/>
        </p:nvSpPr>
        <p:spPr>
          <a:xfrm>
            <a:off x="1016000" y="4521200"/>
            <a:ext cx="6565900" cy="355600"/>
          </a:xfrm>
          <a:prstGeom prst="rect">
            <a:avLst/>
          </a:prstGeom>
          <a:noFill/>
          <a:ln/>
        </p:spPr>
        <p:txBody>
          <a:bodyPr wrap="square" lIns="0" tIns="0" rIns="0" bIns="0" rtlCol="0" anchor="ctr"/>
          <a:lstStyle/>
          <a:p>
            <a:pPr>
              <a:lnSpc>
                <a:spcPct val="130000"/>
              </a:lnSpc>
            </a:pPr>
            <a:r>
              <a:rPr lang="en-US" sz="1800" b="1" dirty="0">
                <a:solidFill>
                  <a:srgbClr val="495057"/>
                </a:solidFill>
                <a:latin typeface="MiSans" pitchFamily="34" charset="0"/>
                <a:ea typeface="MiSans" pitchFamily="34" charset="-122"/>
                <a:cs typeface="MiSans" pitchFamily="34" charset="-120"/>
              </a:rPr>
              <a:t>实现细节</a:t>
            </a:r>
            <a:endParaRPr lang="en-US" sz="1600" dirty="0"/>
          </a:p>
        </p:txBody>
      </p:sp>
      <p:sp>
        <p:nvSpPr>
          <p:cNvPr id="17" name="Shape 15"/>
          <p:cNvSpPr/>
          <p:nvPr/>
        </p:nvSpPr>
        <p:spPr>
          <a:xfrm>
            <a:off x="1041400" y="5080000"/>
            <a:ext cx="203200" cy="203200"/>
          </a:xfrm>
          <a:custGeom>
            <a:avLst/>
            <a:gdLst/>
            <a:ahLst/>
            <a:cxnLst/>
            <a:rect l="l" t="t" r="r" b="b"/>
            <a:pathLst>
              <a:path w="203200" h="203200">
                <a:moveTo>
                  <a:pt x="101600" y="203200"/>
                </a:moveTo>
                <a:cubicBezTo>
                  <a:pt x="157675" y="203200"/>
                  <a:pt x="203200" y="157675"/>
                  <a:pt x="203200" y="101600"/>
                </a:cubicBezTo>
                <a:cubicBezTo>
                  <a:pt x="203200" y="45525"/>
                  <a:pt x="157675" y="0"/>
                  <a:pt x="101600" y="0"/>
                </a:cubicBezTo>
                <a:cubicBezTo>
                  <a:pt x="45525" y="0"/>
                  <a:pt x="0" y="45525"/>
                  <a:pt x="0" y="101600"/>
                </a:cubicBezTo>
                <a:cubicBezTo>
                  <a:pt x="0" y="157675"/>
                  <a:pt x="45525" y="203200"/>
                  <a:pt x="101600" y="203200"/>
                </a:cubicBezTo>
                <a:close/>
                <a:moveTo>
                  <a:pt x="135096" y="84415"/>
                </a:moveTo>
                <a:lnTo>
                  <a:pt x="103346" y="135215"/>
                </a:lnTo>
                <a:cubicBezTo>
                  <a:pt x="101679" y="137874"/>
                  <a:pt x="98822" y="139541"/>
                  <a:pt x="95687" y="139700"/>
                </a:cubicBezTo>
                <a:cubicBezTo>
                  <a:pt x="92551" y="139859"/>
                  <a:pt x="89535" y="138430"/>
                  <a:pt x="87670" y="135890"/>
                </a:cubicBezTo>
                <a:lnTo>
                  <a:pt x="68620" y="110490"/>
                </a:lnTo>
                <a:cubicBezTo>
                  <a:pt x="65445" y="106283"/>
                  <a:pt x="66318" y="100330"/>
                  <a:pt x="70525" y="97155"/>
                </a:cubicBezTo>
                <a:cubicBezTo>
                  <a:pt x="74732" y="93980"/>
                  <a:pt x="80685" y="94853"/>
                  <a:pt x="83860" y="99060"/>
                </a:cubicBezTo>
                <a:lnTo>
                  <a:pt x="94575" y="113348"/>
                </a:lnTo>
                <a:lnTo>
                  <a:pt x="118943" y="74335"/>
                </a:lnTo>
                <a:cubicBezTo>
                  <a:pt x="121722" y="69890"/>
                  <a:pt x="127595" y="68501"/>
                  <a:pt x="132080" y="71318"/>
                </a:cubicBezTo>
                <a:cubicBezTo>
                  <a:pt x="136565" y="74136"/>
                  <a:pt x="137914" y="79970"/>
                  <a:pt x="135096" y="84455"/>
                </a:cubicBezTo>
                <a:close/>
              </a:path>
            </a:pathLst>
          </a:custGeom>
          <a:solidFill>
            <a:srgbClr val="A67B5C"/>
          </a:solidFill>
          <a:ln/>
        </p:spPr>
      </p:sp>
      <p:sp>
        <p:nvSpPr>
          <p:cNvPr id="18" name="Text 16"/>
          <p:cNvSpPr/>
          <p:nvPr/>
        </p:nvSpPr>
        <p:spPr>
          <a:xfrm>
            <a:off x="1371600" y="5029200"/>
            <a:ext cx="6197600" cy="304800"/>
          </a:xfrm>
          <a:prstGeom prst="rect">
            <a:avLst/>
          </a:prstGeom>
          <a:noFill/>
          <a:ln/>
        </p:spPr>
        <p:txBody>
          <a:bodyPr wrap="square" lIns="0" tIns="0" rIns="0" bIns="0" rtlCol="0" anchor="ctr"/>
          <a:lstStyle/>
          <a:p>
            <a:pPr>
              <a:lnSpc>
                <a:spcPct val="130000"/>
              </a:lnSpc>
            </a:pPr>
            <a:r>
              <a:rPr lang="en-US" sz="1600" dirty="0">
                <a:solidFill>
                  <a:srgbClr val="495057">
                    <a:alpha val="80000"/>
                  </a:srgbClr>
                </a:solidFill>
                <a:latin typeface="MiSans" pitchFamily="34" charset="0"/>
                <a:ea typeface="MiSans" pitchFamily="34" charset="-122"/>
                <a:cs typeface="MiSans" pitchFamily="34" charset="-120"/>
              </a:rPr>
              <a:t>采用</a:t>
            </a:r>
            <a:pPr>
              <a:lnSpc>
                <a:spcPct val="130000"/>
              </a:lnSpc>
            </a:pPr>
            <a:r>
              <a:rPr lang="en-US" sz="1600" b="1" dirty="0">
                <a:solidFill>
                  <a:srgbClr val="495057">
                    <a:alpha val="80000"/>
                  </a:srgbClr>
                </a:solidFill>
                <a:latin typeface="MiSans" pitchFamily="34" charset="0"/>
                <a:ea typeface="MiSans" pitchFamily="34" charset="-122"/>
                <a:cs typeface="MiSans" pitchFamily="34" charset="-120"/>
              </a:rPr>
              <a:t>在ImageNet上预训练的VGG16模型</a:t>
            </a:r>
            <a:pPr>
              <a:lnSpc>
                <a:spcPct val="130000"/>
              </a:lnSpc>
            </a:pPr>
            <a:r>
              <a:rPr lang="en-US" sz="1600" dirty="0">
                <a:solidFill>
                  <a:srgbClr val="495057">
                    <a:alpha val="80000"/>
                  </a:srgbClr>
                </a:solidFill>
                <a:latin typeface="MiSans" pitchFamily="34" charset="0"/>
                <a:ea typeface="MiSans" pitchFamily="34" charset="-122"/>
                <a:cs typeface="MiSans" pitchFamily="34" charset="-120"/>
              </a:rPr>
              <a:t>作为对象检测器</a:t>
            </a:r>
            <a:endParaRPr lang="en-US" sz="1600" dirty="0"/>
          </a:p>
        </p:txBody>
      </p:sp>
      <p:sp>
        <p:nvSpPr>
          <p:cNvPr id="19" name="Shape 17"/>
          <p:cNvSpPr/>
          <p:nvPr/>
        </p:nvSpPr>
        <p:spPr>
          <a:xfrm>
            <a:off x="1041400" y="5537200"/>
            <a:ext cx="203200" cy="203200"/>
          </a:xfrm>
          <a:custGeom>
            <a:avLst/>
            <a:gdLst/>
            <a:ahLst/>
            <a:cxnLst/>
            <a:rect l="l" t="t" r="r" b="b"/>
            <a:pathLst>
              <a:path w="203200" h="203200">
                <a:moveTo>
                  <a:pt x="101600" y="203200"/>
                </a:moveTo>
                <a:cubicBezTo>
                  <a:pt x="157675" y="203200"/>
                  <a:pt x="203200" y="157675"/>
                  <a:pt x="203200" y="101600"/>
                </a:cubicBezTo>
                <a:cubicBezTo>
                  <a:pt x="203200" y="45525"/>
                  <a:pt x="157675" y="0"/>
                  <a:pt x="101600" y="0"/>
                </a:cubicBezTo>
                <a:cubicBezTo>
                  <a:pt x="45525" y="0"/>
                  <a:pt x="0" y="45525"/>
                  <a:pt x="0" y="101600"/>
                </a:cubicBezTo>
                <a:cubicBezTo>
                  <a:pt x="0" y="157675"/>
                  <a:pt x="45525" y="203200"/>
                  <a:pt x="101600" y="203200"/>
                </a:cubicBezTo>
                <a:close/>
                <a:moveTo>
                  <a:pt x="135096" y="84415"/>
                </a:moveTo>
                <a:lnTo>
                  <a:pt x="103346" y="135215"/>
                </a:lnTo>
                <a:cubicBezTo>
                  <a:pt x="101679" y="137874"/>
                  <a:pt x="98822" y="139541"/>
                  <a:pt x="95687" y="139700"/>
                </a:cubicBezTo>
                <a:cubicBezTo>
                  <a:pt x="92551" y="139859"/>
                  <a:pt x="89535" y="138430"/>
                  <a:pt x="87670" y="135890"/>
                </a:cubicBezTo>
                <a:lnTo>
                  <a:pt x="68620" y="110490"/>
                </a:lnTo>
                <a:cubicBezTo>
                  <a:pt x="65445" y="106283"/>
                  <a:pt x="66318" y="100330"/>
                  <a:pt x="70525" y="97155"/>
                </a:cubicBezTo>
                <a:cubicBezTo>
                  <a:pt x="74732" y="93980"/>
                  <a:pt x="80685" y="94853"/>
                  <a:pt x="83860" y="99060"/>
                </a:cubicBezTo>
                <a:lnTo>
                  <a:pt x="94575" y="113348"/>
                </a:lnTo>
                <a:lnTo>
                  <a:pt x="118943" y="74335"/>
                </a:lnTo>
                <a:cubicBezTo>
                  <a:pt x="121722" y="69890"/>
                  <a:pt x="127595" y="68501"/>
                  <a:pt x="132080" y="71318"/>
                </a:cubicBezTo>
                <a:cubicBezTo>
                  <a:pt x="136565" y="74136"/>
                  <a:pt x="137914" y="79970"/>
                  <a:pt x="135096" y="84455"/>
                </a:cubicBezTo>
                <a:close/>
              </a:path>
            </a:pathLst>
          </a:custGeom>
          <a:solidFill>
            <a:srgbClr val="A67B5C"/>
          </a:solidFill>
          <a:ln/>
        </p:spPr>
      </p:sp>
      <p:sp>
        <p:nvSpPr>
          <p:cNvPr id="20" name="Text 18"/>
          <p:cNvSpPr/>
          <p:nvPr/>
        </p:nvSpPr>
        <p:spPr>
          <a:xfrm>
            <a:off x="1371600" y="5486400"/>
            <a:ext cx="6197600" cy="304800"/>
          </a:xfrm>
          <a:prstGeom prst="rect">
            <a:avLst/>
          </a:prstGeom>
          <a:noFill/>
          <a:ln/>
        </p:spPr>
        <p:txBody>
          <a:bodyPr wrap="square" lIns="0" tIns="0" rIns="0" bIns="0" rtlCol="0" anchor="ctr"/>
          <a:lstStyle/>
          <a:p>
            <a:pPr>
              <a:lnSpc>
                <a:spcPct val="130000"/>
              </a:lnSpc>
            </a:pPr>
            <a:r>
              <a:rPr lang="en-US" sz="1600" dirty="0">
                <a:solidFill>
                  <a:srgbClr val="495057">
                    <a:alpha val="80000"/>
                  </a:srgbClr>
                </a:solidFill>
                <a:latin typeface="MiSans" pitchFamily="34" charset="0"/>
                <a:ea typeface="MiSans" pitchFamily="34" charset="-122"/>
                <a:cs typeface="MiSans" pitchFamily="34" charset="-120"/>
              </a:rPr>
              <a:t>通过</a:t>
            </a:r>
            <a:pPr>
              <a:lnSpc>
                <a:spcPct val="130000"/>
              </a:lnSpc>
            </a:pPr>
            <a:r>
              <a:rPr lang="en-US" sz="1600" b="1" dirty="0">
                <a:solidFill>
                  <a:srgbClr val="495057">
                    <a:alpha val="80000"/>
                  </a:srgbClr>
                </a:solidFill>
                <a:latin typeface="MiSans" pitchFamily="34" charset="0"/>
                <a:ea typeface="MiSans" pitchFamily="34" charset="-122"/>
                <a:cs typeface="MiSans" pitchFamily="34" charset="-120"/>
              </a:rPr>
              <a:t>迁移学习</a:t>
            </a:r>
            <a:pPr>
              <a:lnSpc>
                <a:spcPct val="130000"/>
              </a:lnSpc>
            </a:pPr>
            <a:r>
              <a:rPr lang="en-US" sz="1600" dirty="0">
                <a:solidFill>
                  <a:srgbClr val="495057">
                    <a:alpha val="80000"/>
                  </a:srgbClr>
                </a:solidFill>
                <a:latin typeface="MiSans" pitchFamily="34" charset="0"/>
                <a:ea typeface="MiSans" pitchFamily="34" charset="-122"/>
                <a:cs typeface="MiSans" pitchFamily="34" charset="-120"/>
              </a:rPr>
              <a:t>适应情感分析任务</a:t>
            </a:r>
            <a:endParaRPr lang="en-US" sz="1600" dirty="0"/>
          </a:p>
        </p:txBody>
      </p:sp>
      <p:sp>
        <p:nvSpPr>
          <p:cNvPr id="21" name="Shape 19"/>
          <p:cNvSpPr/>
          <p:nvPr/>
        </p:nvSpPr>
        <p:spPr>
          <a:xfrm>
            <a:off x="1041400" y="5994400"/>
            <a:ext cx="203200" cy="203200"/>
          </a:xfrm>
          <a:custGeom>
            <a:avLst/>
            <a:gdLst/>
            <a:ahLst/>
            <a:cxnLst/>
            <a:rect l="l" t="t" r="r" b="b"/>
            <a:pathLst>
              <a:path w="203200" h="203200">
                <a:moveTo>
                  <a:pt x="101600" y="203200"/>
                </a:moveTo>
                <a:cubicBezTo>
                  <a:pt x="157675" y="203200"/>
                  <a:pt x="203200" y="157675"/>
                  <a:pt x="203200" y="101600"/>
                </a:cubicBezTo>
                <a:cubicBezTo>
                  <a:pt x="203200" y="45525"/>
                  <a:pt x="157675" y="0"/>
                  <a:pt x="101600" y="0"/>
                </a:cubicBezTo>
                <a:cubicBezTo>
                  <a:pt x="45525" y="0"/>
                  <a:pt x="0" y="45525"/>
                  <a:pt x="0" y="101600"/>
                </a:cubicBezTo>
                <a:cubicBezTo>
                  <a:pt x="0" y="157675"/>
                  <a:pt x="45525" y="203200"/>
                  <a:pt x="101600" y="203200"/>
                </a:cubicBezTo>
                <a:close/>
                <a:moveTo>
                  <a:pt x="135096" y="84415"/>
                </a:moveTo>
                <a:lnTo>
                  <a:pt x="103346" y="135215"/>
                </a:lnTo>
                <a:cubicBezTo>
                  <a:pt x="101679" y="137874"/>
                  <a:pt x="98822" y="139541"/>
                  <a:pt x="95687" y="139700"/>
                </a:cubicBezTo>
                <a:cubicBezTo>
                  <a:pt x="92551" y="139859"/>
                  <a:pt x="89535" y="138430"/>
                  <a:pt x="87670" y="135890"/>
                </a:cubicBezTo>
                <a:lnTo>
                  <a:pt x="68620" y="110490"/>
                </a:lnTo>
                <a:cubicBezTo>
                  <a:pt x="65445" y="106283"/>
                  <a:pt x="66318" y="100330"/>
                  <a:pt x="70525" y="97155"/>
                </a:cubicBezTo>
                <a:cubicBezTo>
                  <a:pt x="74732" y="93980"/>
                  <a:pt x="80685" y="94853"/>
                  <a:pt x="83860" y="99060"/>
                </a:cubicBezTo>
                <a:lnTo>
                  <a:pt x="94575" y="113348"/>
                </a:lnTo>
                <a:lnTo>
                  <a:pt x="118943" y="74335"/>
                </a:lnTo>
                <a:cubicBezTo>
                  <a:pt x="121722" y="69890"/>
                  <a:pt x="127595" y="68501"/>
                  <a:pt x="132080" y="71318"/>
                </a:cubicBezTo>
                <a:cubicBezTo>
                  <a:pt x="136565" y="74136"/>
                  <a:pt x="137914" y="79970"/>
                  <a:pt x="135096" y="84455"/>
                </a:cubicBezTo>
                <a:close/>
              </a:path>
            </a:pathLst>
          </a:custGeom>
          <a:solidFill>
            <a:srgbClr val="A67B5C"/>
          </a:solidFill>
          <a:ln/>
        </p:spPr>
      </p:sp>
      <p:sp>
        <p:nvSpPr>
          <p:cNvPr id="22" name="Text 20"/>
          <p:cNvSpPr/>
          <p:nvPr/>
        </p:nvSpPr>
        <p:spPr>
          <a:xfrm>
            <a:off x="1371600" y="5943600"/>
            <a:ext cx="6197600" cy="304800"/>
          </a:xfrm>
          <a:prstGeom prst="rect">
            <a:avLst/>
          </a:prstGeom>
          <a:noFill/>
          <a:ln/>
        </p:spPr>
        <p:txBody>
          <a:bodyPr wrap="square" lIns="0" tIns="0" rIns="0" bIns="0" rtlCol="0" anchor="ctr"/>
          <a:lstStyle/>
          <a:p>
            <a:pPr>
              <a:lnSpc>
                <a:spcPct val="130000"/>
              </a:lnSpc>
            </a:pPr>
            <a:r>
              <a:rPr lang="en-US" sz="1600" dirty="0">
                <a:solidFill>
                  <a:srgbClr val="495057">
                    <a:alpha val="80000"/>
                  </a:srgbClr>
                </a:solidFill>
                <a:latin typeface="MiSans" pitchFamily="34" charset="0"/>
                <a:ea typeface="MiSans" pitchFamily="34" charset="-122"/>
                <a:cs typeface="MiSans" pitchFamily="34" charset="-120"/>
              </a:rPr>
              <a:t>提取最后一层输出作为</a:t>
            </a:r>
            <a:pPr>
              <a:lnSpc>
                <a:spcPct val="130000"/>
              </a:lnSpc>
            </a:pPr>
            <a:r>
              <a:rPr lang="en-US" sz="1600" b="1" dirty="0">
                <a:solidFill>
                  <a:srgbClr val="495057">
                    <a:alpha val="80000"/>
                  </a:srgbClr>
                </a:solidFill>
                <a:latin typeface="MiSans" pitchFamily="34" charset="0"/>
                <a:ea typeface="MiSans" pitchFamily="34" charset="-122"/>
                <a:cs typeface="MiSans" pitchFamily="34" charset="-120"/>
              </a:rPr>
              <a:t>1000维对象概率分布Io</a:t>
            </a:r>
            <a:endParaRPr lang="en-US" sz="1600" dirty="0"/>
          </a:p>
        </p:txBody>
      </p:sp>
      <p:sp>
        <p:nvSpPr>
          <p:cNvPr id="23" name="Shape 21"/>
          <p:cNvSpPr/>
          <p:nvPr/>
        </p:nvSpPr>
        <p:spPr>
          <a:xfrm>
            <a:off x="812800" y="7061200"/>
            <a:ext cx="6858000" cy="1270000"/>
          </a:xfrm>
          <a:custGeom>
            <a:avLst/>
            <a:gdLst/>
            <a:ahLst/>
            <a:cxnLst/>
            <a:rect l="l" t="t" r="r" b="b"/>
            <a:pathLst>
              <a:path w="6858000" h="1270000">
                <a:moveTo>
                  <a:pt x="101600" y="0"/>
                </a:moveTo>
                <a:lnTo>
                  <a:pt x="6756400" y="0"/>
                </a:lnTo>
                <a:cubicBezTo>
                  <a:pt x="6812475" y="0"/>
                  <a:pt x="6858000" y="45525"/>
                  <a:pt x="6858000" y="101600"/>
                </a:cubicBezTo>
                <a:lnTo>
                  <a:pt x="6858000" y="1168400"/>
                </a:lnTo>
                <a:cubicBezTo>
                  <a:pt x="6858000" y="1224475"/>
                  <a:pt x="6812475" y="1270000"/>
                  <a:pt x="6756400" y="1270000"/>
                </a:cubicBezTo>
                <a:lnTo>
                  <a:pt x="101600" y="1270000"/>
                </a:lnTo>
                <a:cubicBezTo>
                  <a:pt x="45525" y="1270000"/>
                  <a:pt x="0" y="1224475"/>
                  <a:pt x="0" y="1168400"/>
                </a:cubicBezTo>
                <a:lnTo>
                  <a:pt x="0" y="101600"/>
                </a:lnTo>
                <a:cubicBezTo>
                  <a:pt x="0" y="45525"/>
                  <a:pt x="45525" y="0"/>
                  <a:pt x="101600" y="0"/>
                </a:cubicBezTo>
                <a:close/>
              </a:path>
            </a:pathLst>
          </a:custGeom>
          <a:solidFill>
            <a:srgbClr val="495057"/>
          </a:solidFill>
          <a:ln/>
        </p:spPr>
      </p:sp>
      <p:sp>
        <p:nvSpPr>
          <p:cNvPr id="24" name="Text 22"/>
          <p:cNvSpPr/>
          <p:nvPr/>
        </p:nvSpPr>
        <p:spPr>
          <a:xfrm>
            <a:off x="1016000" y="7264400"/>
            <a:ext cx="6553200" cy="304800"/>
          </a:xfrm>
          <a:prstGeom prst="rect">
            <a:avLst/>
          </a:prstGeom>
          <a:noFill/>
          <a:ln/>
        </p:spPr>
        <p:txBody>
          <a:bodyPr wrap="square" lIns="0" tIns="0" rIns="0" bIns="0" rtlCol="0" anchor="ctr"/>
          <a:lstStyle/>
          <a:p>
            <a:pPr>
              <a:lnSpc>
                <a:spcPct val="130000"/>
              </a:lnSpc>
            </a:pPr>
            <a:r>
              <a:rPr lang="en-US" sz="1600" b="1" dirty="0">
                <a:solidFill>
                  <a:srgbClr val="FFFFFF"/>
                </a:solidFill>
                <a:latin typeface="MiSans" pitchFamily="34" charset="0"/>
                <a:ea typeface="MiSans" pitchFamily="34" charset="-122"/>
                <a:cs typeface="MiSans" pitchFamily="34" charset="-120"/>
              </a:rPr>
              <a:t>维度转换</a:t>
            </a:r>
            <a:endParaRPr lang="en-US" sz="1600" dirty="0"/>
          </a:p>
        </p:txBody>
      </p:sp>
      <p:sp>
        <p:nvSpPr>
          <p:cNvPr id="25" name="Shape 23"/>
          <p:cNvSpPr/>
          <p:nvPr/>
        </p:nvSpPr>
        <p:spPr>
          <a:xfrm>
            <a:off x="1016000" y="7670800"/>
            <a:ext cx="6451600" cy="457200"/>
          </a:xfrm>
          <a:custGeom>
            <a:avLst/>
            <a:gdLst/>
            <a:ahLst/>
            <a:cxnLst/>
            <a:rect l="l" t="t" r="r" b="b"/>
            <a:pathLst>
              <a:path w="6451600" h="457200">
                <a:moveTo>
                  <a:pt x="50799" y="0"/>
                </a:moveTo>
                <a:lnTo>
                  <a:pt x="6400801" y="0"/>
                </a:lnTo>
                <a:cubicBezTo>
                  <a:pt x="6428856" y="0"/>
                  <a:pt x="6451600" y="22744"/>
                  <a:pt x="6451600" y="50799"/>
                </a:cubicBezTo>
                <a:lnTo>
                  <a:pt x="6451600" y="406401"/>
                </a:lnTo>
                <a:cubicBezTo>
                  <a:pt x="6451600" y="434456"/>
                  <a:pt x="6428856" y="457200"/>
                  <a:pt x="6400801" y="457200"/>
                </a:cubicBezTo>
                <a:lnTo>
                  <a:pt x="50799" y="457200"/>
                </a:lnTo>
                <a:cubicBezTo>
                  <a:pt x="22744" y="457200"/>
                  <a:pt x="0" y="434456"/>
                  <a:pt x="0" y="406401"/>
                </a:cubicBezTo>
                <a:lnTo>
                  <a:pt x="0" y="50799"/>
                </a:lnTo>
                <a:cubicBezTo>
                  <a:pt x="0" y="22762"/>
                  <a:pt x="22762" y="0"/>
                  <a:pt x="50799" y="0"/>
                </a:cubicBezTo>
                <a:close/>
              </a:path>
            </a:pathLst>
          </a:custGeom>
          <a:solidFill>
            <a:srgbClr val="FFFFFF">
              <a:alpha val="10196"/>
            </a:srgbClr>
          </a:solidFill>
          <a:ln/>
        </p:spPr>
      </p:sp>
      <p:sp>
        <p:nvSpPr>
          <p:cNvPr id="26" name="Text 24"/>
          <p:cNvSpPr/>
          <p:nvPr/>
        </p:nvSpPr>
        <p:spPr>
          <a:xfrm>
            <a:off x="1016000" y="7670800"/>
            <a:ext cx="6540500" cy="457200"/>
          </a:xfrm>
          <a:prstGeom prst="rect">
            <a:avLst/>
          </a:prstGeom>
          <a:noFill/>
          <a:ln/>
        </p:spPr>
        <p:txBody>
          <a:bodyPr wrap="square" lIns="101600" tIns="101600" rIns="101600" bIns="101600" rtlCol="0" anchor="ctr"/>
          <a:lstStyle/>
          <a:p>
            <a:pPr>
              <a:lnSpc>
                <a:spcPct val="120000"/>
              </a:lnSpc>
            </a:pPr>
            <a:r>
              <a:rPr lang="en-US" sz="1400" dirty="0">
                <a:solidFill>
                  <a:srgbClr val="FFFFFF"/>
                </a:solidFill>
                <a:latin typeface="MiSans" pitchFamily="34" charset="0"/>
                <a:ea typeface="MiSans" pitchFamily="34" charset="-122"/>
                <a:cs typeface="MiSans" pitchFamily="34" charset="-120"/>
              </a:rPr>
              <a:t>V</a:t>
            </a:r>
            <a:pPr>
              <a:lnSpc>
                <a:spcPct val="120000"/>
              </a:lnSpc>
            </a:pPr>
            <a:r>
              <a:rPr lang="en-US" sz="1050" dirty="0">
                <a:solidFill>
                  <a:srgbClr val="FFFFFF"/>
                </a:solidFill>
                <a:latin typeface="MiSans" pitchFamily="34" charset="0"/>
                <a:ea typeface="MiSans" pitchFamily="34" charset="-122"/>
                <a:cs typeface="MiSans" pitchFamily="34" charset="-120"/>
              </a:rPr>
              <a:t>o</a:t>
            </a:r>
            <a:pPr>
              <a:lnSpc>
                <a:spcPct val="120000"/>
              </a:lnSpc>
            </a:pPr>
            <a:r>
              <a:rPr lang="en-US" sz="1400" dirty="0">
                <a:solidFill>
                  <a:srgbClr val="FFFFFF"/>
                </a:solidFill>
                <a:latin typeface="MiSans" pitchFamily="34" charset="0"/>
                <a:ea typeface="MiSans" pitchFamily="34" charset="-122"/>
                <a:cs typeface="MiSans" pitchFamily="34" charset="-120"/>
              </a:rPr>
              <a:t> = ReLU(W</a:t>
            </a:r>
            <a:pPr>
              <a:lnSpc>
                <a:spcPct val="120000"/>
              </a:lnSpc>
            </a:pPr>
            <a:r>
              <a:rPr lang="en-US" sz="1050" dirty="0">
                <a:solidFill>
                  <a:srgbClr val="FFFFFF"/>
                </a:solidFill>
                <a:latin typeface="MiSans" pitchFamily="34" charset="0"/>
                <a:ea typeface="MiSans" pitchFamily="34" charset="-122"/>
                <a:cs typeface="MiSans" pitchFamily="34" charset="-120"/>
              </a:rPr>
              <a:t>o</a:t>
            </a:r>
            <a:pPr>
              <a:lnSpc>
                <a:spcPct val="120000"/>
              </a:lnSpc>
            </a:pPr>
            <a:r>
              <a:rPr lang="en-US" sz="1400" dirty="0">
                <a:solidFill>
                  <a:srgbClr val="FFFFFF"/>
                </a:solidFill>
                <a:latin typeface="MiSans" pitchFamily="34" charset="0"/>
                <a:ea typeface="MiSans" pitchFamily="34" charset="-122"/>
                <a:cs typeface="MiSans" pitchFamily="34" charset="-120"/>
              </a:rPr>
              <a:t> · I</a:t>
            </a:r>
            <a:pPr>
              <a:lnSpc>
                <a:spcPct val="120000"/>
              </a:lnSpc>
            </a:pPr>
            <a:r>
              <a:rPr lang="en-US" sz="1050" dirty="0">
                <a:solidFill>
                  <a:srgbClr val="FFFFFF"/>
                </a:solidFill>
                <a:latin typeface="MiSans" pitchFamily="34" charset="0"/>
                <a:ea typeface="MiSans" pitchFamily="34" charset="-122"/>
                <a:cs typeface="MiSans" pitchFamily="34" charset="-120"/>
              </a:rPr>
              <a:t>o</a:t>
            </a:r>
            <a:pPr>
              <a:lnSpc>
                <a:spcPct val="120000"/>
              </a:lnSpc>
            </a:pPr>
            <a:r>
              <a:rPr lang="en-US" sz="1400" dirty="0">
                <a:solidFill>
                  <a:srgbClr val="FFFFFF"/>
                </a:solidFill>
                <a:latin typeface="MiSans" pitchFamily="34" charset="0"/>
                <a:ea typeface="MiSans" pitchFamily="34" charset="-122"/>
                <a:cs typeface="MiSans" pitchFamily="34" charset="-120"/>
              </a:rPr>
              <a:t> + B</a:t>
            </a:r>
            <a:pPr>
              <a:lnSpc>
                <a:spcPct val="120000"/>
              </a:lnSpc>
            </a:pPr>
            <a:r>
              <a:rPr lang="en-US" sz="1050" dirty="0">
                <a:solidFill>
                  <a:srgbClr val="FFFFFF"/>
                </a:solidFill>
                <a:latin typeface="MiSans" pitchFamily="34" charset="0"/>
                <a:ea typeface="MiSans" pitchFamily="34" charset="-122"/>
                <a:cs typeface="MiSans" pitchFamily="34" charset="-120"/>
              </a:rPr>
              <a:t>o</a:t>
            </a:r>
            <a:pPr>
              <a:lnSpc>
                <a:spcPct val="120000"/>
              </a:lnSpc>
            </a:pPr>
            <a:r>
              <a:rPr lang="en-US" sz="1400" dirty="0">
                <a:solidFill>
                  <a:srgbClr val="FFFFFF"/>
                </a:solidFill>
                <a:latin typeface="MiSans" pitchFamily="34" charset="0"/>
                <a:ea typeface="MiSans" pitchFamily="34" charset="-122"/>
                <a:cs typeface="MiSans" pitchFamily="34" charset="-120"/>
              </a:rPr>
              <a:t>) ∈ R</a:t>
            </a:r>
            <a:pPr>
              <a:lnSpc>
                <a:spcPct val="120000"/>
              </a:lnSpc>
            </a:pPr>
            <a:r>
              <a:rPr lang="en-US" sz="1050" dirty="0">
                <a:solidFill>
                  <a:srgbClr val="FFFFFF"/>
                </a:solidFill>
                <a:latin typeface="MiSans" pitchFamily="34" charset="0"/>
                <a:ea typeface="MiSans" pitchFamily="34" charset="-122"/>
                <a:cs typeface="MiSans" pitchFamily="34" charset="-120"/>
              </a:rPr>
              <a:t>d</a:t>
            </a:r>
            <a:endParaRPr lang="en-US" sz="1600" dirty="0"/>
          </a:p>
        </p:txBody>
      </p:sp>
      <p:sp>
        <p:nvSpPr>
          <p:cNvPr id="27" name="Shape 25"/>
          <p:cNvSpPr/>
          <p:nvPr/>
        </p:nvSpPr>
        <p:spPr>
          <a:xfrm>
            <a:off x="8280400" y="1422400"/>
            <a:ext cx="7467600" cy="7213600"/>
          </a:xfrm>
          <a:custGeom>
            <a:avLst/>
            <a:gdLst/>
            <a:ahLst/>
            <a:cxnLst/>
            <a:rect l="l" t="t" r="r" b="b"/>
            <a:pathLst>
              <a:path w="7467600" h="7213600">
                <a:moveTo>
                  <a:pt x="101567" y="0"/>
                </a:moveTo>
                <a:lnTo>
                  <a:pt x="7366033" y="0"/>
                </a:lnTo>
                <a:cubicBezTo>
                  <a:pt x="7422127" y="0"/>
                  <a:pt x="7467600" y="45473"/>
                  <a:pt x="7467600" y="101567"/>
                </a:cubicBezTo>
                <a:lnTo>
                  <a:pt x="7467600" y="7112033"/>
                </a:lnTo>
                <a:cubicBezTo>
                  <a:pt x="7467600" y="7168127"/>
                  <a:pt x="7422127" y="7213600"/>
                  <a:pt x="7366033" y="7213600"/>
                </a:cubicBezTo>
                <a:lnTo>
                  <a:pt x="101567" y="7213600"/>
                </a:lnTo>
                <a:cubicBezTo>
                  <a:pt x="45473" y="7213600"/>
                  <a:pt x="0" y="7168127"/>
                  <a:pt x="0" y="7112033"/>
                </a:cubicBezTo>
                <a:lnTo>
                  <a:pt x="0" y="101567"/>
                </a:lnTo>
                <a:cubicBezTo>
                  <a:pt x="0" y="45511"/>
                  <a:pt x="45511" y="0"/>
                  <a:pt x="101567" y="0"/>
                </a:cubicBezTo>
                <a:close/>
              </a:path>
            </a:pathLst>
          </a:custGeom>
          <a:solidFill>
            <a:srgbClr val="FFFFFF"/>
          </a:solidFill>
          <a:ln/>
          <a:effectLst>
            <a:outerShdw sx="100000" sy="100000" kx="0" ky="0" algn="bl" rotWithShape="0" blurRad="190500" dist="127000" dir="5400000">
              <a:srgbClr val="000000">
                <a:alpha val="10196"/>
              </a:srgbClr>
            </a:outerShdw>
          </a:effectLst>
        </p:spPr>
      </p:sp>
      <p:sp>
        <p:nvSpPr>
          <p:cNvPr id="28" name="Shape 26"/>
          <p:cNvSpPr/>
          <p:nvPr/>
        </p:nvSpPr>
        <p:spPr>
          <a:xfrm>
            <a:off x="8585200" y="1752600"/>
            <a:ext cx="609600" cy="609600"/>
          </a:xfrm>
          <a:custGeom>
            <a:avLst/>
            <a:gdLst/>
            <a:ahLst/>
            <a:cxnLst/>
            <a:rect l="l" t="t" r="r" b="b"/>
            <a:pathLst>
              <a:path w="609600" h="609600">
                <a:moveTo>
                  <a:pt x="101602" y="0"/>
                </a:moveTo>
                <a:lnTo>
                  <a:pt x="507998" y="0"/>
                </a:lnTo>
                <a:cubicBezTo>
                  <a:pt x="564111" y="0"/>
                  <a:pt x="609600" y="45489"/>
                  <a:pt x="609600" y="101602"/>
                </a:cubicBezTo>
                <a:lnTo>
                  <a:pt x="609600" y="507998"/>
                </a:lnTo>
                <a:cubicBezTo>
                  <a:pt x="609600" y="564111"/>
                  <a:pt x="564111" y="609600"/>
                  <a:pt x="507998" y="609600"/>
                </a:cubicBezTo>
                <a:lnTo>
                  <a:pt x="101602" y="609600"/>
                </a:lnTo>
                <a:cubicBezTo>
                  <a:pt x="45489" y="609600"/>
                  <a:pt x="0" y="564111"/>
                  <a:pt x="0" y="507998"/>
                </a:cubicBezTo>
                <a:lnTo>
                  <a:pt x="0" y="101602"/>
                </a:lnTo>
                <a:cubicBezTo>
                  <a:pt x="0" y="45526"/>
                  <a:pt x="45526" y="0"/>
                  <a:pt x="101602" y="0"/>
                </a:cubicBezTo>
                <a:close/>
              </a:path>
            </a:pathLst>
          </a:custGeom>
          <a:solidFill>
            <a:srgbClr val="495057">
              <a:alpha val="10196"/>
            </a:srgbClr>
          </a:solidFill>
          <a:ln/>
        </p:spPr>
      </p:sp>
      <p:sp>
        <p:nvSpPr>
          <p:cNvPr id="29" name="Shape 27"/>
          <p:cNvSpPr/>
          <p:nvPr/>
        </p:nvSpPr>
        <p:spPr>
          <a:xfrm>
            <a:off x="8756650" y="1905000"/>
            <a:ext cx="266700" cy="304800"/>
          </a:xfrm>
          <a:custGeom>
            <a:avLst/>
            <a:gdLst/>
            <a:ahLst/>
            <a:cxnLst/>
            <a:rect l="l" t="t" r="r" b="b"/>
            <a:pathLst>
              <a:path w="266700" h="304800">
                <a:moveTo>
                  <a:pt x="38100" y="19050"/>
                </a:moveTo>
                <a:cubicBezTo>
                  <a:pt x="17085" y="19050"/>
                  <a:pt x="0" y="36135"/>
                  <a:pt x="0" y="57150"/>
                </a:cubicBezTo>
                <a:lnTo>
                  <a:pt x="0" y="247650"/>
                </a:lnTo>
                <a:cubicBezTo>
                  <a:pt x="0" y="268665"/>
                  <a:pt x="17085" y="285750"/>
                  <a:pt x="38100" y="285750"/>
                </a:cubicBezTo>
                <a:lnTo>
                  <a:pt x="228600" y="285750"/>
                </a:lnTo>
                <a:cubicBezTo>
                  <a:pt x="249615" y="285750"/>
                  <a:pt x="266700" y="268665"/>
                  <a:pt x="266700" y="247650"/>
                </a:cubicBezTo>
                <a:lnTo>
                  <a:pt x="266700" y="57150"/>
                </a:lnTo>
                <a:cubicBezTo>
                  <a:pt x="266700" y="36135"/>
                  <a:pt x="249615" y="19050"/>
                  <a:pt x="228600" y="19050"/>
                </a:cubicBezTo>
                <a:lnTo>
                  <a:pt x="38100" y="19050"/>
                </a:lnTo>
                <a:close/>
                <a:moveTo>
                  <a:pt x="76200" y="66675"/>
                </a:moveTo>
                <a:cubicBezTo>
                  <a:pt x="91971" y="66675"/>
                  <a:pt x="104775" y="79479"/>
                  <a:pt x="104775" y="95250"/>
                </a:cubicBezTo>
                <a:cubicBezTo>
                  <a:pt x="104775" y="111021"/>
                  <a:pt x="91971" y="123825"/>
                  <a:pt x="76200" y="123825"/>
                </a:cubicBezTo>
                <a:cubicBezTo>
                  <a:pt x="60429" y="123825"/>
                  <a:pt x="47625" y="111021"/>
                  <a:pt x="47625" y="95250"/>
                </a:cubicBezTo>
                <a:cubicBezTo>
                  <a:pt x="47625" y="79479"/>
                  <a:pt x="60429" y="66675"/>
                  <a:pt x="76200" y="66675"/>
                </a:cubicBezTo>
                <a:close/>
                <a:moveTo>
                  <a:pt x="161925" y="133350"/>
                </a:moveTo>
                <a:cubicBezTo>
                  <a:pt x="166926" y="133350"/>
                  <a:pt x="171510" y="135969"/>
                  <a:pt x="174129" y="140196"/>
                </a:cubicBezTo>
                <a:lnTo>
                  <a:pt x="226516" y="225921"/>
                </a:lnTo>
                <a:cubicBezTo>
                  <a:pt x="229195" y="230326"/>
                  <a:pt x="229314" y="235863"/>
                  <a:pt x="226814" y="240387"/>
                </a:cubicBezTo>
                <a:cubicBezTo>
                  <a:pt x="224314" y="244912"/>
                  <a:pt x="219492" y="247650"/>
                  <a:pt x="214313" y="247650"/>
                </a:cubicBezTo>
                <a:lnTo>
                  <a:pt x="52388" y="247650"/>
                </a:lnTo>
                <a:cubicBezTo>
                  <a:pt x="47089" y="247650"/>
                  <a:pt x="42148" y="244673"/>
                  <a:pt x="39707" y="239970"/>
                </a:cubicBezTo>
                <a:cubicBezTo>
                  <a:pt x="37267" y="235268"/>
                  <a:pt x="37624" y="229553"/>
                  <a:pt x="40660" y="225207"/>
                </a:cubicBezTo>
                <a:lnTo>
                  <a:pt x="73997" y="177582"/>
                </a:lnTo>
                <a:cubicBezTo>
                  <a:pt x="76676" y="173772"/>
                  <a:pt x="81022" y="171510"/>
                  <a:pt x="85725" y="171510"/>
                </a:cubicBezTo>
                <a:cubicBezTo>
                  <a:pt x="90428" y="171510"/>
                  <a:pt x="94774" y="173772"/>
                  <a:pt x="97453" y="177582"/>
                </a:cubicBezTo>
                <a:lnTo>
                  <a:pt x="113169" y="200085"/>
                </a:lnTo>
                <a:lnTo>
                  <a:pt x="149721" y="140256"/>
                </a:lnTo>
                <a:cubicBezTo>
                  <a:pt x="152340" y="136029"/>
                  <a:pt x="156924" y="133410"/>
                  <a:pt x="161925" y="133410"/>
                </a:cubicBezTo>
                <a:close/>
              </a:path>
            </a:pathLst>
          </a:custGeom>
          <a:solidFill>
            <a:srgbClr val="495057"/>
          </a:solidFill>
          <a:ln/>
        </p:spPr>
      </p:sp>
      <p:sp>
        <p:nvSpPr>
          <p:cNvPr id="30" name="Text 28"/>
          <p:cNvSpPr/>
          <p:nvPr/>
        </p:nvSpPr>
        <p:spPr>
          <a:xfrm>
            <a:off x="9347200" y="1727200"/>
            <a:ext cx="3594100" cy="406400"/>
          </a:xfrm>
          <a:prstGeom prst="rect">
            <a:avLst/>
          </a:prstGeom>
          <a:noFill/>
          <a:ln/>
        </p:spPr>
        <p:txBody>
          <a:bodyPr wrap="square" lIns="0" tIns="0" rIns="0" bIns="0" rtlCol="0" anchor="ctr"/>
          <a:lstStyle/>
          <a:p>
            <a:pPr>
              <a:lnSpc>
                <a:spcPct val="110000"/>
              </a:lnSpc>
            </a:pPr>
            <a:r>
              <a:rPr lang="en-US" sz="2400" b="1" dirty="0">
                <a:solidFill>
                  <a:srgbClr val="495057"/>
                </a:solidFill>
                <a:latin typeface="Noto Sans SC" pitchFamily="34" charset="0"/>
                <a:ea typeface="Noto Sans SC" pitchFamily="34" charset="-122"/>
                <a:cs typeface="Noto Sans SC" pitchFamily="34" charset="-120"/>
              </a:rPr>
              <a:t>场景特征 (Scene Feature)</a:t>
            </a:r>
            <a:endParaRPr lang="en-US" sz="1600" dirty="0"/>
          </a:p>
        </p:txBody>
      </p:sp>
      <p:sp>
        <p:nvSpPr>
          <p:cNvPr id="31" name="Text 29"/>
          <p:cNvSpPr/>
          <p:nvPr/>
        </p:nvSpPr>
        <p:spPr>
          <a:xfrm>
            <a:off x="9347200" y="2133600"/>
            <a:ext cx="3530600" cy="254000"/>
          </a:xfrm>
          <a:prstGeom prst="rect">
            <a:avLst/>
          </a:prstGeom>
          <a:noFill/>
          <a:ln/>
        </p:spPr>
        <p:txBody>
          <a:bodyPr wrap="square" lIns="0" tIns="0" rIns="0" bIns="0" rtlCol="0" anchor="ctr"/>
          <a:lstStyle/>
          <a:p>
            <a:pPr>
              <a:lnSpc>
                <a:spcPct val="120000"/>
              </a:lnSpc>
            </a:pPr>
            <a:r>
              <a:rPr lang="en-US" sz="1400" dirty="0">
                <a:solidFill>
                  <a:srgbClr val="495057">
                    <a:alpha val="60000"/>
                  </a:srgbClr>
                </a:solidFill>
                <a:latin typeface="Quattrocento Sans" pitchFamily="34" charset="0"/>
                <a:ea typeface="Quattrocento Sans" pitchFamily="34" charset="-122"/>
                <a:cs typeface="Quattrocento Sans" pitchFamily="34" charset="-120"/>
              </a:rPr>
              <a:t>Scene-VGG Detector</a:t>
            </a:r>
            <a:endParaRPr lang="en-US" sz="1600" dirty="0"/>
          </a:p>
        </p:txBody>
      </p:sp>
      <p:sp>
        <p:nvSpPr>
          <p:cNvPr id="32" name="Shape 30"/>
          <p:cNvSpPr/>
          <p:nvPr/>
        </p:nvSpPr>
        <p:spPr>
          <a:xfrm>
            <a:off x="8610600" y="2590800"/>
            <a:ext cx="6832600" cy="1524000"/>
          </a:xfrm>
          <a:custGeom>
            <a:avLst/>
            <a:gdLst/>
            <a:ahLst/>
            <a:cxnLst/>
            <a:rect l="l" t="t" r="r" b="b"/>
            <a:pathLst>
              <a:path w="6832600" h="1524000">
                <a:moveTo>
                  <a:pt x="50800" y="0"/>
                </a:moveTo>
                <a:lnTo>
                  <a:pt x="6730995" y="0"/>
                </a:lnTo>
                <a:cubicBezTo>
                  <a:pt x="6787110" y="0"/>
                  <a:pt x="6832600" y="45490"/>
                  <a:pt x="6832600" y="101605"/>
                </a:cubicBezTo>
                <a:lnTo>
                  <a:pt x="6832600" y="1422395"/>
                </a:lnTo>
                <a:cubicBezTo>
                  <a:pt x="6832600" y="1478510"/>
                  <a:pt x="6787110" y="1524000"/>
                  <a:pt x="6730995" y="1524000"/>
                </a:cubicBezTo>
                <a:lnTo>
                  <a:pt x="50800" y="1524000"/>
                </a:lnTo>
                <a:cubicBezTo>
                  <a:pt x="22763" y="1524000"/>
                  <a:pt x="0" y="1501237"/>
                  <a:pt x="0" y="1473200"/>
                </a:cubicBezTo>
                <a:lnTo>
                  <a:pt x="0" y="50800"/>
                </a:lnTo>
                <a:cubicBezTo>
                  <a:pt x="0" y="22763"/>
                  <a:pt x="22763" y="0"/>
                  <a:pt x="50800" y="0"/>
                </a:cubicBezTo>
                <a:close/>
              </a:path>
            </a:pathLst>
          </a:custGeom>
          <a:solidFill>
            <a:srgbClr val="495057">
              <a:alpha val="5098"/>
            </a:srgbClr>
          </a:solidFill>
          <a:ln/>
        </p:spPr>
      </p:sp>
      <p:sp>
        <p:nvSpPr>
          <p:cNvPr id="33" name="Shape 31"/>
          <p:cNvSpPr/>
          <p:nvPr/>
        </p:nvSpPr>
        <p:spPr>
          <a:xfrm>
            <a:off x="8610600" y="2590800"/>
            <a:ext cx="50800" cy="1524000"/>
          </a:xfrm>
          <a:custGeom>
            <a:avLst/>
            <a:gdLst/>
            <a:ahLst/>
            <a:cxnLst/>
            <a:rect l="l" t="t" r="r" b="b"/>
            <a:pathLst>
              <a:path w="50800" h="1524000">
                <a:moveTo>
                  <a:pt x="50800" y="0"/>
                </a:moveTo>
                <a:lnTo>
                  <a:pt x="50800" y="0"/>
                </a:lnTo>
                <a:lnTo>
                  <a:pt x="50800" y="1524000"/>
                </a:lnTo>
                <a:lnTo>
                  <a:pt x="50800" y="1524000"/>
                </a:lnTo>
                <a:cubicBezTo>
                  <a:pt x="22763" y="1524000"/>
                  <a:pt x="0" y="1501237"/>
                  <a:pt x="0" y="1473200"/>
                </a:cubicBezTo>
                <a:lnTo>
                  <a:pt x="0" y="50800"/>
                </a:lnTo>
                <a:cubicBezTo>
                  <a:pt x="0" y="22763"/>
                  <a:pt x="22763" y="0"/>
                  <a:pt x="50800" y="0"/>
                </a:cubicBezTo>
                <a:close/>
              </a:path>
            </a:pathLst>
          </a:custGeom>
          <a:solidFill>
            <a:srgbClr val="495057"/>
          </a:solidFill>
          <a:ln/>
        </p:spPr>
      </p:sp>
      <p:sp>
        <p:nvSpPr>
          <p:cNvPr id="34" name="Text 32"/>
          <p:cNvSpPr/>
          <p:nvPr/>
        </p:nvSpPr>
        <p:spPr>
          <a:xfrm>
            <a:off x="8839200" y="2794000"/>
            <a:ext cx="6515100" cy="355600"/>
          </a:xfrm>
          <a:prstGeom prst="rect">
            <a:avLst/>
          </a:prstGeom>
          <a:noFill/>
          <a:ln/>
        </p:spPr>
        <p:txBody>
          <a:bodyPr wrap="square" lIns="0" tIns="0" rIns="0" bIns="0" rtlCol="0" anchor="ctr"/>
          <a:lstStyle/>
          <a:p>
            <a:pPr>
              <a:lnSpc>
                <a:spcPct val="130000"/>
              </a:lnSpc>
            </a:pPr>
            <a:r>
              <a:rPr lang="en-US" sz="1800" b="1" dirty="0">
                <a:solidFill>
                  <a:srgbClr val="495057"/>
                </a:solidFill>
                <a:latin typeface="MiSans" pitchFamily="34" charset="0"/>
                <a:ea typeface="MiSans" pitchFamily="34" charset="-122"/>
                <a:cs typeface="MiSans" pitchFamily="34" charset="-120"/>
              </a:rPr>
              <a:t>核心思想</a:t>
            </a:r>
            <a:endParaRPr lang="en-US" sz="1600" dirty="0"/>
          </a:p>
        </p:txBody>
      </p:sp>
      <p:sp>
        <p:nvSpPr>
          <p:cNvPr id="35" name="Text 33"/>
          <p:cNvSpPr/>
          <p:nvPr/>
        </p:nvSpPr>
        <p:spPr>
          <a:xfrm>
            <a:off x="8839200" y="3251200"/>
            <a:ext cx="6502400" cy="660400"/>
          </a:xfrm>
          <a:prstGeom prst="rect">
            <a:avLst/>
          </a:prstGeom>
          <a:noFill/>
          <a:ln/>
        </p:spPr>
        <p:txBody>
          <a:bodyPr wrap="square" lIns="0" tIns="0" rIns="0" bIns="0" rtlCol="0" anchor="ctr"/>
          <a:lstStyle/>
          <a:p>
            <a:pPr>
              <a:lnSpc>
                <a:spcPct val="140000"/>
              </a:lnSpc>
            </a:pPr>
            <a:r>
              <a:rPr lang="en-US" sz="1600" dirty="0">
                <a:solidFill>
                  <a:srgbClr val="495057">
                    <a:alpha val="80000"/>
                  </a:srgbClr>
                </a:solidFill>
                <a:latin typeface="MiSans" pitchFamily="34" charset="0"/>
                <a:ea typeface="MiSans" pitchFamily="34" charset="-122"/>
                <a:cs typeface="MiSans" pitchFamily="34" charset="-120"/>
              </a:rPr>
              <a:t>场景为情感理解提供</a:t>
            </a:r>
            <a:pPr>
              <a:lnSpc>
                <a:spcPct val="140000"/>
              </a:lnSpc>
            </a:pPr>
            <a:r>
              <a:rPr lang="en-US" sz="1600" b="1" dirty="0">
                <a:solidFill>
                  <a:srgbClr val="495057"/>
                </a:solidFill>
                <a:latin typeface="MiSans" pitchFamily="34" charset="0"/>
                <a:ea typeface="MiSans" pitchFamily="34" charset="-122"/>
                <a:cs typeface="MiSans" pitchFamily="34" charset="-120"/>
              </a:rPr>
              <a:t>背景线索</a:t>
            </a:r>
            <a:pPr>
              <a:lnSpc>
                <a:spcPct val="140000"/>
              </a:lnSpc>
            </a:pPr>
            <a:r>
              <a:rPr lang="en-US" sz="1600" dirty="0">
                <a:solidFill>
                  <a:srgbClr val="495057">
                    <a:alpha val="80000"/>
                  </a:srgbClr>
                </a:solidFill>
                <a:latin typeface="MiSans" pitchFamily="34" charset="0"/>
                <a:ea typeface="MiSans" pitchFamily="34" charset="-122"/>
                <a:cs typeface="MiSans" pitchFamily="34" charset="-120"/>
              </a:rPr>
              <a:t>。例如：婚礼礼堂带来幸福感（正面）；火灾现场带来悲伤感（负面）。</a:t>
            </a:r>
            <a:endParaRPr lang="en-US" sz="1600" dirty="0"/>
          </a:p>
        </p:txBody>
      </p:sp>
      <p:sp>
        <p:nvSpPr>
          <p:cNvPr id="36" name="Shape 34"/>
          <p:cNvSpPr/>
          <p:nvPr/>
        </p:nvSpPr>
        <p:spPr>
          <a:xfrm>
            <a:off x="8585200" y="4318000"/>
            <a:ext cx="6858000" cy="2540000"/>
          </a:xfrm>
          <a:custGeom>
            <a:avLst/>
            <a:gdLst/>
            <a:ahLst/>
            <a:cxnLst/>
            <a:rect l="l" t="t" r="r" b="b"/>
            <a:pathLst>
              <a:path w="6858000" h="2540000">
                <a:moveTo>
                  <a:pt x="101600" y="0"/>
                </a:moveTo>
                <a:lnTo>
                  <a:pt x="6756400" y="0"/>
                </a:lnTo>
                <a:cubicBezTo>
                  <a:pt x="6812475" y="0"/>
                  <a:pt x="6858000" y="45525"/>
                  <a:pt x="6858000" y="101600"/>
                </a:cubicBezTo>
                <a:lnTo>
                  <a:pt x="6858000" y="2438400"/>
                </a:lnTo>
                <a:cubicBezTo>
                  <a:pt x="6858000" y="2494475"/>
                  <a:pt x="6812475" y="2540000"/>
                  <a:pt x="6756400" y="2540000"/>
                </a:cubicBezTo>
                <a:lnTo>
                  <a:pt x="101600" y="2540000"/>
                </a:lnTo>
                <a:cubicBezTo>
                  <a:pt x="45525" y="2540000"/>
                  <a:pt x="0" y="2494475"/>
                  <a:pt x="0" y="2438400"/>
                </a:cubicBezTo>
                <a:lnTo>
                  <a:pt x="0" y="101600"/>
                </a:lnTo>
                <a:cubicBezTo>
                  <a:pt x="0" y="45525"/>
                  <a:pt x="45525" y="0"/>
                  <a:pt x="101600" y="0"/>
                </a:cubicBezTo>
                <a:close/>
              </a:path>
            </a:pathLst>
          </a:custGeom>
          <a:solidFill>
            <a:srgbClr val="A67B5C">
              <a:alpha val="5098"/>
            </a:srgbClr>
          </a:solidFill>
          <a:ln/>
        </p:spPr>
      </p:sp>
      <p:sp>
        <p:nvSpPr>
          <p:cNvPr id="37" name="Text 35"/>
          <p:cNvSpPr/>
          <p:nvPr/>
        </p:nvSpPr>
        <p:spPr>
          <a:xfrm>
            <a:off x="8788400" y="4521200"/>
            <a:ext cx="6565900" cy="355600"/>
          </a:xfrm>
          <a:prstGeom prst="rect">
            <a:avLst/>
          </a:prstGeom>
          <a:noFill/>
          <a:ln/>
        </p:spPr>
        <p:txBody>
          <a:bodyPr wrap="square" lIns="0" tIns="0" rIns="0" bIns="0" rtlCol="0" anchor="ctr"/>
          <a:lstStyle/>
          <a:p>
            <a:pPr>
              <a:lnSpc>
                <a:spcPct val="130000"/>
              </a:lnSpc>
            </a:pPr>
            <a:r>
              <a:rPr lang="en-US" sz="1800" b="1" dirty="0">
                <a:solidFill>
                  <a:srgbClr val="495057"/>
                </a:solidFill>
                <a:latin typeface="MiSans" pitchFamily="34" charset="0"/>
                <a:ea typeface="MiSans" pitchFamily="34" charset="-122"/>
                <a:cs typeface="MiSans" pitchFamily="34" charset="-120"/>
              </a:rPr>
              <a:t>实现细节</a:t>
            </a:r>
            <a:endParaRPr lang="en-US" sz="1600" dirty="0"/>
          </a:p>
        </p:txBody>
      </p:sp>
      <p:sp>
        <p:nvSpPr>
          <p:cNvPr id="38" name="Shape 36"/>
          <p:cNvSpPr/>
          <p:nvPr/>
        </p:nvSpPr>
        <p:spPr>
          <a:xfrm>
            <a:off x="8813800" y="5080000"/>
            <a:ext cx="203200" cy="203200"/>
          </a:xfrm>
          <a:custGeom>
            <a:avLst/>
            <a:gdLst/>
            <a:ahLst/>
            <a:cxnLst/>
            <a:rect l="l" t="t" r="r" b="b"/>
            <a:pathLst>
              <a:path w="203200" h="203200">
                <a:moveTo>
                  <a:pt x="101600" y="203200"/>
                </a:moveTo>
                <a:cubicBezTo>
                  <a:pt x="157675" y="203200"/>
                  <a:pt x="203200" y="157675"/>
                  <a:pt x="203200" y="101600"/>
                </a:cubicBezTo>
                <a:cubicBezTo>
                  <a:pt x="203200" y="45525"/>
                  <a:pt x="157675" y="0"/>
                  <a:pt x="101600" y="0"/>
                </a:cubicBezTo>
                <a:cubicBezTo>
                  <a:pt x="45525" y="0"/>
                  <a:pt x="0" y="45525"/>
                  <a:pt x="0" y="101600"/>
                </a:cubicBezTo>
                <a:cubicBezTo>
                  <a:pt x="0" y="157675"/>
                  <a:pt x="45525" y="203200"/>
                  <a:pt x="101600" y="203200"/>
                </a:cubicBezTo>
                <a:close/>
                <a:moveTo>
                  <a:pt x="135096" y="84415"/>
                </a:moveTo>
                <a:lnTo>
                  <a:pt x="103346" y="135215"/>
                </a:lnTo>
                <a:cubicBezTo>
                  <a:pt x="101679" y="137874"/>
                  <a:pt x="98822" y="139541"/>
                  <a:pt x="95687" y="139700"/>
                </a:cubicBezTo>
                <a:cubicBezTo>
                  <a:pt x="92551" y="139859"/>
                  <a:pt x="89535" y="138430"/>
                  <a:pt x="87670" y="135890"/>
                </a:cubicBezTo>
                <a:lnTo>
                  <a:pt x="68620" y="110490"/>
                </a:lnTo>
                <a:cubicBezTo>
                  <a:pt x="65445" y="106283"/>
                  <a:pt x="66318" y="100330"/>
                  <a:pt x="70525" y="97155"/>
                </a:cubicBezTo>
                <a:cubicBezTo>
                  <a:pt x="74732" y="93980"/>
                  <a:pt x="80685" y="94853"/>
                  <a:pt x="83860" y="99060"/>
                </a:cubicBezTo>
                <a:lnTo>
                  <a:pt x="94575" y="113348"/>
                </a:lnTo>
                <a:lnTo>
                  <a:pt x="118943" y="74335"/>
                </a:lnTo>
                <a:cubicBezTo>
                  <a:pt x="121722" y="69890"/>
                  <a:pt x="127595" y="68501"/>
                  <a:pt x="132080" y="71318"/>
                </a:cubicBezTo>
                <a:cubicBezTo>
                  <a:pt x="136565" y="74136"/>
                  <a:pt x="137914" y="79970"/>
                  <a:pt x="135096" y="84455"/>
                </a:cubicBezTo>
                <a:close/>
              </a:path>
            </a:pathLst>
          </a:custGeom>
          <a:solidFill>
            <a:srgbClr val="495057"/>
          </a:solidFill>
          <a:ln/>
        </p:spPr>
      </p:sp>
      <p:sp>
        <p:nvSpPr>
          <p:cNvPr id="39" name="Text 37"/>
          <p:cNvSpPr/>
          <p:nvPr/>
        </p:nvSpPr>
        <p:spPr>
          <a:xfrm>
            <a:off x="9144000" y="5029200"/>
            <a:ext cx="6197600" cy="304800"/>
          </a:xfrm>
          <a:prstGeom prst="rect">
            <a:avLst/>
          </a:prstGeom>
          <a:noFill/>
          <a:ln/>
        </p:spPr>
        <p:txBody>
          <a:bodyPr wrap="square" lIns="0" tIns="0" rIns="0" bIns="0" rtlCol="0" anchor="ctr"/>
          <a:lstStyle/>
          <a:p>
            <a:pPr>
              <a:lnSpc>
                <a:spcPct val="130000"/>
              </a:lnSpc>
            </a:pPr>
            <a:r>
              <a:rPr lang="en-US" sz="1600" dirty="0">
                <a:solidFill>
                  <a:srgbClr val="495057">
                    <a:alpha val="80000"/>
                  </a:srgbClr>
                </a:solidFill>
                <a:latin typeface="MiSans" pitchFamily="34" charset="0"/>
                <a:ea typeface="MiSans" pitchFamily="34" charset="-122"/>
                <a:cs typeface="MiSans" pitchFamily="34" charset="-120"/>
              </a:rPr>
              <a:t>采用在</a:t>
            </a:r>
            <a:pPr>
              <a:lnSpc>
                <a:spcPct val="130000"/>
              </a:lnSpc>
            </a:pPr>
            <a:r>
              <a:rPr lang="en-US" sz="1600" b="1" dirty="0">
                <a:solidFill>
                  <a:srgbClr val="495057">
                    <a:alpha val="80000"/>
                  </a:srgbClr>
                </a:solidFill>
                <a:latin typeface="MiSans" pitchFamily="34" charset="0"/>
                <a:ea typeface="MiSans" pitchFamily="34" charset="-122"/>
                <a:cs typeface="MiSans" pitchFamily="34" charset="-120"/>
              </a:rPr>
              <a:t>Place365数据集上预训练的Scene-VGG模型</a:t>
            </a:r>
            <a:endParaRPr lang="en-US" sz="1600" dirty="0"/>
          </a:p>
        </p:txBody>
      </p:sp>
      <p:sp>
        <p:nvSpPr>
          <p:cNvPr id="40" name="Shape 38"/>
          <p:cNvSpPr/>
          <p:nvPr/>
        </p:nvSpPr>
        <p:spPr>
          <a:xfrm>
            <a:off x="8813800" y="5537200"/>
            <a:ext cx="203200" cy="203200"/>
          </a:xfrm>
          <a:custGeom>
            <a:avLst/>
            <a:gdLst/>
            <a:ahLst/>
            <a:cxnLst/>
            <a:rect l="l" t="t" r="r" b="b"/>
            <a:pathLst>
              <a:path w="203200" h="203200">
                <a:moveTo>
                  <a:pt x="101600" y="203200"/>
                </a:moveTo>
                <a:cubicBezTo>
                  <a:pt x="157675" y="203200"/>
                  <a:pt x="203200" y="157675"/>
                  <a:pt x="203200" y="101600"/>
                </a:cubicBezTo>
                <a:cubicBezTo>
                  <a:pt x="203200" y="45525"/>
                  <a:pt x="157675" y="0"/>
                  <a:pt x="101600" y="0"/>
                </a:cubicBezTo>
                <a:cubicBezTo>
                  <a:pt x="45525" y="0"/>
                  <a:pt x="0" y="45525"/>
                  <a:pt x="0" y="101600"/>
                </a:cubicBezTo>
                <a:cubicBezTo>
                  <a:pt x="0" y="157675"/>
                  <a:pt x="45525" y="203200"/>
                  <a:pt x="101600" y="203200"/>
                </a:cubicBezTo>
                <a:close/>
                <a:moveTo>
                  <a:pt x="135096" y="84415"/>
                </a:moveTo>
                <a:lnTo>
                  <a:pt x="103346" y="135215"/>
                </a:lnTo>
                <a:cubicBezTo>
                  <a:pt x="101679" y="137874"/>
                  <a:pt x="98822" y="139541"/>
                  <a:pt x="95687" y="139700"/>
                </a:cubicBezTo>
                <a:cubicBezTo>
                  <a:pt x="92551" y="139859"/>
                  <a:pt x="89535" y="138430"/>
                  <a:pt x="87670" y="135890"/>
                </a:cubicBezTo>
                <a:lnTo>
                  <a:pt x="68620" y="110490"/>
                </a:lnTo>
                <a:cubicBezTo>
                  <a:pt x="65445" y="106283"/>
                  <a:pt x="66318" y="100330"/>
                  <a:pt x="70525" y="97155"/>
                </a:cubicBezTo>
                <a:cubicBezTo>
                  <a:pt x="74732" y="93980"/>
                  <a:pt x="80685" y="94853"/>
                  <a:pt x="83860" y="99060"/>
                </a:cubicBezTo>
                <a:lnTo>
                  <a:pt x="94575" y="113348"/>
                </a:lnTo>
                <a:lnTo>
                  <a:pt x="118943" y="74335"/>
                </a:lnTo>
                <a:cubicBezTo>
                  <a:pt x="121722" y="69890"/>
                  <a:pt x="127595" y="68501"/>
                  <a:pt x="132080" y="71318"/>
                </a:cubicBezTo>
                <a:cubicBezTo>
                  <a:pt x="136565" y="74136"/>
                  <a:pt x="137914" y="79970"/>
                  <a:pt x="135096" y="84455"/>
                </a:cubicBezTo>
                <a:close/>
              </a:path>
            </a:pathLst>
          </a:custGeom>
          <a:solidFill>
            <a:srgbClr val="495057"/>
          </a:solidFill>
          <a:ln/>
        </p:spPr>
      </p:sp>
      <p:sp>
        <p:nvSpPr>
          <p:cNvPr id="41" name="Text 39"/>
          <p:cNvSpPr/>
          <p:nvPr/>
        </p:nvSpPr>
        <p:spPr>
          <a:xfrm>
            <a:off x="9144000" y="5486400"/>
            <a:ext cx="6197600" cy="304800"/>
          </a:xfrm>
          <a:prstGeom prst="rect">
            <a:avLst/>
          </a:prstGeom>
          <a:noFill/>
          <a:ln/>
        </p:spPr>
        <p:txBody>
          <a:bodyPr wrap="square" lIns="0" tIns="0" rIns="0" bIns="0" rtlCol="0" anchor="ctr"/>
          <a:lstStyle/>
          <a:p>
            <a:pPr>
              <a:lnSpc>
                <a:spcPct val="130000"/>
              </a:lnSpc>
            </a:pPr>
            <a:r>
              <a:rPr lang="en-US" sz="1600" dirty="0">
                <a:solidFill>
                  <a:srgbClr val="495057">
                    <a:alpha val="80000"/>
                  </a:srgbClr>
                </a:solidFill>
                <a:latin typeface="MiSans" pitchFamily="34" charset="0"/>
                <a:ea typeface="MiSans" pitchFamily="34" charset="-122"/>
                <a:cs typeface="MiSans" pitchFamily="34" charset="-120"/>
              </a:rPr>
              <a:t>Place365包含</a:t>
            </a:r>
            <a:pPr>
              <a:lnSpc>
                <a:spcPct val="130000"/>
              </a:lnSpc>
            </a:pPr>
            <a:r>
              <a:rPr lang="en-US" sz="1600" b="1" dirty="0">
                <a:solidFill>
                  <a:srgbClr val="495057">
                    <a:alpha val="80000"/>
                  </a:srgbClr>
                </a:solidFill>
                <a:latin typeface="MiSans" pitchFamily="34" charset="0"/>
                <a:ea typeface="MiSans" pitchFamily="34" charset="-122"/>
                <a:cs typeface="MiSans" pitchFamily="34" charset="-120"/>
              </a:rPr>
              <a:t>365个场景类别</a:t>
            </a:r>
            <a:pPr>
              <a:lnSpc>
                <a:spcPct val="130000"/>
              </a:lnSpc>
            </a:pPr>
            <a:r>
              <a:rPr lang="en-US" sz="1600" dirty="0">
                <a:solidFill>
                  <a:srgbClr val="495057">
                    <a:alpha val="80000"/>
                  </a:srgbClr>
                </a:solidFill>
                <a:latin typeface="MiSans" pitchFamily="34" charset="0"/>
                <a:ea typeface="MiSans" pitchFamily="34" charset="-122"/>
                <a:cs typeface="MiSans" pitchFamily="34" charset="-120"/>
              </a:rPr>
              <a:t>和数百万张图像</a:t>
            </a:r>
            <a:endParaRPr lang="en-US" sz="1600" dirty="0"/>
          </a:p>
        </p:txBody>
      </p:sp>
      <p:sp>
        <p:nvSpPr>
          <p:cNvPr id="42" name="Shape 40"/>
          <p:cNvSpPr/>
          <p:nvPr/>
        </p:nvSpPr>
        <p:spPr>
          <a:xfrm>
            <a:off x="8813800" y="5994400"/>
            <a:ext cx="203200" cy="203200"/>
          </a:xfrm>
          <a:custGeom>
            <a:avLst/>
            <a:gdLst/>
            <a:ahLst/>
            <a:cxnLst/>
            <a:rect l="l" t="t" r="r" b="b"/>
            <a:pathLst>
              <a:path w="203200" h="203200">
                <a:moveTo>
                  <a:pt x="101600" y="203200"/>
                </a:moveTo>
                <a:cubicBezTo>
                  <a:pt x="157675" y="203200"/>
                  <a:pt x="203200" y="157675"/>
                  <a:pt x="203200" y="101600"/>
                </a:cubicBezTo>
                <a:cubicBezTo>
                  <a:pt x="203200" y="45525"/>
                  <a:pt x="157675" y="0"/>
                  <a:pt x="101600" y="0"/>
                </a:cubicBezTo>
                <a:cubicBezTo>
                  <a:pt x="45525" y="0"/>
                  <a:pt x="0" y="45525"/>
                  <a:pt x="0" y="101600"/>
                </a:cubicBezTo>
                <a:cubicBezTo>
                  <a:pt x="0" y="157675"/>
                  <a:pt x="45525" y="203200"/>
                  <a:pt x="101600" y="203200"/>
                </a:cubicBezTo>
                <a:close/>
                <a:moveTo>
                  <a:pt x="135096" y="84415"/>
                </a:moveTo>
                <a:lnTo>
                  <a:pt x="103346" y="135215"/>
                </a:lnTo>
                <a:cubicBezTo>
                  <a:pt x="101679" y="137874"/>
                  <a:pt x="98822" y="139541"/>
                  <a:pt x="95687" y="139700"/>
                </a:cubicBezTo>
                <a:cubicBezTo>
                  <a:pt x="92551" y="139859"/>
                  <a:pt x="89535" y="138430"/>
                  <a:pt x="87670" y="135890"/>
                </a:cubicBezTo>
                <a:lnTo>
                  <a:pt x="68620" y="110490"/>
                </a:lnTo>
                <a:cubicBezTo>
                  <a:pt x="65445" y="106283"/>
                  <a:pt x="66318" y="100330"/>
                  <a:pt x="70525" y="97155"/>
                </a:cubicBezTo>
                <a:cubicBezTo>
                  <a:pt x="74732" y="93980"/>
                  <a:pt x="80685" y="94853"/>
                  <a:pt x="83860" y="99060"/>
                </a:cubicBezTo>
                <a:lnTo>
                  <a:pt x="94575" y="113348"/>
                </a:lnTo>
                <a:lnTo>
                  <a:pt x="118943" y="74335"/>
                </a:lnTo>
                <a:cubicBezTo>
                  <a:pt x="121722" y="69890"/>
                  <a:pt x="127595" y="68501"/>
                  <a:pt x="132080" y="71318"/>
                </a:cubicBezTo>
                <a:cubicBezTo>
                  <a:pt x="136565" y="74136"/>
                  <a:pt x="137914" y="79970"/>
                  <a:pt x="135096" y="84455"/>
                </a:cubicBezTo>
                <a:close/>
              </a:path>
            </a:pathLst>
          </a:custGeom>
          <a:solidFill>
            <a:srgbClr val="495057"/>
          </a:solidFill>
          <a:ln/>
        </p:spPr>
      </p:sp>
      <p:sp>
        <p:nvSpPr>
          <p:cNvPr id="43" name="Text 41"/>
          <p:cNvSpPr/>
          <p:nvPr/>
        </p:nvSpPr>
        <p:spPr>
          <a:xfrm>
            <a:off x="9144000" y="5943600"/>
            <a:ext cx="6197600" cy="304800"/>
          </a:xfrm>
          <a:prstGeom prst="rect">
            <a:avLst/>
          </a:prstGeom>
          <a:noFill/>
          <a:ln/>
        </p:spPr>
        <p:txBody>
          <a:bodyPr wrap="square" lIns="0" tIns="0" rIns="0" bIns="0" rtlCol="0" anchor="ctr"/>
          <a:lstStyle/>
          <a:p>
            <a:pPr>
              <a:lnSpc>
                <a:spcPct val="130000"/>
              </a:lnSpc>
            </a:pPr>
            <a:r>
              <a:rPr lang="en-US" sz="1600" dirty="0">
                <a:solidFill>
                  <a:srgbClr val="495057">
                    <a:alpha val="80000"/>
                  </a:srgbClr>
                </a:solidFill>
                <a:latin typeface="MiSans" pitchFamily="34" charset="0"/>
                <a:ea typeface="MiSans" pitchFamily="34" charset="-122"/>
                <a:cs typeface="MiSans" pitchFamily="34" charset="-120"/>
              </a:rPr>
              <a:t>提取</a:t>
            </a:r>
            <a:pPr>
              <a:lnSpc>
                <a:spcPct val="130000"/>
              </a:lnSpc>
            </a:pPr>
            <a:r>
              <a:rPr lang="en-US" sz="1600" b="1" dirty="0">
                <a:solidFill>
                  <a:srgbClr val="495057">
                    <a:alpha val="80000"/>
                  </a:srgbClr>
                </a:solidFill>
                <a:latin typeface="MiSans" pitchFamily="34" charset="0"/>
                <a:ea typeface="MiSans" pitchFamily="34" charset="-122"/>
                <a:cs typeface="MiSans" pitchFamily="34" charset="-120"/>
              </a:rPr>
              <a:t>365维场景概率分布Is</a:t>
            </a:r>
            <a:pPr>
              <a:lnSpc>
                <a:spcPct val="130000"/>
              </a:lnSpc>
            </a:pPr>
            <a:r>
              <a:rPr lang="en-US" sz="1600" dirty="0">
                <a:solidFill>
                  <a:srgbClr val="495057">
                    <a:alpha val="80000"/>
                  </a:srgbClr>
                </a:solidFill>
                <a:latin typeface="MiSans" pitchFamily="34" charset="0"/>
                <a:ea typeface="MiSans" pitchFamily="34" charset="-122"/>
                <a:cs typeface="MiSans" pitchFamily="34" charset="-120"/>
              </a:rPr>
              <a:t>表示场景类别概率</a:t>
            </a:r>
            <a:endParaRPr lang="en-US" sz="1600" dirty="0"/>
          </a:p>
        </p:txBody>
      </p:sp>
      <p:sp>
        <p:nvSpPr>
          <p:cNvPr id="44" name="Shape 42"/>
          <p:cNvSpPr/>
          <p:nvPr/>
        </p:nvSpPr>
        <p:spPr>
          <a:xfrm>
            <a:off x="8585200" y="7061200"/>
            <a:ext cx="6858000" cy="1270000"/>
          </a:xfrm>
          <a:custGeom>
            <a:avLst/>
            <a:gdLst/>
            <a:ahLst/>
            <a:cxnLst/>
            <a:rect l="l" t="t" r="r" b="b"/>
            <a:pathLst>
              <a:path w="6858000" h="1270000">
                <a:moveTo>
                  <a:pt x="101600" y="0"/>
                </a:moveTo>
                <a:lnTo>
                  <a:pt x="6756400" y="0"/>
                </a:lnTo>
                <a:cubicBezTo>
                  <a:pt x="6812475" y="0"/>
                  <a:pt x="6858000" y="45525"/>
                  <a:pt x="6858000" y="101600"/>
                </a:cubicBezTo>
                <a:lnTo>
                  <a:pt x="6858000" y="1168400"/>
                </a:lnTo>
                <a:cubicBezTo>
                  <a:pt x="6858000" y="1224475"/>
                  <a:pt x="6812475" y="1270000"/>
                  <a:pt x="6756400" y="1270000"/>
                </a:cubicBezTo>
                <a:lnTo>
                  <a:pt x="101600" y="1270000"/>
                </a:lnTo>
                <a:cubicBezTo>
                  <a:pt x="45525" y="1270000"/>
                  <a:pt x="0" y="1224475"/>
                  <a:pt x="0" y="1168400"/>
                </a:cubicBezTo>
                <a:lnTo>
                  <a:pt x="0" y="101600"/>
                </a:lnTo>
                <a:cubicBezTo>
                  <a:pt x="0" y="45525"/>
                  <a:pt x="45525" y="0"/>
                  <a:pt x="101600" y="0"/>
                </a:cubicBezTo>
                <a:close/>
              </a:path>
            </a:pathLst>
          </a:custGeom>
          <a:solidFill>
            <a:srgbClr val="A67B5C"/>
          </a:solidFill>
          <a:ln/>
        </p:spPr>
      </p:sp>
      <p:sp>
        <p:nvSpPr>
          <p:cNvPr id="45" name="Text 43"/>
          <p:cNvSpPr/>
          <p:nvPr/>
        </p:nvSpPr>
        <p:spPr>
          <a:xfrm>
            <a:off x="8788400" y="7264400"/>
            <a:ext cx="6553200" cy="304800"/>
          </a:xfrm>
          <a:prstGeom prst="rect">
            <a:avLst/>
          </a:prstGeom>
          <a:noFill/>
          <a:ln/>
        </p:spPr>
        <p:txBody>
          <a:bodyPr wrap="square" lIns="0" tIns="0" rIns="0" bIns="0" rtlCol="0" anchor="ctr"/>
          <a:lstStyle/>
          <a:p>
            <a:pPr>
              <a:lnSpc>
                <a:spcPct val="130000"/>
              </a:lnSpc>
            </a:pPr>
            <a:r>
              <a:rPr lang="en-US" sz="1600" b="1" dirty="0">
                <a:solidFill>
                  <a:srgbClr val="FFFFFF"/>
                </a:solidFill>
                <a:latin typeface="MiSans" pitchFamily="34" charset="0"/>
                <a:ea typeface="MiSans" pitchFamily="34" charset="-122"/>
                <a:cs typeface="MiSans" pitchFamily="34" charset="-120"/>
              </a:rPr>
              <a:t>维度转换</a:t>
            </a:r>
            <a:endParaRPr lang="en-US" sz="1600" dirty="0"/>
          </a:p>
        </p:txBody>
      </p:sp>
      <p:sp>
        <p:nvSpPr>
          <p:cNvPr id="46" name="Shape 44"/>
          <p:cNvSpPr/>
          <p:nvPr/>
        </p:nvSpPr>
        <p:spPr>
          <a:xfrm>
            <a:off x="8788400" y="7670800"/>
            <a:ext cx="6451600" cy="457200"/>
          </a:xfrm>
          <a:custGeom>
            <a:avLst/>
            <a:gdLst/>
            <a:ahLst/>
            <a:cxnLst/>
            <a:rect l="l" t="t" r="r" b="b"/>
            <a:pathLst>
              <a:path w="6451600" h="457200">
                <a:moveTo>
                  <a:pt x="50799" y="0"/>
                </a:moveTo>
                <a:lnTo>
                  <a:pt x="6400801" y="0"/>
                </a:lnTo>
                <a:cubicBezTo>
                  <a:pt x="6428856" y="0"/>
                  <a:pt x="6451600" y="22744"/>
                  <a:pt x="6451600" y="50799"/>
                </a:cubicBezTo>
                <a:lnTo>
                  <a:pt x="6451600" y="406401"/>
                </a:lnTo>
                <a:cubicBezTo>
                  <a:pt x="6451600" y="434456"/>
                  <a:pt x="6428856" y="457200"/>
                  <a:pt x="6400801" y="457200"/>
                </a:cubicBezTo>
                <a:lnTo>
                  <a:pt x="50799" y="457200"/>
                </a:lnTo>
                <a:cubicBezTo>
                  <a:pt x="22744" y="457200"/>
                  <a:pt x="0" y="434456"/>
                  <a:pt x="0" y="406401"/>
                </a:cubicBezTo>
                <a:lnTo>
                  <a:pt x="0" y="50799"/>
                </a:lnTo>
                <a:cubicBezTo>
                  <a:pt x="0" y="22762"/>
                  <a:pt x="22762" y="0"/>
                  <a:pt x="50799" y="0"/>
                </a:cubicBezTo>
                <a:close/>
              </a:path>
            </a:pathLst>
          </a:custGeom>
          <a:solidFill>
            <a:srgbClr val="FFFFFF">
              <a:alpha val="10196"/>
            </a:srgbClr>
          </a:solidFill>
          <a:ln/>
        </p:spPr>
      </p:sp>
      <p:sp>
        <p:nvSpPr>
          <p:cNvPr id="47" name="Text 45"/>
          <p:cNvSpPr/>
          <p:nvPr/>
        </p:nvSpPr>
        <p:spPr>
          <a:xfrm>
            <a:off x="8788400" y="7670800"/>
            <a:ext cx="6540500" cy="457200"/>
          </a:xfrm>
          <a:prstGeom prst="rect">
            <a:avLst/>
          </a:prstGeom>
          <a:noFill/>
          <a:ln/>
        </p:spPr>
        <p:txBody>
          <a:bodyPr wrap="square" lIns="101600" tIns="101600" rIns="101600" bIns="101600" rtlCol="0" anchor="ctr"/>
          <a:lstStyle/>
          <a:p>
            <a:pPr>
              <a:lnSpc>
                <a:spcPct val="120000"/>
              </a:lnSpc>
            </a:pPr>
            <a:r>
              <a:rPr lang="en-US" sz="1400" dirty="0">
                <a:solidFill>
                  <a:srgbClr val="FFFFFF"/>
                </a:solidFill>
                <a:latin typeface="MiSans" pitchFamily="34" charset="0"/>
                <a:ea typeface="MiSans" pitchFamily="34" charset="-122"/>
                <a:cs typeface="MiSans" pitchFamily="34" charset="-120"/>
              </a:rPr>
              <a:t>V</a:t>
            </a:r>
            <a:pPr>
              <a:lnSpc>
                <a:spcPct val="120000"/>
              </a:lnSpc>
            </a:pPr>
            <a:r>
              <a:rPr lang="en-US" sz="1050" dirty="0">
                <a:solidFill>
                  <a:srgbClr val="FFFFFF"/>
                </a:solidFill>
                <a:latin typeface="MiSans" pitchFamily="34" charset="0"/>
                <a:ea typeface="MiSans" pitchFamily="34" charset="-122"/>
                <a:cs typeface="MiSans" pitchFamily="34" charset="-120"/>
              </a:rPr>
              <a:t>s</a:t>
            </a:r>
            <a:pPr>
              <a:lnSpc>
                <a:spcPct val="120000"/>
              </a:lnSpc>
            </a:pPr>
            <a:r>
              <a:rPr lang="en-US" sz="1400" dirty="0">
                <a:solidFill>
                  <a:srgbClr val="FFFFFF"/>
                </a:solidFill>
                <a:latin typeface="MiSans" pitchFamily="34" charset="0"/>
                <a:ea typeface="MiSans" pitchFamily="34" charset="-122"/>
                <a:cs typeface="MiSans" pitchFamily="34" charset="-120"/>
              </a:rPr>
              <a:t> = ReLU(W</a:t>
            </a:r>
            <a:pPr>
              <a:lnSpc>
                <a:spcPct val="120000"/>
              </a:lnSpc>
            </a:pPr>
            <a:r>
              <a:rPr lang="en-US" sz="1050" dirty="0">
                <a:solidFill>
                  <a:srgbClr val="FFFFFF"/>
                </a:solidFill>
                <a:latin typeface="MiSans" pitchFamily="34" charset="0"/>
                <a:ea typeface="MiSans" pitchFamily="34" charset="-122"/>
                <a:cs typeface="MiSans" pitchFamily="34" charset="-120"/>
              </a:rPr>
              <a:t>s</a:t>
            </a:r>
            <a:pPr>
              <a:lnSpc>
                <a:spcPct val="120000"/>
              </a:lnSpc>
            </a:pPr>
            <a:r>
              <a:rPr lang="en-US" sz="1400" dirty="0">
                <a:solidFill>
                  <a:srgbClr val="FFFFFF"/>
                </a:solidFill>
                <a:latin typeface="MiSans" pitchFamily="34" charset="0"/>
                <a:ea typeface="MiSans" pitchFamily="34" charset="-122"/>
                <a:cs typeface="MiSans" pitchFamily="34" charset="-120"/>
              </a:rPr>
              <a:t> · I</a:t>
            </a:r>
            <a:pPr>
              <a:lnSpc>
                <a:spcPct val="120000"/>
              </a:lnSpc>
            </a:pPr>
            <a:r>
              <a:rPr lang="en-US" sz="1050" dirty="0">
                <a:solidFill>
                  <a:srgbClr val="FFFFFF"/>
                </a:solidFill>
                <a:latin typeface="MiSans" pitchFamily="34" charset="0"/>
                <a:ea typeface="MiSans" pitchFamily="34" charset="-122"/>
                <a:cs typeface="MiSans" pitchFamily="34" charset="-120"/>
              </a:rPr>
              <a:t>s</a:t>
            </a:r>
            <a:pPr>
              <a:lnSpc>
                <a:spcPct val="120000"/>
              </a:lnSpc>
            </a:pPr>
            <a:r>
              <a:rPr lang="en-US" sz="1400" dirty="0">
                <a:solidFill>
                  <a:srgbClr val="FFFFFF"/>
                </a:solidFill>
                <a:latin typeface="MiSans" pitchFamily="34" charset="0"/>
                <a:ea typeface="MiSans" pitchFamily="34" charset="-122"/>
                <a:cs typeface="MiSans" pitchFamily="34" charset="-120"/>
              </a:rPr>
              <a:t> + B</a:t>
            </a:r>
            <a:pPr>
              <a:lnSpc>
                <a:spcPct val="120000"/>
              </a:lnSpc>
            </a:pPr>
            <a:r>
              <a:rPr lang="en-US" sz="1050" dirty="0">
                <a:solidFill>
                  <a:srgbClr val="FFFFFF"/>
                </a:solidFill>
                <a:latin typeface="MiSans" pitchFamily="34" charset="0"/>
                <a:ea typeface="MiSans" pitchFamily="34" charset="-122"/>
                <a:cs typeface="MiSans" pitchFamily="34" charset="-120"/>
              </a:rPr>
              <a:t>s</a:t>
            </a:r>
            <a:pPr>
              <a:lnSpc>
                <a:spcPct val="120000"/>
              </a:lnSpc>
            </a:pPr>
            <a:r>
              <a:rPr lang="en-US" sz="1400" dirty="0">
                <a:solidFill>
                  <a:srgbClr val="FFFFFF"/>
                </a:solidFill>
                <a:latin typeface="MiSans" pitchFamily="34" charset="0"/>
                <a:ea typeface="MiSans" pitchFamily="34" charset="-122"/>
                <a:cs typeface="MiSans" pitchFamily="34" charset="-120"/>
              </a:rPr>
              <a:t>) ∈ R</a:t>
            </a:r>
            <a:pPr>
              <a:lnSpc>
                <a:spcPct val="120000"/>
              </a:lnSpc>
            </a:pPr>
            <a:r>
              <a:rPr lang="en-US" sz="1050" dirty="0">
                <a:solidFill>
                  <a:srgbClr val="FFFFFF"/>
                </a:solidFill>
                <a:latin typeface="MiSans" pitchFamily="34" charset="0"/>
                <a:ea typeface="MiSans" pitchFamily="34" charset="-122"/>
                <a:cs typeface="MiSans" pitchFamily="34" charset="-120"/>
              </a:rPr>
              <a:t>d</a:t>
            </a:r>
            <a:endParaRPr lang="en-US" sz="1600" dirty="0"/>
          </a:p>
        </p:txBody>
      </p:sp>
    </p:spTree>
  </p:cSld>
  <p:clrMapOvr>
    <a:masterClrMapping/>
  </p:clrMapOvr>
  <p:transition>
    <p:fade/>
    <p:spd val="med"/>
  </p:transition>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9FA"/>
        </a:solidFill>
      </p:bgPr>
    </p:bg>
    <p:spTree>
      <p:nvGrpSpPr>
        <p:cNvPr id="1" name=""/>
        <p:cNvGrpSpPr/>
        <p:nvPr/>
      </p:nvGrpSpPr>
      <p:grpSpPr>
        <a:xfrm>
          <a:off x="0" y="0"/>
          <a:ext cx="0" cy="0"/>
          <a:chOff x="0" y="0"/>
          <a:chExt cx="0" cy="0"/>
        </a:xfrm>
      </p:grpSpPr>
      <p:sp>
        <p:nvSpPr>
          <p:cNvPr id="2" name="Shape 0"/>
          <p:cNvSpPr/>
          <p:nvPr/>
        </p:nvSpPr>
        <p:spPr>
          <a:xfrm>
            <a:off x="508000" y="558800"/>
            <a:ext cx="406400" cy="406400"/>
          </a:xfrm>
          <a:custGeom>
            <a:avLst/>
            <a:gdLst/>
            <a:ahLst/>
            <a:cxnLst/>
            <a:rect l="l" t="t" r="r" b="b"/>
            <a:pathLst>
              <a:path w="406400" h="406400">
                <a:moveTo>
                  <a:pt x="50800" y="0"/>
                </a:moveTo>
                <a:lnTo>
                  <a:pt x="355600" y="0"/>
                </a:lnTo>
                <a:cubicBezTo>
                  <a:pt x="383637" y="0"/>
                  <a:pt x="406400" y="22763"/>
                  <a:pt x="406400" y="50800"/>
                </a:cubicBezTo>
                <a:lnTo>
                  <a:pt x="406400" y="355600"/>
                </a:lnTo>
                <a:cubicBezTo>
                  <a:pt x="406400" y="383637"/>
                  <a:pt x="383637" y="406400"/>
                  <a:pt x="355600" y="406400"/>
                </a:cubicBezTo>
                <a:lnTo>
                  <a:pt x="50800" y="406400"/>
                </a:lnTo>
                <a:cubicBezTo>
                  <a:pt x="22763" y="406400"/>
                  <a:pt x="0" y="383637"/>
                  <a:pt x="0" y="355600"/>
                </a:cubicBezTo>
                <a:lnTo>
                  <a:pt x="0" y="50800"/>
                </a:lnTo>
                <a:cubicBezTo>
                  <a:pt x="0" y="22763"/>
                  <a:pt x="22763" y="0"/>
                  <a:pt x="50800" y="0"/>
                </a:cubicBezTo>
                <a:close/>
              </a:path>
            </a:pathLst>
          </a:custGeom>
          <a:solidFill>
            <a:srgbClr val="A67B5C"/>
          </a:solidFill>
          <a:ln/>
        </p:spPr>
      </p:sp>
      <p:sp>
        <p:nvSpPr>
          <p:cNvPr id="3" name="Text 1"/>
          <p:cNvSpPr/>
          <p:nvPr/>
        </p:nvSpPr>
        <p:spPr>
          <a:xfrm>
            <a:off x="587276" y="609600"/>
            <a:ext cx="355600" cy="304800"/>
          </a:xfrm>
          <a:prstGeom prst="rect">
            <a:avLst/>
          </a:prstGeom>
          <a:noFill/>
          <a:ln/>
        </p:spPr>
        <p:txBody>
          <a:bodyPr wrap="square" lIns="0" tIns="0" rIns="0" bIns="0" rtlCol="0" anchor="ctr"/>
          <a:lstStyle/>
          <a:p>
            <a:pPr>
              <a:lnSpc>
                <a:spcPct val="130000"/>
              </a:lnSpc>
            </a:pPr>
            <a:r>
              <a:rPr lang="en-US" sz="1600" b="1" dirty="0">
                <a:solidFill>
                  <a:srgbClr val="F8F9FA"/>
                </a:solidFill>
                <a:latin typeface="Liter" pitchFamily="34" charset="0"/>
                <a:ea typeface="Liter" pitchFamily="34" charset="-122"/>
                <a:cs typeface="Liter" pitchFamily="34" charset="-120"/>
              </a:rPr>
              <a:t>02</a:t>
            </a:r>
            <a:endParaRPr lang="en-US" sz="1600" dirty="0"/>
          </a:p>
        </p:txBody>
      </p:sp>
      <p:sp>
        <p:nvSpPr>
          <p:cNvPr id="4" name="Text 2"/>
          <p:cNvSpPr/>
          <p:nvPr/>
        </p:nvSpPr>
        <p:spPr>
          <a:xfrm>
            <a:off x="1066800" y="508000"/>
            <a:ext cx="6629400" cy="508000"/>
          </a:xfrm>
          <a:prstGeom prst="rect">
            <a:avLst/>
          </a:prstGeom>
          <a:noFill/>
          <a:ln/>
        </p:spPr>
        <p:txBody>
          <a:bodyPr wrap="square" lIns="0" tIns="0" rIns="0" bIns="0" rtlCol="0" anchor="ctr"/>
          <a:lstStyle/>
          <a:p>
            <a:pPr>
              <a:lnSpc>
                <a:spcPct val="90000"/>
              </a:lnSpc>
            </a:pPr>
            <a:r>
              <a:rPr lang="en-US" sz="3600" b="1" dirty="0">
                <a:solidFill>
                  <a:srgbClr val="495057"/>
                </a:solidFill>
                <a:latin typeface="Noto Sans SC" pitchFamily="34" charset="0"/>
                <a:ea typeface="Noto Sans SC" pitchFamily="34" charset="-122"/>
                <a:cs typeface="Noto Sans SC" pitchFamily="34" charset="-120"/>
              </a:rPr>
              <a:t>视觉引导注意力机制：核心创新</a:t>
            </a:r>
            <a:endParaRPr lang="en-US" sz="1600" dirty="0"/>
          </a:p>
        </p:txBody>
      </p:sp>
      <p:sp>
        <p:nvSpPr>
          <p:cNvPr id="5" name="Shape 3"/>
          <p:cNvSpPr/>
          <p:nvPr/>
        </p:nvSpPr>
        <p:spPr>
          <a:xfrm>
            <a:off x="508000" y="1117600"/>
            <a:ext cx="1016000" cy="50800"/>
          </a:xfrm>
          <a:custGeom>
            <a:avLst/>
            <a:gdLst/>
            <a:ahLst/>
            <a:cxnLst/>
            <a:rect l="l" t="t" r="r" b="b"/>
            <a:pathLst>
              <a:path w="1016000" h="50800">
                <a:moveTo>
                  <a:pt x="0" y="0"/>
                </a:moveTo>
                <a:lnTo>
                  <a:pt x="1016000" y="0"/>
                </a:lnTo>
                <a:lnTo>
                  <a:pt x="1016000" y="50800"/>
                </a:lnTo>
                <a:lnTo>
                  <a:pt x="0" y="50800"/>
                </a:lnTo>
                <a:lnTo>
                  <a:pt x="0" y="0"/>
                </a:lnTo>
                <a:close/>
              </a:path>
            </a:pathLst>
          </a:custGeom>
          <a:solidFill>
            <a:srgbClr val="A67B5C"/>
          </a:solidFill>
          <a:ln/>
        </p:spPr>
      </p:sp>
      <p:sp>
        <p:nvSpPr>
          <p:cNvPr id="6" name="Shape 4"/>
          <p:cNvSpPr/>
          <p:nvPr/>
        </p:nvSpPr>
        <p:spPr>
          <a:xfrm>
            <a:off x="508000" y="1422400"/>
            <a:ext cx="9042400" cy="7213600"/>
          </a:xfrm>
          <a:custGeom>
            <a:avLst/>
            <a:gdLst/>
            <a:ahLst/>
            <a:cxnLst/>
            <a:rect l="l" t="t" r="r" b="b"/>
            <a:pathLst>
              <a:path w="9042400" h="7213600">
                <a:moveTo>
                  <a:pt x="101567" y="0"/>
                </a:moveTo>
                <a:lnTo>
                  <a:pt x="8940833" y="0"/>
                </a:lnTo>
                <a:cubicBezTo>
                  <a:pt x="8996927" y="0"/>
                  <a:pt x="9042400" y="45473"/>
                  <a:pt x="9042400" y="101567"/>
                </a:cubicBezTo>
                <a:lnTo>
                  <a:pt x="9042400" y="7112033"/>
                </a:lnTo>
                <a:cubicBezTo>
                  <a:pt x="9042400" y="7168127"/>
                  <a:pt x="8996927" y="7213600"/>
                  <a:pt x="8940833" y="7213600"/>
                </a:cubicBezTo>
                <a:lnTo>
                  <a:pt x="101567" y="7213600"/>
                </a:lnTo>
                <a:cubicBezTo>
                  <a:pt x="45473" y="7213600"/>
                  <a:pt x="0" y="7168127"/>
                  <a:pt x="0" y="7112033"/>
                </a:cubicBezTo>
                <a:lnTo>
                  <a:pt x="0" y="101567"/>
                </a:lnTo>
                <a:cubicBezTo>
                  <a:pt x="0" y="45511"/>
                  <a:pt x="45511" y="0"/>
                  <a:pt x="101567" y="0"/>
                </a:cubicBezTo>
                <a:close/>
              </a:path>
            </a:pathLst>
          </a:custGeom>
          <a:solidFill>
            <a:srgbClr val="FFFFFF"/>
          </a:solidFill>
          <a:ln/>
          <a:effectLst>
            <a:outerShdw sx="100000" sy="100000" kx="0" ky="0" algn="bl" rotWithShape="0" blurRad="190500" dist="127000" dir="5400000">
              <a:srgbClr val="000000">
                <a:alpha val="10196"/>
              </a:srgbClr>
            </a:outerShdw>
          </a:effectLst>
        </p:spPr>
      </p:sp>
      <p:sp>
        <p:nvSpPr>
          <p:cNvPr id="7" name="Text 5"/>
          <p:cNvSpPr/>
          <p:nvPr/>
        </p:nvSpPr>
        <p:spPr>
          <a:xfrm>
            <a:off x="762000" y="1676400"/>
            <a:ext cx="8661400" cy="355600"/>
          </a:xfrm>
          <a:prstGeom prst="rect">
            <a:avLst/>
          </a:prstGeom>
          <a:noFill/>
          <a:ln/>
        </p:spPr>
        <p:txBody>
          <a:bodyPr wrap="square" lIns="0" tIns="0" rIns="0" bIns="0" rtlCol="0" anchor="ctr"/>
          <a:lstStyle/>
          <a:p>
            <a:pPr>
              <a:lnSpc>
                <a:spcPct val="120000"/>
              </a:lnSpc>
            </a:pPr>
            <a:r>
              <a:rPr lang="en-US" sz="2000" b="1" dirty="0">
                <a:solidFill>
                  <a:srgbClr val="495057"/>
                </a:solidFill>
                <a:latin typeface="Noto Sans SC" pitchFamily="34" charset="0"/>
                <a:ea typeface="Noto Sans SC" pitchFamily="34" charset="-122"/>
                <a:cs typeface="Noto Sans SC" pitchFamily="34" charset="-120"/>
              </a:rPr>
              <a:t>注意力机制工作流程</a:t>
            </a:r>
            <a:endParaRPr lang="en-US" sz="1600" dirty="0"/>
          </a:p>
        </p:txBody>
      </p:sp>
      <p:pic>
        <p:nvPicPr>
          <p:cNvPr id="8" name="Image 0" descr="https://kimi-img.moonshot.cn/pub/slides/25-12-30-19:43:33-d59rlpfpfahe57eaddn0.png">    </p:cNvPr>
          <p:cNvPicPr>
            <a:picLocks noChangeAspect="1"/>
          </p:cNvPicPr>
          <p:nvPr/>
        </p:nvPicPr>
        <p:blipFill>
          <a:blip r:embed="rId1"/>
          <a:srcRect l="0" r="0" t="0" b="0"/>
          <a:stretch/>
        </p:blipFill>
        <p:spPr>
          <a:xfrm>
            <a:off x="762000" y="2235200"/>
            <a:ext cx="8534400" cy="6146800"/>
          </a:xfrm>
          <a:prstGeom prst="roundRect">
            <a:avLst>
              <a:gd name="adj" fmla="val 0"/>
            </a:avLst>
          </a:prstGeom>
        </p:spPr>
      </p:pic>
      <p:sp>
        <p:nvSpPr>
          <p:cNvPr id="9" name="Shape 6"/>
          <p:cNvSpPr/>
          <p:nvPr/>
        </p:nvSpPr>
        <p:spPr>
          <a:xfrm>
            <a:off x="9804400" y="1422400"/>
            <a:ext cx="5943600" cy="1676400"/>
          </a:xfrm>
          <a:custGeom>
            <a:avLst/>
            <a:gdLst/>
            <a:ahLst/>
            <a:cxnLst/>
            <a:rect l="l" t="t" r="r" b="b"/>
            <a:pathLst>
              <a:path w="5943600" h="1676400">
                <a:moveTo>
                  <a:pt x="101607" y="0"/>
                </a:moveTo>
                <a:lnTo>
                  <a:pt x="5841993" y="0"/>
                </a:lnTo>
                <a:cubicBezTo>
                  <a:pt x="5898109" y="0"/>
                  <a:pt x="5943600" y="45491"/>
                  <a:pt x="5943600" y="101607"/>
                </a:cubicBezTo>
                <a:lnTo>
                  <a:pt x="5943600" y="1574793"/>
                </a:lnTo>
                <a:cubicBezTo>
                  <a:pt x="5943600" y="1630909"/>
                  <a:pt x="5898109" y="1676400"/>
                  <a:pt x="5841993" y="1676400"/>
                </a:cubicBezTo>
                <a:lnTo>
                  <a:pt x="101607" y="1676400"/>
                </a:lnTo>
                <a:cubicBezTo>
                  <a:pt x="45491" y="1676400"/>
                  <a:pt x="0" y="1630909"/>
                  <a:pt x="0" y="1574793"/>
                </a:cubicBezTo>
                <a:lnTo>
                  <a:pt x="0" y="101607"/>
                </a:lnTo>
                <a:cubicBezTo>
                  <a:pt x="0" y="45528"/>
                  <a:pt x="45528" y="0"/>
                  <a:pt x="101607" y="0"/>
                </a:cubicBezTo>
                <a:close/>
              </a:path>
            </a:pathLst>
          </a:custGeom>
          <a:gradFill rotWithShape="1" flip="none">
            <a:gsLst>
              <a:gs pos="0">
                <a:srgbClr val="495057"/>
              </a:gs>
              <a:gs pos="100000">
                <a:srgbClr val="495057">
                  <a:alpha val="90000"/>
                </a:srgbClr>
              </a:gs>
            </a:gsLst>
            <a:lin ang="2700000" scaled="1"/>
          </a:gradFill>
          <a:ln/>
          <a:effectLst>
            <a:outerShdw sx="100000" sy="100000" kx="0" ky="0" algn="bl" rotWithShape="0" blurRad="190500" dist="127000" dir="5400000">
              <a:srgbClr val="000000">
                <a:alpha val="10196"/>
              </a:srgbClr>
            </a:outerShdw>
          </a:effectLst>
        </p:spPr>
      </p:sp>
      <p:sp>
        <p:nvSpPr>
          <p:cNvPr id="10" name="Text 7"/>
          <p:cNvSpPr/>
          <p:nvPr/>
        </p:nvSpPr>
        <p:spPr>
          <a:xfrm>
            <a:off x="10058400" y="1676400"/>
            <a:ext cx="5549900" cy="355600"/>
          </a:xfrm>
          <a:prstGeom prst="rect">
            <a:avLst/>
          </a:prstGeom>
          <a:noFill/>
          <a:ln/>
        </p:spPr>
        <p:txBody>
          <a:bodyPr wrap="square" lIns="0" tIns="0" rIns="0" bIns="0" rtlCol="0" anchor="ctr"/>
          <a:lstStyle/>
          <a:p>
            <a:pPr>
              <a:lnSpc>
                <a:spcPct val="130000"/>
              </a:lnSpc>
            </a:pPr>
            <a:r>
              <a:rPr lang="en-US" sz="1800" b="1" dirty="0">
                <a:solidFill>
                  <a:srgbClr val="FFFFFF"/>
                </a:solidFill>
                <a:latin typeface="MiSans" pitchFamily="34" charset="0"/>
                <a:ea typeface="MiSans" pitchFamily="34" charset="-122"/>
                <a:cs typeface="MiSans" pitchFamily="34" charset="-120"/>
              </a:rPr>
              <a:t>核心思想</a:t>
            </a:r>
            <a:endParaRPr lang="en-US" sz="1600" dirty="0"/>
          </a:p>
        </p:txBody>
      </p:sp>
      <p:sp>
        <p:nvSpPr>
          <p:cNvPr id="11" name="Text 8"/>
          <p:cNvSpPr/>
          <p:nvPr/>
        </p:nvSpPr>
        <p:spPr>
          <a:xfrm>
            <a:off x="10058400" y="2184400"/>
            <a:ext cx="5537200" cy="660400"/>
          </a:xfrm>
          <a:prstGeom prst="rect">
            <a:avLst/>
          </a:prstGeom>
          <a:noFill/>
          <a:ln/>
        </p:spPr>
        <p:txBody>
          <a:bodyPr wrap="square" lIns="0" tIns="0" rIns="0" bIns="0" rtlCol="0" anchor="ctr"/>
          <a:lstStyle/>
          <a:p>
            <a:pPr>
              <a:lnSpc>
                <a:spcPct val="140000"/>
              </a:lnSpc>
            </a:pPr>
            <a:r>
              <a:rPr lang="en-US" sz="1600" dirty="0">
                <a:solidFill>
                  <a:srgbClr val="FFFFFF"/>
                </a:solidFill>
                <a:latin typeface="MiSans" pitchFamily="34" charset="0"/>
                <a:ea typeface="MiSans" pitchFamily="34" charset="-122"/>
                <a:cs typeface="MiSans" pitchFamily="34" charset="-120"/>
              </a:rPr>
              <a:t>在标准LSTM中，所有词的平均隐藏状态作为推文特征。但实际上，</a:t>
            </a:r>
            <a:pPr>
              <a:lnSpc>
                <a:spcPct val="140000"/>
              </a:lnSpc>
            </a:pPr>
            <a:r>
              <a:rPr lang="en-US" sz="1600" b="1" dirty="0">
                <a:solidFill>
                  <a:srgbClr val="A67B5C"/>
                </a:solidFill>
                <a:latin typeface="MiSans" pitchFamily="34" charset="0"/>
                <a:ea typeface="MiSans" pitchFamily="34" charset="-122"/>
                <a:cs typeface="MiSans" pitchFamily="34" charset="-120"/>
              </a:rPr>
              <a:t>并非所有词都对情感贡献相等</a:t>
            </a:r>
            <a:pPr>
              <a:lnSpc>
                <a:spcPct val="140000"/>
              </a:lnSpc>
            </a:pPr>
            <a:r>
              <a:rPr lang="en-US" sz="1600" dirty="0">
                <a:solidFill>
                  <a:srgbClr val="FFFFFF"/>
                </a:solidFill>
                <a:latin typeface="Quattrocento Sans" pitchFamily="34" charset="0"/>
                <a:ea typeface="Quattrocento Sans" pitchFamily="34" charset="-122"/>
                <a:cs typeface="Quattrocento Sans" pitchFamily="34" charset="-120"/>
              </a:rPr>
              <a:t>。</a:t>
            </a:r>
            <a:endParaRPr lang="en-US" sz="1600" dirty="0"/>
          </a:p>
        </p:txBody>
      </p:sp>
      <p:sp>
        <p:nvSpPr>
          <p:cNvPr id="12" name="Shape 9"/>
          <p:cNvSpPr/>
          <p:nvPr/>
        </p:nvSpPr>
        <p:spPr>
          <a:xfrm>
            <a:off x="9804400" y="3302000"/>
            <a:ext cx="5943600" cy="4013200"/>
          </a:xfrm>
          <a:custGeom>
            <a:avLst/>
            <a:gdLst/>
            <a:ahLst/>
            <a:cxnLst/>
            <a:rect l="l" t="t" r="r" b="b"/>
            <a:pathLst>
              <a:path w="5943600" h="4013200">
                <a:moveTo>
                  <a:pt x="101614" y="0"/>
                </a:moveTo>
                <a:lnTo>
                  <a:pt x="5841986" y="0"/>
                </a:lnTo>
                <a:cubicBezTo>
                  <a:pt x="5898106" y="0"/>
                  <a:pt x="5943600" y="45494"/>
                  <a:pt x="5943600" y="101614"/>
                </a:cubicBezTo>
                <a:lnTo>
                  <a:pt x="5943600" y="3911586"/>
                </a:lnTo>
                <a:cubicBezTo>
                  <a:pt x="5943600" y="3967706"/>
                  <a:pt x="5898106" y="4013200"/>
                  <a:pt x="5841986" y="4013200"/>
                </a:cubicBezTo>
                <a:lnTo>
                  <a:pt x="101614" y="4013200"/>
                </a:lnTo>
                <a:cubicBezTo>
                  <a:pt x="45494" y="4013200"/>
                  <a:pt x="0" y="3967706"/>
                  <a:pt x="0" y="3911586"/>
                </a:cubicBezTo>
                <a:lnTo>
                  <a:pt x="0" y="101614"/>
                </a:lnTo>
                <a:cubicBezTo>
                  <a:pt x="0" y="45532"/>
                  <a:pt x="45532" y="0"/>
                  <a:pt x="101614" y="0"/>
                </a:cubicBezTo>
                <a:close/>
              </a:path>
            </a:pathLst>
          </a:custGeom>
          <a:solidFill>
            <a:srgbClr val="FFFFFF"/>
          </a:solidFill>
          <a:ln/>
          <a:effectLst>
            <a:outerShdw sx="100000" sy="100000" kx="0" ky="0" algn="bl" rotWithShape="0" blurRad="76200" dist="50800" dir="5400000">
              <a:srgbClr val="000000">
                <a:alpha val="10196"/>
              </a:srgbClr>
            </a:outerShdw>
          </a:effectLst>
        </p:spPr>
      </p:sp>
      <p:sp>
        <p:nvSpPr>
          <p:cNvPr id="13" name="Text 10"/>
          <p:cNvSpPr/>
          <p:nvPr/>
        </p:nvSpPr>
        <p:spPr>
          <a:xfrm>
            <a:off x="10007600" y="3505200"/>
            <a:ext cx="5651500" cy="355600"/>
          </a:xfrm>
          <a:prstGeom prst="rect">
            <a:avLst/>
          </a:prstGeom>
          <a:noFill/>
          <a:ln/>
        </p:spPr>
        <p:txBody>
          <a:bodyPr wrap="square" lIns="0" tIns="0" rIns="0" bIns="0" rtlCol="0" anchor="ctr"/>
          <a:lstStyle/>
          <a:p>
            <a:pPr>
              <a:lnSpc>
                <a:spcPct val="130000"/>
              </a:lnSpc>
            </a:pPr>
            <a:r>
              <a:rPr lang="en-US" sz="1800" b="1" dirty="0">
                <a:solidFill>
                  <a:srgbClr val="495057"/>
                </a:solidFill>
                <a:latin typeface="MiSans" pitchFamily="34" charset="0"/>
                <a:ea typeface="MiSans" pitchFamily="34" charset="-122"/>
                <a:cs typeface="MiSans" pitchFamily="34" charset="-120"/>
              </a:rPr>
              <a:t>计算步骤</a:t>
            </a:r>
            <a:endParaRPr lang="en-US" sz="1600" dirty="0"/>
          </a:p>
        </p:txBody>
      </p:sp>
      <p:sp>
        <p:nvSpPr>
          <p:cNvPr id="14" name="Shape 11"/>
          <p:cNvSpPr/>
          <p:nvPr/>
        </p:nvSpPr>
        <p:spPr>
          <a:xfrm>
            <a:off x="10007600" y="4013200"/>
            <a:ext cx="304800" cy="304800"/>
          </a:xfrm>
          <a:custGeom>
            <a:avLst/>
            <a:gdLst/>
            <a:ahLst/>
            <a:cxnLst/>
            <a:rect l="l" t="t" r="r" b="b"/>
            <a:pathLst>
              <a:path w="304800" h="304800">
                <a:moveTo>
                  <a:pt x="152400" y="0"/>
                </a:moveTo>
                <a:lnTo>
                  <a:pt x="152400" y="0"/>
                </a:lnTo>
                <a:cubicBezTo>
                  <a:pt x="236512" y="0"/>
                  <a:pt x="304800" y="68288"/>
                  <a:pt x="304800" y="152400"/>
                </a:cubicBezTo>
                <a:lnTo>
                  <a:pt x="304800" y="152400"/>
                </a:lnTo>
                <a:cubicBezTo>
                  <a:pt x="304800" y="236512"/>
                  <a:pt x="236512" y="304800"/>
                  <a:pt x="152400" y="304800"/>
                </a:cubicBezTo>
                <a:lnTo>
                  <a:pt x="152400" y="304800"/>
                </a:lnTo>
                <a:cubicBezTo>
                  <a:pt x="68288" y="304800"/>
                  <a:pt x="0" y="236512"/>
                  <a:pt x="0" y="152400"/>
                </a:cubicBezTo>
                <a:lnTo>
                  <a:pt x="0" y="152400"/>
                </a:lnTo>
                <a:cubicBezTo>
                  <a:pt x="0" y="68288"/>
                  <a:pt x="68288" y="0"/>
                  <a:pt x="152400" y="0"/>
                </a:cubicBezTo>
                <a:close/>
              </a:path>
            </a:pathLst>
          </a:custGeom>
          <a:solidFill>
            <a:srgbClr val="A67B5C"/>
          </a:solidFill>
          <a:ln/>
        </p:spPr>
      </p:sp>
      <p:sp>
        <p:nvSpPr>
          <p:cNvPr id="15" name="Text 12"/>
          <p:cNvSpPr/>
          <p:nvPr/>
        </p:nvSpPr>
        <p:spPr>
          <a:xfrm>
            <a:off x="10124380" y="4038600"/>
            <a:ext cx="165100" cy="254000"/>
          </a:xfrm>
          <a:prstGeom prst="rect">
            <a:avLst/>
          </a:prstGeom>
          <a:noFill/>
          <a:ln/>
        </p:spPr>
        <p:txBody>
          <a:bodyPr wrap="square" lIns="0" tIns="0" rIns="0" bIns="0" rtlCol="0" anchor="ctr"/>
          <a:lstStyle/>
          <a:p>
            <a:pPr>
              <a:lnSpc>
                <a:spcPct val="120000"/>
              </a:lnSpc>
            </a:pPr>
            <a:r>
              <a:rPr lang="en-US" sz="1400" b="1" dirty="0">
                <a:solidFill>
                  <a:srgbClr val="FFFFFF"/>
                </a:solidFill>
                <a:latin typeface="Liter" pitchFamily="34" charset="0"/>
                <a:ea typeface="Liter" pitchFamily="34" charset="-122"/>
                <a:cs typeface="Liter" pitchFamily="34" charset="-120"/>
              </a:rPr>
              <a:t>1</a:t>
            </a:r>
            <a:endParaRPr lang="en-US" sz="1600" dirty="0"/>
          </a:p>
        </p:txBody>
      </p:sp>
      <p:sp>
        <p:nvSpPr>
          <p:cNvPr id="16" name="Text 13"/>
          <p:cNvSpPr/>
          <p:nvPr/>
        </p:nvSpPr>
        <p:spPr>
          <a:xfrm>
            <a:off x="10464800" y="4013200"/>
            <a:ext cx="4800600" cy="304800"/>
          </a:xfrm>
          <a:prstGeom prst="rect">
            <a:avLst/>
          </a:prstGeom>
          <a:noFill/>
          <a:ln/>
        </p:spPr>
        <p:txBody>
          <a:bodyPr wrap="square" lIns="0" tIns="0" rIns="0" bIns="0" rtlCol="0" anchor="ctr"/>
          <a:lstStyle/>
          <a:p>
            <a:pPr>
              <a:lnSpc>
                <a:spcPct val="130000"/>
              </a:lnSpc>
            </a:pPr>
            <a:r>
              <a:rPr lang="en-US" sz="1600" b="1" dirty="0">
                <a:solidFill>
                  <a:srgbClr val="495057"/>
                </a:solidFill>
                <a:latin typeface="MiSans" pitchFamily="34" charset="0"/>
                <a:ea typeface="MiSans" pitchFamily="34" charset="-122"/>
                <a:cs typeface="MiSans" pitchFamily="34" charset="-120"/>
              </a:rPr>
              <a:t>LSTM编码</a:t>
            </a:r>
            <a:endParaRPr lang="en-US" sz="1600" dirty="0"/>
          </a:p>
        </p:txBody>
      </p:sp>
      <p:sp>
        <p:nvSpPr>
          <p:cNvPr id="17" name="Text 14"/>
          <p:cNvSpPr/>
          <p:nvPr/>
        </p:nvSpPr>
        <p:spPr>
          <a:xfrm>
            <a:off x="10464800" y="4318000"/>
            <a:ext cx="4787900" cy="254000"/>
          </a:xfrm>
          <a:prstGeom prst="rect">
            <a:avLst/>
          </a:prstGeom>
          <a:noFill/>
          <a:ln/>
        </p:spPr>
        <p:txBody>
          <a:bodyPr wrap="square" lIns="0" tIns="0" rIns="0" bIns="0" rtlCol="0" anchor="ctr"/>
          <a:lstStyle/>
          <a:p>
            <a:pPr>
              <a:lnSpc>
                <a:spcPct val="120000"/>
              </a:lnSpc>
            </a:pPr>
            <a:r>
              <a:rPr lang="en-US" sz="1400" dirty="0">
                <a:solidFill>
                  <a:srgbClr val="495057">
                    <a:alpha val="70000"/>
                  </a:srgbClr>
                </a:solidFill>
                <a:latin typeface="MiSans" pitchFamily="34" charset="0"/>
                <a:ea typeface="MiSans" pitchFamily="34" charset="-122"/>
                <a:cs typeface="MiSans" pitchFamily="34" charset="-120"/>
              </a:rPr>
              <a:t>每个词wᵢ通过GloVe转为词向量xᵢ，输入LSTM获取隐藏状态hᵢ</a:t>
            </a:r>
            <a:endParaRPr lang="en-US" sz="1600" dirty="0"/>
          </a:p>
        </p:txBody>
      </p:sp>
      <p:sp>
        <p:nvSpPr>
          <p:cNvPr id="18" name="Shape 15"/>
          <p:cNvSpPr/>
          <p:nvPr/>
        </p:nvSpPr>
        <p:spPr>
          <a:xfrm>
            <a:off x="10007600" y="4724400"/>
            <a:ext cx="304800" cy="304800"/>
          </a:xfrm>
          <a:custGeom>
            <a:avLst/>
            <a:gdLst/>
            <a:ahLst/>
            <a:cxnLst/>
            <a:rect l="l" t="t" r="r" b="b"/>
            <a:pathLst>
              <a:path w="304800" h="304800">
                <a:moveTo>
                  <a:pt x="152400" y="0"/>
                </a:moveTo>
                <a:lnTo>
                  <a:pt x="152400" y="0"/>
                </a:lnTo>
                <a:cubicBezTo>
                  <a:pt x="236512" y="0"/>
                  <a:pt x="304800" y="68288"/>
                  <a:pt x="304800" y="152400"/>
                </a:cubicBezTo>
                <a:lnTo>
                  <a:pt x="304800" y="152400"/>
                </a:lnTo>
                <a:cubicBezTo>
                  <a:pt x="304800" y="236512"/>
                  <a:pt x="236512" y="304800"/>
                  <a:pt x="152400" y="304800"/>
                </a:cubicBezTo>
                <a:lnTo>
                  <a:pt x="152400" y="304800"/>
                </a:lnTo>
                <a:cubicBezTo>
                  <a:pt x="68288" y="304800"/>
                  <a:pt x="0" y="236512"/>
                  <a:pt x="0" y="152400"/>
                </a:cubicBezTo>
                <a:lnTo>
                  <a:pt x="0" y="152400"/>
                </a:lnTo>
                <a:cubicBezTo>
                  <a:pt x="0" y="68288"/>
                  <a:pt x="68288" y="0"/>
                  <a:pt x="152400" y="0"/>
                </a:cubicBezTo>
                <a:close/>
              </a:path>
            </a:pathLst>
          </a:custGeom>
          <a:solidFill>
            <a:srgbClr val="495057"/>
          </a:solidFill>
          <a:ln/>
        </p:spPr>
      </p:sp>
      <p:sp>
        <p:nvSpPr>
          <p:cNvPr id="19" name="Text 16"/>
          <p:cNvSpPr/>
          <p:nvPr/>
        </p:nvSpPr>
        <p:spPr>
          <a:xfrm>
            <a:off x="10108307" y="4749800"/>
            <a:ext cx="190500" cy="254000"/>
          </a:xfrm>
          <a:prstGeom prst="rect">
            <a:avLst/>
          </a:prstGeom>
          <a:noFill/>
          <a:ln/>
        </p:spPr>
        <p:txBody>
          <a:bodyPr wrap="square" lIns="0" tIns="0" rIns="0" bIns="0" rtlCol="0" anchor="ctr"/>
          <a:lstStyle/>
          <a:p>
            <a:pPr>
              <a:lnSpc>
                <a:spcPct val="120000"/>
              </a:lnSpc>
            </a:pPr>
            <a:r>
              <a:rPr lang="en-US" sz="1400" b="1" dirty="0">
                <a:solidFill>
                  <a:srgbClr val="FFFFFF"/>
                </a:solidFill>
                <a:latin typeface="Liter" pitchFamily="34" charset="0"/>
                <a:ea typeface="Liter" pitchFamily="34" charset="-122"/>
                <a:cs typeface="Liter" pitchFamily="34" charset="-120"/>
              </a:rPr>
              <a:t>2</a:t>
            </a:r>
            <a:endParaRPr lang="en-US" sz="1600" dirty="0"/>
          </a:p>
        </p:txBody>
      </p:sp>
      <p:sp>
        <p:nvSpPr>
          <p:cNvPr id="20" name="Text 17"/>
          <p:cNvSpPr/>
          <p:nvPr/>
        </p:nvSpPr>
        <p:spPr>
          <a:xfrm>
            <a:off x="10464800" y="4724400"/>
            <a:ext cx="4610100" cy="304800"/>
          </a:xfrm>
          <a:prstGeom prst="rect">
            <a:avLst/>
          </a:prstGeom>
          <a:noFill/>
          <a:ln/>
        </p:spPr>
        <p:txBody>
          <a:bodyPr wrap="square" lIns="0" tIns="0" rIns="0" bIns="0" rtlCol="0" anchor="ctr"/>
          <a:lstStyle/>
          <a:p>
            <a:pPr>
              <a:lnSpc>
                <a:spcPct val="130000"/>
              </a:lnSpc>
            </a:pPr>
            <a:r>
              <a:rPr lang="en-US" sz="1600" b="1" dirty="0">
                <a:solidFill>
                  <a:srgbClr val="495057"/>
                </a:solidFill>
                <a:latin typeface="MiSans" pitchFamily="34" charset="0"/>
                <a:ea typeface="MiSans" pitchFamily="34" charset="-122"/>
                <a:cs typeface="MiSans" pitchFamily="34" charset="-120"/>
              </a:rPr>
              <a:t>结合视觉特征</a:t>
            </a:r>
            <a:endParaRPr lang="en-US" sz="1600" dirty="0"/>
          </a:p>
        </p:txBody>
      </p:sp>
      <p:sp>
        <p:nvSpPr>
          <p:cNvPr id="21" name="Text 18"/>
          <p:cNvSpPr/>
          <p:nvPr/>
        </p:nvSpPr>
        <p:spPr>
          <a:xfrm>
            <a:off x="10464800" y="5029200"/>
            <a:ext cx="4597400" cy="254000"/>
          </a:xfrm>
          <a:prstGeom prst="rect">
            <a:avLst/>
          </a:prstGeom>
          <a:noFill/>
          <a:ln/>
        </p:spPr>
        <p:txBody>
          <a:bodyPr wrap="square" lIns="0" tIns="0" rIns="0" bIns="0" rtlCol="0" anchor="ctr"/>
          <a:lstStyle/>
          <a:p>
            <a:pPr>
              <a:lnSpc>
                <a:spcPct val="120000"/>
              </a:lnSpc>
            </a:pPr>
            <a:r>
              <a:rPr lang="en-US" sz="1400" dirty="0">
                <a:solidFill>
                  <a:srgbClr val="495057">
                    <a:alpha val="70000"/>
                  </a:srgbClr>
                </a:solidFill>
                <a:latin typeface="MiSans" pitchFamily="34" charset="0"/>
                <a:ea typeface="MiSans" pitchFamily="34" charset="-122"/>
                <a:cs typeface="MiSans" pitchFamily="34" charset="-120"/>
              </a:rPr>
              <a:t>将hᵢ与对象特征Vₒ、场景特征Vₛ结合，生成深度隐藏表示uᵢ</a:t>
            </a:r>
            <a:endParaRPr lang="en-US" sz="1600" dirty="0"/>
          </a:p>
        </p:txBody>
      </p:sp>
      <p:sp>
        <p:nvSpPr>
          <p:cNvPr id="22" name="Shape 19"/>
          <p:cNvSpPr/>
          <p:nvPr/>
        </p:nvSpPr>
        <p:spPr>
          <a:xfrm>
            <a:off x="10007600" y="5435600"/>
            <a:ext cx="304800" cy="304800"/>
          </a:xfrm>
          <a:custGeom>
            <a:avLst/>
            <a:gdLst/>
            <a:ahLst/>
            <a:cxnLst/>
            <a:rect l="l" t="t" r="r" b="b"/>
            <a:pathLst>
              <a:path w="304800" h="304800">
                <a:moveTo>
                  <a:pt x="152400" y="0"/>
                </a:moveTo>
                <a:lnTo>
                  <a:pt x="152400" y="0"/>
                </a:lnTo>
                <a:cubicBezTo>
                  <a:pt x="236512" y="0"/>
                  <a:pt x="304800" y="68288"/>
                  <a:pt x="304800" y="152400"/>
                </a:cubicBezTo>
                <a:lnTo>
                  <a:pt x="304800" y="152400"/>
                </a:lnTo>
                <a:cubicBezTo>
                  <a:pt x="304800" y="236512"/>
                  <a:pt x="236512" y="304800"/>
                  <a:pt x="152400" y="304800"/>
                </a:cubicBezTo>
                <a:lnTo>
                  <a:pt x="152400" y="304800"/>
                </a:lnTo>
                <a:cubicBezTo>
                  <a:pt x="68288" y="304800"/>
                  <a:pt x="0" y="236512"/>
                  <a:pt x="0" y="152400"/>
                </a:cubicBezTo>
                <a:lnTo>
                  <a:pt x="0" y="152400"/>
                </a:lnTo>
                <a:cubicBezTo>
                  <a:pt x="0" y="68288"/>
                  <a:pt x="68288" y="0"/>
                  <a:pt x="152400" y="0"/>
                </a:cubicBezTo>
                <a:close/>
              </a:path>
            </a:pathLst>
          </a:custGeom>
          <a:solidFill>
            <a:srgbClr val="A67B5C"/>
          </a:solidFill>
          <a:ln/>
        </p:spPr>
      </p:sp>
      <p:sp>
        <p:nvSpPr>
          <p:cNvPr id="23" name="Text 20"/>
          <p:cNvSpPr/>
          <p:nvPr/>
        </p:nvSpPr>
        <p:spPr>
          <a:xfrm>
            <a:off x="10107513" y="5461000"/>
            <a:ext cx="190500" cy="254000"/>
          </a:xfrm>
          <a:prstGeom prst="rect">
            <a:avLst/>
          </a:prstGeom>
          <a:noFill/>
          <a:ln/>
        </p:spPr>
        <p:txBody>
          <a:bodyPr wrap="square" lIns="0" tIns="0" rIns="0" bIns="0" rtlCol="0" anchor="ctr"/>
          <a:lstStyle/>
          <a:p>
            <a:pPr>
              <a:lnSpc>
                <a:spcPct val="120000"/>
              </a:lnSpc>
            </a:pPr>
            <a:r>
              <a:rPr lang="en-US" sz="1400" b="1" dirty="0">
                <a:solidFill>
                  <a:srgbClr val="FFFFFF"/>
                </a:solidFill>
                <a:latin typeface="Liter" pitchFamily="34" charset="0"/>
                <a:ea typeface="Liter" pitchFamily="34" charset="-122"/>
                <a:cs typeface="Liter" pitchFamily="34" charset="-120"/>
              </a:rPr>
              <a:t>3</a:t>
            </a:r>
            <a:endParaRPr lang="en-US" sz="1600" dirty="0"/>
          </a:p>
        </p:txBody>
      </p:sp>
      <p:sp>
        <p:nvSpPr>
          <p:cNvPr id="24" name="Text 21"/>
          <p:cNvSpPr/>
          <p:nvPr/>
        </p:nvSpPr>
        <p:spPr>
          <a:xfrm>
            <a:off x="10464800" y="5435600"/>
            <a:ext cx="4254500" cy="304800"/>
          </a:xfrm>
          <a:prstGeom prst="rect">
            <a:avLst/>
          </a:prstGeom>
          <a:noFill/>
          <a:ln/>
        </p:spPr>
        <p:txBody>
          <a:bodyPr wrap="square" lIns="0" tIns="0" rIns="0" bIns="0" rtlCol="0" anchor="ctr"/>
          <a:lstStyle/>
          <a:p>
            <a:pPr>
              <a:lnSpc>
                <a:spcPct val="130000"/>
              </a:lnSpc>
            </a:pPr>
            <a:r>
              <a:rPr lang="en-US" sz="1600" b="1" dirty="0">
                <a:solidFill>
                  <a:srgbClr val="495057"/>
                </a:solidFill>
                <a:latin typeface="MiSans" pitchFamily="34" charset="0"/>
                <a:ea typeface="MiSans" pitchFamily="34" charset="-122"/>
                <a:cs typeface="MiSans" pitchFamily="34" charset="-120"/>
              </a:rPr>
              <a:t>生成注意力权重</a:t>
            </a:r>
            <a:endParaRPr lang="en-US" sz="1600" dirty="0"/>
          </a:p>
        </p:txBody>
      </p:sp>
      <p:sp>
        <p:nvSpPr>
          <p:cNvPr id="25" name="Text 22"/>
          <p:cNvSpPr/>
          <p:nvPr/>
        </p:nvSpPr>
        <p:spPr>
          <a:xfrm>
            <a:off x="10464800" y="5740400"/>
            <a:ext cx="4241800" cy="254000"/>
          </a:xfrm>
          <a:prstGeom prst="rect">
            <a:avLst/>
          </a:prstGeom>
          <a:noFill/>
          <a:ln/>
        </p:spPr>
        <p:txBody>
          <a:bodyPr wrap="square" lIns="0" tIns="0" rIns="0" bIns="0" rtlCol="0" anchor="ctr"/>
          <a:lstStyle/>
          <a:p>
            <a:pPr>
              <a:lnSpc>
                <a:spcPct val="120000"/>
              </a:lnSpc>
            </a:pPr>
            <a:r>
              <a:rPr lang="en-US" sz="1400" dirty="0">
                <a:solidFill>
                  <a:srgbClr val="495057">
                    <a:alpha val="70000"/>
                  </a:srgbClr>
                </a:solidFill>
                <a:latin typeface="MiSans" pitchFamily="34" charset="0"/>
                <a:ea typeface="MiSans" pitchFamily="34" charset="-122"/>
                <a:cs typeface="MiSans" pitchFamily="34" charset="-120"/>
              </a:rPr>
              <a:t>通过Softmax生成归一化权重αᵢ，指示每个词的重要性</a:t>
            </a:r>
            <a:endParaRPr lang="en-US" sz="1600" dirty="0"/>
          </a:p>
        </p:txBody>
      </p:sp>
      <p:sp>
        <p:nvSpPr>
          <p:cNvPr id="26" name="Shape 23"/>
          <p:cNvSpPr/>
          <p:nvPr/>
        </p:nvSpPr>
        <p:spPr>
          <a:xfrm>
            <a:off x="10007600" y="6146800"/>
            <a:ext cx="304800" cy="304800"/>
          </a:xfrm>
          <a:custGeom>
            <a:avLst/>
            <a:gdLst/>
            <a:ahLst/>
            <a:cxnLst/>
            <a:rect l="l" t="t" r="r" b="b"/>
            <a:pathLst>
              <a:path w="304800" h="304800">
                <a:moveTo>
                  <a:pt x="152400" y="0"/>
                </a:moveTo>
                <a:lnTo>
                  <a:pt x="152400" y="0"/>
                </a:lnTo>
                <a:cubicBezTo>
                  <a:pt x="236512" y="0"/>
                  <a:pt x="304800" y="68288"/>
                  <a:pt x="304800" y="152400"/>
                </a:cubicBezTo>
                <a:lnTo>
                  <a:pt x="304800" y="152400"/>
                </a:lnTo>
                <a:cubicBezTo>
                  <a:pt x="304800" y="236512"/>
                  <a:pt x="236512" y="304800"/>
                  <a:pt x="152400" y="304800"/>
                </a:cubicBezTo>
                <a:lnTo>
                  <a:pt x="152400" y="304800"/>
                </a:lnTo>
                <a:cubicBezTo>
                  <a:pt x="68288" y="304800"/>
                  <a:pt x="0" y="236512"/>
                  <a:pt x="0" y="152400"/>
                </a:cubicBezTo>
                <a:lnTo>
                  <a:pt x="0" y="152400"/>
                </a:lnTo>
                <a:cubicBezTo>
                  <a:pt x="0" y="68288"/>
                  <a:pt x="68288" y="0"/>
                  <a:pt x="152400" y="0"/>
                </a:cubicBezTo>
                <a:close/>
              </a:path>
            </a:pathLst>
          </a:custGeom>
          <a:solidFill>
            <a:srgbClr val="495057"/>
          </a:solidFill>
          <a:ln/>
        </p:spPr>
      </p:sp>
      <p:sp>
        <p:nvSpPr>
          <p:cNvPr id="27" name="Text 24"/>
          <p:cNvSpPr/>
          <p:nvPr/>
        </p:nvSpPr>
        <p:spPr>
          <a:xfrm>
            <a:off x="10107613" y="6172200"/>
            <a:ext cx="190500" cy="254000"/>
          </a:xfrm>
          <a:prstGeom prst="rect">
            <a:avLst/>
          </a:prstGeom>
          <a:noFill/>
          <a:ln/>
        </p:spPr>
        <p:txBody>
          <a:bodyPr wrap="square" lIns="0" tIns="0" rIns="0" bIns="0" rtlCol="0" anchor="ctr"/>
          <a:lstStyle/>
          <a:p>
            <a:pPr>
              <a:lnSpc>
                <a:spcPct val="120000"/>
              </a:lnSpc>
            </a:pPr>
            <a:r>
              <a:rPr lang="en-US" sz="1400" b="1" dirty="0">
                <a:solidFill>
                  <a:srgbClr val="FFFFFF"/>
                </a:solidFill>
                <a:latin typeface="Liter" pitchFamily="34" charset="0"/>
                <a:ea typeface="Liter" pitchFamily="34" charset="-122"/>
                <a:cs typeface="Liter" pitchFamily="34" charset="-120"/>
              </a:rPr>
              <a:t>4</a:t>
            </a:r>
            <a:endParaRPr lang="en-US" sz="1600" dirty="0"/>
          </a:p>
        </p:txBody>
      </p:sp>
      <p:sp>
        <p:nvSpPr>
          <p:cNvPr id="28" name="Text 25"/>
          <p:cNvSpPr/>
          <p:nvPr/>
        </p:nvSpPr>
        <p:spPr>
          <a:xfrm>
            <a:off x="10464800" y="6146800"/>
            <a:ext cx="3149600" cy="304800"/>
          </a:xfrm>
          <a:prstGeom prst="rect">
            <a:avLst/>
          </a:prstGeom>
          <a:noFill/>
          <a:ln/>
        </p:spPr>
        <p:txBody>
          <a:bodyPr wrap="square" lIns="0" tIns="0" rIns="0" bIns="0" rtlCol="0" anchor="ctr"/>
          <a:lstStyle/>
          <a:p>
            <a:pPr>
              <a:lnSpc>
                <a:spcPct val="130000"/>
              </a:lnSpc>
            </a:pPr>
            <a:r>
              <a:rPr lang="en-US" sz="1600" b="1" dirty="0">
                <a:solidFill>
                  <a:srgbClr val="495057"/>
                </a:solidFill>
                <a:latin typeface="MiSans" pitchFamily="34" charset="0"/>
                <a:ea typeface="MiSans" pitchFamily="34" charset="-122"/>
                <a:cs typeface="MiSans" pitchFamily="34" charset="-120"/>
              </a:rPr>
              <a:t>加权融合</a:t>
            </a:r>
            <a:endParaRPr lang="en-US" sz="1600" dirty="0"/>
          </a:p>
        </p:txBody>
      </p:sp>
      <p:sp>
        <p:nvSpPr>
          <p:cNvPr id="29" name="Text 26"/>
          <p:cNvSpPr/>
          <p:nvPr/>
        </p:nvSpPr>
        <p:spPr>
          <a:xfrm>
            <a:off x="10464800" y="6451600"/>
            <a:ext cx="3136900" cy="254000"/>
          </a:xfrm>
          <a:prstGeom prst="rect">
            <a:avLst/>
          </a:prstGeom>
          <a:noFill/>
          <a:ln/>
        </p:spPr>
        <p:txBody>
          <a:bodyPr wrap="square" lIns="0" tIns="0" rIns="0" bIns="0" rtlCol="0" anchor="ctr"/>
          <a:lstStyle/>
          <a:p>
            <a:pPr>
              <a:lnSpc>
                <a:spcPct val="120000"/>
              </a:lnSpc>
            </a:pPr>
            <a:r>
              <a:rPr lang="en-US" sz="1400" dirty="0">
                <a:solidFill>
                  <a:srgbClr val="495057">
                    <a:alpha val="70000"/>
                  </a:srgbClr>
                </a:solidFill>
                <a:latin typeface="MiSans" pitchFamily="34" charset="0"/>
                <a:ea typeface="MiSans" pitchFamily="34" charset="-122"/>
                <a:cs typeface="MiSans" pitchFamily="34" charset="-120"/>
              </a:rPr>
              <a:t>加权平均隐藏状态得到最终文本表示Vτ</a:t>
            </a:r>
            <a:endParaRPr lang="en-US" sz="1600" dirty="0"/>
          </a:p>
        </p:txBody>
      </p:sp>
      <p:sp>
        <p:nvSpPr>
          <p:cNvPr id="30" name="Shape 27"/>
          <p:cNvSpPr/>
          <p:nvPr/>
        </p:nvSpPr>
        <p:spPr>
          <a:xfrm>
            <a:off x="9829800" y="7518400"/>
            <a:ext cx="5918200" cy="1117600"/>
          </a:xfrm>
          <a:custGeom>
            <a:avLst/>
            <a:gdLst/>
            <a:ahLst/>
            <a:cxnLst/>
            <a:rect l="l" t="t" r="r" b="b"/>
            <a:pathLst>
              <a:path w="5918200" h="1117600">
                <a:moveTo>
                  <a:pt x="50800" y="0"/>
                </a:moveTo>
                <a:lnTo>
                  <a:pt x="5816599" y="0"/>
                </a:lnTo>
                <a:cubicBezTo>
                  <a:pt x="5872712" y="0"/>
                  <a:pt x="5918200" y="45488"/>
                  <a:pt x="5918200" y="101601"/>
                </a:cubicBezTo>
                <a:lnTo>
                  <a:pt x="5918200" y="1015999"/>
                </a:lnTo>
                <a:cubicBezTo>
                  <a:pt x="5918200" y="1072112"/>
                  <a:pt x="5872712" y="1117600"/>
                  <a:pt x="5816599" y="1117600"/>
                </a:cubicBezTo>
                <a:lnTo>
                  <a:pt x="50800" y="1117600"/>
                </a:lnTo>
                <a:cubicBezTo>
                  <a:pt x="22744" y="1117600"/>
                  <a:pt x="0" y="1094856"/>
                  <a:pt x="0" y="1066800"/>
                </a:cubicBezTo>
                <a:lnTo>
                  <a:pt x="0" y="50800"/>
                </a:lnTo>
                <a:cubicBezTo>
                  <a:pt x="0" y="22763"/>
                  <a:pt x="22763" y="0"/>
                  <a:pt x="50800" y="0"/>
                </a:cubicBezTo>
                <a:close/>
              </a:path>
            </a:pathLst>
          </a:custGeom>
          <a:solidFill>
            <a:srgbClr val="A67B5C">
              <a:alpha val="10196"/>
            </a:srgbClr>
          </a:solidFill>
          <a:ln/>
        </p:spPr>
      </p:sp>
      <p:sp>
        <p:nvSpPr>
          <p:cNvPr id="31" name="Shape 28"/>
          <p:cNvSpPr/>
          <p:nvPr/>
        </p:nvSpPr>
        <p:spPr>
          <a:xfrm>
            <a:off x="9829800" y="7518400"/>
            <a:ext cx="50800" cy="1117600"/>
          </a:xfrm>
          <a:custGeom>
            <a:avLst/>
            <a:gdLst/>
            <a:ahLst/>
            <a:cxnLst/>
            <a:rect l="l" t="t" r="r" b="b"/>
            <a:pathLst>
              <a:path w="50800" h="1117600">
                <a:moveTo>
                  <a:pt x="50800" y="0"/>
                </a:moveTo>
                <a:lnTo>
                  <a:pt x="50800" y="0"/>
                </a:lnTo>
                <a:lnTo>
                  <a:pt x="50800" y="1117600"/>
                </a:lnTo>
                <a:lnTo>
                  <a:pt x="50800" y="1117600"/>
                </a:lnTo>
                <a:cubicBezTo>
                  <a:pt x="22763" y="1117600"/>
                  <a:pt x="0" y="1094837"/>
                  <a:pt x="0" y="1066800"/>
                </a:cubicBezTo>
                <a:lnTo>
                  <a:pt x="0" y="50800"/>
                </a:lnTo>
                <a:cubicBezTo>
                  <a:pt x="0" y="22763"/>
                  <a:pt x="22763" y="0"/>
                  <a:pt x="50800" y="0"/>
                </a:cubicBezTo>
                <a:close/>
              </a:path>
            </a:pathLst>
          </a:custGeom>
          <a:solidFill>
            <a:srgbClr val="A67B5C"/>
          </a:solidFill>
          <a:ln/>
        </p:spPr>
      </p:sp>
      <p:sp>
        <p:nvSpPr>
          <p:cNvPr id="32" name="Text 29"/>
          <p:cNvSpPr/>
          <p:nvPr/>
        </p:nvSpPr>
        <p:spPr>
          <a:xfrm>
            <a:off x="10058400" y="7721600"/>
            <a:ext cx="5588000" cy="304800"/>
          </a:xfrm>
          <a:prstGeom prst="rect">
            <a:avLst/>
          </a:prstGeom>
          <a:noFill/>
          <a:ln/>
        </p:spPr>
        <p:txBody>
          <a:bodyPr wrap="square" lIns="0" tIns="0" rIns="0" bIns="0" rtlCol="0" anchor="ctr"/>
          <a:lstStyle/>
          <a:p>
            <a:pPr>
              <a:lnSpc>
                <a:spcPct val="130000"/>
              </a:lnSpc>
            </a:pPr>
            <a:r>
              <a:rPr lang="en-US" sz="1600" b="1" dirty="0">
                <a:solidFill>
                  <a:srgbClr val="495057"/>
                </a:solidFill>
                <a:latin typeface="MiSans" pitchFamily="34" charset="0"/>
                <a:ea typeface="MiSans" pitchFamily="34" charset="-122"/>
                <a:cs typeface="MiSans" pitchFamily="34" charset="-120"/>
              </a:rPr>
              <a:t>关键优势</a:t>
            </a:r>
            <a:endParaRPr lang="en-US" sz="1600" dirty="0"/>
          </a:p>
        </p:txBody>
      </p:sp>
      <p:sp>
        <p:nvSpPr>
          <p:cNvPr id="33" name="Text 30"/>
          <p:cNvSpPr/>
          <p:nvPr/>
        </p:nvSpPr>
        <p:spPr>
          <a:xfrm>
            <a:off x="10058400" y="8128000"/>
            <a:ext cx="5588000" cy="304800"/>
          </a:xfrm>
          <a:prstGeom prst="rect">
            <a:avLst/>
          </a:prstGeom>
          <a:noFill/>
          <a:ln/>
        </p:spPr>
        <p:txBody>
          <a:bodyPr wrap="square" lIns="0" tIns="0" rIns="0" bIns="0" rtlCol="0" anchor="ctr"/>
          <a:lstStyle/>
          <a:p>
            <a:pPr>
              <a:lnSpc>
                <a:spcPct val="130000"/>
              </a:lnSpc>
            </a:pPr>
            <a:r>
              <a:rPr lang="en-US" sz="1600" dirty="0">
                <a:solidFill>
                  <a:srgbClr val="495057">
                    <a:alpha val="80000"/>
                  </a:srgbClr>
                </a:solidFill>
                <a:latin typeface="MiSans" pitchFamily="34" charset="0"/>
                <a:ea typeface="MiSans" pitchFamily="34" charset="-122"/>
                <a:cs typeface="MiSans" pitchFamily="34" charset="-120"/>
              </a:rPr>
              <a:t>利用图像语义引导文本注意力分配，精准捕捉关键情感词汇</a:t>
            </a:r>
            <a:endParaRPr lang="en-US" sz="1600" dirty="0"/>
          </a:p>
        </p:txBody>
      </p:sp>
    </p:spTree>
  </p:cSld>
  <p:clrMapOvr>
    <a:masterClrMapping/>
  </p:clrMapOvr>
  <p:transition>
    <p:fade/>
    <p:spd val="med"/>
  </p:transition>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9FA"/>
        </a:solidFill>
      </p:bgPr>
    </p:bg>
    <p:spTree>
      <p:nvGrpSpPr>
        <p:cNvPr id="1" name=""/>
        <p:cNvGrpSpPr/>
        <p:nvPr/>
      </p:nvGrpSpPr>
      <p:grpSpPr>
        <a:xfrm>
          <a:off x="0" y="0"/>
          <a:ext cx="0" cy="0"/>
          <a:chOff x="0" y="0"/>
          <a:chExt cx="0" cy="0"/>
        </a:xfrm>
      </p:grpSpPr>
      <p:sp>
        <p:nvSpPr>
          <p:cNvPr id="2" name="Shape 0"/>
          <p:cNvSpPr/>
          <p:nvPr/>
        </p:nvSpPr>
        <p:spPr>
          <a:xfrm>
            <a:off x="508000" y="558800"/>
            <a:ext cx="406400" cy="406400"/>
          </a:xfrm>
          <a:custGeom>
            <a:avLst/>
            <a:gdLst/>
            <a:ahLst/>
            <a:cxnLst/>
            <a:rect l="l" t="t" r="r" b="b"/>
            <a:pathLst>
              <a:path w="406400" h="406400">
                <a:moveTo>
                  <a:pt x="50800" y="0"/>
                </a:moveTo>
                <a:lnTo>
                  <a:pt x="355600" y="0"/>
                </a:lnTo>
                <a:cubicBezTo>
                  <a:pt x="383637" y="0"/>
                  <a:pt x="406400" y="22763"/>
                  <a:pt x="406400" y="50800"/>
                </a:cubicBezTo>
                <a:lnTo>
                  <a:pt x="406400" y="355600"/>
                </a:lnTo>
                <a:cubicBezTo>
                  <a:pt x="406400" y="383637"/>
                  <a:pt x="383637" y="406400"/>
                  <a:pt x="355600" y="406400"/>
                </a:cubicBezTo>
                <a:lnTo>
                  <a:pt x="50800" y="406400"/>
                </a:lnTo>
                <a:cubicBezTo>
                  <a:pt x="22763" y="406400"/>
                  <a:pt x="0" y="383637"/>
                  <a:pt x="0" y="355600"/>
                </a:cubicBezTo>
                <a:lnTo>
                  <a:pt x="0" y="50800"/>
                </a:lnTo>
                <a:cubicBezTo>
                  <a:pt x="0" y="22763"/>
                  <a:pt x="22763" y="0"/>
                  <a:pt x="50800" y="0"/>
                </a:cubicBezTo>
                <a:close/>
              </a:path>
            </a:pathLst>
          </a:custGeom>
          <a:solidFill>
            <a:srgbClr val="A67B5C"/>
          </a:solidFill>
          <a:ln/>
        </p:spPr>
      </p:sp>
      <p:sp>
        <p:nvSpPr>
          <p:cNvPr id="3" name="Text 1"/>
          <p:cNvSpPr/>
          <p:nvPr/>
        </p:nvSpPr>
        <p:spPr>
          <a:xfrm>
            <a:off x="587276" y="609600"/>
            <a:ext cx="355600" cy="304800"/>
          </a:xfrm>
          <a:prstGeom prst="rect">
            <a:avLst/>
          </a:prstGeom>
          <a:noFill/>
          <a:ln/>
        </p:spPr>
        <p:txBody>
          <a:bodyPr wrap="square" lIns="0" tIns="0" rIns="0" bIns="0" rtlCol="0" anchor="ctr"/>
          <a:lstStyle/>
          <a:p>
            <a:pPr>
              <a:lnSpc>
                <a:spcPct val="130000"/>
              </a:lnSpc>
            </a:pPr>
            <a:r>
              <a:rPr lang="en-US" sz="1600" b="1" dirty="0">
                <a:solidFill>
                  <a:srgbClr val="F8F9FA"/>
                </a:solidFill>
                <a:latin typeface="Liter" pitchFamily="34" charset="0"/>
                <a:ea typeface="Liter" pitchFamily="34" charset="-122"/>
                <a:cs typeface="Liter" pitchFamily="34" charset="-120"/>
              </a:rPr>
              <a:t>02</a:t>
            </a:r>
            <a:endParaRPr lang="en-US" sz="1600" dirty="0"/>
          </a:p>
        </p:txBody>
      </p:sp>
      <p:sp>
        <p:nvSpPr>
          <p:cNvPr id="4" name="Text 2"/>
          <p:cNvSpPr/>
          <p:nvPr/>
        </p:nvSpPr>
        <p:spPr>
          <a:xfrm>
            <a:off x="1066800" y="508000"/>
            <a:ext cx="4343400" cy="508000"/>
          </a:xfrm>
          <a:prstGeom prst="rect">
            <a:avLst/>
          </a:prstGeom>
          <a:noFill/>
          <a:ln/>
        </p:spPr>
        <p:txBody>
          <a:bodyPr wrap="square" lIns="0" tIns="0" rIns="0" bIns="0" rtlCol="0" anchor="ctr"/>
          <a:lstStyle/>
          <a:p>
            <a:pPr>
              <a:lnSpc>
                <a:spcPct val="90000"/>
              </a:lnSpc>
            </a:pPr>
            <a:r>
              <a:rPr lang="en-US" sz="3600" b="1" dirty="0">
                <a:solidFill>
                  <a:srgbClr val="495057"/>
                </a:solidFill>
                <a:latin typeface="Noto Sans SC" pitchFamily="34" charset="0"/>
                <a:ea typeface="Noto Sans SC" pitchFamily="34" charset="-122"/>
                <a:cs typeface="Noto Sans SC" pitchFamily="34" charset="-120"/>
              </a:rPr>
              <a:t>情感分类与特征融合</a:t>
            </a:r>
            <a:endParaRPr lang="en-US" sz="1600" dirty="0"/>
          </a:p>
        </p:txBody>
      </p:sp>
      <p:sp>
        <p:nvSpPr>
          <p:cNvPr id="5" name="Shape 3"/>
          <p:cNvSpPr/>
          <p:nvPr/>
        </p:nvSpPr>
        <p:spPr>
          <a:xfrm>
            <a:off x="508000" y="1117600"/>
            <a:ext cx="1016000" cy="50800"/>
          </a:xfrm>
          <a:custGeom>
            <a:avLst/>
            <a:gdLst/>
            <a:ahLst/>
            <a:cxnLst/>
            <a:rect l="l" t="t" r="r" b="b"/>
            <a:pathLst>
              <a:path w="1016000" h="50800">
                <a:moveTo>
                  <a:pt x="0" y="0"/>
                </a:moveTo>
                <a:lnTo>
                  <a:pt x="1016000" y="0"/>
                </a:lnTo>
                <a:lnTo>
                  <a:pt x="1016000" y="50800"/>
                </a:lnTo>
                <a:lnTo>
                  <a:pt x="0" y="50800"/>
                </a:lnTo>
                <a:lnTo>
                  <a:pt x="0" y="0"/>
                </a:lnTo>
                <a:close/>
              </a:path>
            </a:pathLst>
          </a:custGeom>
          <a:solidFill>
            <a:srgbClr val="A67B5C"/>
          </a:solidFill>
          <a:ln/>
        </p:spPr>
      </p:sp>
      <p:sp>
        <p:nvSpPr>
          <p:cNvPr id="6" name="Shape 4"/>
          <p:cNvSpPr/>
          <p:nvPr/>
        </p:nvSpPr>
        <p:spPr>
          <a:xfrm>
            <a:off x="508000" y="1422400"/>
            <a:ext cx="15240000" cy="1473200"/>
          </a:xfrm>
          <a:custGeom>
            <a:avLst/>
            <a:gdLst/>
            <a:ahLst/>
            <a:cxnLst/>
            <a:rect l="l" t="t" r="r" b="b"/>
            <a:pathLst>
              <a:path w="15240000" h="1473200">
                <a:moveTo>
                  <a:pt x="101607" y="0"/>
                </a:moveTo>
                <a:lnTo>
                  <a:pt x="15138393" y="0"/>
                </a:lnTo>
                <a:cubicBezTo>
                  <a:pt x="15194509" y="0"/>
                  <a:pt x="15240000" y="45491"/>
                  <a:pt x="15240000" y="101607"/>
                </a:cubicBezTo>
                <a:lnTo>
                  <a:pt x="15240000" y="1371593"/>
                </a:lnTo>
                <a:cubicBezTo>
                  <a:pt x="15240000" y="1427709"/>
                  <a:pt x="15194509" y="1473200"/>
                  <a:pt x="15138393" y="1473200"/>
                </a:cubicBezTo>
                <a:lnTo>
                  <a:pt x="101607" y="1473200"/>
                </a:lnTo>
                <a:cubicBezTo>
                  <a:pt x="45491" y="1473200"/>
                  <a:pt x="0" y="1427709"/>
                  <a:pt x="0" y="1371593"/>
                </a:cubicBezTo>
                <a:lnTo>
                  <a:pt x="0" y="101607"/>
                </a:lnTo>
                <a:cubicBezTo>
                  <a:pt x="0" y="45528"/>
                  <a:pt x="45528" y="0"/>
                  <a:pt x="101607" y="0"/>
                </a:cubicBezTo>
                <a:close/>
              </a:path>
            </a:pathLst>
          </a:custGeom>
          <a:gradFill rotWithShape="1" flip="none">
            <a:gsLst>
              <a:gs pos="0">
                <a:srgbClr val="A67B5C"/>
              </a:gs>
              <a:gs pos="100000">
                <a:srgbClr val="A67B5C">
                  <a:alpha val="80000"/>
                </a:srgbClr>
              </a:gs>
            </a:gsLst>
            <a:lin ang="0" scaled="1"/>
          </a:gradFill>
          <a:ln/>
          <a:effectLst>
            <a:outerShdw sx="100000" sy="100000" kx="0" ky="0" algn="bl" rotWithShape="0" blurRad="190500" dist="127000" dir="5400000">
              <a:srgbClr val="000000">
                <a:alpha val="10196"/>
              </a:srgbClr>
            </a:outerShdw>
          </a:effectLst>
        </p:spPr>
      </p:sp>
      <p:sp>
        <p:nvSpPr>
          <p:cNvPr id="7" name="Shape 5"/>
          <p:cNvSpPr/>
          <p:nvPr/>
        </p:nvSpPr>
        <p:spPr>
          <a:xfrm>
            <a:off x="812800" y="1803400"/>
            <a:ext cx="711200" cy="711200"/>
          </a:xfrm>
          <a:custGeom>
            <a:avLst/>
            <a:gdLst/>
            <a:ahLst/>
            <a:cxnLst/>
            <a:rect l="l" t="t" r="r" b="b"/>
            <a:pathLst>
              <a:path w="711200" h="711200">
                <a:moveTo>
                  <a:pt x="355600" y="0"/>
                </a:moveTo>
                <a:lnTo>
                  <a:pt x="355600" y="0"/>
                </a:lnTo>
                <a:cubicBezTo>
                  <a:pt x="551861" y="0"/>
                  <a:pt x="711200" y="159339"/>
                  <a:pt x="711200" y="355600"/>
                </a:cubicBezTo>
                <a:lnTo>
                  <a:pt x="711200" y="355600"/>
                </a:lnTo>
                <a:cubicBezTo>
                  <a:pt x="711200" y="551861"/>
                  <a:pt x="551861" y="711200"/>
                  <a:pt x="355600" y="711200"/>
                </a:cubicBezTo>
                <a:lnTo>
                  <a:pt x="355600" y="711200"/>
                </a:lnTo>
                <a:cubicBezTo>
                  <a:pt x="159339" y="711200"/>
                  <a:pt x="0" y="551861"/>
                  <a:pt x="0" y="355600"/>
                </a:cubicBezTo>
                <a:lnTo>
                  <a:pt x="0" y="355600"/>
                </a:lnTo>
                <a:cubicBezTo>
                  <a:pt x="0" y="159339"/>
                  <a:pt x="159339" y="0"/>
                  <a:pt x="355600" y="0"/>
                </a:cubicBezTo>
                <a:close/>
              </a:path>
            </a:pathLst>
          </a:custGeom>
          <a:solidFill>
            <a:srgbClr val="FFFFFF">
              <a:alpha val="20000"/>
            </a:srgbClr>
          </a:solidFill>
          <a:ln/>
        </p:spPr>
      </p:sp>
      <p:sp>
        <p:nvSpPr>
          <p:cNvPr id="8" name="Shape 6"/>
          <p:cNvSpPr/>
          <p:nvPr/>
        </p:nvSpPr>
        <p:spPr>
          <a:xfrm>
            <a:off x="981075" y="1968500"/>
            <a:ext cx="381000" cy="381000"/>
          </a:xfrm>
          <a:custGeom>
            <a:avLst/>
            <a:gdLst/>
            <a:ahLst/>
            <a:cxnLst/>
            <a:rect l="l" t="t" r="r" b="b"/>
            <a:pathLst>
              <a:path w="381000" h="381000">
                <a:moveTo>
                  <a:pt x="173013" y="3870"/>
                </a:moveTo>
                <a:cubicBezTo>
                  <a:pt x="184100" y="-1265"/>
                  <a:pt x="196900" y="-1265"/>
                  <a:pt x="207987" y="3870"/>
                </a:cubicBezTo>
                <a:lnTo>
                  <a:pt x="370656" y="79028"/>
                </a:lnTo>
                <a:cubicBezTo>
                  <a:pt x="376982" y="81930"/>
                  <a:pt x="381000" y="88255"/>
                  <a:pt x="381000" y="95250"/>
                </a:cubicBezTo>
                <a:cubicBezTo>
                  <a:pt x="381000" y="102245"/>
                  <a:pt x="376982" y="108570"/>
                  <a:pt x="370656" y="111472"/>
                </a:cubicBezTo>
                <a:lnTo>
                  <a:pt x="207987" y="186630"/>
                </a:lnTo>
                <a:cubicBezTo>
                  <a:pt x="196900" y="191765"/>
                  <a:pt x="184100" y="191765"/>
                  <a:pt x="173013" y="186630"/>
                </a:cubicBezTo>
                <a:lnTo>
                  <a:pt x="10344" y="111472"/>
                </a:lnTo>
                <a:cubicBezTo>
                  <a:pt x="4018" y="108496"/>
                  <a:pt x="0" y="102171"/>
                  <a:pt x="0" y="95250"/>
                </a:cubicBezTo>
                <a:cubicBezTo>
                  <a:pt x="0" y="88329"/>
                  <a:pt x="4018" y="81930"/>
                  <a:pt x="10344" y="79028"/>
                </a:cubicBezTo>
                <a:lnTo>
                  <a:pt x="173013" y="3870"/>
                </a:lnTo>
                <a:close/>
                <a:moveTo>
                  <a:pt x="35793" y="162520"/>
                </a:moveTo>
                <a:lnTo>
                  <a:pt x="158055" y="219001"/>
                </a:lnTo>
                <a:cubicBezTo>
                  <a:pt x="178668" y="228526"/>
                  <a:pt x="202406" y="228526"/>
                  <a:pt x="223019" y="219001"/>
                </a:cubicBezTo>
                <a:lnTo>
                  <a:pt x="345281" y="162520"/>
                </a:lnTo>
                <a:lnTo>
                  <a:pt x="370656" y="174278"/>
                </a:lnTo>
                <a:cubicBezTo>
                  <a:pt x="376982" y="177180"/>
                  <a:pt x="381000" y="183505"/>
                  <a:pt x="381000" y="190500"/>
                </a:cubicBezTo>
                <a:cubicBezTo>
                  <a:pt x="381000" y="197495"/>
                  <a:pt x="376982" y="203820"/>
                  <a:pt x="370656" y="206722"/>
                </a:cubicBezTo>
                <a:lnTo>
                  <a:pt x="207987" y="281880"/>
                </a:lnTo>
                <a:cubicBezTo>
                  <a:pt x="196900" y="287015"/>
                  <a:pt x="184100" y="287015"/>
                  <a:pt x="173013" y="281880"/>
                </a:cubicBezTo>
                <a:lnTo>
                  <a:pt x="10344" y="206722"/>
                </a:lnTo>
                <a:cubicBezTo>
                  <a:pt x="4018" y="203746"/>
                  <a:pt x="0" y="197421"/>
                  <a:pt x="0" y="190500"/>
                </a:cubicBezTo>
                <a:cubicBezTo>
                  <a:pt x="0" y="183579"/>
                  <a:pt x="4018" y="177180"/>
                  <a:pt x="10344" y="174278"/>
                </a:cubicBezTo>
                <a:lnTo>
                  <a:pt x="35719" y="162520"/>
                </a:lnTo>
                <a:close/>
                <a:moveTo>
                  <a:pt x="10344" y="269528"/>
                </a:moveTo>
                <a:lnTo>
                  <a:pt x="35719" y="257770"/>
                </a:lnTo>
                <a:lnTo>
                  <a:pt x="157981" y="314251"/>
                </a:lnTo>
                <a:cubicBezTo>
                  <a:pt x="178594" y="323776"/>
                  <a:pt x="202332" y="323776"/>
                  <a:pt x="222945" y="314251"/>
                </a:cubicBezTo>
                <a:lnTo>
                  <a:pt x="345207" y="257770"/>
                </a:lnTo>
                <a:lnTo>
                  <a:pt x="370582" y="269528"/>
                </a:lnTo>
                <a:cubicBezTo>
                  <a:pt x="376907" y="272430"/>
                  <a:pt x="380926" y="278755"/>
                  <a:pt x="380926" y="285750"/>
                </a:cubicBezTo>
                <a:cubicBezTo>
                  <a:pt x="380926" y="292745"/>
                  <a:pt x="376907" y="299070"/>
                  <a:pt x="370582" y="301972"/>
                </a:cubicBezTo>
                <a:lnTo>
                  <a:pt x="207913" y="377130"/>
                </a:lnTo>
                <a:cubicBezTo>
                  <a:pt x="196825" y="382265"/>
                  <a:pt x="184026" y="382265"/>
                  <a:pt x="172938" y="377130"/>
                </a:cubicBezTo>
                <a:lnTo>
                  <a:pt x="10344" y="301972"/>
                </a:lnTo>
                <a:cubicBezTo>
                  <a:pt x="4018" y="298996"/>
                  <a:pt x="0" y="292671"/>
                  <a:pt x="0" y="285750"/>
                </a:cubicBezTo>
                <a:cubicBezTo>
                  <a:pt x="0" y="278829"/>
                  <a:pt x="4018" y="272430"/>
                  <a:pt x="10344" y="269528"/>
                </a:cubicBezTo>
                <a:close/>
              </a:path>
            </a:pathLst>
          </a:custGeom>
          <a:solidFill>
            <a:srgbClr val="FFFFFF"/>
          </a:solidFill>
          <a:ln/>
        </p:spPr>
      </p:sp>
      <p:sp>
        <p:nvSpPr>
          <p:cNvPr id="9" name="Text 7"/>
          <p:cNvSpPr/>
          <p:nvPr/>
        </p:nvSpPr>
        <p:spPr>
          <a:xfrm>
            <a:off x="1727200" y="1727200"/>
            <a:ext cx="7239000" cy="406400"/>
          </a:xfrm>
          <a:prstGeom prst="rect">
            <a:avLst/>
          </a:prstGeom>
          <a:noFill/>
          <a:ln/>
        </p:spPr>
        <p:txBody>
          <a:bodyPr wrap="square" lIns="0" tIns="0" rIns="0" bIns="0" rtlCol="0" anchor="ctr"/>
          <a:lstStyle/>
          <a:p>
            <a:pPr>
              <a:lnSpc>
                <a:spcPct val="110000"/>
              </a:lnSpc>
            </a:pPr>
            <a:r>
              <a:rPr lang="en-US" sz="2400" b="1" dirty="0">
                <a:solidFill>
                  <a:srgbClr val="FFFFFF"/>
                </a:solidFill>
                <a:latin typeface="Noto Sans SC" pitchFamily="34" charset="0"/>
                <a:ea typeface="Noto Sans SC" pitchFamily="34" charset="-122"/>
                <a:cs typeface="Noto Sans SC" pitchFamily="34" charset="-120"/>
              </a:rPr>
              <a:t>多模态特征融合</a:t>
            </a:r>
            <a:endParaRPr lang="en-US" sz="1600" dirty="0"/>
          </a:p>
        </p:txBody>
      </p:sp>
      <p:sp>
        <p:nvSpPr>
          <p:cNvPr id="10" name="Text 8"/>
          <p:cNvSpPr/>
          <p:nvPr/>
        </p:nvSpPr>
        <p:spPr>
          <a:xfrm>
            <a:off x="1727200" y="2235200"/>
            <a:ext cx="7200900" cy="355600"/>
          </a:xfrm>
          <a:prstGeom prst="rect">
            <a:avLst/>
          </a:prstGeom>
          <a:noFill/>
          <a:ln/>
        </p:spPr>
        <p:txBody>
          <a:bodyPr wrap="square" lIns="0" tIns="0" rIns="0" bIns="0" rtlCol="0" anchor="ctr"/>
          <a:lstStyle/>
          <a:p>
            <a:pPr>
              <a:lnSpc>
                <a:spcPct val="130000"/>
              </a:lnSpc>
            </a:pPr>
            <a:r>
              <a:rPr lang="en-US" sz="1800" dirty="0">
                <a:solidFill>
                  <a:srgbClr val="FFFFFF"/>
                </a:solidFill>
                <a:latin typeface="MiSans" pitchFamily="34" charset="0"/>
                <a:ea typeface="MiSans" pitchFamily="34" charset="-122"/>
                <a:cs typeface="MiSans" pitchFamily="34" charset="-120"/>
              </a:rPr>
              <a:t>将三重特征聚合成统一的多模态表示，为情感分类提供丰富的语义信息</a:t>
            </a:r>
            <a:endParaRPr lang="en-US" sz="1600" dirty="0"/>
          </a:p>
        </p:txBody>
      </p:sp>
      <p:sp>
        <p:nvSpPr>
          <p:cNvPr id="11" name="Shape 9"/>
          <p:cNvSpPr/>
          <p:nvPr/>
        </p:nvSpPr>
        <p:spPr>
          <a:xfrm>
            <a:off x="508000" y="3149600"/>
            <a:ext cx="4914900" cy="2844800"/>
          </a:xfrm>
          <a:custGeom>
            <a:avLst/>
            <a:gdLst/>
            <a:ahLst/>
            <a:cxnLst/>
            <a:rect l="l" t="t" r="r" b="b"/>
            <a:pathLst>
              <a:path w="4914900" h="2844800">
                <a:moveTo>
                  <a:pt x="101588" y="0"/>
                </a:moveTo>
                <a:lnTo>
                  <a:pt x="4813312" y="0"/>
                </a:lnTo>
                <a:cubicBezTo>
                  <a:pt x="4869418" y="0"/>
                  <a:pt x="4914900" y="45482"/>
                  <a:pt x="4914900" y="101588"/>
                </a:cubicBezTo>
                <a:lnTo>
                  <a:pt x="4914900" y="2743212"/>
                </a:lnTo>
                <a:cubicBezTo>
                  <a:pt x="4914900" y="2799318"/>
                  <a:pt x="4869418" y="2844800"/>
                  <a:pt x="4813312" y="2844800"/>
                </a:cubicBezTo>
                <a:lnTo>
                  <a:pt x="101588" y="2844800"/>
                </a:lnTo>
                <a:cubicBezTo>
                  <a:pt x="45482" y="2844800"/>
                  <a:pt x="0" y="2799318"/>
                  <a:pt x="0" y="2743212"/>
                </a:cubicBezTo>
                <a:lnTo>
                  <a:pt x="0" y="101588"/>
                </a:lnTo>
                <a:cubicBezTo>
                  <a:pt x="0" y="45482"/>
                  <a:pt x="45482" y="0"/>
                  <a:pt x="101588" y="0"/>
                </a:cubicBezTo>
                <a:close/>
              </a:path>
            </a:pathLst>
          </a:custGeom>
          <a:solidFill>
            <a:srgbClr val="FFFFFF"/>
          </a:solidFill>
          <a:ln/>
          <a:effectLst>
            <a:outerShdw sx="100000" sy="100000" kx="0" ky="0" algn="bl" rotWithShape="0" blurRad="76200" dist="50800" dir="5400000">
              <a:srgbClr val="000000">
                <a:alpha val="10196"/>
              </a:srgbClr>
            </a:outerShdw>
          </a:effectLst>
        </p:spPr>
      </p:sp>
      <p:sp>
        <p:nvSpPr>
          <p:cNvPr id="12" name="Shape 10"/>
          <p:cNvSpPr/>
          <p:nvPr/>
        </p:nvSpPr>
        <p:spPr>
          <a:xfrm>
            <a:off x="812800" y="3454400"/>
            <a:ext cx="609600" cy="609600"/>
          </a:xfrm>
          <a:custGeom>
            <a:avLst/>
            <a:gdLst/>
            <a:ahLst/>
            <a:cxnLst/>
            <a:rect l="l" t="t" r="r" b="b"/>
            <a:pathLst>
              <a:path w="609600" h="609600">
                <a:moveTo>
                  <a:pt x="304800" y="0"/>
                </a:moveTo>
                <a:lnTo>
                  <a:pt x="304800" y="0"/>
                </a:lnTo>
                <a:cubicBezTo>
                  <a:pt x="473024" y="0"/>
                  <a:pt x="609600" y="136576"/>
                  <a:pt x="609600" y="304800"/>
                </a:cubicBezTo>
                <a:lnTo>
                  <a:pt x="609600" y="304800"/>
                </a:lnTo>
                <a:cubicBezTo>
                  <a:pt x="609600" y="473024"/>
                  <a:pt x="473024" y="609600"/>
                  <a:pt x="304800" y="609600"/>
                </a:cubicBezTo>
                <a:lnTo>
                  <a:pt x="304800" y="609600"/>
                </a:lnTo>
                <a:cubicBezTo>
                  <a:pt x="136576" y="609600"/>
                  <a:pt x="0" y="473024"/>
                  <a:pt x="0" y="304800"/>
                </a:cubicBezTo>
                <a:lnTo>
                  <a:pt x="0" y="304800"/>
                </a:lnTo>
                <a:cubicBezTo>
                  <a:pt x="0" y="136576"/>
                  <a:pt x="136576" y="0"/>
                  <a:pt x="304800" y="0"/>
                </a:cubicBezTo>
                <a:close/>
              </a:path>
            </a:pathLst>
          </a:custGeom>
          <a:solidFill>
            <a:srgbClr val="A67B5C"/>
          </a:solidFill>
          <a:ln/>
        </p:spPr>
      </p:sp>
      <p:sp>
        <p:nvSpPr>
          <p:cNvPr id="13" name="Shape 11"/>
          <p:cNvSpPr/>
          <p:nvPr/>
        </p:nvSpPr>
        <p:spPr>
          <a:xfrm>
            <a:off x="990600" y="3632200"/>
            <a:ext cx="254000" cy="254000"/>
          </a:xfrm>
          <a:custGeom>
            <a:avLst/>
            <a:gdLst/>
            <a:ahLst/>
            <a:cxnLst/>
            <a:rect l="l" t="t" r="r" b="b"/>
            <a:pathLst>
              <a:path w="254000" h="254000">
                <a:moveTo>
                  <a:pt x="111274" y="-1240"/>
                </a:moveTo>
                <a:cubicBezTo>
                  <a:pt x="121096" y="-6896"/>
                  <a:pt x="133201" y="-6896"/>
                  <a:pt x="143024" y="-1240"/>
                </a:cubicBezTo>
                <a:lnTo>
                  <a:pt x="230287" y="49113"/>
                </a:lnTo>
                <a:cubicBezTo>
                  <a:pt x="240109" y="54769"/>
                  <a:pt x="246162" y="65286"/>
                  <a:pt x="246162" y="76597"/>
                </a:cubicBezTo>
                <a:lnTo>
                  <a:pt x="246162" y="177304"/>
                </a:lnTo>
                <a:cubicBezTo>
                  <a:pt x="246162" y="188664"/>
                  <a:pt x="240109" y="199132"/>
                  <a:pt x="230287" y="204787"/>
                </a:cubicBezTo>
                <a:lnTo>
                  <a:pt x="143024" y="255240"/>
                </a:lnTo>
                <a:cubicBezTo>
                  <a:pt x="133201" y="260896"/>
                  <a:pt x="121096" y="260896"/>
                  <a:pt x="111274" y="255240"/>
                </a:cubicBezTo>
                <a:lnTo>
                  <a:pt x="24061" y="204887"/>
                </a:lnTo>
                <a:cubicBezTo>
                  <a:pt x="14238" y="199231"/>
                  <a:pt x="8186" y="188714"/>
                  <a:pt x="8186" y="177403"/>
                </a:cubicBezTo>
                <a:lnTo>
                  <a:pt x="8186" y="76696"/>
                </a:lnTo>
                <a:cubicBezTo>
                  <a:pt x="8186" y="65336"/>
                  <a:pt x="14238" y="54868"/>
                  <a:pt x="24061" y="49213"/>
                </a:cubicBezTo>
                <a:lnTo>
                  <a:pt x="111274" y="-1240"/>
                </a:lnTo>
                <a:close/>
                <a:moveTo>
                  <a:pt x="214362" y="177354"/>
                </a:moveTo>
                <a:lnTo>
                  <a:pt x="214362" y="94952"/>
                </a:lnTo>
                <a:lnTo>
                  <a:pt x="143024" y="136128"/>
                </a:lnTo>
                <a:lnTo>
                  <a:pt x="143024" y="218529"/>
                </a:lnTo>
                <a:lnTo>
                  <a:pt x="214362" y="177354"/>
                </a:lnTo>
                <a:close/>
              </a:path>
            </a:pathLst>
          </a:custGeom>
          <a:solidFill>
            <a:srgbClr val="FFFFFF"/>
          </a:solidFill>
          <a:ln/>
        </p:spPr>
      </p:sp>
      <p:sp>
        <p:nvSpPr>
          <p:cNvPr id="14" name="Text 12"/>
          <p:cNvSpPr/>
          <p:nvPr/>
        </p:nvSpPr>
        <p:spPr>
          <a:xfrm>
            <a:off x="1574800" y="3581400"/>
            <a:ext cx="1498600" cy="355600"/>
          </a:xfrm>
          <a:prstGeom prst="rect">
            <a:avLst/>
          </a:prstGeom>
          <a:noFill/>
          <a:ln/>
        </p:spPr>
        <p:txBody>
          <a:bodyPr wrap="square" lIns="0" tIns="0" rIns="0" bIns="0" rtlCol="0" anchor="ctr"/>
          <a:lstStyle/>
          <a:p>
            <a:pPr>
              <a:lnSpc>
                <a:spcPct val="120000"/>
              </a:lnSpc>
            </a:pPr>
            <a:r>
              <a:rPr lang="en-US" sz="2000" b="1" dirty="0">
                <a:solidFill>
                  <a:srgbClr val="495057"/>
                </a:solidFill>
                <a:latin typeface="Noto Sans SC" pitchFamily="34" charset="0"/>
                <a:ea typeface="Noto Sans SC" pitchFamily="34" charset="-122"/>
                <a:cs typeface="Noto Sans SC" pitchFamily="34" charset="-120"/>
              </a:rPr>
              <a:t>对象特征 Vo</a:t>
            </a:r>
            <a:endParaRPr lang="en-US" sz="1600" dirty="0"/>
          </a:p>
        </p:txBody>
      </p:sp>
      <p:sp>
        <p:nvSpPr>
          <p:cNvPr id="15" name="Text 13"/>
          <p:cNvSpPr/>
          <p:nvPr/>
        </p:nvSpPr>
        <p:spPr>
          <a:xfrm>
            <a:off x="812800" y="4267200"/>
            <a:ext cx="4406900" cy="660400"/>
          </a:xfrm>
          <a:prstGeom prst="rect">
            <a:avLst/>
          </a:prstGeom>
          <a:noFill/>
          <a:ln/>
        </p:spPr>
        <p:txBody>
          <a:bodyPr wrap="square" lIns="0" tIns="0" rIns="0" bIns="0" rtlCol="0" anchor="ctr"/>
          <a:lstStyle/>
          <a:p>
            <a:pPr>
              <a:lnSpc>
                <a:spcPct val="140000"/>
              </a:lnSpc>
            </a:pPr>
            <a:r>
              <a:rPr lang="en-US" sz="1600" dirty="0">
                <a:solidFill>
                  <a:srgbClr val="495057">
                    <a:alpha val="80000"/>
                  </a:srgbClr>
                </a:solidFill>
                <a:latin typeface="MiSans" pitchFamily="34" charset="0"/>
                <a:ea typeface="MiSans" pitchFamily="34" charset="-122"/>
                <a:cs typeface="MiSans" pitchFamily="34" charset="-120"/>
              </a:rPr>
              <a:t>从图像中提取的</a:t>
            </a:r>
            <a:pPr>
              <a:lnSpc>
                <a:spcPct val="140000"/>
              </a:lnSpc>
            </a:pPr>
            <a:r>
              <a:rPr lang="en-US" sz="1600" b="1" dirty="0">
                <a:solidFill>
                  <a:srgbClr val="A67B5C"/>
                </a:solidFill>
                <a:latin typeface="MiSans" pitchFamily="34" charset="0"/>
                <a:ea typeface="MiSans" pitchFamily="34" charset="-122"/>
                <a:cs typeface="MiSans" pitchFamily="34" charset="-120"/>
              </a:rPr>
              <a:t>1000维对象语义信息</a:t>
            </a:r>
            <a:pPr>
              <a:lnSpc>
                <a:spcPct val="140000"/>
              </a:lnSpc>
            </a:pPr>
            <a:r>
              <a:rPr lang="en-US" sz="1600" dirty="0">
                <a:solidFill>
                  <a:srgbClr val="495057">
                    <a:alpha val="80000"/>
                  </a:srgbClr>
                </a:solidFill>
                <a:latin typeface="MiSans" pitchFamily="34" charset="0"/>
                <a:ea typeface="MiSans" pitchFamily="34" charset="-122"/>
                <a:cs typeface="MiSans" pitchFamily="34" charset="-120"/>
              </a:rPr>
              <a:t>，捕获与情感相关的具体物体</a:t>
            </a:r>
            <a:endParaRPr lang="en-US" sz="1600" dirty="0"/>
          </a:p>
        </p:txBody>
      </p:sp>
      <p:sp>
        <p:nvSpPr>
          <p:cNvPr id="16" name="Shape 14"/>
          <p:cNvSpPr/>
          <p:nvPr/>
        </p:nvSpPr>
        <p:spPr>
          <a:xfrm>
            <a:off x="812800" y="5130800"/>
            <a:ext cx="4305300" cy="558800"/>
          </a:xfrm>
          <a:custGeom>
            <a:avLst/>
            <a:gdLst/>
            <a:ahLst/>
            <a:cxnLst/>
            <a:rect l="l" t="t" r="r" b="b"/>
            <a:pathLst>
              <a:path w="4305300" h="558800">
                <a:moveTo>
                  <a:pt x="50801" y="0"/>
                </a:moveTo>
                <a:lnTo>
                  <a:pt x="4254499" y="0"/>
                </a:lnTo>
                <a:cubicBezTo>
                  <a:pt x="4282556" y="0"/>
                  <a:pt x="4305300" y="22744"/>
                  <a:pt x="4305300" y="50801"/>
                </a:cubicBezTo>
                <a:lnTo>
                  <a:pt x="4305300" y="507999"/>
                </a:lnTo>
                <a:cubicBezTo>
                  <a:pt x="4305300" y="536056"/>
                  <a:pt x="4282556" y="558800"/>
                  <a:pt x="4254499" y="558800"/>
                </a:cubicBezTo>
                <a:lnTo>
                  <a:pt x="50801" y="558800"/>
                </a:lnTo>
                <a:cubicBezTo>
                  <a:pt x="22744" y="558800"/>
                  <a:pt x="0" y="536056"/>
                  <a:pt x="0" y="507999"/>
                </a:cubicBezTo>
                <a:lnTo>
                  <a:pt x="0" y="50801"/>
                </a:lnTo>
                <a:cubicBezTo>
                  <a:pt x="0" y="22763"/>
                  <a:pt x="22763" y="0"/>
                  <a:pt x="50801" y="0"/>
                </a:cubicBezTo>
                <a:close/>
              </a:path>
            </a:pathLst>
          </a:custGeom>
          <a:solidFill>
            <a:srgbClr val="A67B5C">
              <a:alpha val="5098"/>
            </a:srgbClr>
          </a:solidFill>
          <a:ln/>
        </p:spPr>
      </p:sp>
      <p:sp>
        <p:nvSpPr>
          <p:cNvPr id="17" name="Shape 15"/>
          <p:cNvSpPr/>
          <p:nvPr/>
        </p:nvSpPr>
        <p:spPr>
          <a:xfrm>
            <a:off x="990600" y="5308600"/>
            <a:ext cx="177800" cy="177800"/>
          </a:xfrm>
          <a:custGeom>
            <a:avLst/>
            <a:gdLst/>
            <a:ahLst/>
            <a:cxnLst/>
            <a:rect l="l" t="t" r="r" b="b"/>
            <a:pathLst>
              <a:path w="177800" h="177800">
                <a:moveTo>
                  <a:pt x="88900" y="177800"/>
                </a:moveTo>
                <a:cubicBezTo>
                  <a:pt x="137965" y="177800"/>
                  <a:pt x="177800" y="137965"/>
                  <a:pt x="177800" y="88900"/>
                </a:cubicBezTo>
                <a:cubicBezTo>
                  <a:pt x="177800" y="39835"/>
                  <a:pt x="137965" y="0"/>
                  <a:pt x="88900" y="0"/>
                </a:cubicBezTo>
                <a:cubicBezTo>
                  <a:pt x="39835" y="0"/>
                  <a:pt x="0" y="39835"/>
                  <a:pt x="0" y="88900"/>
                </a:cubicBezTo>
                <a:cubicBezTo>
                  <a:pt x="0" y="137965"/>
                  <a:pt x="39835" y="177800"/>
                  <a:pt x="88900" y="177800"/>
                </a:cubicBezTo>
                <a:close/>
                <a:moveTo>
                  <a:pt x="77788" y="55563"/>
                </a:moveTo>
                <a:cubicBezTo>
                  <a:pt x="77788" y="49429"/>
                  <a:pt x="82767" y="44450"/>
                  <a:pt x="88900" y="44450"/>
                </a:cubicBezTo>
                <a:cubicBezTo>
                  <a:pt x="95033" y="44450"/>
                  <a:pt x="100013" y="49429"/>
                  <a:pt x="100013" y="55563"/>
                </a:cubicBezTo>
                <a:cubicBezTo>
                  <a:pt x="100013" y="61696"/>
                  <a:pt x="95033" y="66675"/>
                  <a:pt x="88900" y="66675"/>
                </a:cubicBezTo>
                <a:cubicBezTo>
                  <a:pt x="82767" y="66675"/>
                  <a:pt x="77788" y="61696"/>
                  <a:pt x="77788" y="55563"/>
                </a:cubicBezTo>
                <a:close/>
                <a:moveTo>
                  <a:pt x="75009" y="77788"/>
                </a:moveTo>
                <a:lnTo>
                  <a:pt x="91678" y="77788"/>
                </a:lnTo>
                <a:cubicBezTo>
                  <a:pt x="96297" y="77788"/>
                  <a:pt x="100013" y="81503"/>
                  <a:pt x="100013" y="86122"/>
                </a:cubicBezTo>
                <a:lnTo>
                  <a:pt x="100013" y="116681"/>
                </a:lnTo>
                <a:lnTo>
                  <a:pt x="102791" y="116681"/>
                </a:lnTo>
                <a:cubicBezTo>
                  <a:pt x="107409" y="116681"/>
                  <a:pt x="111125" y="120397"/>
                  <a:pt x="111125" y="125016"/>
                </a:cubicBezTo>
                <a:cubicBezTo>
                  <a:pt x="111125" y="129634"/>
                  <a:pt x="107409" y="133350"/>
                  <a:pt x="102791" y="133350"/>
                </a:cubicBezTo>
                <a:lnTo>
                  <a:pt x="75009" y="133350"/>
                </a:lnTo>
                <a:cubicBezTo>
                  <a:pt x="70391" y="133350"/>
                  <a:pt x="66675" y="129634"/>
                  <a:pt x="66675" y="125016"/>
                </a:cubicBezTo>
                <a:cubicBezTo>
                  <a:pt x="66675" y="120397"/>
                  <a:pt x="70391" y="116681"/>
                  <a:pt x="75009" y="116681"/>
                </a:cubicBezTo>
                <a:lnTo>
                  <a:pt x="83344" y="116681"/>
                </a:lnTo>
                <a:lnTo>
                  <a:pt x="83344" y="94456"/>
                </a:lnTo>
                <a:lnTo>
                  <a:pt x="75009" y="94456"/>
                </a:lnTo>
                <a:cubicBezTo>
                  <a:pt x="70391" y="94456"/>
                  <a:pt x="66675" y="90741"/>
                  <a:pt x="66675" y="86122"/>
                </a:cubicBezTo>
                <a:cubicBezTo>
                  <a:pt x="66675" y="81503"/>
                  <a:pt x="70391" y="77788"/>
                  <a:pt x="75009" y="77788"/>
                </a:cubicBezTo>
                <a:close/>
              </a:path>
            </a:pathLst>
          </a:custGeom>
          <a:solidFill>
            <a:srgbClr val="A67B5C"/>
          </a:solidFill>
          <a:ln/>
        </p:spPr>
      </p:sp>
      <p:sp>
        <p:nvSpPr>
          <p:cNvPr id="18" name="Text 16"/>
          <p:cNvSpPr/>
          <p:nvPr/>
        </p:nvSpPr>
        <p:spPr>
          <a:xfrm>
            <a:off x="1295400" y="5283200"/>
            <a:ext cx="3759200" cy="254000"/>
          </a:xfrm>
          <a:prstGeom prst="rect">
            <a:avLst/>
          </a:prstGeom>
          <a:noFill/>
          <a:ln/>
        </p:spPr>
        <p:txBody>
          <a:bodyPr wrap="square" lIns="0" tIns="0" rIns="0" bIns="0" rtlCol="0" anchor="ctr"/>
          <a:lstStyle/>
          <a:p>
            <a:pPr>
              <a:lnSpc>
                <a:spcPct val="120000"/>
              </a:lnSpc>
            </a:pPr>
            <a:r>
              <a:rPr lang="en-US" sz="1400" dirty="0">
                <a:solidFill>
                  <a:srgbClr val="495057">
                    <a:alpha val="70000"/>
                  </a:srgbClr>
                </a:solidFill>
                <a:latin typeface="MiSans" pitchFamily="34" charset="0"/>
                <a:ea typeface="MiSans" pitchFamily="34" charset="-122"/>
                <a:cs typeface="MiSans" pitchFamily="34" charset="-120"/>
              </a:rPr>
              <a:t>例如：玫瑰、枪支、蛋糕等</a:t>
            </a:r>
            <a:endParaRPr lang="en-US" sz="1600" dirty="0"/>
          </a:p>
        </p:txBody>
      </p:sp>
      <p:sp>
        <p:nvSpPr>
          <p:cNvPr id="19" name="Shape 17"/>
          <p:cNvSpPr/>
          <p:nvPr/>
        </p:nvSpPr>
        <p:spPr>
          <a:xfrm>
            <a:off x="5672634" y="3149600"/>
            <a:ext cx="4914900" cy="2844800"/>
          </a:xfrm>
          <a:custGeom>
            <a:avLst/>
            <a:gdLst/>
            <a:ahLst/>
            <a:cxnLst/>
            <a:rect l="l" t="t" r="r" b="b"/>
            <a:pathLst>
              <a:path w="4914900" h="2844800">
                <a:moveTo>
                  <a:pt x="101588" y="0"/>
                </a:moveTo>
                <a:lnTo>
                  <a:pt x="4813312" y="0"/>
                </a:lnTo>
                <a:cubicBezTo>
                  <a:pt x="4869418" y="0"/>
                  <a:pt x="4914900" y="45482"/>
                  <a:pt x="4914900" y="101588"/>
                </a:cubicBezTo>
                <a:lnTo>
                  <a:pt x="4914900" y="2743212"/>
                </a:lnTo>
                <a:cubicBezTo>
                  <a:pt x="4914900" y="2799318"/>
                  <a:pt x="4869418" y="2844800"/>
                  <a:pt x="4813312" y="2844800"/>
                </a:cubicBezTo>
                <a:lnTo>
                  <a:pt x="101588" y="2844800"/>
                </a:lnTo>
                <a:cubicBezTo>
                  <a:pt x="45482" y="2844800"/>
                  <a:pt x="0" y="2799318"/>
                  <a:pt x="0" y="2743212"/>
                </a:cubicBezTo>
                <a:lnTo>
                  <a:pt x="0" y="101588"/>
                </a:lnTo>
                <a:cubicBezTo>
                  <a:pt x="0" y="45482"/>
                  <a:pt x="45482" y="0"/>
                  <a:pt x="101588" y="0"/>
                </a:cubicBezTo>
                <a:close/>
              </a:path>
            </a:pathLst>
          </a:custGeom>
          <a:solidFill>
            <a:srgbClr val="FFFFFF"/>
          </a:solidFill>
          <a:ln/>
          <a:effectLst>
            <a:outerShdw sx="100000" sy="100000" kx="0" ky="0" algn="bl" rotWithShape="0" blurRad="76200" dist="50800" dir="5400000">
              <a:srgbClr val="000000">
                <a:alpha val="10196"/>
              </a:srgbClr>
            </a:outerShdw>
          </a:effectLst>
        </p:spPr>
      </p:sp>
      <p:sp>
        <p:nvSpPr>
          <p:cNvPr id="20" name="Shape 18"/>
          <p:cNvSpPr/>
          <p:nvPr/>
        </p:nvSpPr>
        <p:spPr>
          <a:xfrm>
            <a:off x="5977434" y="3454400"/>
            <a:ext cx="609600" cy="609600"/>
          </a:xfrm>
          <a:custGeom>
            <a:avLst/>
            <a:gdLst/>
            <a:ahLst/>
            <a:cxnLst/>
            <a:rect l="l" t="t" r="r" b="b"/>
            <a:pathLst>
              <a:path w="609600" h="609600">
                <a:moveTo>
                  <a:pt x="304800" y="0"/>
                </a:moveTo>
                <a:lnTo>
                  <a:pt x="304800" y="0"/>
                </a:lnTo>
                <a:cubicBezTo>
                  <a:pt x="473024" y="0"/>
                  <a:pt x="609600" y="136576"/>
                  <a:pt x="609600" y="304800"/>
                </a:cubicBezTo>
                <a:lnTo>
                  <a:pt x="609600" y="304800"/>
                </a:lnTo>
                <a:cubicBezTo>
                  <a:pt x="609600" y="473024"/>
                  <a:pt x="473024" y="609600"/>
                  <a:pt x="304800" y="609600"/>
                </a:cubicBezTo>
                <a:lnTo>
                  <a:pt x="304800" y="609600"/>
                </a:lnTo>
                <a:cubicBezTo>
                  <a:pt x="136576" y="609600"/>
                  <a:pt x="0" y="473024"/>
                  <a:pt x="0" y="304800"/>
                </a:cubicBezTo>
                <a:lnTo>
                  <a:pt x="0" y="304800"/>
                </a:lnTo>
                <a:cubicBezTo>
                  <a:pt x="0" y="136576"/>
                  <a:pt x="136576" y="0"/>
                  <a:pt x="304800" y="0"/>
                </a:cubicBezTo>
                <a:close/>
              </a:path>
            </a:pathLst>
          </a:custGeom>
          <a:solidFill>
            <a:srgbClr val="495057"/>
          </a:solidFill>
          <a:ln/>
        </p:spPr>
      </p:sp>
      <p:sp>
        <p:nvSpPr>
          <p:cNvPr id="21" name="Shape 19"/>
          <p:cNvSpPr/>
          <p:nvPr/>
        </p:nvSpPr>
        <p:spPr>
          <a:xfrm>
            <a:off x="6171109" y="3632200"/>
            <a:ext cx="222250" cy="254000"/>
          </a:xfrm>
          <a:custGeom>
            <a:avLst/>
            <a:gdLst/>
            <a:ahLst/>
            <a:cxnLst/>
            <a:rect l="l" t="t" r="r" b="b"/>
            <a:pathLst>
              <a:path w="222250" h="254000">
                <a:moveTo>
                  <a:pt x="31750" y="15875"/>
                </a:moveTo>
                <a:cubicBezTo>
                  <a:pt x="14238" y="15875"/>
                  <a:pt x="0" y="30113"/>
                  <a:pt x="0" y="47625"/>
                </a:cubicBezTo>
                <a:lnTo>
                  <a:pt x="0" y="206375"/>
                </a:lnTo>
                <a:cubicBezTo>
                  <a:pt x="0" y="223887"/>
                  <a:pt x="14238" y="238125"/>
                  <a:pt x="31750" y="238125"/>
                </a:cubicBezTo>
                <a:lnTo>
                  <a:pt x="190500" y="238125"/>
                </a:lnTo>
                <a:cubicBezTo>
                  <a:pt x="208012" y="238125"/>
                  <a:pt x="222250" y="223887"/>
                  <a:pt x="222250" y="206375"/>
                </a:cubicBezTo>
                <a:lnTo>
                  <a:pt x="222250" y="47625"/>
                </a:lnTo>
                <a:cubicBezTo>
                  <a:pt x="222250" y="30113"/>
                  <a:pt x="208012" y="15875"/>
                  <a:pt x="190500" y="15875"/>
                </a:cubicBezTo>
                <a:lnTo>
                  <a:pt x="31750" y="15875"/>
                </a:lnTo>
                <a:close/>
                <a:moveTo>
                  <a:pt x="63500" y="55563"/>
                </a:moveTo>
                <a:cubicBezTo>
                  <a:pt x="76642" y="55563"/>
                  <a:pt x="87313" y="66233"/>
                  <a:pt x="87313" y="79375"/>
                </a:cubicBezTo>
                <a:cubicBezTo>
                  <a:pt x="87313" y="92517"/>
                  <a:pt x="76642" y="103188"/>
                  <a:pt x="63500" y="103188"/>
                </a:cubicBezTo>
                <a:cubicBezTo>
                  <a:pt x="50358" y="103188"/>
                  <a:pt x="39688" y="92517"/>
                  <a:pt x="39688" y="79375"/>
                </a:cubicBezTo>
                <a:cubicBezTo>
                  <a:pt x="39688" y="66233"/>
                  <a:pt x="50358" y="55563"/>
                  <a:pt x="63500" y="55563"/>
                </a:cubicBezTo>
                <a:close/>
                <a:moveTo>
                  <a:pt x="134938" y="111125"/>
                </a:moveTo>
                <a:cubicBezTo>
                  <a:pt x="139105" y="111125"/>
                  <a:pt x="142925" y="113308"/>
                  <a:pt x="145107" y="116830"/>
                </a:cubicBezTo>
                <a:lnTo>
                  <a:pt x="188764" y="188268"/>
                </a:lnTo>
                <a:cubicBezTo>
                  <a:pt x="190996" y="191939"/>
                  <a:pt x="191095" y="196552"/>
                  <a:pt x="189012" y="200323"/>
                </a:cubicBezTo>
                <a:cubicBezTo>
                  <a:pt x="186928" y="204093"/>
                  <a:pt x="182910" y="206375"/>
                  <a:pt x="178594" y="206375"/>
                </a:cubicBezTo>
                <a:lnTo>
                  <a:pt x="43656" y="206375"/>
                </a:lnTo>
                <a:cubicBezTo>
                  <a:pt x="39241" y="206375"/>
                  <a:pt x="35123" y="203895"/>
                  <a:pt x="33089" y="199975"/>
                </a:cubicBezTo>
                <a:cubicBezTo>
                  <a:pt x="31055" y="196056"/>
                  <a:pt x="31353" y="191294"/>
                  <a:pt x="33883" y="187672"/>
                </a:cubicBezTo>
                <a:lnTo>
                  <a:pt x="61664" y="147985"/>
                </a:lnTo>
                <a:cubicBezTo>
                  <a:pt x="63897" y="144810"/>
                  <a:pt x="67518" y="142925"/>
                  <a:pt x="71438" y="142925"/>
                </a:cubicBezTo>
                <a:cubicBezTo>
                  <a:pt x="75357" y="142925"/>
                  <a:pt x="78978" y="144810"/>
                  <a:pt x="81211" y="147985"/>
                </a:cubicBezTo>
                <a:lnTo>
                  <a:pt x="94307" y="166737"/>
                </a:lnTo>
                <a:lnTo>
                  <a:pt x="124768" y="116880"/>
                </a:lnTo>
                <a:cubicBezTo>
                  <a:pt x="126950" y="113357"/>
                  <a:pt x="130770" y="111175"/>
                  <a:pt x="134938" y="111175"/>
                </a:cubicBezTo>
                <a:close/>
              </a:path>
            </a:pathLst>
          </a:custGeom>
          <a:solidFill>
            <a:srgbClr val="FFFFFF"/>
          </a:solidFill>
          <a:ln/>
        </p:spPr>
      </p:sp>
      <p:sp>
        <p:nvSpPr>
          <p:cNvPr id="22" name="Text 20"/>
          <p:cNvSpPr/>
          <p:nvPr/>
        </p:nvSpPr>
        <p:spPr>
          <a:xfrm>
            <a:off x="6739434" y="3581400"/>
            <a:ext cx="1485900" cy="355600"/>
          </a:xfrm>
          <a:prstGeom prst="rect">
            <a:avLst/>
          </a:prstGeom>
          <a:noFill/>
          <a:ln/>
        </p:spPr>
        <p:txBody>
          <a:bodyPr wrap="square" lIns="0" tIns="0" rIns="0" bIns="0" rtlCol="0" anchor="ctr"/>
          <a:lstStyle/>
          <a:p>
            <a:pPr>
              <a:lnSpc>
                <a:spcPct val="120000"/>
              </a:lnSpc>
            </a:pPr>
            <a:r>
              <a:rPr lang="en-US" sz="2000" b="1" dirty="0">
                <a:solidFill>
                  <a:srgbClr val="495057"/>
                </a:solidFill>
                <a:latin typeface="Noto Sans SC" pitchFamily="34" charset="0"/>
                <a:ea typeface="Noto Sans SC" pitchFamily="34" charset="-122"/>
                <a:cs typeface="Noto Sans SC" pitchFamily="34" charset="-120"/>
              </a:rPr>
              <a:t>场景特征 Vs</a:t>
            </a:r>
            <a:endParaRPr lang="en-US" sz="1600" dirty="0"/>
          </a:p>
        </p:txBody>
      </p:sp>
      <p:sp>
        <p:nvSpPr>
          <p:cNvPr id="23" name="Text 21"/>
          <p:cNvSpPr/>
          <p:nvPr/>
        </p:nvSpPr>
        <p:spPr>
          <a:xfrm>
            <a:off x="5977434" y="4267200"/>
            <a:ext cx="4406900" cy="660400"/>
          </a:xfrm>
          <a:prstGeom prst="rect">
            <a:avLst/>
          </a:prstGeom>
          <a:noFill/>
          <a:ln/>
        </p:spPr>
        <p:txBody>
          <a:bodyPr wrap="square" lIns="0" tIns="0" rIns="0" bIns="0" rtlCol="0" anchor="ctr"/>
          <a:lstStyle/>
          <a:p>
            <a:pPr>
              <a:lnSpc>
                <a:spcPct val="140000"/>
              </a:lnSpc>
            </a:pPr>
            <a:r>
              <a:rPr lang="en-US" sz="1600" dirty="0">
                <a:solidFill>
                  <a:srgbClr val="495057">
                    <a:alpha val="80000"/>
                  </a:srgbClr>
                </a:solidFill>
                <a:latin typeface="MiSans" pitchFamily="34" charset="0"/>
                <a:ea typeface="MiSans" pitchFamily="34" charset="-122"/>
                <a:cs typeface="MiSans" pitchFamily="34" charset="-120"/>
              </a:rPr>
              <a:t>从图像中提取的</a:t>
            </a:r>
            <a:pPr>
              <a:lnSpc>
                <a:spcPct val="140000"/>
              </a:lnSpc>
            </a:pPr>
            <a:r>
              <a:rPr lang="en-US" sz="1600" b="1" dirty="0">
                <a:solidFill>
                  <a:srgbClr val="495057"/>
                </a:solidFill>
                <a:latin typeface="MiSans" pitchFamily="34" charset="0"/>
                <a:ea typeface="MiSans" pitchFamily="34" charset="-122"/>
                <a:cs typeface="MiSans" pitchFamily="34" charset="-120"/>
              </a:rPr>
              <a:t>365维场景语义信息</a:t>
            </a:r>
            <a:pPr>
              <a:lnSpc>
                <a:spcPct val="140000"/>
              </a:lnSpc>
            </a:pPr>
            <a:r>
              <a:rPr lang="en-US" sz="1600" dirty="0">
                <a:solidFill>
                  <a:srgbClr val="495057">
                    <a:alpha val="80000"/>
                  </a:srgbClr>
                </a:solidFill>
                <a:latin typeface="MiSans" pitchFamily="34" charset="0"/>
                <a:ea typeface="MiSans" pitchFamily="34" charset="-122"/>
                <a:cs typeface="MiSans" pitchFamily="34" charset="-120"/>
              </a:rPr>
              <a:t>，提供情感发生的背景环境</a:t>
            </a:r>
            <a:endParaRPr lang="en-US" sz="1600" dirty="0"/>
          </a:p>
        </p:txBody>
      </p:sp>
      <p:sp>
        <p:nvSpPr>
          <p:cNvPr id="24" name="Shape 22"/>
          <p:cNvSpPr/>
          <p:nvPr/>
        </p:nvSpPr>
        <p:spPr>
          <a:xfrm>
            <a:off x="5977434" y="5130800"/>
            <a:ext cx="4305300" cy="558800"/>
          </a:xfrm>
          <a:custGeom>
            <a:avLst/>
            <a:gdLst/>
            <a:ahLst/>
            <a:cxnLst/>
            <a:rect l="l" t="t" r="r" b="b"/>
            <a:pathLst>
              <a:path w="4305300" h="558800">
                <a:moveTo>
                  <a:pt x="50801" y="0"/>
                </a:moveTo>
                <a:lnTo>
                  <a:pt x="4254499" y="0"/>
                </a:lnTo>
                <a:cubicBezTo>
                  <a:pt x="4282556" y="0"/>
                  <a:pt x="4305300" y="22744"/>
                  <a:pt x="4305300" y="50801"/>
                </a:cubicBezTo>
                <a:lnTo>
                  <a:pt x="4305300" y="507999"/>
                </a:lnTo>
                <a:cubicBezTo>
                  <a:pt x="4305300" y="536056"/>
                  <a:pt x="4282556" y="558800"/>
                  <a:pt x="4254499" y="558800"/>
                </a:cubicBezTo>
                <a:lnTo>
                  <a:pt x="50801" y="558800"/>
                </a:lnTo>
                <a:cubicBezTo>
                  <a:pt x="22744" y="558800"/>
                  <a:pt x="0" y="536056"/>
                  <a:pt x="0" y="507999"/>
                </a:cubicBezTo>
                <a:lnTo>
                  <a:pt x="0" y="50801"/>
                </a:lnTo>
                <a:cubicBezTo>
                  <a:pt x="0" y="22763"/>
                  <a:pt x="22763" y="0"/>
                  <a:pt x="50801" y="0"/>
                </a:cubicBezTo>
                <a:close/>
              </a:path>
            </a:pathLst>
          </a:custGeom>
          <a:solidFill>
            <a:srgbClr val="495057">
              <a:alpha val="5098"/>
            </a:srgbClr>
          </a:solidFill>
          <a:ln/>
        </p:spPr>
      </p:sp>
      <p:sp>
        <p:nvSpPr>
          <p:cNvPr id="25" name="Shape 23"/>
          <p:cNvSpPr/>
          <p:nvPr/>
        </p:nvSpPr>
        <p:spPr>
          <a:xfrm>
            <a:off x="6155234" y="5308600"/>
            <a:ext cx="177800" cy="177800"/>
          </a:xfrm>
          <a:custGeom>
            <a:avLst/>
            <a:gdLst/>
            <a:ahLst/>
            <a:cxnLst/>
            <a:rect l="l" t="t" r="r" b="b"/>
            <a:pathLst>
              <a:path w="177800" h="177800">
                <a:moveTo>
                  <a:pt x="88900" y="177800"/>
                </a:moveTo>
                <a:cubicBezTo>
                  <a:pt x="137965" y="177800"/>
                  <a:pt x="177800" y="137965"/>
                  <a:pt x="177800" y="88900"/>
                </a:cubicBezTo>
                <a:cubicBezTo>
                  <a:pt x="177800" y="39835"/>
                  <a:pt x="137965" y="0"/>
                  <a:pt x="88900" y="0"/>
                </a:cubicBezTo>
                <a:cubicBezTo>
                  <a:pt x="39835" y="0"/>
                  <a:pt x="0" y="39835"/>
                  <a:pt x="0" y="88900"/>
                </a:cubicBezTo>
                <a:cubicBezTo>
                  <a:pt x="0" y="137965"/>
                  <a:pt x="39835" y="177800"/>
                  <a:pt x="88900" y="177800"/>
                </a:cubicBezTo>
                <a:close/>
                <a:moveTo>
                  <a:pt x="77788" y="55563"/>
                </a:moveTo>
                <a:cubicBezTo>
                  <a:pt x="77788" y="49429"/>
                  <a:pt x="82767" y="44450"/>
                  <a:pt x="88900" y="44450"/>
                </a:cubicBezTo>
                <a:cubicBezTo>
                  <a:pt x="95033" y="44450"/>
                  <a:pt x="100013" y="49429"/>
                  <a:pt x="100013" y="55563"/>
                </a:cubicBezTo>
                <a:cubicBezTo>
                  <a:pt x="100013" y="61696"/>
                  <a:pt x="95033" y="66675"/>
                  <a:pt x="88900" y="66675"/>
                </a:cubicBezTo>
                <a:cubicBezTo>
                  <a:pt x="82767" y="66675"/>
                  <a:pt x="77788" y="61696"/>
                  <a:pt x="77788" y="55563"/>
                </a:cubicBezTo>
                <a:close/>
                <a:moveTo>
                  <a:pt x="75009" y="77788"/>
                </a:moveTo>
                <a:lnTo>
                  <a:pt x="91678" y="77788"/>
                </a:lnTo>
                <a:cubicBezTo>
                  <a:pt x="96297" y="77788"/>
                  <a:pt x="100013" y="81503"/>
                  <a:pt x="100013" y="86122"/>
                </a:cubicBezTo>
                <a:lnTo>
                  <a:pt x="100013" y="116681"/>
                </a:lnTo>
                <a:lnTo>
                  <a:pt x="102791" y="116681"/>
                </a:lnTo>
                <a:cubicBezTo>
                  <a:pt x="107409" y="116681"/>
                  <a:pt x="111125" y="120397"/>
                  <a:pt x="111125" y="125016"/>
                </a:cubicBezTo>
                <a:cubicBezTo>
                  <a:pt x="111125" y="129634"/>
                  <a:pt x="107409" y="133350"/>
                  <a:pt x="102791" y="133350"/>
                </a:cubicBezTo>
                <a:lnTo>
                  <a:pt x="75009" y="133350"/>
                </a:lnTo>
                <a:cubicBezTo>
                  <a:pt x="70391" y="133350"/>
                  <a:pt x="66675" y="129634"/>
                  <a:pt x="66675" y="125016"/>
                </a:cubicBezTo>
                <a:cubicBezTo>
                  <a:pt x="66675" y="120397"/>
                  <a:pt x="70391" y="116681"/>
                  <a:pt x="75009" y="116681"/>
                </a:cubicBezTo>
                <a:lnTo>
                  <a:pt x="83344" y="116681"/>
                </a:lnTo>
                <a:lnTo>
                  <a:pt x="83344" y="94456"/>
                </a:lnTo>
                <a:lnTo>
                  <a:pt x="75009" y="94456"/>
                </a:lnTo>
                <a:cubicBezTo>
                  <a:pt x="70391" y="94456"/>
                  <a:pt x="66675" y="90741"/>
                  <a:pt x="66675" y="86122"/>
                </a:cubicBezTo>
                <a:cubicBezTo>
                  <a:pt x="66675" y="81503"/>
                  <a:pt x="70391" y="77788"/>
                  <a:pt x="75009" y="77788"/>
                </a:cubicBezTo>
                <a:close/>
              </a:path>
            </a:pathLst>
          </a:custGeom>
          <a:solidFill>
            <a:srgbClr val="495057"/>
          </a:solidFill>
          <a:ln/>
        </p:spPr>
      </p:sp>
      <p:sp>
        <p:nvSpPr>
          <p:cNvPr id="26" name="Text 24"/>
          <p:cNvSpPr/>
          <p:nvPr/>
        </p:nvSpPr>
        <p:spPr>
          <a:xfrm>
            <a:off x="6460034" y="5283200"/>
            <a:ext cx="3759200" cy="254000"/>
          </a:xfrm>
          <a:prstGeom prst="rect">
            <a:avLst/>
          </a:prstGeom>
          <a:noFill/>
          <a:ln/>
        </p:spPr>
        <p:txBody>
          <a:bodyPr wrap="square" lIns="0" tIns="0" rIns="0" bIns="0" rtlCol="0" anchor="ctr"/>
          <a:lstStyle/>
          <a:p>
            <a:pPr>
              <a:lnSpc>
                <a:spcPct val="120000"/>
              </a:lnSpc>
            </a:pPr>
            <a:r>
              <a:rPr lang="en-US" sz="1400" dirty="0">
                <a:solidFill>
                  <a:srgbClr val="495057">
                    <a:alpha val="70000"/>
                  </a:srgbClr>
                </a:solidFill>
                <a:latin typeface="MiSans" pitchFamily="34" charset="0"/>
                <a:ea typeface="MiSans" pitchFamily="34" charset="-122"/>
                <a:cs typeface="MiSans" pitchFamily="34" charset="-120"/>
              </a:rPr>
              <a:t>例如：婚礼礼堂、火灾现场等</a:t>
            </a:r>
            <a:endParaRPr lang="en-US" sz="1600" dirty="0"/>
          </a:p>
        </p:txBody>
      </p:sp>
      <p:sp>
        <p:nvSpPr>
          <p:cNvPr id="27" name="Shape 25"/>
          <p:cNvSpPr/>
          <p:nvPr/>
        </p:nvSpPr>
        <p:spPr>
          <a:xfrm>
            <a:off x="10837267" y="3149600"/>
            <a:ext cx="4914900" cy="2844800"/>
          </a:xfrm>
          <a:custGeom>
            <a:avLst/>
            <a:gdLst/>
            <a:ahLst/>
            <a:cxnLst/>
            <a:rect l="l" t="t" r="r" b="b"/>
            <a:pathLst>
              <a:path w="4914900" h="2844800">
                <a:moveTo>
                  <a:pt x="101588" y="0"/>
                </a:moveTo>
                <a:lnTo>
                  <a:pt x="4813312" y="0"/>
                </a:lnTo>
                <a:cubicBezTo>
                  <a:pt x="4869418" y="0"/>
                  <a:pt x="4914900" y="45482"/>
                  <a:pt x="4914900" y="101588"/>
                </a:cubicBezTo>
                <a:lnTo>
                  <a:pt x="4914900" y="2743212"/>
                </a:lnTo>
                <a:cubicBezTo>
                  <a:pt x="4914900" y="2799318"/>
                  <a:pt x="4869418" y="2844800"/>
                  <a:pt x="4813312" y="2844800"/>
                </a:cubicBezTo>
                <a:lnTo>
                  <a:pt x="101588" y="2844800"/>
                </a:lnTo>
                <a:cubicBezTo>
                  <a:pt x="45482" y="2844800"/>
                  <a:pt x="0" y="2799318"/>
                  <a:pt x="0" y="2743212"/>
                </a:cubicBezTo>
                <a:lnTo>
                  <a:pt x="0" y="101588"/>
                </a:lnTo>
                <a:cubicBezTo>
                  <a:pt x="0" y="45482"/>
                  <a:pt x="45482" y="0"/>
                  <a:pt x="101588" y="0"/>
                </a:cubicBezTo>
                <a:close/>
              </a:path>
            </a:pathLst>
          </a:custGeom>
          <a:solidFill>
            <a:srgbClr val="FFFFFF"/>
          </a:solidFill>
          <a:ln/>
          <a:effectLst>
            <a:outerShdw sx="100000" sy="100000" kx="0" ky="0" algn="bl" rotWithShape="0" blurRad="76200" dist="50800" dir="5400000">
              <a:srgbClr val="000000">
                <a:alpha val="10196"/>
              </a:srgbClr>
            </a:outerShdw>
          </a:effectLst>
        </p:spPr>
      </p:sp>
      <p:sp>
        <p:nvSpPr>
          <p:cNvPr id="28" name="Shape 26"/>
          <p:cNvSpPr/>
          <p:nvPr/>
        </p:nvSpPr>
        <p:spPr>
          <a:xfrm>
            <a:off x="11142067" y="3454400"/>
            <a:ext cx="609600" cy="609600"/>
          </a:xfrm>
          <a:custGeom>
            <a:avLst/>
            <a:gdLst/>
            <a:ahLst/>
            <a:cxnLst/>
            <a:rect l="l" t="t" r="r" b="b"/>
            <a:pathLst>
              <a:path w="609600" h="609600">
                <a:moveTo>
                  <a:pt x="304800" y="0"/>
                </a:moveTo>
                <a:lnTo>
                  <a:pt x="304800" y="0"/>
                </a:lnTo>
                <a:cubicBezTo>
                  <a:pt x="473024" y="0"/>
                  <a:pt x="609600" y="136576"/>
                  <a:pt x="609600" y="304800"/>
                </a:cubicBezTo>
                <a:lnTo>
                  <a:pt x="609600" y="304800"/>
                </a:lnTo>
                <a:cubicBezTo>
                  <a:pt x="609600" y="473024"/>
                  <a:pt x="473024" y="609600"/>
                  <a:pt x="304800" y="609600"/>
                </a:cubicBezTo>
                <a:lnTo>
                  <a:pt x="304800" y="609600"/>
                </a:lnTo>
                <a:cubicBezTo>
                  <a:pt x="136576" y="609600"/>
                  <a:pt x="0" y="473024"/>
                  <a:pt x="0" y="304800"/>
                </a:cubicBezTo>
                <a:lnTo>
                  <a:pt x="0" y="304800"/>
                </a:lnTo>
                <a:cubicBezTo>
                  <a:pt x="0" y="136576"/>
                  <a:pt x="136576" y="0"/>
                  <a:pt x="304800" y="0"/>
                </a:cubicBezTo>
                <a:close/>
              </a:path>
            </a:pathLst>
          </a:custGeom>
          <a:solidFill>
            <a:srgbClr val="A67B5C"/>
          </a:solidFill>
          <a:ln/>
        </p:spPr>
      </p:sp>
      <p:sp>
        <p:nvSpPr>
          <p:cNvPr id="29" name="Shape 27"/>
          <p:cNvSpPr/>
          <p:nvPr/>
        </p:nvSpPr>
        <p:spPr>
          <a:xfrm>
            <a:off x="11319867" y="3632200"/>
            <a:ext cx="254000" cy="254000"/>
          </a:xfrm>
          <a:custGeom>
            <a:avLst/>
            <a:gdLst/>
            <a:ahLst/>
            <a:cxnLst/>
            <a:rect l="l" t="t" r="r" b="b"/>
            <a:pathLst>
              <a:path w="254000" h="254000">
                <a:moveTo>
                  <a:pt x="141436" y="25152"/>
                </a:moveTo>
                <a:cubicBezTo>
                  <a:pt x="138857" y="19496"/>
                  <a:pt x="133201" y="15875"/>
                  <a:pt x="127000" y="15875"/>
                </a:cubicBezTo>
                <a:cubicBezTo>
                  <a:pt x="120799" y="15875"/>
                  <a:pt x="115143" y="19496"/>
                  <a:pt x="112564" y="25152"/>
                </a:cubicBezTo>
                <a:lnTo>
                  <a:pt x="29518" y="206375"/>
                </a:lnTo>
                <a:lnTo>
                  <a:pt x="23812" y="206375"/>
                </a:lnTo>
                <a:cubicBezTo>
                  <a:pt x="15032" y="206375"/>
                  <a:pt x="7938" y="213469"/>
                  <a:pt x="7938" y="222250"/>
                </a:cubicBezTo>
                <a:cubicBezTo>
                  <a:pt x="7938" y="231031"/>
                  <a:pt x="15032" y="238125"/>
                  <a:pt x="23812" y="238125"/>
                </a:cubicBezTo>
                <a:lnTo>
                  <a:pt x="67469" y="238125"/>
                </a:lnTo>
                <a:cubicBezTo>
                  <a:pt x="76250" y="238125"/>
                  <a:pt x="83344" y="231031"/>
                  <a:pt x="83344" y="222250"/>
                </a:cubicBezTo>
                <a:cubicBezTo>
                  <a:pt x="83344" y="213469"/>
                  <a:pt x="76250" y="206375"/>
                  <a:pt x="67469" y="206375"/>
                </a:cubicBezTo>
                <a:lnTo>
                  <a:pt x="64443" y="206375"/>
                </a:lnTo>
                <a:lnTo>
                  <a:pt x="75357" y="182563"/>
                </a:lnTo>
                <a:lnTo>
                  <a:pt x="178693" y="182563"/>
                </a:lnTo>
                <a:lnTo>
                  <a:pt x="189607" y="206375"/>
                </a:lnTo>
                <a:lnTo>
                  <a:pt x="186581" y="206375"/>
                </a:lnTo>
                <a:cubicBezTo>
                  <a:pt x="177800" y="206375"/>
                  <a:pt x="170706" y="213469"/>
                  <a:pt x="170706" y="222250"/>
                </a:cubicBezTo>
                <a:cubicBezTo>
                  <a:pt x="170706" y="231031"/>
                  <a:pt x="177800" y="238125"/>
                  <a:pt x="186581" y="238125"/>
                </a:cubicBezTo>
                <a:lnTo>
                  <a:pt x="230237" y="238125"/>
                </a:lnTo>
                <a:cubicBezTo>
                  <a:pt x="239018" y="238125"/>
                  <a:pt x="246112" y="231031"/>
                  <a:pt x="246112" y="222250"/>
                </a:cubicBezTo>
                <a:cubicBezTo>
                  <a:pt x="246112" y="213469"/>
                  <a:pt x="239018" y="206375"/>
                  <a:pt x="230237" y="206375"/>
                </a:cubicBezTo>
                <a:lnTo>
                  <a:pt x="224532" y="206375"/>
                </a:lnTo>
                <a:lnTo>
                  <a:pt x="141486" y="25152"/>
                </a:lnTo>
                <a:close/>
                <a:moveTo>
                  <a:pt x="164108" y="150813"/>
                </a:moveTo>
                <a:lnTo>
                  <a:pt x="89892" y="150813"/>
                </a:lnTo>
                <a:lnTo>
                  <a:pt x="127000" y="69850"/>
                </a:lnTo>
                <a:lnTo>
                  <a:pt x="164108" y="150813"/>
                </a:lnTo>
                <a:close/>
              </a:path>
            </a:pathLst>
          </a:custGeom>
          <a:solidFill>
            <a:srgbClr val="FFFFFF"/>
          </a:solidFill>
          <a:ln/>
        </p:spPr>
      </p:sp>
      <p:sp>
        <p:nvSpPr>
          <p:cNvPr id="30" name="Text 28"/>
          <p:cNvSpPr/>
          <p:nvPr/>
        </p:nvSpPr>
        <p:spPr>
          <a:xfrm>
            <a:off x="11904067" y="3581400"/>
            <a:ext cx="1473200" cy="355600"/>
          </a:xfrm>
          <a:prstGeom prst="rect">
            <a:avLst/>
          </a:prstGeom>
          <a:noFill/>
          <a:ln/>
        </p:spPr>
        <p:txBody>
          <a:bodyPr wrap="square" lIns="0" tIns="0" rIns="0" bIns="0" rtlCol="0" anchor="ctr"/>
          <a:lstStyle/>
          <a:p>
            <a:pPr>
              <a:lnSpc>
                <a:spcPct val="120000"/>
              </a:lnSpc>
            </a:pPr>
            <a:r>
              <a:rPr lang="en-US" sz="2000" b="1" dirty="0">
                <a:solidFill>
                  <a:srgbClr val="495057"/>
                </a:solidFill>
                <a:latin typeface="Noto Sans SC" pitchFamily="34" charset="0"/>
                <a:ea typeface="Noto Sans SC" pitchFamily="34" charset="-122"/>
                <a:cs typeface="Noto Sans SC" pitchFamily="34" charset="-120"/>
              </a:rPr>
              <a:t>文本特征 Vτ</a:t>
            </a:r>
            <a:endParaRPr lang="en-US" sz="1600" dirty="0"/>
          </a:p>
        </p:txBody>
      </p:sp>
      <p:sp>
        <p:nvSpPr>
          <p:cNvPr id="31" name="Text 29"/>
          <p:cNvSpPr/>
          <p:nvPr/>
        </p:nvSpPr>
        <p:spPr>
          <a:xfrm>
            <a:off x="11142067" y="4267200"/>
            <a:ext cx="4406900" cy="660400"/>
          </a:xfrm>
          <a:prstGeom prst="rect">
            <a:avLst/>
          </a:prstGeom>
          <a:noFill/>
          <a:ln/>
        </p:spPr>
        <p:txBody>
          <a:bodyPr wrap="square" lIns="0" tIns="0" rIns="0" bIns="0" rtlCol="0" anchor="ctr"/>
          <a:lstStyle/>
          <a:p>
            <a:pPr>
              <a:lnSpc>
                <a:spcPct val="140000"/>
              </a:lnSpc>
            </a:pPr>
            <a:r>
              <a:rPr lang="en-US" sz="1600" dirty="0">
                <a:solidFill>
                  <a:srgbClr val="495057">
                    <a:alpha val="80000"/>
                  </a:srgbClr>
                </a:solidFill>
                <a:latin typeface="MiSans" pitchFamily="34" charset="0"/>
                <a:ea typeface="MiSans" pitchFamily="34" charset="-122"/>
                <a:cs typeface="MiSans" pitchFamily="34" charset="-120"/>
              </a:rPr>
              <a:t>通过</a:t>
            </a:r>
            <a:pPr>
              <a:lnSpc>
                <a:spcPct val="140000"/>
              </a:lnSpc>
            </a:pPr>
            <a:r>
              <a:rPr lang="en-US" sz="1600" b="1" dirty="0">
                <a:solidFill>
                  <a:srgbClr val="A67B5C"/>
                </a:solidFill>
                <a:latin typeface="MiSans" pitchFamily="34" charset="0"/>
                <a:ea typeface="MiSans" pitchFamily="34" charset="-122"/>
                <a:cs typeface="MiSans" pitchFamily="34" charset="-120"/>
              </a:rPr>
              <a:t>视觉引导注意力机制</a:t>
            </a:r>
            <a:pPr>
              <a:lnSpc>
                <a:spcPct val="140000"/>
              </a:lnSpc>
            </a:pPr>
            <a:r>
              <a:rPr lang="en-US" sz="1600" dirty="0">
                <a:solidFill>
                  <a:srgbClr val="495057">
                    <a:alpha val="80000"/>
                  </a:srgbClr>
                </a:solidFill>
                <a:latin typeface="MiSans" pitchFamily="34" charset="0"/>
                <a:ea typeface="MiSans" pitchFamily="34" charset="-122"/>
                <a:cs typeface="MiSans" pitchFamily="34" charset="-120"/>
              </a:rPr>
              <a:t>提取的文本表示，聚焦于关键情感词汇</a:t>
            </a:r>
            <a:endParaRPr lang="en-US" sz="1600" dirty="0"/>
          </a:p>
        </p:txBody>
      </p:sp>
      <p:sp>
        <p:nvSpPr>
          <p:cNvPr id="32" name="Shape 30"/>
          <p:cNvSpPr/>
          <p:nvPr/>
        </p:nvSpPr>
        <p:spPr>
          <a:xfrm>
            <a:off x="11142067" y="5130800"/>
            <a:ext cx="4305300" cy="558800"/>
          </a:xfrm>
          <a:custGeom>
            <a:avLst/>
            <a:gdLst/>
            <a:ahLst/>
            <a:cxnLst/>
            <a:rect l="l" t="t" r="r" b="b"/>
            <a:pathLst>
              <a:path w="4305300" h="558800">
                <a:moveTo>
                  <a:pt x="50801" y="0"/>
                </a:moveTo>
                <a:lnTo>
                  <a:pt x="4254499" y="0"/>
                </a:lnTo>
                <a:cubicBezTo>
                  <a:pt x="4282556" y="0"/>
                  <a:pt x="4305300" y="22744"/>
                  <a:pt x="4305300" y="50801"/>
                </a:cubicBezTo>
                <a:lnTo>
                  <a:pt x="4305300" y="507999"/>
                </a:lnTo>
                <a:cubicBezTo>
                  <a:pt x="4305300" y="536056"/>
                  <a:pt x="4282556" y="558800"/>
                  <a:pt x="4254499" y="558800"/>
                </a:cubicBezTo>
                <a:lnTo>
                  <a:pt x="50801" y="558800"/>
                </a:lnTo>
                <a:cubicBezTo>
                  <a:pt x="22744" y="558800"/>
                  <a:pt x="0" y="536056"/>
                  <a:pt x="0" y="507999"/>
                </a:cubicBezTo>
                <a:lnTo>
                  <a:pt x="0" y="50801"/>
                </a:lnTo>
                <a:cubicBezTo>
                  <a:pt x="0" y="22763"/>
                  <a:pt x="22763" y="0"/>
                  <a:pt x="50801" y="0"/>
                </a:cubicBezTo>
                <a:close/>
              </a:path>
            </a:pathLst>
          </a:custGeom>
          <a:solidFill>
            <a:srgbClr val="A67B5C">
              <a:alpha val="5098"/>
            </a:srgbClr>
          </a:solidFill>
          <a:ln/>
        </p:spPr>
      </p:sp>
      <p:sp>
        <p:nvSpPr>
          <p:cNvPr id="33" name="Shape 31"/>
          <p:cNvSpPr/>
          <p:nvPr/>
        </p:nvSpPr>
        <p:spPr>
          <a:xfrm>
            <a:off x="11319867" y="5308600"/>
            <a:ext cx="177800" cy="177800"/>
          </a:xfrm>
          <a:custGeom>
            <a:avLst/>
            <a:gdLst/>
            <a:ahLst/>
            <a:cxnLst/>
            <a:rect l="l" t="t" r="r" b="b"/>
            <a:pathLst>
              <a:path w="177800" h="177800">
                <a:moveTo>
                  <a:pt x="88900" y="177800"/>
                </a:moveTo>
                <a:cubicBezTo>
                  <a:pt x="137965" y="177800"/>
                  <a:pt x="177800" y="137965"/>
                  <a:pt x="177800" y="88900"/>
                </a:cubicBezTo>
                <a:cubicBezTo>
                  <a:pt x="177800" y="39835"/>
                  <a:pt x="137965" y="0"/>
                  <a:pt x="88900" y="0"/>
                </a:cubicBezTo>
                <a:cubicBezTo>
                  <a:pt x="39835" y="0"/>
                  <a:pt x="0" y="39835"/>
                  <a:pt x="0" y="88900"/>
                </a:cubicBezTo>
                <a:cubicBezTo>
                  <a:pt x="0" y="137965"/>
                  <a:pt x="39835" y="177800"/>
                  <a:pt x="88900" y="177800"/>
                </a:cubicBezTo>
                <a:close/>
                <a:moveTo>
                  <a:pt x="77788" y="55563"/>
                </a:moveTo>
                <a:cubicBezTo>
                  <a:pt x="77788" y="49429"/>
                  <a:pt x="82767" y="44450"/>
                  <a:pt x="88900" y="44450"/>
                </a:cubicBezTo>
                <a:cubicBezTo>
                  <a:pt x="95033" y="44450"/>
                  <a:pt x="100013" y="49429"/>
                  <a:pt x="100013" y="55563"/>
                </a:cubicBezTo>
                <a:cubicBezTo>
                  <a:pt x="100013" y="61696"/>
                  <a:pt x="95033" y="66675"/>
                  <a:pt x="88900" y="66675"/>
                </a:cubicBezTo>
                <a:cubicBezTo>
                  <a:pt x="82767" y="66675"/>
                  <a:pt x="77788" y="61696"/>
                  <a:pt x="77788" y="55563"/>
                </a:cubicBezTo>
                <a:close/>
                <a:moveTo>
                  <a:pt x="75009" y="77788"/>
                </a:moveTo>
                <a:lnTo>
                  <a:pt x="91678" y="77788"/>
                </a:lnTo>
                <a:cubicBezTo>
                  <a:pt x="96297" y="77788"/>
                  <a:pt x="100013" y="81503"/>
                  <a:pt x="100013" y="86122"/>
                </a:cubicBezTo>
                <a:lnTo>
                  <a:pt x="100013" y="116681"/>
                </a:lnTo>
                <a:lnTo>
                  <a:pt x="102791" y="116681"/>
                </a:lnTo>
                <a:cubicBezTo>
                  <a:pt x="107409" y="116681"/>
                  <a:pt x="111125" y="120397"/>
                  <a:pt x="111125" y="125016"/>
                </a:cubicBezTo>
                <a:cubicBezTo>
                  <a:pt x="111125" y="129634"/>
                  <a:pt x="107409" y="133350"/>
                  <a:pt x="102791" y="133350"/>
                </a:cubicBezTo>
                <a:lnTo>
                  <a:pt x="75009" y="133350"/>
                </a:lnTo>
                <a:cubicBezTo>
                  <a:pt x="70391" y="133350"/>
                  <a:pt x="66675" y="129634"/>
                  <a:pt x="66675" y="125016"/>
                </a:cubicBezTo>
                <a:cubicBezTo>
                  <a:pt x="66675" y="120397"/>
                  <a:pt x="70391" y="116681"/>
                  <a:pt x="75009" y="116681"/>
                </a:cubicBezTo>
                <a:lnTo>
                  <a:pt x="83344" y="116681"/>
                </a:lnTo>
                <a:lnTo>
                  <a:pt x="83344" y="94456"/>
                </a:lnTo>
                <a:lnTo>
                  <a:pt x="75009" y="94456"/>
                </a:lnTo>
                <a:cubicBezTo>
                  <a:pt x="70391" y="94456"/>
                  <a:pt x="66675" y="90741"/>
                  <a:pt x="66675" y="86122"/>
                </a:cubicBezTo>
                <a:cubicBezTo>
                  <a:pt x="66675" y="81503"/>
                  <a:pt x="70391" y="77788"/>
                  <a:pt x="75009" y="77788"/>
                </a:cubicBezTo>
                <a:close/>
              </a:path>
            </a:pathLst>
          </a:custGeom>
          <a:solidFill>
            <a:srgbClr val="A67B5C"/>
          </a:solidFill>
          <a:ln/>
        </p:spPr>
      </p:sp>
      <p:sp>
        <p:nvSpPr>
          <p:cNvPr id="34" name="Text 32"/>
          <p:cNvSpPr/>
          <p:nvPr/>
        </p:nvSpPr>
        <p:spPr>
          <a:xfrm>
            <a:off x="11624667" y="5283200"/>
            <a:ext cx="3759200" cy="254000"/>
          </a:xfrm>
          <a:prstGeom prst="rect">
            <a:avLst/>
          </a:prstGeom>
          <a:noFill/>
          <a:ln/>
        </p:spPr>
        <p:txBody>
          <a:bodyPr wrap="square" lIns="0" tIns="0" rIns="0" bIns="0" rtlCol="0" anchor="ctr"/>
          <a:lstStyle/>
          <a:p>
            <a:pPr>
              <a:lnSpc>
                <a:spcPct val="120000"/>
              </a:lnSpc>
            </a:pPr>
            <a:r>
              <a:rPr lang="en-US" sz="1400" dirty="0">
                <a:solidFill>
                  <a:srgbClr val="495057">
                    <a:alpha val="70000"/>
                  </a:srgbClr>
                </a:solidFill>
                <a:latin typeface="MiSans" pitchFamily="34" charset="0"/>
                <a:ea typeface="MiSans" pitchFamily="34" charset="-122"/>
                <a:cs typeface="MiSans" pitchFamily="34" charset="-120"/>
              </a:rPr>
              <a:t>突出表达情感的核心词汇</a:t>
            </a:r>
            <a:endParaRPr lang="en-US" sz="1600" dirty="0"/>
          </a:p>
        </p:txBody>
      </p:sp>
      <p:sp>
        <p:nvSpPr>
          <p:cNvPr id="35" name="Shape 33"/>
          <p:cNvSpPr/>
          <p:nvPr/>
        </p:nvSpPr>
        <p:spPr>
          <a:xfrm>
            <a:off x="508000" y="6248400"/>
            <a:ext cx="7493000" cy="2387600"/>
          </a:xfrm>
          <a:custGeom>
            <a:avLst/>
            <a:gdLst/>
            <a:ahLst/>
            <a:cxnLst/>
            <a:rect l="l" t="t" r="r" b="b"/>
            <a:pathLst>
              <a:path w="7493000" h="2387600">
                <a:moveTo>
                  <a:pt x="101592" y="0"/>
                </a:moveTo>
                <a:lnTo>
                  <a:pt x="7391408" y="0"/>
                </a:lnTo>
                <a:cubicBezTo>
                  <a:pt x="7447516" y="0"/>
                  <a:pt x="7493000" y="45484"/>
                  <a:pt x="7493000" y="101592"/>
                </a:cubicBezTo>
                <a:lnTo>
                  <a:pt x="7493000" y="2286008"/>
                </a:lnTo>
                <a:cubicBezTo>
                  <a:pt x="7493000" y="2342116"/>
                  <a:pt x="7447516" y="2387600"/>
                  <a:pt x="7391408" y="2387600"/>
                </a:cubicBezTo>
                <a:lnTo>
                  <a:pt x="101592" y="2387600"/>
                </a:lnTo>
                <a:cubicBezTo>
                  <a:pt x="45484" y="2387600"/>
                  <a:pt x="0" y="2342116"/>
                  <a:pt x="0" y="2286008"/>
                </a:cubicBezTo>
                <a:lnTo>
                  <a:pt x="0" y="101592"/>
                </a:lnTo>
                <a:cubicBezTo>
                  <a:pt x="0" y="45522"/>
                  <a:pt x="45522" y="0"/>
                  <a:pt x="101592" y="0"/>
                </a:cubicBezTo>
                <a:close/>
              </a:path>
            </a:pathLst>
          </a:custGeom>
          <a:solidFill>
            <a:srgbClr val="495057"/>
          </a:solidFill>
          <a:ln/>
        </p:spPr>
      </p:sp>
      <p:sp>
        <p:nvSpPr>
          <p:cNvPr id="36" name="Text 34"/>
          <p:cNvSpPr/>
          <p:nvPr/>
        </p:nvSpPr>
        <p:spPr>
          <a:xfrm>
            <a:off x="812800" y="6553200"/>
            <a:ext cx="7010400" cy="355600"/>
          </a:xfrm>
          <a:prstGeom prst="rect">
            <a:avLst/>
          </a:prstGeom>
          <a:noFill/>
          <a:ln/>
        </p:spPr>
        <p:txBody>
          <a:bodyPr wrap="square" lIns="0" tIns="0" rIns="0" bIns="0" rtlCol="0" anchor="ctr"/>
          <a:lstStyle/>
          <a:p>
            <a:pPr>
              <a:lnSpc>
                <a:spcPct val="120000"/>
              </a:lnSpc>
            </a:pPr>
            <a:r>
              <a:rPr lang="en-US" sz="2000" b="1" dirty="0">
                <a:solidFill>
                  <a:srgbClr val="FFFFFF"/>
                </a:solidFill>
                <a:latin typeface="Noto Sans SC" pitchFamily="34" charset="0"/>
                <a:ea typeface="Noto Sans SC" pitchFamily="34" charset="-122"/>
                <a:cs typeface="Noto Sans SC" pitchFamily="34" charset="-120"/>
              </a:rPr>
              <a:t>融合层计算</a:t>
            </a:r>
            <a:endParaRPr lang="en-US" sz="1600" dirty="0"/>
          </a:p>
        </p:txBody>
      </p:sp>
      <p:sp>
        <p:nvSpPr>
          <p:cNvPr id="37" name="Shape 35"/>
          <p:cNvSpPr/>
          <p:nvPr/>
        </p:nvSpPr>
        <p:spPr>
          <a:xfrm>
            <a:off x="812800" y="7112000"/>
            <a:ext cx="6883400" cy="762000"/>
          </a:xfrm>
          <a:custGeom>
            <a:avLst/>
            <a:gdLst/>
            <a:ahLst/>
            <a:cxnLst/>
            <a:rect l="l" t="t" r="r" b="b"/>
            <a:pathLst>
              <a:path w="6883400" h="762000">
                <a:moveTo>
                  <a:pt x="101597" y="0"/>
                </a:moveTo>
                <a:lnTo>
                  <a:pt x="6781803" y="0"/>
                </a:lnTo>
                <a:cubicBezTo>
                  <a:pt x="6837913" y="0"/>
                  <a:pt x="6883400" y="45487"/>
                  <a:pt x="6883400" y="101597"/>
                </a:cubicBezTo>
                <a:lnTo>
                  <a:pt x="6883400" y="660403"/>
                </a:lnTo>
                <a:cubicBezTo>
                  <a:pt x="6883400" y="716513"/>
                  <a:pt x="6837913" y="762000"/>
                  <a:pt x="6781803" y="762000"/>
                </a:cubicBezTo>
                <a:lnTo>
                  <a:pt x="101597" y="762000"/>
                </a:lnTo>
                <a:cubicBezTo>
                  <a:pt x="45487" y="762000"/>
                  <a:pt x="0" y="716513"/>
                  <a:pt x="0" y="660403"/>
                </a:cubicBezTo>
                <a:lnTo>
                  <a:pt x="0" y="101597"/>
                </a:lnTo>
                <a:cubicBezTo>
                  <a:pt x="0" y="45487"/>
                  <a:pt x="45487" y="0"/>
                  <a:pt x="101597" y="0"/>
                </a:cubicBezTo>
                <a:close/>
              </a:path>
            </a:pathLst>
          </a:custGeom>
          <a:solidFill>
            <a:srgbClr val="FFFFFF">
              <a:alpha val="10196"/>
            </a:srgbClr>
          </a:solidFill>
          <a:ln/>
        </p:spPr>
      </p:sp>
      <p:sp>
        <p:nvSpPr>
          <p:cNvPr id="38" name="Text 36"/>
          <p:cNvSpPr/>
          <p:nvPr/>
        </p:nvSpPr>
        <p:spPr>
          <a:xfrm>
            <a:off x="958850" y="7315200"/>
            <a:ext cx="6591300" cy="355600"/>
          </a:xfrm>
          <a:prstGeom prst="rect">
            <a:avLst/>
          </a:prstGeom>
          <a:noFill/>
          <a:ln/>
        </p:spPr>
        <p:txBody>
          <a:bodyPr wrap="square" lIns="0" tIns="0" rIns="0" bIns="0" rtlCol="0" anchor="ctr"/>
          <a:lstStyle/>
          <a:p>
            <a:pPr algn="ctr">
              <a:lnSpc>
                <a:spcPct val="130000"/>
              </a:lnSpc>
            </a:pPr>
            <a:r>
              <a:rPr lang="en-US" sz="1800" dirty="0">
                <a:solidFill>
                  <a:srgbClr val="FFFFFF"/>
                </a:solidFill>
                <a:latin typeface="MiSans" pitchFamily="34" charset="0"/>
                <a:ea typeface="MiSans" pitchFamily="34" charset="-122"/>
                <a:cs typeface="MiSans" pitchFamily="34" charset="-120"/>
              </a:rPr>
              <a:t>V</a:t>
            </a:r>
            <a:pPr algn="ctr">
              <a:lnSpc>
                <a:spcPct val="130000"/>
              </a:lnSpc>
            </a:pPr>
            <a:r>
              <a:rPr lang="en-US" sz="1350" dirty="0">
                <a:solidFill>
                  <a:srgbClr val="FFFFFF"/>
                </a:solidFill>
                <a:latin typeface="MiSans" pitchFamily="34" charset="0"/>
                <a:ea typeface="MiSans" pitchFamily="34" charset="-122"/>
                <a:cs typeface="MiSans" pitchFamily="34" charset="-120"/>
              </a:rPr>
              <a:t>mul</a:t>
            </a:r>
            <a:pPr algn="ctr">
              <a:lnSpc>
                <a:spcPct val="130000"/>
              </a:lnSpc>
            </a:pPr>
            <a:r>
              <a:rPr lang="en-US" sz="1800" dirty="0">
                <a:solidFill>
                  <a:srgbClr val="FFFFFF"/>
                </a:solidFill>
                <a:latin typeface="MiSans" pitchFamily="34" charset="0"/>
                <a:ea typeface="MiSans" pitchFamily="34" charset="-122"/>
                <a:cs typeface="MiSans" pitchFamily="34" charset="-120"/>
              </a:rPr>
              <a:t> = ReLU(W · [V</a:t>
            </a:r>
            <a:pPr algn="ctr">
              <a:lnSpc>
                <a:spcPct val="130000"/>
              </a:lnSpc>
            </a:pPr>
            <a:r>
              <a:rPr lang="en-US" sz="1350" dirty="0">
                <a:solidFill>
                  <a:srgbClr val="FFFFFF"/>
                </a:solidFill>
                <a:latin typeface="MiSans" pitchFamily="34" charset="0"/>
                <a:ea typeface="MiSans" pitchFamily="34" charset="-122"/>
                <a:cs typeface="MiSans" pitchFamily="34" charset="-120"/>
              </a:rPr>
              <a:t>τ</a:t>
            </a:r>
            <a:pPr algn="ctr">
              <a:lnSpc>
                <a:spcPct val="130000"/>
              </a:lnSpc>
            </a:pPr>
            <a:r>
              <a:rPr lang="en-US" sz="1800" dirty="0">
                <a:solidFill>
                  <a:srgbClr val="FFFFFF"/>
                </a:solidFill>
                <a:latin typeface="MiSans" pitchFamily="34" charset="0"/>
                <a:ea typeface="MiSans" pitchFamily="34" charset="-122"/>
                <a:cs typeface="MiSans" pitchFamily="34" charset="-120"/>
              </a:rPr>
              <a:t>, V</a:t>
            </a:r>
            <a:pPr algn="ctr">
              <a:lnSpc>
                <a:spcPct val="130000"/>
              </a:lnSpc>
            </a:pPr>
            <a:r>
              <a:rPr lang="en-US" sz="1350" dirty="0">
                <a:solidFill>
                  <a:srgbClr val="FFFFFF"/>
                </a:solidFill>
                <a:latin typeface="MiSans" pitchFamily="34" charset="0"/>
                <a:ea typeface="MiSans" pitchFamily="34" charset="-122"/>
                <a:cs typeface="MiSans" pitchFamily="34" charset="-120"/>
              </a:rPr>
              <a:t>o</a:t>
            </a:r>
            <a:pPr algn="ctr">
              <a:lnSpc>
                <a:spcPct val="130000"/>
              </a:lnSpc>
            </a:pPr>
            <a:r>
              <a:rPr lang="en-US" sz="1800" dirty="0">
                <a:solidFill>
                  <a:srgbClr val="FFFFFF"/>
                </a:solidFill>
                <a:latin typeface="MiSans" pitchFamily="34" charset="0"/>
                <a:ea typeface="MiSans" pitchFamily="34" charset="-122"/>
                <a:cs typeface="MiSans" pitchFamily="34" charset="-120"/>
              </a:rPr>
              <a:t>, V</a:t>
            </a:r>
            <a:pPr algn="ctr">
              <a:lnSpc>
                <a:spcPct val="130000"/>
              </a:lnSpc>
            </a:pPr>
            <a:r>
              <a:rPr lang="en-US" sz="1350" dirty="0">
                <a:solidFill>
                  <a:srgbClr val="FFFFFF"/>
                </a:solidFill>
                <a:latin typeface="MiSans" pitchFamily="34" charset="0"/>
                <a:ea typeface="MiSans" pitchFamily="34" charset="-122"/>
                <a:cs typeface="MiSans" pitchFamily="34" charset="-120"/>
              </a:rPr>
              <a:t>s</a:t>
            </a:r>
            <a:pPr algn="ctr">
              <a:lnSpc>
                <a:spcPct val="130000"/>
              </a:lnSpc>
            </a:pPr>
            <a:r>
              <a:rPr lang="en-US" sz="1800" dirty="0">
                <a:solidFill>
                  <a:srgbClr val="FFFFFF"/>
                </a:solidFill>
                <a:latin typeface="MiSans" pitchFamily="34" charset="0"/>
                <a:ea typeface="MiSans" pitchFamily="34" charset="-122"/>
                <a:cs typeface="MiSans" pitchFamily="34" charset="-120"/>
              </a:rPr>
              <a:t>] + b)</a:t>
            </a:r>
            <a:endParaRPr lang="en-US" sz="1600" dirty="0"/>
          </a:p>
        </p:txBody>
      </p:sp>
      <p:sp>
        <p:nvSpPr>
          <p:cNvPr id="39" name="Text 37"/>
          <p:cNvSpPr/>
          <p:nvPr/>
        </p:nvSpPr>
        <p:spPr>
          <a:xfrm>
            <a:off x="812800" y="8026400"/>
            <a:ext cx="6985000" cy="304800"/>
          </a:xfrm>
          <a:prstGeom prst="rect">
            <a:avLst/>
          </a:prstGeom>
          <a:noFill/>
          <a:ln/>
        </p:spPr>
        <p:txBody>
          <a:bodyPr wrap="square" lIns="0" tIns="0" rIns="0" bIns="0" rtlCol="0" anchor="ctr"/>
          <a:lstStyle/>
          <a:p>
            <a:pPr>
              <a:lnSpc>
                <a:spcPct val="130000"/>
              </a:lnSpc>
            </a:pPr>
            <a:r>
              <a:rPr lang="en-US" sz="1600" dirty="0">
                <a:solidFill>
                  <a:srgbClr val="FFFFFF"/>
                </a:solidFill>
                <a:latin typeface="MiSans" pitchFamily="34" charset="0"/>
                <a:ea typeface="MiSans" pitchFamily="34" charset="-122"/>
                <a:cs typeface="MiSans" pitchFamily="34" charset="-120"/>
              </a:rPr>
              <a:t>将三重特征拼接后通过全连接层和非线性激活函数</a:t>
            </a:r>
            <a:endParaRPr lang="en-US" sz="1600" dirty="0"/>
          </a:p>
        </p:txBody>
      </p:sp>
      <p:sp>
        <p:nvSpPr>
          <p:cNvPr id="40" name="Shape 38"/>
          <p:cNvSpPr/>
          <p:nvPr/>
        </p:nvSpPr>
        <p:spPr>
          <a:xfrm>
            <a:off x="8255000" y="6248400"/>
            <a:ext cx="7493000" cy="2387600"/>
          </a:xfrm>
          <a:custGeom>
            <a:avLst/>
            <a:gdLst/>
            <a:ahLst/>
            <a:cxnLst/>
            <a:rect l="l" t="t" r="r" b="b"/>
            <a:pathLst>
              <a:path w="7493000" h="2387600">
                <a:moveTo>
                  <a:pt x="101592" y="0"/>
                </a:moveTo>
                <a:lnTo>
                  <a:pt x="7391408" y="0"/>
                </a:lnTo>
                <a:cubicBezTo>
                  <a:pt x="7447516" y="0"/>
                  <a:pt x="7493000" y="45484"/>
                  <a:pt x="7493000" y="101592"/>
                </a:cubicBezTo>
                <a:lnTo>
                  <a:pt x="7493000" y="2286008"/>
                </a:lnTo>
                <a:cubicBezTo>
                  <a:pt x="7493000" y="2342116"/>
                  <a:pt x="7447516" y="2387600"/>
                  <a:pt x="7391408" y="2387600"/>
                </a:cubicBezTo>
                <a:lnTo>
                  <a:pt x="101592" y="2387600"/>
                </a:lnTo>
                <a:cubicBezTo>
                  <a:pt x="45484" y="2387600"/>
                  <a:pt x="0" y="2342116"/>
                  <a:pt x="0" y="2286008"/>
                </a:cubicBezTo>
                <a:lnTo>
                  <a:pt x="0" y="101592"/>
                </a:lnTo>
                <a:cubicBezTo>
                  <a:pt x="0" y="45522"/>
                  <a:pt x="45522" y="0"/>
                  <a:pt x="101592" y="0"/>
                </a:cubicBezTo>
                <a:close/>
              </a:path>
            </a:pathLst>
          </a:custGeom>
          <a:solidFill>
            <a:srgbClr val="A67B5C"/>
          </a:solidFill>
          <a:ln/>
        </p:spPr>
      </p:sp>
      <p:sp>
        <p:nvSpPr>
          <p:cNvPr id="41" name="Text 39"/>
          <p:cNvSpPr/>
          <p:nvPr/>
        </p:nvSpPr>
        <p:spPr>
          <a:xfrm>
            <a:off x="8559800" y="6553200"/>
            <a:ext cx="7010400" cy="355600"/>
          </a:xfrm>
          <a:prstGeom prst="rect">
            <a:avLst/>
          </a:prstGeom>
          <a:noFill/>
          <a:ln/>
        </p:spPr>
        <p:txBody>
          <a:bodyPr wrap="square" lIns="0" tIns="0" rIns="0" bIns="0" rtlCol="0" anchor="ctr"/>
          <a:lstStyle/>
          <a:p>
            <a:pPr>
              <a:lnSpc>
                <a:spcPct val="120000"/>
              </a:lnSpc>
            </a:pPr>
            <a:r>
              <a:rPr lang="en-US" sz="2000" b="1" dirty="0">
                <a:solidFill>
                  <a:srgbClr val="FFFFFF"/>
                </a:solidFill>
                <a:latin typeface="Noto Sans SC" pitchFamily="34" charset="0"/>
                <a:ea typeface="Noto Sans SC" pitchFamily="34" charset="-122"/>
                <a:cs typeface="Noto Sans SC" pitchFamily="34" charset="-120"/>
              </a:rPr>
              <a:t>分类器预测</a:t>
            </a:r>
            <a:endParaRPr lang="en-US" sz="1600" dirty="0"/>
          </a:p>
        </p:txBody>
      </p:sp>
      <p:sp>
        <p:nvSpPr>
          <p:cNvPr id="42" name="Shape 40"/>
          <p:cNvSpPr/>
          <p:nvPr/>
        </p:nvSpPr>
        <p:spPr>
          <a:xfrm>
            <a:off x="8559800" y="7112000"/>
            <a:ext cx="6883400" cy="762000"/>
          </a:xfrm>
          <a:custGeom>
            <a:avLst/>
            <a:gdLst/>
            <a:ahLst/>
            <a:cxnLst/>
            <a:rect l="l" t="t" r="r" b="b"/>
            <a:pathLst>
              <a:path w="6883400" h="762000">
                <a:moveTo>
                  <a:pt x="101597" y="0"/>
                </a:moveTo>
                <a:lnTo>
                  <a:pt x="6781803" y="0"/>
                </a:lnTo>
                <a:cubicBezTo>
                  <a:pt x="6837913" y="0"/>
                  <a:pt x="6883400" y="45487"/>
                  <a:pt x="6883400" y="101597"/>
                </a:cubicBezTo>
                <a:lnTo>
                  <a:pt x="6883400" y="660403"/>
                </a:lnTo>
                <a:cubicBezTo>
                  <a:pt x="6883400" y="716513"/>
                  <a:pt x="6837913" y="762000"/>
                  <a:pt x="6781803" y="762000"/>
                </a:cubicBezTo>
                <a:lnTo>
                  <a:pt x="101597" y="762000"/>
                </a:lnTo>
                <a:cubicBezTo>
                  <a:pt x="45487" y="762000"/>
                  <a:pt x="0" y="716513"/>
                  <a:pt x="0" y="660403"/>
                </a:cubicBezTo>
                <a:lnTo>
                  <a:pt x="0" y="101597"/>
                </a:lnTo>
                <a:cubicBezTo>
                  <a:pt x="0" y="45487"/>
                  <a:pt x="45487" y="0"/>
                  <a:pt x="101597" y="0"/>
                </a:cubicBezTo>
                <a:close/>
              </a:path>
            </a:pathLst>
          </a:custGeom>
          <a:solidFill>
            <a:srgbClr val="FFFFFF">
              <a:alpha val="10196"/>
            </a:srgbClr>
          </a:solidFill>
          <a:ln/>
        </p:spPr>
      </p:sp>
      <p:sp>
        <p:nvSpPr>
          <p:cNvPr id="43" name="Text 41"/>
          <p:cNvSpPr/>
          <p:nvPr/>
        </p:nvSpPr>
        <p:spPr>
          <a:xfrm>
            <a:off x="8705850" y="7315200"/>
            <a:ext cx="6591300" cy="355600"/>
          </a:xfrm>
          <a:prstGeom prst="rect">
            <a:avLst/>
          </a:prstGeom>
          <a:noFill/>
          <a:ln/>
        </p:spPr>
        <p:txBody>
          <a:bodyPr wrap="square" lIns="0" tIns="0" rIns="0" bIns="0" rtlCol="0" anchor="ctr"/>
          <a:lstStyle/>
          <a:p>
            <a:pPr algn="ctr">
              <a:lnSpc>
                <a:spcPct val="130000"/>
              </a:lnSpc>
            </a:pPr>
            <a:r>
              <a:rPr lang="en-US" sz="1800" dirty="0">
                <a:solidFill>
                  <a:srgbClr val="FFFFFF"/>
                </a:solidFill>
                <a:latin typeface="MiSans" pitchFamily="34" charset="0"/>
                <a:ea typeface="MiSans" pitchFamily="34" charset="-122"/>
                <a:cs typeface="MiSans" pitchFamily="34" charset="-120"/>
              </a:rPr>
              <a:t>Pred = Softmax(W</a:t>
            </a:r>
            <a:pPr algn="ctr">
              <a:lnSpc>
                <a:spcPct val="130000"/>
              </a:lnSpc>
            </a:pPr>
            <a:r>
              <a:rPr lang="en-US" sz="1350" dirty="0">
                <a:solidFill>
                  <a:srgbClr val="FFFFFF"/>
                </a:solidFill>
                <a:latin typeface="MiSans" pitchFamily="34" charset="0"/>
                <a:ea typeface="MiSans" pitchFamily="34" charset="-122"/>
                <a:cs typeface="MiSans" pitchFamily="34" charset="-120"/>
              </a:rPr>
              <a:t>mul</a:t>
            </a:r>
            <a:pPr algn="ctr">
              <a:lnSpc>
                <a:spcPct val="130000"/>
              </a:lnSpc>
            </a:pPr>
            <a:r>
              <a:rPr lang="en-US" sz="1800" dirty="0">
                <a:solidFill>
                  <a:srgbClr val="FFFFFF"/>
                </a:solidFill>
                <a:latin typeface="MiSans" pitchFamily="34" charset="0"/>
                <a:ea typeface="MiSans" pitchFamily="34" charset="-122"/>
                <a:cs typeface="MiSans" pitchFamily="34" charset="-120"/>
              </a:rPr>
              <a:t> · V</a:t>
            </a:r>
            <a:pPr algn="ctr">
              <a:lnSpc>
                <a:spcPct val="130000"/>
              </a:lnSpc>
            </a:pPr>
            <a:r>
              <a:rPr lang="en-US" sz="1350" dirty="0">
                <a:solidFill>
                  <a:srgbClr val="FFFFFF"/>
                </a:solidFill>
                <a:latin typeface="MiSans" pitchFamily="34" charset="0"/>
                <a:ea typeface="MiSans" pitchFamily="34" charset="-122"/>
                <a:cs typeface="MiSans" pitchFamily="34" charset="-120"/>
              </a:rPr>
              <a:t>mul</a:t>
            </a:r>
            <a:pPr algn="ctr">
              <a:lnSpc>
                <a:spcPct val="130000"/>
              </a:lnSpc>
            </a:pPr>
            <a:r>
              <a:rPr lang="en-US" sz="1800" dirty="0">
                <a:solidFill>
                  <a:srgbClr val="FFFFFF"/>
                </a:solidFill>
                <a:latin typeface="MiSans" pitchFamily="34" charset="0"/>
                <a:ea typeface="MiSans" pitchFamily="34" charset="-122"/>
                <a:cs typeface="MiSans" pitchFamily="34" charset="-120"/>
              </a:rPr>
              <a:t> + b</a:t>
            </a:r>
            <a:pPr algn="ctr">
              <a:lnSpc>
                <a:spcPct val="130000"/>
              </a:lnSpc>
            </a:pPr>
            <a:r>
              <a:rPr lang="en-US" sz="1350" dirty="0">
                <a:solidFill>
                  <a:srgbClr val="FFFFFF"/>
                </a:solidFill>
                <a:latin typeface="MiSans" pitchFamily="34" charset="0"/>
                <a:ea typeface="MiSans" pitchFamily="34" charset="-122"/>
                <a:cs typeface="MiSans" pitchFamily="34" charset="-120"/>
              </a:rPr>
              <a:t>mul</a:t>
            </a:r>
            <a:pPr algn="ctr">
              <a:lnSpc>
                <a:spcPct val="130000"/>
              </a:lnSpc>
            </a:pPr>
            <a:r>
              <a:rPr lang="en-US" sz="1800" dirty="0">
                <a:solidFill>
                  <a:srgbClr val="FFFFFF"/>
                </a:solidFill>
                <a:latin typeface="MiSans" pitchFamily="34" charset="0"/>
                <a:ea typeface="MiSans" pitchFamily="34" charset="-122"/>
                <a:cs typeface="MiSans" pitchFamily="34" charset="-120"/>
              </a:rPr>
              <a:t>)</a:t>
            </a:r>
            <a:endParaRPr lang="en-US" sz="1600" dirty="0"/>
          </a:p>
        </p:txBody>
      </p:sp>
      <p:sp>
        <p:nvSpPr>
          <p:cNvPr id="44" name="Text 42"/>
          <p:cNvSpPr/>
          <p:nvPr/>
        </p:nvSpPr>
        <p:spPr>
          <a:xfrm>
            <a:off x="8559800" y="8026400"/>
            <a:ext cx="6985000" cy="304800"/>
          </a:xfrm>
          <a:prstGeom prst="rect">
            <a:avLst/>
          </a:prstGeom>
          <a:noFill/>
          <a:ln/>
        </p:spPr>
        <p:txBody>
          <a:bodyPr wrap="square" lIns="0" tIns="0" rIns="0" bIns="0" rtlCol="0" anchor="ctr"/>
          <a:lstStyle/>
          <a:p>
            <a:pPr>
              <a:lnSpc>
                <a:spcPct val="130000"/>
              </a:lnSpc>
            </a:pPr>
            <a:r>
              <a:rPr lang="en-US" sz="1600" dirty="0">
                <a:solidFill>
                  <a:srgbClr val="FFFFFF"/>
                </a:solidFill>
                <a:latin typeface="MiSans" pitchFamily="34" charset="0"/>
                <a:ea typeface="MiSans" pitchFamily="34" charset="-122"/>
                <a:cs typeface="MiSans" pitchFamily="34" charset="-120"/>
              </a:rPr>
              <a:t>输出三个类别的概率分布（正面/负面/中性）</a:t>
            </a:r>
            <a:endParaRPr lang="en-US" sz="1600" dirty="0"/>
          </a:p>
        </p:txBody>
      </p:sp>
    </p:spTree>
  </p:cSld>
  <p:clrMapOvr>
    <a:masterClrMapping/>
  </p:clrMapOvr>
  <p:transition>
    <p:fade/>
    <p:spd val="med"/>
  </p:transition>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9FA"/>
        </a:solidFill>
      </p:bgPr>
    </p:bg>
    <p:spTree>
      <p:nvGrpSpPr>
        <p:cNvPr id="1" name=""/>
        <p:cNvGrpSpPr/>
        <p:nvPr/>
      </p:nvGrpSpPr>
      <p:grpSpPr>
        <a:xfrm>
          <a:off x="0" y="0"/>
          <a:ext cx="0" cy="0"/>
          <a:chOff x="0" y="0"/>
          <a:chExt cx="0" cy="0"/>
        </a:xfrm>
      </p:grpSpPr>
      <p:pic>
        <p:nvPicPr>
          <p:cNvPr id="2" name="Image 0" descr="https://kimi-web-img.moonshot.cn/img/deeplizard.com/1189d6ace68896458c8586a5b7565d56a7f6d179.jpg">    </p:cNvPr>
          <p:cNvPicPr>
            <a:picLocks noChangeAspect="1"/>
          </p:cNvPicPr>
          <p:nvPr/>
        </p:nvPicPr>
        <p:blipFill>
          <a:blip r:embed="rId1">
            <a:alphaModFix amt="25000"/>
          </a:blip>
          <a:srcRect l="0" r="0" t="0" b="0"/>
          <a:stretch/>
        </p:blipFill>
        <p:spPr>
          <a:xfrm>
            <a:off x="0" y="0"/>
            <a:ext cx="16256000" cy="9144000"/>
          </a:xfrm>
          <a:prstGeom prst="roundRect">
            <a:avLst>
              <a:gd name="adj" fmla="val 0"/>
            </a:avLst>
          </a:prstGeom>
        </p:spPr>
      </p:pic>
      <p:sp>
        <p:nvSpPr>
          <p:cNvPr id="3" name="Shape 0"/>
          <p:cNvSpPr/>
          <p:nvPr/>
        </p:nvSpPr>
        <p:spPr>
          <a:xfrm>
            <a:off x="0" y="0"/>
            <a:ext cx="16256000" cy="9144000"/>
          </a:xfrm>
          <a:custGeom>
            <a:avLst/>
            <a:gdLst/>
            <a:ahLst/>
            <a:cxnLst/>
            <a:rect l="l" t="t" r="r" b="b"/>
            <a:pathLst>
              <a:path w="16256000" h="9144000">
                <a:moveTo>
                  <a:pt x="0" y="0"/>
                </a:moveTo>
                <a:lnTo>
                  <a:pt x="16256000" y="0"/>
                </a:lnTo>
                <a:lnTo>
                  <a:pt x="16256000" y="9144000"/>
                </a:lnTo>
                <a:lnTo>
                  <a:pt x="0" y="9144000"/>
                </a:lnTo>
                <a:lnTo>
                  <a:pt x="0" y="0"/>
                </a:lnTo>
                <a:close/>
              </a:path>
            </a:pathLst>
          </a:custGeom>
          <a:gradFill rotWithShape="1" flip="none">
            <a:gsLst>
              <a:gs pos="0">
                <a:srgbClr val="495057">
                  <a:alpha val="90000"/>
                </a:srgbClr>
              </a:gs>
              <a:gs pos="50000">
                <a:srgbClr val="495057">
                  <a:alpha val="70000"/>
                </a:srgbClr>
              </a:gs>
              <a:gs pos="100000">
                <a:srgbClr val="000000">
                  <a:alpha val="0"/>
                </a:srgbClr>
              </a:gs>
            </a:gsLst>
            <a:lin ang="0" scaled="1"/>
          </a:gradFill>
          <a:ln/>
        </p:spPr>
      </p:sp>
      <p:sp>
        <p:nvSpPr>
          <p:cNvPr id="4" name="Shape 1"/>
          <p:cNvSpPr/>
          <p:nvPr/>
        </p:nvSpPr>
        <p:spPr>
          <a:xfrm>
            <a:off x="508000" y="2179638"/>
            <a:ext cx="2463800" cy="711200"/>
          </a:xfrm>
          <a:custGeom>
            <a:avLst/>
            <a:gdLst/>
            <a:ahLst/>
            <a:cxnLst/>
            <a:rect l="l" t="t" r="r" b="b"/>
            <a:pathLst>
              <a:path w="2463800" h="711200">
                <a:moveTo>
                  <a:pt x="101602" y="0"/>
                </a:moveTo>
                <a:lnTo>
                  <a:pt x="2362198" y="0"/>
                </a:lnTo>
                <a:cubicBezTo>
                  <a:pt x="2418311" y="0"/>
                  <a:pt x="2463800" y="45489"/>
                  <a:pt x="2463800" y="101602"/>
                </a:cubicBezTo>
                <a:lnTo>
                  <a:pt x="2463800" y="609598"/>
                </a:lnTo>
                <a:cubicBezTo>
                  <a:pt x="2463800" y="665711"/>
                  <a:pt x="2418311" y="711200"/>
                  <a:pt x="2362198" y="711200"/>
                </a:cubicBezTo>
                <a:lnTo>
                  <a:pt x="101602" y="711200"/>
                </a:lnTo>
                <a:cubicBezTo>
                  <a:pt x="45489" y="711200"/>
                  <a:pt x="0" y="665711"/>
                  <a:pt x="0" y="609598"/>
                </a:cubicBezTo>
                <a:lnTo>
                  <a:pt x="0" y="101602"/>
                </a:lnTo>
                <a:cubicBezTo>
                  <a:pt x="0" y="45526"/>
                  <a:pt x="45526" y="0"/>
                  <a:pt x="101602" y="0"/>
                </a:cubicBezTo>
                <a:close/>
              </a:path>
            </a:pathLst>
          </a:custGeom>
          <a:solidFill>
            <a:srgbClr val="A67B5C">
              <a:alpha val="30196"/>
            </a:srgbClr>
          </a:solidFill>
          <a:ln/>
        </p:spPr>
      </p:sp>
      <p:sp>
        <p:nvSpPr>
          <p:cNvPr id="5" name="Text 2"/>
          <p:cNvSpPr/>
          <p:nvPr/>
        </p:nvSpPr>
        <p:spPr>
          <a:xfrm>
            <a:off x="812800" y="2332038"/>
            <a:ext cx="2006600" cy="406400"/>
          </a:xfrm>
          <a:prstGeom prst="rect">
            <a:avLst/>
          </a:prstGeom>
          <a:noFill/>
          <a:ln/>
        </p:spPr>
        <p:txBody>
          <a:bodyPr wrap="square" lIns="0" tIns="0" rIns="0" bIns="0" rtlCol="0" anchor="ctr"/>
          <a:lstStyle/>
          <a:p>
            <a:pPr>
              <a:lnSpc>
                <a:spcPct val="110000"/>
              </a:lnSpc>
            </a:pPr>
            <a:r>
              <a:rPr lang="en-US" sz="2400" b="1" spc="120" kern="0" dirty="0">
                <a:solidFill>
                  <a:srgbClr val="F8F9FA"/>
                </a:solidFill>
                <a:latin typeface="Quattrocento Sans" pitchFamily="34" charset="0"/>
                <a:ea typeface="Quattrocento Sans" pitchFamily="34" charset="-122"/>
                <a:cs typeface="Quattrocento Sans" pitchFamily="34" charset="-120"/>
              </a:rPr>
              <a:t>CHAPTER 03</a:t>
            </a:r>
            <a:endParaRPr lang="en-US" sz="1600" dirty="0"/>
          </a:p>
        </p:txBody>
      </p:sp>
      <p:sp>
        <p:nvSpPr>
          <p:cNvPr id="6" name="Text 3"/>
          <p:cNvSpPr/>
          <p:nvPr/>
        </p:nvSpPr>
        <p:spPr>
          <a:xfrm>
            <a:off x="508000" y="3297238"/>
            <a:ext cx="5283200" cy="2286000"/>
          </a:xfrm>
          <a:prstGeom prst="rect">
            <a:avLst/>
          </a:prstGeom>
          <a:noFill/>
          <a:ln/>
        </p:spPr>
        <p:txBody>
          <a:bodyPr wrap="square" lIns="0" tIns="0" rIns="0" bIns="0" rtlCol="0" anchor="ctr"/>
          <a:lstStyle/>
          <a:p>
            <a:pPr>
              <a:lnSpc>
                <a:spcPct val="100000"/>
              </a:lnSpc>
            </a:pPr>
            <a:r>
              <a:rPr lang="en-US" sz="7200" b="1" dirty="0">
                <a:solidFill>
                  <a:srgbClr val="F8F9FA"/>
                </a:solidFill>
                <a:latin typeface="Noto Sans SC" pitchFamily="34" charset="0"/>
                <a:ea typeface="Noto Sans SC" pitchFamily="34" charset="-122"/>
                <a:cs typeface="Noto Sans SC" pitchFamily="34" charset="-120"/>
              </a:rPr>
              <a:t>实验设置与</a:t>
            </a:r>
            <a:endParaRPr lang="en-US" sz="1600" dirty="0"/>
          </a:p>
          <a:p>
            <a:pPr>
              <a:lnSpc>
                <a:spcPct val="100000"/>
              </a:lnSpc>
            </a:pPr>
            <a:r>
              <a:rPr lang="en-US" sz="7200" b="1" dirty="0">
                <a:solidFill>
                  <a:srgbClr val="F8F9FA"/>
                </a:solidFill>
                <a:latin typeface="Noto Sans SC" pitchFamily="34" charset="0"/>
                <a:ea typeface="Noto Sans SC" pitchFamily="34" charset="-122"/>
                <a:cs typeface="Noto Sans SC" pitchFamily="34" charset="-120"/>
              </a:rPr>
              <a:t>结果分析</a:t>
            </a:r>
            <a:endParaRPr lang="en-US" sz="1600" dirty="0"/>
          </a:p>
        </p:txBody>
      </p:sp>
      <p:sp>
        <p:nvSpPr>
          <p:cNvPr id="7" name="Shape 4"/>
          <p:cNvSpPr/>
          <p:nvPr/>
        </p:nvSpPr>
        <p:spPr>
          <a:xfrm>
            <a:off x="508000" y="5888038"/>
            <a:ext cx="1625600" cy="50800"/>
          </a:xfrm>
          <a:custGeom>
            <a:avLst/>
            <a:gdLst/>
            <a:ahLst/>
            <a:cxnLst/>
            <a:rect l="l" t="t" r="r" b="b"/>
            <a:pathLst>
              <a:path w="1625600" h="50800">
                <a:moveTo>
                  <a:pt x="0" y="0"/>
                </a:moveTo>
                <a:lnTo>
                  <a:pt x="1625600" y="0"/>
                </a:lnTo>
                <a:lnTo>
                  <a:pt x="1625600" y="50800"/>
                </a:lnTo>
                <a:lnTo>
                  <a:pt x="0" y="50800"/>
                </a:lnTo>
                <a:lnTo>
                  <a:pt x="0" y="0"/>
                </a:lnTo>
                <a:close/>
              </a:path>
            </a:pathLst>
          </a:custGeom>
          <a:solidFill>
            <a:srgbClr val="A67B5C"/>
          </a:solidFill>
          <a:ln/>
        </p:spPr>
      </p:sp>
      <p:sp>
        <p:nvSpPr>
          <p:cNvPr id="8" name="Text 5"/>
          <p:cNvSpPr/>
          <p:nvPr/>
        </p:nvSpPr>
        <p:spPr>
          <a:xfrm>
            <a:off x="508000" y="6345238"/>
            <a:ext cx="5016500" cy="622300"/>
          </a:xfrm>
          <a:prstGeom prst="rect">
            <a:avLst/>
          </a:prstGeom>
          <a:noFill/>
          <a:ln/>
        </p:spPr>
        <p:txBody>
          <a:bodyPr wrap="square" lIns="0" tIns="0" rIns="0" bIns="0" rtlCol="0" anchor="ctr"/>
          <a:lstStyle/>
          <a:p>
            <a:pPr>
              <a:lnSpc>
                <a:spcPct val="140000"/>
              </a:lnSpc>
            </a:pPr>
            <a:r>
              <a:rPr lang="en-US" sz="3000" dirty="0">
                <a:solidFill>
                  <a:srgbClr val="F8F9FA">
                    <a:alpha val="80000"/>
                  </a:srgbClr>
                </a:solidFill>
                <a:latin typeface="Noto Sans SC" pitchFamily="34" charset="0"/>
                <a:ea typeface="Noto Sans SC" pitchFamily="34" charset="-122"/>
                <a:cs typeface="Noto Sans SC" pitchFamily="34" charset="-120"/>
              </a:rPr>
              <a:t>MVSA数据集上的验证与对比</a:t>
            </a:r>
            <a:endParaRPr lang="en-US" sz="1600" dirty="0"/>
          </a:p>
        </p:txBody>
      </p:sp>
    </p:spTree>
  </p:cSld>
  <p:clrMapOvr>
    <a:masterClrMapping/>
  </p:clrMapOvr>
  <p:transition>
    <p:fade/>
    <p:spd val="med"/>
  </p:transition>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9FA"/>
        </a:solidFill>
      </p:bgPr>
    </p:bg>
    <p:spTree>
      <p:nvGrpSpPr>
        <p:cNvPr id="1" name=""/>
        <p:cNvGrpSpPr/>
        <p:nvPr/>
      </p:nvGrpSpPr>
      <p:grpSpPr>
        <a:xfrm>
          <a:off x="0" y="0"/>
          <a:ext cx="0" cy="0"/>
          <a:chOff x="0" y="0"/>
          <a:chExt cx="0" cy="0"/>
        </a:xfrm>
      </p:grpSpPr>
      <p:sp>
        <p:nvSpPr>
          <p:cNvPr id="2" name="Shape 0"/>
          <p:cNvSpPr/>
          <p:nvPr/>
        </p:nvSpPr>
        <p:spPr>
          <a:xfrm>
            <a:off x="471188" y="518307"/>
            <a:ext cx="376951" cy="376951"/>
          </a:xfrm>
          <a:custGeom>
            <a:avLst/>
            <a:gdLst/>
            <a:ahLst/>
            <a:cxnLst/>
            <a:rect l="l" t="t" r="r" b="b"/>
            <a:pathLst>
              <a:path w="376951" h="376951">
                <a:moveTo>
                  <a:pt x="47119" y="0"/>
                </a:moveTo>
                <a:lnTo>
                  <a:pt x="329832" y="0"/>
                </a:lnTo>
                <a:cubicBezTo>
                  <a:pt x="355855" y="0"/>
                  <a:pt x="376951" y="21096"/>
                  <a:pt x="376951" y="47119"/>
                </a:cubicBezTo>
                <a:lnTo>
                  <a:pt x="376951" y="329832"/>
                </a:lnTo>
                <a:cubicBezTo>
                  <a:pt x="376951" y="355855"/>
                  <a:pt x="355855" y="376951"/>
                  <a:pt x="329832" y="376951"/>
                </a:cubicBezTo>
                <a:lnTo>
                  <a:pt x="47119" y="376951"/>
                </a:lnTo>
                <a:cubicBezTo>
                  <a:pt x="21096" y="376951"/>
                  <a:pt x="0" y="355855"/>
                  <a:pt x="0" y="329832"/>
                </a:cubicBezTo>
                <a:lnTo>
                  <a:pt x="0" y="47119"/>
                </a:lnTo>
                <a:cubicBezTo>
                  <a:pt x="0" y="21113"/>
                  <a:pt x="21113" y="0"/>
                  <a:pt x="47119" y="0"/>
                </a:cubicBezTo>
                <a:close/>
              </a:path>
            </a:pathLst>
          </a:custGeom>
          <a:solidFill>
            <a:srgbClr val="495057"/>
          </a:solidFill>
          <a:ln/>
        </p:spPr>
      </p:sp>
      <p:sp>
        <p:nvSpPr>
          <p:cNvPr id="3" name="Text 1"/>
          <p:cNvSpPr/>
          <p:nvPr/>
        </p:nvSpPr>
        <p:spPr>
          <a:xfrm>
            <a:off x="543891" y="565426"/>
            <a:ext cx="329832" cy="282713"/>
          </a:xfrm>
          <a:prstGeom prst="rect">
            <a:avLst/>
          </a:prstGeom>
          <a:noFill/>
          <a:ln/>
        </p:spPr>
        <p:txBody>
          <a:bodyPr wrap="square" lIns="0" tIns="0" rIns="0" bIns="0" rtlCol="0" anchor="ctr"/>
          <a:lstStyle/>
          <a:p>
            <a:pPr>
              <a:lnSpc>
                <a:spcPct val="130000"/>
              </a:lnSpc>
            </a:pPr>
            <a:r>
              <a:rPr lang="en-US" sz="1484" b="1" dirty="0">
                <a:solidFill>
                  <a:srgbClr val="F8F9FA"/>
                </a:solidFill>
                <a:latin typeface="Liter" pitchFamily="34" charset="0"/>
                <a:ea typeface="Liter" pitchFamily="34" charset="-122"/>
                <a:cs typeface="Liter" pitchFamily="34" charset="-120"/>
              </a:rPr>
              <a:t>03</a:t>
            </a:r>
            <a:endParaRPr lang="en-US" sz="1600" dirty="0"/>
          </a:p>
        </p:txBody>
      </p:sp>
      <p:sp>
        <p:nvSpPr>
          <p:cNvPr id="4" name="Text 2"/>
          <p:cNvSpPr/>
          <p:nvPr/>
        </p:nvSpPr>
        <p:spPr>
          <a:xfrm>
            <a:off x="989496" y="471188"/>
            <a:ext cx="3604591" cy="471188"/>
          </a:xfrm>
          <a:prstGeom prst="rect">
            <a:avLst/>
          </a:prstGeom>
          <a:noFill/>
          <a:ln/>
        </p:spPr>
        <p:txBody>
          <a:bodyPr wrap="square" lIns="0" tIns="0" rIns="0" bIns="0" rtlCol="0" anchor="ctr"/>
          <a:lstStyle/>
          <a:p>
            <a:pPr>
              <a:lnSpc>
                <a:spcPct val="90000"/>
              </a:lnSpc>
            </a:pPr>
            <a:r>
              <a:rPr lang="en-US" sz="3339" b="1" dirty="0">
                <a:solidFill>
                  <a:srgbClr val="495057"/>
                </a:solidFill>
                <a:latin typeface="Noto Sans SC" pitchFamily="34" charset="0"/>
                <a:ea typeface="Noto Sans SC" pitchFamily="34" charset="-122"/>
                <a:cs typeface="Noto Sans SC" pitchFamily="34" charset="-120"/>
              </a:rPr>
              <a:t>数据集与实验设置</a:t>
            </a:r>
            <a:endParaRPr lang="en-US" sz="1600" dirty="0"/>
          </a:p>
        </p:txBody>
      </p:sp>
      <p:sp>
        <p:nvSpPr>
          <p:cNvPr id="5" name="Shape 3"/>
          <p:cNvSpPr/>
          <p:nvPr/>
        </p:nvSpPr>
        <p:spPr>
          <a:xfrm>
            <a:off x="471188" y="1036614"/>
            <a:ext cx="942377" cy="47119"/>
          </a:xfrm>
          <a:custGeom>
            <a:avLst/>
            <a:gdLst/>
            <a:ahLst/>
            <a:cxnLst/>
            <a:rect l="l" t="t" r="r" b="b"/>
            <a:pathLst>
              <a:path w="942377" h="47119">
                <a:moveTo>
                  <a:pt x="0" y="0"/>
                </a:moveTo>
                <a:lnTo>
                  <a:pt x="942377" y="0"/>
                </a:lnTo>
                <a:lnTo>
                  <a:pt x="942377" y="47119"/>
                </a:lnTo>
                <a:lnTo>
                  <a:pt x="0" y="47119"/>
                </a:lnTo>
                <a:lnTo>
                  <a:pt x="0" y="0"/>
                </a:lnTo>
                <a:close/>
              </a:path>
            </a:pathLst>
          </a:custGeom>
          <a:solidFill>
            <a:srgbClr val="A67B5C"/>
          </a:solidFill>
          <a:ln/>
        </p:spPr>
      </p:sp>
      <p:sp>
        <p:nvSpPr>
          <p:cNvPr id="6" name="Shape 4"/>
          <p:cNvSpPr/>
          <p:nvPr/>
        </p:nvSpPr>
        <p:spPr>
          <a:xfrm>
            <a:off x="471188" y="1319328"/>
            <a:ext cx="7515455" cy="5607142"/>
          </a:xfrm>
          <a:custGeom>
            <a:avLst/>
            <a:gdLst/>
            <a:ahLst/>
            <a:cxnLst/>
            <a:rect l="l" t="t" r="r" b="b"/>
            <a:pathLst>
              <a:path w="7515455" h="5607142">
                <a:moveTo>
                  <a:pt x="94256" y="0"/>
                </a:moveTo>
                <a:lnTo>
                  <a:pt x="7421199" y="0"/>
                </a:lnTo>
                <a:cubicBezTo>
                  <a:pt x="7473220" y="0"/>
                  <a:pt x="7515455" y="42235"/>
                  <a:pt x="7515455" y="94256"/>
                </a:cubicBezTo>
                <a:lnTo>
                  <a:pt x="7515455" y="5512886"/>
                </a:lnTo>
                <a:cubicBezTo>
                  <a:pt x="7515455" y="5564942"/>
                  <a:pt x="7473255" y="5607142"/>
                  <a:pt x="7421199" y="5607142"/>
                </a:cubicBezTo>
                <a:lnTo>
                  <a:pt x="94256" y="5607142"/>
                </a:lnTo>
                <a:cubicBezTo>
                  <a:pt x="42200" y="5607142"/>
                  <a:pt x="0" y="5564942"/>
                  <a:pt x="0" y="5512886"/>
                </a:cubicBezTo>
                <a:lnTo>
                  <a:pt x="0" y="94256"/>
                </a:lnTo>
                <a:cubicBezTo>
                  <a:pt x="0" y="42200"/>
                  <a:pt x="42200" y="0"/>
                  <a:pt x="94256" y="0"/>
                </a:cubicBezTo>
                <a:close/>
              </a:path>
            </a:pathLst>
          </a:custGeom>
          <a:solidFill>
            <a:srgbClr val="FFFFFF"/>
          </a:solidFill>
          <a:ln/>
          <a:effectLst>
            <a:outerShdw sx="100000" sy="100000" kx="0" ky="0" algn="bl" rotWithShape="0" blurRad="176696" dist="117797" dir="5400000">
              <a:srgbClr val="000000">
                <a:alpha val="10196"/>
              </a:srgbClr>
            </a:outerShdw>
          </a:effectLst>
        </p:spPr>
      </p:sp>
      <p:sp>
        <p:nvSpPr>
          <p:cNvPr id="7" name="Shape 5"/>
          <p:cNvSpPr/>
          <p:nvPr/>
        </p:nvSpPr>
        <p:spPr>
          <a:xfrm>
            <a:off x="753901" y="1602041"/>
            <a:ext cx="565426" cy="565426"/>
          </a:xfrm>
          <a:custGeom>
            <a:avLst/>
            <a:gdLst/>
            <a:ahLst/>
            <a:cxnLst/>
            <a:rect l="l" t="t" r="r" b="b"/>
            <a:pathLst>
              <a:path w="565426" h="565426">
                <a:moveTo>
                  <a:pt x="94240" y="0"/>
                </a:moveTo>
                <a:lnTo>
                  <a:pt x="471187" y="0"/>
                </a:lnTo>
                <a:cubicBezTo>
                  <a:pt x="523199" y="0"/>
                  <a:pt x="565426" y="42227"/>
                  <a:pt x="565426" y="94240"/>
                </a:cubicBezTo>
                <a:lnTo>
                  <a:pt x="565426" y="471187"/>
                </a:lnTo>
                <a:cubicBezTo>
                  <a:pt x="565426" y="523234"/>
                  <a:pt x="523234" y="565426"/>
                  <a:pt x="471187" y="565426"/>
                </a:cubicBezTo>
                <a:lnTo>
                  <a:pt x="94240" y="565426"/>
                </a:lnTo>
                <a:cubicBezTo>
                  <a:pt x="42227" y="565426"/>
                  <a:pt x="0" y="523199"/>
                  <a:pt x="0" y="471187"/>
                </a:cubicBezTo>
                <a:lnTo>
                  <a:pt x="0" y="94240"/>
                </a:lnTo>
                <a:cubicBezTo>
                  <a:pt x="0" y="42227"/>
                  <a:pt x="42227" y="0"/>
                  <a:pt x="94240" y="0"/>
                </a:cubicBezTo>
                <a:close/>
              </a:path>
            </a:pathLst>
          </a:custGeom>
          <a:solidFill>
            <a:srgbClr val="A67B5C">
              <a:alpha val="10196"/>
            </a:srgbClr>
          </a:solidFill>
          <a:ln/>
        </p:spPr>
      </p:sp>
      <p:sp>
        <p:nvSpPr>
          <p:cNvPr id="8" name="Shape 6"/>
          <p:cNvSpPr/>
          <p:nvPr/>
        </p:nvSpPr>
        <p:spPr>
          <a:xfrm>
            <a:off x="912928" y="1743397"/>
            <a:ext cx="247374" cy="282713"/>
          </a:xfrm>
          <a:custGeom>
            <a:avLst/>
            <a:gdLst/>
            <a:ahLst/>
            <a:cxnLst/>
            <a:rect l="l" t="t" r="r" b="b"/>
            <a:pathLst>
              <a:path w="247374" h="282713">
                <a:moveTo>
                  <a:pt x="247374" y="113637"/>
                </a:moveTo>
                <a:cubicBezTo>
                  <a:pt x="239202" y="119049"/>
                  <a:pt x="229815" y="123411"/>
                  <a:pt x="220041" y="126890"/>
                </a:cubicBezTo>
                <a:cubicBezTo>
                  <a:pt x="194089" y="136166"/>
                  <a:pt x="160020" y="141357"/>
                  <a:pt x="123687" y="141357"/>
                </a:cubicBezTo>
                <a:cubicBezTo>
                  <a:pt x="87354" y="141357"/>
                  <a:pt x="53230" y="136111"/>
                  <a:pt x="27333" y="126890"/>
                </a:cubicBezTo>
                <a:cubicBezTo>
                  <a:pt x="17614" y="123411"/>
                  <a:pt x="8172" y="119049"/>
                  <a:pt x="0" y="113637"/>
                </a:cubicBezTo>
                <a:lnTo>
                  <a:pt x="0" y="159026"/>
                </a:lnTo>
                <a:cubicBezTo>
                  <a:pt x="0" y="183432"/>
                  <a:pt x="55383" y="203200"/>
                  <a:pt x="123687" y="203200"/>
                </a:cubicBezTo>
                <a:cubicBezTo>
                  <a:pt x="191991" y="203200"/>
                  <a:pt x="247374" y="183432"/>
                  <a:pt x="247374" y="159026"/>
                </a:cubicBezTo>
                <a:lnTo>
                  <a:pt x="247374" y="113637"/>
                </a:lnTo>
                <a:close/>
                <a:moveTo>
                  <a:pt x="247374" y="70678"/>
                </a:moveTo>
                <a:lnTo>
                  <a:pt x="247374" y="44174"/>
                </a:lnTo>
                <a:cubicBezTo>
                  <a:pt x="247374" y="19768"/>
                  <a:pt x="191991" y="0"/>
                  <a:pt x="123687" y="0"/>
                </a:cubicBezTo>
                <a:cubicBezTo>
                  <a:pt x="55383" y="0"/>
                  <a:pt x="0" y="19768"/>
                  <a:pt x="0" y="44174"/>
                </a:cubicBezTo>
                <a:lnTo>
                  <a:pt x="0" y="70678"/>
                </a:lnTo>
                <a:cubicBezTo>
                  <a:pt x="0" y="95084"/>
                  <a:pt x="55383" y="114852"/>
                  <a:pt x="123687" y="114852"/>
                </a:cubicBezTo>
                <a:cubicBezTo>
                  <a:pt x="191991" y="114852"/>
                  <a:pt x="247374" y="95084"/>
                  <a:pt x="247374" y="70678"/>
                </a:cubicBezTo>
                <a:close/>
                <a:moveTo>
                  <a:pt x="220041" y="215237"/>
                </a:moveTo>
                <a:cubicBezTo>
                  <a:pt x="194144" y="224459"/>
                  <a:pt x="160075" y="229704"/>
                  <a:pt x="123687" y="229704"/>
                </a:cubicBezTo>
                <a:cubicBezTo>
                  <a:pt x="87299" y="229704"/>
                  <a:pt x="53230" y="224459"/>
                  <a:pt x="27333" y="215237"/>
                </a:cubicBezTo>
                <a:cubicBezTo>
                  <a:pt x="17614" y="211759"/>
                  <a:pt x="8172" y="207397"/>
                  <a:pt x="0" y="201985"/>
                </a:cubicBezTo>
                <a:lnTo>
                  <a:pt x="0" y="238539"/>
                </a:lnTo>
                <a:cubicBezTo>
                  <a:pt x="0" y="262945"/>
                  <a:pt x="55383" y="282713"/>
                  <a:pt x="123687" y="282713"/>
                </a:cubicBezTo>
                <a:cubicBezTo>
                  <a:pt x="191991" y="282713"/>
                  <a:pt x="247374" y="262945"/>
                  <a:pt x="247374" y="238539"/>
                </a:cubicBezTo>
                <a:lnTo>
                  <a:pt x="247374" y="201985"/>
                </a:lnTo>
                <a:cubicBezTo>
                  <a:pt x="239202" y="207397"/>
                  <a:pt x="229815" y="211759"/>
                  <a:pt x="220041" y="215237"/>
                </a:cubicBezTo>
                <a:close/>
              </a:path>
            </a:pathLst>
          </a:custGeom>
          <a:solidFill>
            <a:srgbClr val="A67B5C"/>
          </a:solidFill>
          <a:ln/>
        </p:spPr>
      </p:sp>
      <p:sp>
        <p:nvSpPr>
          <p:cNvPr id="9" name="Text 7"/>
          <p:cNvSpPr/>
          <p:nvPr/>
        </p:nvSpPr>
        <p:spPr>
          <a:xfrm>
            <a:off x="1460684" y="1696278"/>
            <a:ext cx="1790516" cy="376951"/>
          </a:xfrm>
          <a:prstGeom prst="rect">
            <a:avLst/>
          </a:prstGeom>
          <a:noFill/>
          <a:ln/>
        </p:spPr>
        <p:txBody>
          <a:bodyPr wrap="square" lIns="0" tIns="0" rIns="0" bIns="0" rtlCol="0" anchor="ctr"/>
          <a:lstStyle/>
          <a:p>
            <a:pPr>
              <a:lnSpc>
                <a:spcPct val="110000"/>
              </a:lnSpc>
            </a:pPr>
            <a:r>
              <a:rPr lang="en-US" sz="2226" b="1" dirty="0">
                <a:solidFill>
                  <a:srgbClr val="495057"/>
                </a:solidFill>
                <a:latin typeface="Noto Sans SC" pitchFamily="34" charset="0"/>
                <a:ea typeface="Noto Sans SC" pitchFamily="34" charset="-122"/>
                <a:cs typeface="Noto Sans SC" pitchFamily="34" charset="-120"/>
              </a:rPr>
              <a:t>MVSA数据集</a:t>
            </a:r>
            <a:endParaRPr lang="en-US" sz="1600" dirty="0"/>
          </a:p>
        </p:txBody>
      </p:sp>
      <p:sp>
        <p:nvSpPr>
          <p:cNvPr id="10" name="Shape 8"/>
          <p:cNvSpPr/>
          <p:nvPr/>
        </p:nvSpPr>
        <p:spPr>
          <a:xfrm>
            <a:off x="777461" y="2355942"/>
            <a:ext cx="6926470" cy="1460684"/>
          </a:xfrm>
          <a:custGeom>
            <a:avLst/>
            <a:gdLst/>
            <a:ahLst/>
            <a:cxnLst/>
            <a:rect l="l" t="t" r="r" b="b"/>
            <a:pathLst>
              <a:path w="6926470" h="1460684">
                <a:moveTo>
                  <a:pt x="47119" y="0"/>
                </a:moveTo>
                <a:lnTo>
                  <a:pt x="6832226" y="0"/>
                </a:lnTo>
                <a:cubicBezTo>
                  <a:pt x="6884275" y="0"/>
                  <a:pt x="6926470" y="42194"/>
                  <a:pt x="6926470" y="94243"/>
                </a:cubicBezTo>
                <a:lnTo>
                  <a:pt x="6926470" y="1366441"/>
                </a:lnTo>
                <a:cubicBezTo>
                  <a:pt x="6926470" y="1418490"/>
                  <a:pt x="6884275" y="1460684"/>
                  <a:pt x="6832226" y="1460684"/>
                </a:cubicBezTo>
                <a:lnTo>
                  <a:pt x="47119" y="1460684"/>
                </a:lnTo>
                <a:cubicBezTo>
                  <a:pt x="21096" y="1460684"/>
                  <a:pt x="0" y="1439588"/>
                  <a:pt x="0" y="1413565"/>
                </a:cubicBezTo>
                <a:lnTo>
                  <a:pt x="0" y="47119"/>
                </a:lnTo>
                <a:cubicBezTo>
                  <a:pt x="0" y="21113"/>
                  <a:pt x="21113" y="0"/>
                  <a:pt x="47119" y="0"/>
                </a:cubicBezTo>
                <a:close/>
              </a:path>
            </a:pathLst>
          </a:custGeom>
          <a:solidFill>
            <a:srgbClr val="A67B5C">
              <a:alpha val="5098"/>
            </a:srgbClr>
          </a:solidFill>
          <a:ln/>
        </p:spPr>
      </p:sp>
      <p:sp>
        <p:nvSpPr>
          <p:cNvPr id="11" name="Shape 9"/>
          <p:cNvSpPr/>
          <p:nvPr/>
        </p:nvSpPr>
        <p:spPr>
          <a:xfrm>
            <a:off x="777461" y="2355942"/>
            <a:ext cx="47119" cy="1460684"/>
          </a:xfrm>
          <a:custGeom>
            <a:avLst/>
            <a:gdLst/>
            <a:ahLst/>
            <a:cxnLst/>
            <a:rect l="l" t="t" r="r" b="b"/>
            <a:pathLst>
              <a:path w="47119" h="1460684">
                <a:moveTo>
                  <a:pt x="47119" y="0"/>
                </a:moveTo>
                <a:lnTo>
                  <a:pt x="47119" y="0"/>
                </a:lnTo>
                <a:lnTo>
                  <a:pt x="47119" y="1460684"/>
                </a:lnTo>
                <a:lnTo>
                  <a:pt x="47119" y="1460684"/>
                </a:lnTo>
                <a:cubicBezTo>
                  <a:pt x="21096" y="1460684"/>
                  <a:pt x="0" y="1439588"/>
                  <a:pt x="0" y="1413565"/>
                </a:cubicBezTo>
                <a:lnTo>
                  <a:pt x="0" y="47119"/>
                </a:lnTo>
                <a:cubicBezTo>
                  <a:pt x="0" y="21113"/>
                  <a:pt x="21113" y="0"/>
                  <a:pt x="47119" y="0"/>
                </a:cubicBezTo>
                <a:close/>
              </a:path>
            </a:pathLst>
          </a:custGeom>
          <a:solidFill>
            <a:srgbClr val="A67B5C"/>
          </a:solidFill>
          <a:ln/>
        </p:spPr>
      </p:sp>
      <p:sp>
        <p:nvSpPr>
          <p:cNvPr id="12" name="Shape 10"/>
          <p:cNvSpPr/>
          <p:nvPr/>
        </p:nvSpPr>
        <p:spPr>
          <a:xfrm>
            <a:off x="1036614" y="2615096"/>
            <a:ext cx="141357" cy="188475"/>
          </a:xfrm>
          <a:custGeom>
            <a:avLst/>
            <a:gdLst/>
            <a:ahLst/>
            <a:cxnLst/>
            <a:rect l="l" t="t" r="r" b="b"/>
            <a:pathLst>
              <a:path w="141357" h="188475">
                <a:moveTo>
                  <a:pt x="23559" y="0"/>
                </a:moveTo>
                <a:cubicBezTo>
                  <a:pt x="10565" y="0"/>
                  <a:pt x="0" y="10565"/>
                  <a:pt x="0" y="23559"/>
                </a:cubicBezTo>
                <a:lnTo>
                  <a:pt x="0" y="164916"/>
                </a:lnTo>
                <a:cubicBezTo>
                  <a:pt x="0" y="177910"/>
                  <a:pt x="10565" y="188475"/>
                  <a:pt x="23559" y="188475"/>
                </a:cubicBezTo>
                <a:lnTo>
                  <a:pt x="117797" y="188475"/>
                </a:lnTo>
                <a:cubicBezTo>
                  <a:pt x="130792" y="188475"/>
                  <a:pt x="141357" y="177910"/>
                  <a:pt x="141357" y="164916"/>
                </a:cubicBezTo>
                <a:lnTo>
                  <a:pt x="141357" y="62764"/>
                </a:lnTo>
                <a:cubicBezTo>
                  <a:pt x="141357" y="56506"/>
                  <a:pt x="138890" y="50506"/>
                  <a:pt x="134473" y="46088"/>
                </a:cubicBezTo>
                <a:lnTo>
                  <a:pt x="95232" y="6884"/>
                </a:lnTo>
                <a:cubicBezTo>
                  <a:pt x="90814" y="2466"/>
                  <a:pt x="84851" y="0"/>
                  <a:pt x="78593" y="0"/>
                </a:cubicBezTo>
                <a:lnTo>
                  <a:pt x="23559" y="0"/>
                </a:lnTo>
                <a:close/>
                <a:moveTo>
                  <a:pt x="119822" y="64788"/>
                </a:moveTo>
                <a:lnTo>
                  <a:pt x="85403" y="64788"/>
                </a:lnTo>
                <a:cubicBezTo>
                  <a:pt x="80507" y="64788"/>
                  <a:pt x="76568" y="60850"/>
                  <a:pt x="76568" y="55954"/>
                </a:cubicBezTo>
                <a:lnTo>
                  <a:pt x="76568" y="21535"/>
                </a:lnTo>
                <a:lnTo>
                  <a:pt x="119822" y="64788"/>
                </a:lnTo>
                <a:close/>
              </a:path>
            </a:pathLst>
          </a:custGeom>
          <a:solidFill>
            <a:srgbClr val="A67B5C"/>
          </a:solidFill>
          <a:ln/>
        </p:spPr>
      </p:sp>
      <p:sp>
        <p:nvSpPr>
          <p:cNvPr id="13" name="Text 11"/>
          <p:cNvSpPr/>
          <p:nvPr/>
        </p:nvSpPr>
        <p:spPr>
          <a:xfrm>
            <a:off x="1319328" y="2544417"/>
            <a:ext cx="1378226" cy="329832"/>
          </a:xfrm>
          <a:prstGeom prst="rect">
            <a:avLst/>
          </a:prstGeom>
          <a:noFill/>
          <a:ln/>
        </p:spPr>
        <p:txBody>
          <a:bodyPr wrap="square" lIns="0" tIns="0" rIns="0" bIns="0" rtlCol="0" anchor="ctr"/>
          <a:lstStyle/>
          <a:p>
            <a:pPr>
              <a:lnSpc>
                <a:spcPct val="130000"/>
              </a:lnSpc>
            </a:pPr>
            <a:r>
              <a:rPr lang="en-US" sz="1670" b="1" dirty="0">
                <a:solidFill>
                  <a:srgbClr val="495057"/>
                </a:solidFill>
                <a:latin typeface="Liter" pitchFamily="34" charset="0"/>
                <a:ea typeface="Liter" pitchFamily="34" charset="-122"/>
                <a:cs typeface="Liter" pitchFamily="34" charset="-120"/>
              </a:rPr>
              <a:t>MVSA-Single</a:t>
            </a:r>
            <a:endParaRPr lang="en-US" sz="1600" dirty="0"/>
          </a:p>
        </p:txBody>
      </p:sp>
      <p:sp>
        <p:nvSpPr>
          <p:cNvPr id="14" name="Text 12"/>
          <p:cNvSpPr/>
          <p:nvPr/>
        </p:nvSpPr>
        <p:spPr>
          <a:xfrm>
            <a:off x="989496" y="2968487"/>
            <a:ext cx="6620197" cy="282713"/>
          </a:xfrm>
          <a:prstGeom prst="rect">
            <a:avLst/>
          </a:prstGeom>
          <a:noFill/>
          <a:ln/>
        </p:spPr>
        <p:txBody>
          <a:bodyPr wrap="square" lIns="0" tIns="0" rIns="0" bIns="0" rtlCol="0" anchor="ctr"/>
          <a:lstStyle/>
          <a:p>
            <a:pPr>
              <a:lnSpc>
                <a:spcPct val="130000"/>
              </a:lnSpc>
            </a:pPr>
            <a:r>
              <a:rPr lang="en-US" sz="1484" b="1" dirty="0">
                <a:solidFill>
                  <a:srgbClr val="495057">
                    <a:alpha val="80000"/>
                  </a:srgbClr>
                </a:solidFill>
                <a:latin typeface="MiSans" pitchFamily="34" charset="0"/>
                <a:ea typeface="MiSans" pitchFamily="34" charset="-122"/>
                <a:cs typeface="MiSans" pitchFamily="34" charset="-120"/>
              </a:rPr>
              <a:t>原始：</a:t>
            </a:r>
            <a:pPr>
              <a:lnSpc>
                <a:spcPct val="130000"/>
              </a:lnSpc>
            </a:pPr>
            <a:r>
              <a:rPr lang="en-US" sz="1484" dirty="0">
                <a:solidFill>
                  <a:srgbClr val="495057">
                    <a:alpha val="80000"/>
                  </a:srgbClr>
                </a:solidFill>
                <a:latin typeface="MiSans" pitchFamily="34" charset="0"/>
                <a:ea typeface="MiSans" pitchFamily="34" charset="-122"/>
                <a:cs typeface="MiSans" pitchFamily="34" charset="-120"/>
              </a:rPr>
              <a:t>5,129对图文数据，每对由一名标注者评分</a:t>
            </a:r>
            <a:endParaRPr lang="en-US" sz="1600" dirty="0"/>
          </a:p>
        </p:txBody>
      </p:sp>
      <p:sp>
        <p:nvSpPr>
          <p:cNvPr id="15" name="Text 13"/>
          <p:cNvSpPr/>
          <p:nvPr/>
        </p:nvSpPr>
        <p:spPr>
          <a:xfrm>
            <a:off x="989496" y="3345438"/>
            <a:ext cx="6620197" cy="282713"/>
          </a:xfrm>
          <a:prstGeom prst="rect">
            <a:avLst/>
          </a:prstGeom>
          <a:noFill/>
          <a:ln/>
        </p:spPr>
        <p:txBody>
          <a:bodyPr wrap="square" lIns="0" tIns="0" rIns="0" bIns="0" rtlCol="0" anchor="ctr"/>
          <a:lstStyle/>
          <a:p>
            <a:pPr>
              <a:lnSpc>
                <a:spcPct val="130000"/>
              </a:lnSpc>
            </a:pPr>
            <a:r>
              <a:rPr lang="en-US" sz="1484" b="1" dirty="0">
                <a:solidFill>
                  <a:srgbClr val="495057">
                    <a:alpha val="80000"/>
                  </a:srgbClr>
                </a:solidFill>
                <a:latin typeface="MiSans" pitchFamily="34" charset="0"/>
                <a:ea typeface="MiSans" pitchFamily="34" charset="-122"/>
                <a:cs typeface="MiSans" pitchFamily="34" charset="-120"/>
              </a:rPr>
              <a:t>清洗后：</a:t>
            </a:r>
            <a:pPr>
              <a:lnSpc>
                <a:spcPct val="130000"/>
              </a:lnSpc>
            </a:pPr>
            <a:r>
              <a:rPr lang="en-US" sz="1484" dirty="0">
                <a:solidFill>
                  <a:srgbClr val="495057"/>
                </a:solidFill>
                <a:highlight>
                  <a:srgbClr val="A67B5C">
                    <a:alpha val="20000"/>
                  </a:srgbClr>
                </a:highlight>
                <a:latin typeface="MiSans" pitchFamily="34" charset="0"/>
                <a:ea typeface="MiSans" pitchFamily="34" charset="-122"/>
                <a:cs typeface="MiSans" pitchFamily="34" charset="-120"/>
              </a:rPr>
              <a:t> 4,511对 </a:t>
            </a:r>
            <a:pPr>
              <a:lnSpc>
                <a:spcPct val="130000"/>
              </a:lnSpc>
            </a:pPr>
            <a:r>
              <a:rPr lang="en-US" sz="1484" dirty="0">
                <a:solidFill>
                  <a:srgbClr val="495057">
                    <a:alpha val="80000"/>
                  </a:srgbClr>
                </a:solidFill>
                <a:latin typeface="MiSans" pitchFamily="34" charset="0"/>
                <a:ea typeface="MiSans" pitchFamily="34" charset="-122"/>
                <a:cs typeface="MiSans" pitchFamily="34" charset="-120"/>
              </a:rPr>
              <a:t>高质量样本</a:t>
            </a:r>
            <a:endParaRPr lang="en-US" sz="1600" dirty="0"/>
          </a:p>
        </p:txBody>
      </p:sp>
      <p:sp>
        <p:nvSpPr>
          <p:cNvPr id="16" name="Shape 14"/>
          <p:cNvSpPr/>
          <p:nvPr/>
        </p:nvSpPr>
        <p:spPr>
          <a:xfrm>
            <a:off x="777461" y="4005101"/>
            <a:ext cx="6926470" cy="1460684"/>
          </a:xfrm>
          <a:custGeom>
            <a:avLst/>
            <a:gdLst/>
            <a:ahLst/>
            <a:cxnLst/>
            <a:rect l="l" t="t" r="r" b="b"/>
            <a:pathLst>
              <a:path w="6926470" h="1460684">
                <a:moveTo>
                  <a:pt x="47119" y="0"/>
                </a:moveTo>
                <a:lnTo>
                  <a:pt x="6832226" y="0"/>
                </a:lnTo>
                <a:cubicBezTo>
                  <a:pt x="6884275" y="0"/>
                  <a:pt x="6926470" y="42194"/>
                  <a:pt x="6926470" y="94243"/>
                </a:cubicBezTo>
                <a:lnTo>
                  <a:pt x="6926470" y="1366441"/>
                </a:lnTo>
                <a:cubicBezTo>
                  <a:pt x="6926470" y="1418490"/>
                  <a:pt x="6884275" y="1460684"/>
                  <a:pt x="6832226" y="1460684"/>
                </a:cubicBezTo>
                <a:lnTo>
                  <a:pt x="47119" y="1460684"/>
                </a:lnTo>
                <a:cubicBezTo>
                  <a:pt x="21096" y="1460684"/>
                  <a:pt x="0" y="1439588"/>
                  <a:pt x="0" y="1413565"/>
                </a:cubicBezTo>
                <a:lnTo>
                  <a:pt x="0" y="47119"/>
                </a:lnTo>
                <a:cubicBezTo>
                  <a:pt x="0" y="21113"/>
                  <a:pt x="21113" y="0"/>
                  <a:pt x="47119" y="0"/>
                </a:cubicBezTo>
                <a:close/>
              </a:path>
            </a:pathLst>
          </a:custGeom>
          <a:solidFill>
            <a:srgbClr val="495057">
              <a:alpha val="5098"/>
            </a:srgbClr>
          </a:solidFill>
          <a:ln/>
        </p:spPr>
      </p:sp>
      <p:sp>
        <p:nvSpPr>
          <p:cNvPr id="17" name="Shape 15"/>
          <p:cNvSpPr/>
          <p:nvPr/>
        </p:nvSpPr>
        <p:spPr>
          <a:xfrm>
            <a:off x="777461" y="4005101"/>
            <a:ext cx="47119" cy="1460684"/>
          </a:xfrm>
          <a:custGeom>
            <a:avLst/>
            <a:gdLst/>
            <a:ahLst/>
            <a:cxnLst/>
            <a:rect l="l" t="t" r="r" b="b"/>
            <a:pathLst>
              <a:path w="47119" h="1460684">
                <a:moveTo>
                  <a:pt x="47119" y="0"/>
                </a:moveTo>
                <a:lnTo>
                  <a:pt x="47119" y="0"/>
                </a:lnTo>
                <a:lnTo>
                  <a:pt x="47119" y="1460684"/>
                </a:lnTo>
                <a:lnTo>
                  <a:pt x="47119" y="1460684"/>
                </a:lnTo>
                <a:cubicBezTo>
                  <a:pt x="21096" y="1460684"/>
                  <a:pt x="0" y="1439588"/>
                  <a:pt x="0" y="1413565"/>
                </a:cubicBezTo>
                <a:lnTo>
                  <a:pt x="0" y="47119"/>
                </a:lnTo>
                <a:cubicBezTo>
                  <a:pt x="0" y="21113"/>
                  <a:pt x="21113" y="0"/>
                  <a:pt x="47119" y="0"/>
                </a:cubicBezTo>
                <a:close/>
              </a:path>
            </a:pathLst>
          </a:custGeom>
          <a:solidFill>
            <a:srgbClr val="495057"/>
          </a:solidFill>
          <a:ln/>
        </p:spPr>
      </p:sp>
      <p:sp>
        <p:nvSpPr>
          <p:cNvPr id="18" name="Shape 16"/>
          <p:cNvSpPr/>
          <p:nvPr/>
        </p:nvSpPr>
        <p:spPr>
          <a:xfrm>
            <a:off x="1013055" y="4264255"/>
            <a:ext cx="188475" cy="188475"/>
          </a:xfrm>
          <a:custGeom>
            <a:avLst/>
            <a:gdLst/>
            <a:ahLst/>
            <a:cxnLst/>
            <a:rect l="l" t="t" r="r" b="b"/>
            <a:pathLst>
              <a:path w="188475" h="188475">
                <a:moveTo>
                  <a:pt x="24259" y="84114"/>
                </a:moveTo>
                <a:cubicBezTo>
                  <a:pt x="29155" y="49880"/>
                  <a:pt x="58641" y="23559"/>
                  <a:pt x="94238" y="23559"/>
                </a:cubicBezTo>
                <a:cubicBezTo>
                  <a:pt x="113748" y="23559"/>
                  <a:pt x="131417" y="31474"/>
                  <a:pt x="144228" y="44248"/>
                </a:cubicBezTo>
                <a:cubicBezTo>
                  <a:pt x="144301" y="44321"/>
                  <a:pt x="144375" y="44395"/>
                  <a:pt x="144449" y="44468"/>
                </a:cubicBezTo>
                <a:lnTo>
                  <a:pt x="147246" y="47119"/>
                </a:lnTo>
                <a:lnTo>
                  <a:pt x="129614" y="47119"/>
                </a:lnTo>
                <a:cubicBezTo>
                  <a:pt x="123098" y="47119"/>
                  <a:pt x="117834" y="52383"/>
                  <a:pt x="117834" y="58899"/>
                </a:cubicBezTo>
                <a:cubicBezTo>
                  <a:pt x="117834" y="65414"/>
                  <a:pt x="123098" y="70678"/>
                  <a:pt x="129614" y="70678"/>
                </a:cubicBezTo>
                <a:lnTo>
                  <a:pt x="176732" y="70678"/>
                </a:lnTo>
                <a:cubicBezTo>
                  <a:pt x="183248" y="70678"/>
                  <a:pt x="188512" y="65414"/>
                  <a:pt x="188512" y="58899"/>
                </a:cubicBezTo>
                <a:lnTo>
                  <a:pt x="188512" y="11780"/>
                </a:lnTo>
                <a:cubicBezTo>
                  <a:pt x="188512" y="5264"/>
                  <a:pt x="183248" y="0"/>
                  <a:pt x="176732" y="0"/>
                </a:cubicBezTo>
                <a:cubicBezTo>
                  <a:pt x="170217" y="0"/>
                  <a:pt x="164953" y="5264"/>
                  <a:pt x="164953" y="11780"/>
                </a:cubicBezTo>
                <a:lnTo>
                  <a:pt x="164953" y="31437"/>
                </a:lnTo>
                <a:lnTo>
                  <a:pt x="160793" y="27498"/>
                </a:lnTo>
                <a:cubicBezTo>
                  <a:pt x="143749" y="10528"/>
                  <a:pt x="120190" y="0"/>
                  <a:pt x="94238" y="0"/>
                </a:cubicBezTo>
                <a:cubicBezTo>
                  <a:pt x="46751" y="0"/>
                  <a:pt x="7473" y="35118"/>
                  <a:pt x="957" y="80801"/>
                </a:cubicBezTo>
                <a:cubicBezTo>
                  <a:pt x="37" y="87243"/>
                  <a:pt x="4491" y="93207"/>
                  <a:pt x="10933" y="94127"/>
                </a:cubicBezTo>
                <a:cubicBezTo>
                  <a:pt x="17375" y="95048"/>
                  <a:pt x="23339" y="90557"/>
                  <a:pt x="24259" y="84151"/>
                </a:cubicBezTo>
                <a:close/>
                <a:moveTo>
                  <a:pt x="187518" y="107674"/>
                </a:moveTo>
                <a:cubicBezTo>
                  <a:pt x="188439" y="101232"/>
                  <a:pt x="183948" y="95268"/>
                  <a:pt x="177542" y="94348"/>
                </a:cubicBezTo>
                <a:cubicBezTo>
                  <a:pt x="171137" y="93428"/>
                  <a:pt x="165137" y="97919"/>
                  <a:pt x="164217" y="104324"/>
                </a:cubicBezTo>
                <a:cubicBezTo>
                  <a:pt x="159321" y="138559"/>
                  <a:pt x="129834" y="164879"/>
                  <a:pt x="94238" y="164879"/>
                </a:cubicBezTo>
                <a:cubicBezTo>
                  <a:pt x="74728" y="164879"/>
                  <a:pt x="57058" y="156965"/>
                  <a:pt x="44248" y="144191"/>
                </a:cubicBezTo>
                <a:cubicBezTo>
                  <a:pt x="44174" y="144117"/>
                  <a:pt x="44100" y="144044"/>
                  <a:pt x="44027" y="143970"/>
                </a:cubicBezTo>
                <a:lnTo>
                  <a:pt x="41229" y="141320"/>
                </a:lnTo>
                <a:lnTo>
                  <a:pt x="58862" y="141320"/>
                </a:lnTo>
                <a:cubicBezTo>
                  <a:pt x="65377" y="141320"/>
                  <a:pt x="70641" y="136056"/>
                  <a:pt x="70641" y="129540"/>
                </a:cubicBezTo>
                <a:cubicBezTo>
                  <a:pt x="70641" y="123024"/>
                  <a:pt x="65377" y="117760"/>
                  <a:pt x="58862" y="117760"/>
                </a:cubicBezTo>
                <a:lnTo>
                  <a:pt x="11780" y="117797"/>
                </a:lnTo>
                <a:cubicBezTo>
                  <a:pt x="8651" y="117797"/>
                  <a:pt x="5632" y="119049"/>
                  <a:pt x="3423" y="121294"/>
                </a:cubicBezTo>
                <a:cubicBezTo>
                  <a:pt x="1215" y="123540"/>
                  <a:pt x="-37" y="126521"/>
                  <a:pt x="0" y="129687"/>
                </a:cubicBezTo>
                <a:lnTo>
                  <a:pt x="368" y="176438"/>
                </a:lnTo>
                <a:cubicBezTo>
                  <a:pt x="405" y="182954"/>
                  <a:pt x="5743" y="188181"/>
                  <a:pt x="12258" y="188107"/>
                </a:cubicBezTo>
                <a:cubicBezTo>
                  <a:pt x="18774" y="188034"/>
                  <a:pt x="24001" y="182733"/>
                  <a:pt x="23928" y="176217"/>
                </a:cubicBezTo>
                <a:lnTo>
                  <a:pt x="23780" y="157259"/>
                </a:lnTo>
                <a:lnTo>
                  <a:pt x="27719" y="160977"/>
                </a:lnTo>
                <a:cubicBezTo>
                  <a:pt x="44763" y="177947"/>
                  <a:pt x="68286" y="188475"/>
                  <a:pt x="94238" y="188475"/>
                </a:cubicBezTo>
                <a:cubicBezTo>
                  <a:pt x="141725" y="188475"/>
                  <a:pt x="181003" y="153357"/>
                  <a:pt x="187518" y="107674"/>
                </a:cubicBezTo>
                <a:close/>
              </a:path>
            </a:pathLst>
          </a:custGeom>
          <a:solidFill>
            <a:srgbClr val="495057"/>
          </a:solidFill>
          <a:ln/>
        </p:spPr>
      </p:sp>
      <p:sp>
        <p:nvSpPr>
          <p:cNvPr id="19" name="Text 17"/>
          <p:cNvSpPr/>
          <p:nvPr/>
        </p:nvSpPr>
        <p:spPr>
          <a:xfrm>
            <a:off x="1319328" y="4193577"/>
            <a:ext cx="1272209" cy="329832"/>
          </a:xfrm>
          <a:prstGeom prst="rect">
            <a:avLst/>
          </a:prstGeom>
          <a:noFill/>
          <a:ln/>
        </p:spPr>
        <p:txBody>
          <a:bodyPr wrap="square" lIns="0" tIns="0" rIns="0" bIns="0" rtlCol="0" anchor="ctr"/>
          <a:lstStyle/>
          <a:p>
            <a:pPr>
              <a:lnSpc>
                <a:spcPct val="130000"/>
              </a:lnSpc>
            </a:pPr>
            <a:r>
              <a:rPr lang="en-US" sz="1670" b="1" dirty="0">
                <a:solidFill>
                  <a:srgbClr val="495057"/>
                </a:solidFill>
                <a:latin typeface="Liter" pitchFamily="34" charset="0"/>
                <a:ea typeface="Liter" pitchFamily="34" charset="-122"/>
                <a:cs typeface="Liter" pitchFamily="34" charset="-120"/>
              </a:rPr>
              <a:t>MVSA-Multi</a:t>
            </a:r>
            <a:endParaRPr lang="en-US" sz="1600" dirty="0"/>
          </a:p>
        </p:txBody>
      </p:sp>
      <p:sp>
        <p:nvSpPr>
          <p:cNvPr id="20" name="Text 18"/>
          <p:cNvSpPr/>
          <p:nvPr/>
        </p:nvSpPr>
        <p:spPr>
          <a:xfrm>
            <a:off x="989496" y="4617646"/>
            <a:ext cx="6620197" cy="282713"/>
          </a:xfrm>
          <a:prstGeom prst="rect">
            <a:avLst/>
          </a:prstGeom>
          <a:noFill/>
          <a:ln/>
        </p:spPr>
        <p:txBody>
          <a:bodyPr wrap="square" lIns="0" tIns="0" rIns="0" bIns="0" rtlCol="0" anchor="ctr"/>
          <a:lstStyle/>
          <a:p>
            <a:pPr>
              <a:lnSpc>
                <a:spcPct val="130000"/>
              </a:lnSpc>
            </a:pPr>
            <a:r>
              <a:rPr lang="en-US" sz="1484" b="1" dirty="0">
                <a:solidFill>
                  <a:srgbClr val="495057">
                    <a:alpha val="80000"/>
                  </a:srgbClr>
                </a:solidFill>
                <a:latin typeface="MiSans" pitchFamily="34" charset="0"/>
                <a:ea typeface="MiSans" pitchFamily="34" charset="-122"/>
                <a:cs typeface="MiSans" pitchFamily="34" charset="-120"/>
              </a:rPr>
              <a:t>原始：</a:t>
            </a:r>
            <a:pPr>
              <a:lnSpc>
                <a:spcPct val="130000"/>
              </a:lnSpc>
            </a:pPr>
            <a:r>
              <a:rPr lang="en-US" sz="1484" dirty="0">
                <a:solidFill>
                  <a:srgbClr val="495057">
                    <a:alpha val="80000"/>
                  </a:srgbClr>
                </a:solidFill>
                <a:latin typeface="MiSans" pitchFamily="34" charset="0"/>
                <a:ea typeface="MiSans" pitchFamily="34" charset="-122"/>
                <a:cs typeface="MiSans" pitchFamily="34" charset="-120"/>
              </a:rPr>
              <a:t>19,600对图文数据，每对由三名独立标注者评分</a:t>
            </a:r>
            <a:endParaRPr lang="en-US" sz="1600" dirty="0"/>
          </a:p>
        </p:txBody>
      </p:sp>
      <p:sp>
        <p:nvSpPr>
          <p:cNvPr id="21" name="Text 19"/>
          <p:cNvSpPr/>
          <p:nvPr/>
        </p:nvSpPr>
        <p:spPr>
          <a:xfrm>
            <a:off x="989496" y="4994597"/>
            <a:ext cx="6620197" cy="282713"/>
          </a:xfrm>
          <a:prstGeom prst="rect">
            <a:avLst/>
          </a:prstGeom>
          <a:noFill/>
          <a:ln/>
        </p:spPr>
        <p:txBody>
          <a:bodyPr wrap="square" lIns="0" tIns="0" rIns="0" bIns="0" rtlCol="0" anchor="ctr"/>
          <a:lstStyle/>
          <a:p>
            <a:pPr>
              <a:lnSpc>
                <a:spcPct val="130000"/>
              </a:lnSpc>
            </a:pPr>
            <a:r>
              <a:rPr lang="en-US" sz="1484" b="1" dirty="0">
                <a:solidFill>
                  <a:srgbClr val="495057">
                    <a:alpha val="80000"/>
                  </a:srgbClr>
                </a:solidFill>
                <a:latin typeface="MiSans" pitchFamily="34" charset="0"/>
                <a:ea typeface="MiSans" pitchFamily="34" charset="-122"/>
                <a:cs typeface="MiSans" pitchFamily="34" charset="-120"/>
              </a:rPr>
              <a:t>清洗后：</a:t>
            </a:r>
            <a:pPr>
              <a:lnSpc>
                <a:spcPct val="130000"/>
              </a:lnSpc>
            </a:pPr>
            <a:r>
              <a:rPr lang="en-US" sz="1484" dirty="0">
                <a:solidFill>
                  <a:srgbClr val="495057"/>
                </a:solidFill>
                <a:highlight>
                  <a:srgbClr val="495057">
                    <a:alpha val="20000"/>
                  </a:srgbClr>
                </a:highlight>
                <a:latin typeface="MiSans" pitchFamily="34" charset="0"/>
                <a:ea typeface="MiSans" pitchFamily="34" charset="-122"/>
                <a:cs typeface="MiSans" pitchFamily="34" charset="-120"/>
              </a:rPr>
              <a:t> 17,024对 </a:t>
            </a:r>
            <a:pPr>
              <a:lnSpc>
                <a:spcPct val="130000"/>
              </a:lnSpc>
            </a:pPr>
            <a:r>
              <a:rPr lang="en-US" sz="1484" dirty="0">
                <a:solidFill>
                  <a:srgbClr val="495057">
                    <a:alpha val="80000"/>
                  </a:srgbClr>
                </a:solidFill>
                <a:latin typeface="MiSans" pitchFamily="34" charset="0"/>
                <a:ea typeface="MiSans" pitchFamily="34" charset="-122"/>
                <a:cs typeface="MiSans" pitchFamily="34" charset="-120"/>
              </a:rPr>
              <a:t>高质量样本</a:t>
            </a:r>
            <a:endParaRPr lang="en-US" sz="1600" dirty="0"/>
          </a:p>
        </p:txBody>
      </p:sp>
      <p:sp>
        <p:nvSpPr>
          <p:cNvPr id="22" name="Shape 20"/>
          <p:cNvSpPr/>
          <p:nvPr/>
        </p:nvSpPr>
        <p:spPr>
          <a:xfrm>
            <a:off x="8266688" y="1319328"/>
            <a:ext cx="7515455" cy="5607142"/>
          </a:xfrm>
          <a:custGeom>
            <a:avLst/>
            <a:gdLst/>
            <a:ahLst/>
            <a:cxnLst/>
            <a:rect l="l" t="t" r="r" b="b"/>
            <a:pathLst>
              <a:path w="7515455" h="5607142">
                <a:moveTo>
                  <a:pt x="94256" y="0"/>
                </a:moveTo>
                <a:lnTo>
                  <a:pt x="7421199" y="0"/>
                </a:lnTo>
                <a:cubicBezTo>
                  <a:pt x="7473220" y="0"/>
                  <a:pt x="7515455" y="42235"/>
                  <a:pt x="7515455" y="94256"/>
                </a:cubicBezTo>
                <a:lnTo>
                  <a:pt x="7515455" y="5512886"/>
                </a:lnTo>
                <a:cubicBezTo>
                  <a:pt x="7515455" y="5564942"/>
                  <a:pt x="7473255" y="5607142"/>
                  <a:pt x="7421199" y="5607142"/>
                </a:cubicBezTo>
                <a:lnTo>
                  <a:pt x="94256" y="5607142"/>
                </a:lnTo>
                <a:cubicBezTo>
                  <a:pt x="42200" y="5607142"/>
                  <a:pt x="0" y="5564942"/>
                  <a:pt x="0" y="5512886"/>
                </a:cubicBezTo>
                <a:lnTo>
                  <a:pt x="0" y="94256"/>
                </a:lnTo>
                <a:cubicBezTo>
                  <a:pt x="0" y="42200"/>
                  <a:pt x="42200" y="0"/>
                  <a:pt x="94256" y="0"/>
                </a:cubicBezTo>
                <a:close/>
              </a:path>
            </a:pathLst>
          </a:custGeom>
          <a:solidFill>
            <a:srgbClr val="FFFFFF"/>
          </a:solidFill>
          <a:ln/>
          <a:effectLst>
            <a:outerShdw sx="100000" sy="100000" kx="0" ky="0" algn="bl" rotWithShape="0" blurRad="176696" dist="117797" dir="5400000">
              <a:srgbClr val="000000">
                <a:alpha val="10196"/>
              </a:srgbClr>
            </a:outerShdw>
          </a:effectLst>
        </p:spPr>
      </p:sp>
      <p:sp>
        <p:nvSpPr>
          <p:cNvPr id="23" name="Shape 21"/>
          <p:cNvSpPr/>
          <p:nvPr/>
        </p:nvSpPr>
        <p:spPr>
          <a:xfrm>
            <a:off x="8549401" y="1602041"/>
            <a:ext cx="565426" cy="565426"/>
          </a:xfrm>
          <a:custGeom>
            <a:avLst/>
            <a:gdLst/>
            <a:ahLst/>
            <a:cxnLst/>
            <a:rect l="l" t="t" r="r" b="b"/>
            <a:pathLst>
              <a:path w="565426" h="565426">
                <a:moveTo>
                  <a:pt x="94240" y="0"/>
                </a:moveTo>
                <a:lnTo>
                  <a:pt x="471187" y="0"/>
                </a:lnTo>
                <a:cubicBezTo>
                  <a:pt x="523199" y="0"/>
                  <a:pt x="565426" y="42227"/>
                  <a:pt x="565426" y="94240"/>
                </a:cubicBezTo>
                <a:lnTo>
                  <a:pt x="565426" y="471187"/>
                </a:lnTo>
                <a:cubicBezTo>
                  <a:pt x="565426" y="523234"/>
                  <a:pt x="523234" y="565426"/>
                  <a:pt x="471187" y="565426"/>
                </a:cubicBezTo>
                <a:lnTo>
                  <a:pt x="94240" y="565426"/>
                </a:lnTo>
                <a:cubicBezTo>
                  <a:pt x="42227" y="565426"/>
                  <a:pt x="0" y="523199"/>
                  <a:pt x="0" y="471187"/>
                </a:cubicBezTo>
                <a:lnTo>
                  <a:pt x="0" y="94240"/>
                </a:lnTo>
                <a:cubicBezTo>
                  <a:pt x="0" y="42227"/>
                  <a:pt x="42227" y="0"/>
                  <a:pt x="94240" y="0"/>
                </a:cubicBezTo>
                <a:close/>
              </a:path>
            </a:pathLst>
          </a:custGeom>
          <a:solidFill>
            <a:srgbClr val="495057">
              <a:alpha val="10196"/>
            </a:srgbClr>
          </a:solidFill>
          <a:ln/>
        </p:spPr>
      </p:sp>
      <p:sp>
        <p:nvSpPr>
          <p:cNvPr id="24" name="Shape 22"/>
          <p:cNvSpPr/>
          <p:nvPr/>
        </p:nvSpPr>
        <p:spPr>
          <a:xfrm>
            <a:off x="8655418" y="1743397"/>
            <a:ext cx="353391" cy="282713"/>
          </a:xfrm>
          <a:custGeom>
            <a:avLst/>
            <a:gdLst/>
            <a:ahLst/>
            <a:cxnLst/>
            <a:rect l="l" t="t" r="r" b="b"/>
            <a:pathLst>
              <a:path w="353391" h="282713">
                <a:moveTo>
                  <a:pt x="229649" y="116233"/>
                </a:moveTo>
                <a:cubicBezTo>
                  <a:pt x="236386" y="114410"/>
                  <a:pt x="243453" y="117613"/>
                  <a:pt x="246490" y="123853"/>
                </a:cubicBezTo>
                <a:lnTo>
                  <a:pt x="256761" y="144614"/>
                </a:lnTo>
                <a:cubicBezTo>
                  <a:pt x="262448" y="145387"/>
                  <a:pt x="268025" y="146933"/>
                  <a:pt x="273271" y="149087"/>
                </a:cubicBezTo>
                <a:lnTo>
                  <a:pt x="292597" y="136221"/>
                </a:lnTo>
                <a:cubicBezTo>
                  <a:pt x="298395" y="132356"/>
                  <a:pt x="306070" y="133129"/>
                  <a:pt x="310984" y="138043"/>
                </a:cubicBezTo>
                <a:lnTo>
                  <a:pt x="321586" y="148645"/>
                </a:lnTo>
                <a:cubicBezTo>
                  <a:pt x="326500" y="153560"/>
                  <a:pt x="327273" y="161290"/>
                  <a:pt x="323408" y="167033"/>
                </a:cubicBezTo>
                <a:lnTo>
                  <a:pt x="310543" y="186303"/>
                </a:lnTo>
                <a:cubicBezTo>
                  <a:pt x="311592" y="188899"/>
                  <a:pt x="312530" y="191604"/>
                  <a:pt x="313303" y="194420"/>
                </a:cubicBezTo>
                <a:cubicBezTo>
                  <a:pt x="314077" y="197237"/>
                  <a:pt x="314573" y="199997"/>
                  <a:pt x="314960" y="202813"/>
                </a:cubicBezTo>
                <a:lnTo>
                  <a:pt x="335777" y="213084"/>
                </a:lnTo>
                <a:cubicBezTo>
                  <a:pt x="342017" y="216176"/>
                  <a:pt x="345219" y="223244"/>
                  <a:pt x="343397" y="229925"/>
                </a:cubicBezTo>
                <a:lnTo>
                  <a:pt x="339532" y="244392"/>
                </a:lnTo>
                <a:cubicBezTo>
                  <a:pt x="337710" y="251073"/>
                  <a:pt x="331470" y="255601"/>
                  <a:pt x="324513" y="255160"/>
                </a:cubicBezTo>
                <a:lnTo>
                  <a:pt x="301321" y="253669"/>
                </a:lnTo>
                <a:cubicBezTo>
                  <a:pt x="297843" y="258141"/>
                  <a:pt x="293812" y="262283"/>
                  <a:pt x="289229" y="265817"/>
                </a:cubicBezTo>
                <a:lnTo>
                  <a:pt x="290720" y="288953"/>
                </a:lnTo>
                <a:cubicBezTo>
                  <a:pt x="291161" y="295910"/>
                  <a:pt x="286633" y="302205"/>
                  <a:pt x="279952" y="303972"/>
                </a:cubicBezTo>
                <a:lnTo>
                  <a:pt x="265485" y="307837"/>
                </a:lnTo>
                <a:cubicBezTo>
                  <a:pt x="258749" y="309659"/>
                  <a:pt x="251736" y="306457"/>
                  <a:pt x="248644" y="300217"/>
                </a:cubicBezTo>
                <a:lnTo>
                  <a:pt x="238373" y="279455"/>
                </a:lnTo>
                <a:cubicBezTo>
                  <a:pt x="232686" y="278682"/>
                  <a:pt x="227109" y="277136"/>
                  <a:pt x="221863" y="274983"/>
                </a:cubicBezTo>
                <a:lnTo>
                  <a:pt x="202537" y="287848"/>
                </a:lnTo>
                <a:cubicBezTo>
                  <a:pt x="196740" y="291713"/>
                  <a:pt x="189064" y="290940"/>
                  <a:pt x="184150" y="286026"/>
                </a:cubicBezTo>
                <a:lnTo>
                  <a:pt x="173548" y="275424"/>
                </a:lnTo>
                <a:cubicBezTo>
                  <a:pt x="168634" y="270510"/>
                  <a:pt x="167861" y="262835"/>
                  <a:pt x="171726" y="257037"/>
                </a:cubicBezTo>
                <a:lnTo>
                  <a:pt x="184592" y="237711"/>
                </a:lnTo>
                <a:cubicBezTo>
                  <a:pt x="183543" y="235116"/>
                  <a:pt x="182604" y="232410"/>
                  <a:pt x="181831" y="229594"/>
                </a:cubicBezTo>
                <a:cubicBezTo>
                  <a:pt x="181058" y="226778"/>
                  <a:pt x="180561" y="223962"/>
                  <a:pt x="180174" y="221201"/>
                </a:cubicBezTo>
                <a:lnTo>
                  <a:pt x="159357" y="210930"/>
                </a:lnTo>
                <a:cubicBezTo>
                  <a:pt x="153118" y="207838"/>
                  <a:pt x="149970" y="200770"/>
                  <a:pt x="151737" y="194089"/>
                </a:cubicBezTo>
                <a:lnTo>
                  <a:pt x="155603" y="179622"/>
                </a:lnTo>
                <a:cubicBezTo>
                  <a:pt x="157425" y="172941"/>
                  <a:pt x="163664" y="168413"/>
                  <a:pt x="170622" y="168855"/>
                </a:cubicBezTo>
                <a:lnTo>
                  <a:pt x="193758" y="170346"/>
                </a:lnTo>
                <a:cubicBezTo>
                  <a:pt x="197237" y="165873"/>
                  <a:pt x="201267" y="161732"/>
                  <a:pt x="205850" y="158198"/>
                </a:cubicBezTo>
                <a:lnTo>
                  <a:pt x="204360" y="135117"/>
                </a:lnTo>
                <a:cubicBezTo>
                  <a:pt x="203918" y="128160"/>
                  <a:pt x="208446" y="121865"/>
                  <a:pt x="215127" y="120098"/>
                </a:cubicBezTo>
                <a:lnTo>
                  <a:pt x="229594" y="116233"/>
                </a:lnTo>
                <a:close/>
                <a:moveTo>
                  <a:pt x="247595" y="187739"/>
                </a:moveTo>
                <a:cubicBezTo>
                  <a:pt x="234186" y="187754"/>
                  <a:pt x="223312" y="198653"/>
                  <a:pt x="223327" y="212062"/>
                </a:cubicBezTo>
                <a:cubicBezTo>
                  <a:pt x="223342" y="225472"/>
                  <a:pt x="234241" y="236346"/>
                  <a:pt x="247650" y="236330"/>
                </a:cubicBezTo>
                <a:cubicBezTo>
                  <a:pt x="261059" y="236315"/>
                  <a:pt x="271933" y="225416"/>
                  <a:pt x="271918" y="212007"/>
                </a:cubicBezTo>
                <a:cubicBezTo>
                  <a:pt x="271903" y="198598"/>
                  <a:pt x="261004" y="187724"/>
                  <a:pt x="247595" y="187739"/>
                </a:cubicBezTo>
                <a:close/>
                <a:moveTo>
                  <a:pt x="124184" y="-25124"/>
                </a:moveTo>
                <a:lnTo>
                  <a:pt x="138651" y="-21259"/>
                </a:lnTo>
                <a:cubicBezTo>
                  <a:pt x="145332" y="-19437"/>
                  <a:pt x="149860" y="-13142"/>
                  <a:pt x="149418" y="-6240"/>
                </a:cubicBezTo>
                <a:lnTo>
                  <a:pt x="147927" y="16841"/>
                </a:lnTo>
                <a:cubicBezTo>
                  <a:pt x="152510" y="20375"/>
                  <a:pt x="156541" y="24461"/>
                  <a:pt x="160020" y="28989"/>
                </a:cubicBezTo>
                <a:lnTo>
                  <a:pt x="183211" y="27498"/>
                </a:lnTo>
                <a:cubicBezTo>
                  <a:pt x="190113" y="27057"/>
                  <a:pt x="196408" y="31584"/>
                  <a:pt x="198230" y="38266"/>
                </a:cubicBezTo>
                <a:lnTo>
                  <a:pt x="202096" y="52733"/>
                </a:lnTo>
                <a:cubicBezTo>
                  <a:pt x="203863" y="59414"/>
                  <a:pt x="200715" y="66482"/>
                  <a:pt x="194476" y="69574"/>
                </a:cubicBezTo>
                <a:lnTo>
                  <a:pt x="173659" y="79844"/>
                </a:lnTo>
                <a:cubicBezTo>
                  <a:pt x="173272" y="82660"/>
                  <a:pt x="172720" y="85477"/>
                  <a:pt x="172002" y="88237"/>
                </a:cubicBezTo>
                <a:cubicBezTo>
                  <a:pt x="171284" y="90998"/>
                  <a:pt x="170290" y="93759"/>
                  <a:pt x="169241" y="96354"/>
                </a:cubicBezTo>
                <a:lnTo>
                  <a:pt x="182107" y="115680"/>
                </a:lnTo>
                <a:cubicBezTo>
                  <a:pt x="185972" y="121478"/>
                  <a:pt x="185199" y="129153"/>
                  <a:pt x="180285" y="134068"/>
                </a:cubicBezTo>
                <a:lnTo>
                  <a:pt x="169683" y="144670"/>
                </a:lnTo>
                <a:cubicBezTo>
                  <a:pt x="164769" y="149584"/>
                  <a:pt x="157093" y="150357"/>
                  <a:pt x="151296" y="146492"/>
                </a:cubicBezTo>
                <a:lnTo>
                  <a:pt x="131970" y="133626"/>
                </a:lnTo>
                <a:cubicBezTo>
                  <a:pt x="126724" y="135780"/>
                  <a:pt x="121147" y="137326"/>
                  <a:pt x="115460" y="138099"/>
                </a:cubicBezTo>
                <a:lnTo>
                  <a:pt x="105189" y="158860"/>
                </a:lnTo>
                <a:cubicBezTo>
                  <a:pt x="102097" y="165100"/>
                  <a:pt x="95029" y="168247"/>
                  <a:pt x="88348" y="166480"/>
                </a:cubicBezTo>
                <a:lnTo>
                  <a:pt x="73881" y="162615"/>
                </a:lnTo>
                <a:cubicBezTo>
                  <a:pt x="67144" y="160793"/>
                  <a:pt x="62672" y="154498"/>
                  <a:pt x="63113" y="147596"/>
                </a:cubicBezTo>
                <a:lnTo>
                  <a:pt x="64604" y="124460"/>
                </a:lnTo>
                <a:cubicBezTo>
                  <a:pt x="60021" y="120926"/>
                  <a:pt x="55990" y="116840"/>
                  <a:pt x="52512" y="112312"/>
                </a:cubicBezTo>
                <a:lnTo>
                  <a:pt x="29320" y="113803"/>
                </a:lnTo>
                <a:cubicBezTo>
                  <a:pt x="22418" y="114245"/>
                  <a:pt x="16123" y="109717"/>
                  <a:pt x="14301" y="103036"/>
                </a:cubicBezTo>
                <a:lnTo>
                  <a:pt x="10436" y="88569"/>
                </a:lnTo>
                <a:cubicBezTo>
                  <a:pt x="8669" y="81887"/>
                  <a:pt x="11817" y="74820"/>
                  <a:pt x="18056" y="71727"/>
                </a:cubicBezTo>
                <a:lnTo>
                  <a:pt x="38873" y="61457"/>
                </a:lnTo>
                <a:cubicBezTo>
                  <a:pt x="39260" y="58641"/>
                  <a:pt x="39812" y="55880"/>
                  <a:pt x="40530" y="53064"/>
                </a:cubicBezTo>
                <a:cubicBezTo>
                  <a:pt x="41303" y="50248"/>
                  <a:pt x="42186" y="47542"/>
                  <a:pt x="43290" y="44947"/>
                </a:cubicBezTo>
                <a:lnTo>
                  <a:pt x="30425" y="25676"/>
                </a:lnTo>
                <a:cubicBezTo>
                  <a:pt x="26560" y="19878"/>
                  <a:pt x="27333" y="12203"/>
                  <a:pt x="32247" y="7289"/>
                </a:cubicBezTo>
                <a:lnTo>
                  <a:pt x="42849" y="-3313"/>
                </a:lnTo>
                <a:cubicBezTo>
                  <a:pt x="47763" y="-8227"/>
                  <a:pt x="55438" y="-9000"/>
                  <a:pt x="61236" y="-5135"/>
                </a:cubicBezTo>
                <a:lnTo>
                  <a:pt x="80562" y="7730"/>
                </a:lnTo>
                <a:cubicBezTo>
                  <a:pt x="85808" y="5577"/>
                  <a:pt x="91385" y="4031"/>
                  <a:pt x="97072" y="3258"/>
                </a:cubicBezTo>
                <a:lnTo>
                  <a:pt x="107343" y="-17504"/>
                </a:lnTo>
                <a:cubicBezTo>
                  <a:pt x="110435" y="-23743"/>
                  <a:pt x="117447" y="-26891"/>
                  <a:pt x="124184" y="-25124"/>
                </a:cubicBezTo>
                <a:close/>
                <a:moveTo>
                  <a:pt x="106238" y="46383"/>
                </a:moveTo>
                <a:cubicBezTo>
                  <a:pt x="92829" y="46383"/>
                  <a:pt x="81943" y="57269"/>
                  <a:pt x="81943" y="70678"/>
                </a:cubicBezTo>
                <a:cubicBezTo>
                  <a:pt x="81943" y="84087"/>
                  <a:pt x="92829" y="94974"/>
                  <a:pt x="106238" y="94974"/>
                </a:cubicBezTo>
                <a:cubicBezTo>
                  <a:pt x="119647" y="94974"/>
                  <a:pt x="130534" y="84087"/>
                  <a:pt x="130534" y="70678"/>
                </a:cubicBezTo>
                <a:cubicBezTo>
                  <a:pt x="130534" y="57269"/>
                  <a:pt x="119647" y="46383"/>
                  <a:pt x="106238" y="46383"/>
                </a:cubicBezTo>
                <a:close/>
              </a:path>
            </a:pathLst>
          </a:custGeom>
          <a:solidFill>
            <a:srgbClr val="495057"/>
          </a:solidFill>
          <a:ln/>
        </p:spPr>
      </p:sp>
      <p:sp>
        <p:nvSpPr>
          <p:cNvPr id="25" name="Text 23"/>
          <p:cNvSpPr/>
          <p:nvPr/>
        </p:nvSpPr>
        <p:spPr>
          <a:xfrm>
            <a:off x="9256183" y="1696278"/>
            <a:ext cx="1272209" cy="376951"/>
          </a:xfrm>
          <a:prstGeom prst="rect">
            <a:avLst/>
          </a:prstGeom>
          <a:noFill/>
          <a:ln/>
        </p:spPr>
        <p:txBody>
          <a:bodyPr wrap="square" lIns="0" tIns="0" rIns="0" bIns="0" rtlCol="0" anchor="ctr"/>
          <a:lstStyle/>
          <a:p>
            <a:pPr>
              <a:lnSpc>
                <a:spcPct val="110000"/>
              </a:lnSpc>
            </a:pPr>
            <a:r>
              <a:rPr lang="en-US" sz="2226" b="1" dirty="0">
                <a:solidFill>
                  <a:srgbClr val="495057"/>
                </a:solidFill>
                <a:latin typeface="Noto Sans SC" pitchFamily="34" charset="0"/>
                <a:ea typeface="Noto Sans SC" pitchFamily="34" charset="-122"/>
                <a:cs typeface="Noto Sans SC" pitchFamily="34" charset="-120"/>
              </a:rPr>
              <a:t>实验设置</a:t>
            </a:r>
            <a:endParaRPr lang="en-US" sz="1600" dirty="0"/>
          </a:p>
        </p:txBody>
      </p:sp>
      <p:sp>
        <p:nvSpPr>
          <p:cNvPr id="26" name="Shape 24"/>
          <p:cNvSpPr/>
          <p:nvPr/>
        </p:nvSpPr>
        <p:spPr>
          <a:xfrm>
            <a:off x="8549401" y="2355942"/>
            <a:ext cx="6950029" cy="895258"/>
          </a:xfrm>
          <a:custGeom>
            <a:avLst/>
            <a:gdLst/>
            <a:ahLst/>
            <a:cxnLst/>
            <a:rect l="l" t="t" r="r" b="b"/>
            <a:pathLst>
              <a:path w="6950029" h="895258">
                <a:moveTo>
                  <a:pt x="47117" y="0"/>
                </a:moveTo>
                <a:lnTo>
                  <a:pt x="6902912" y="0"/>
                </a:lnTo>
                <a:cubicBezTo>
                  <a:pt x="6928934" y="0"/>
                  <a:pt x="6950029" y="21095"/>
                  <a:pt x="6950029" y="47117"/>
                </a:cubicBezTo>
                <a:lnTo>
                  <a:pt x="6950029" y="848141"/>
                </a:lnTo>
                <a:cubicBezTo>
                  <a:pt x="6950029" y="874163"/>
                  <a:pt x="6928934" y="895258"/>
                  <a:pt x="6902912" y="895258"/>
                </a:cubicBezTo>
                <a:lnTo>
                  <a:pt x="47117" y="895258"/>
                </a:lnTo>
                <a:cubicBezTo>
                  <a:pt x="21095" y="895258"/>
                  <a:pt x="0" y="874163"/>
                  <a:pt x="0" y="848141"/>
                </a:cubicBezTo>
                <a:lnTo>
                  <a:pt x="0" y="47117"/>
                </a:lnTo>
                <a:cubicBezTo>
                  <a:pt x="0" y="21095"/>
                  <a:pt x="21095" y="0"/>
                  <a:pt x="47117" y="0"/>
                </a:cubicBezTo>
                <a:close/>
              </a:path>
            </a:pathLst>
          </a:custGeom>
          <a:solidFill>
            <a:srgbClr val="A67B5C">
              <a:alpha val="5098"/>
            </a:srgbClr>
          </a:solidFill>
          <a:ln/>
        </p:spPr>
      </p:sp>
      <p:sp>
        <p:nvSpPr>
          <p:cNvPr id="27" name="Shape 25"/>
          <p:cNvSpPr/>
          <p:nvPr/>
        </p:nvSpPr>
        <p:spPr>
          <a:xfrm>
            <a:off x="8714317" y="2544417"/>
            <a:ext cx="188475" cy="188475"/>
          </a:xfrm>
          <a:custGeom>
            <a:avLst/>
            <a:gdLst/>
            <a:ahLst/>
            <a:cxnLst/>
            <a:rect l="l" t="t" r="r" b="b"/>
            <a:pathLst>
              <a:path w="188475" h="188475">
                <a:moveTo>
                  <a:pt x="24259" y="84114"/>
                </a:moveTo>
                <a:cubicBezTo>
                  <a:pt x="29155" y="49880"/>
                  <a:pt x="58641" y="23559"/>
                  <a:pt x="94238" y="23559"/>
                </a:cubicBezTo>
                <a:cubicBezTo>
                  <a:pt x="113748" y="23559"/>
                  <a:pt x="131417" y="31474"/>
                  <a:pt x="144228" y="44248"/>
                </a:cubicBezTo>
                <a:cubicBezTo>
                  <a:pt x="144301" y="44321"/>
                  <a:pt x="144375" y="44395"/>
                  <a:pt x="144449" y="44468"/>
                </a:cubicBezTo>
                <a:lnTo>
                  <a:pt x="147246" y="47119"/>
                </a:lnTo>
                <a:lnTo>
                  <a:pt x="129614" y="47119"/>
                </a:lnTo>
                <a:cubicBezTo>
                  <a:pt x="123098" y="47119"/>
                  <a:pt x="117834" y="52383"/>
                  <a:pt x="117834" y="58899"/>
                </a:cubicBezTo>
                <a:cubicBezTo>
                  <a:pt x="117834" y="65414"/>
                  <a:pt x="123098" y="70678"/>
                  <a:pt x="129614" y="70678"/>
                </a:cubicBezTo>
                <a:lnTo>
                  <a:pt x="176732" y="70678"/>
                </a:lnTo>
                <a:cubicBezTo>
                  <a:pt x="183248" y="70678"/>
                  <a:pt x="188512" y="65414"/>
                  <a:pt x="188512" y="58899"/>
                </a:cubicBezTo>
                <a:lnTo>
                  <a:pt x="188512" y="11780"/>
                </a:lnTo>
                <a:cubicBezTo>
                  <a:pt x="188512" y="5264"/>
                  <a:pt x="183248" y="0"/>
                  <a:pt x="176732" y="0"/>
                </a:cubicBezTo>
                <a:cubicBezTo>
                  <a:pt x="170217" y="0"/>
                  <a:pt x="164953" y="5264"/>
                  <a:pt x="164953" y="11780"/>
                </a:cubicBezTo>
                <a:lnTo>
                  <a:pt x="164953" y="31437"/>
                </a:lnTo>
                <a:lnTo>
                  <a:pt x="160793" y="27498"/>
                </a:lnTo>
                <a:cubicBezTo>
                  <a:pt x="143749" y="10528"/>
                  <a:pt x="120190" y="0"/>
                  <a:pt x="94238" y="0"/>
                </a:cubicBezTo>
                <a:cubicBezTo>
                  <a:pt x="46751" y="0"/>
                  <a:pt x="7473" y="35118"/>
                  <a:pt x="957" y="80801"/>
                </a:cubicBezTo>
                <a:cubicBezTo>
                  <a:pt x="37" y="87243"/>
                  <a:pt x="4491" y="93207"/>
                  <a:pt x="10933" y="94127"/>
                </a:cubicBezTo>
                <a:cubicBezTo>
                  <a:pt x="17375" y="95048"/>
                  <a:pt x="23339" y="90557"/>
                  <a:pt x="24259" y="84151"/>
                </a:cubicBezTo>
                <a:close/>
                <a:moveTo>
                  <a:pt x="187518" y="107674"/>
                </a:moveTo>
                <a:cubicBezTo>
                  <a:pt x="188439" y="101232"/>
                  <a:pt x="183948" y="95268"/>
                  <a:pt x="177542" y="94348"/>
                </a:cubicBezTo>
                <a:cubicBezTo>
                  <a:pt x="171137" y="93428"/>
                  <a:pt x="165137" y="97919"/>
                  <a:pt x="164217" y="104324"/>
                </a:cubicBezTo>
                <a:cubicBezTo>
                  <a:pt x="159321" y="138559"/>
                  <a:pt x="129834" y="164879"/>
                  <a:pt x="94238" y="164879"/>
                </a:cubicBezTo>
                <a:cubicBezTo>
                  <a:pt x="74728" y="164879"/>
                  <a:pt x="57058" y="156965"/>
                  <a:pt x="44248" y="144191"/>
                </a:cubicBezTo>
                <a:cubicBezTo>
                  <a:pt x="44174" y="144117"/>
                  <a:pt x="44100" y="144044"/>
                  <a:pt x="44027" y="143970"/>
                </a:cubicBezTo>
                <a:lnTo>
                  <a:pt x="41229" y="141320"/>
                </a:lnTo>
                <a:lnTo>
                  <a:pt x="58862" y="141320"/>
                </a:lnTo>
                <a:cubicBezTo>
                  <a:pt x="65377" y="141320"/>
                  <a:pt x="70641" y="136056"/>
                  <a:pt x="70641" y="129540"/>
                </a:cubicBezTo>
                <a:cubicBezTo>
                  <a:pt x="70641" y="123024"/>
                  <a:pt x="65377" y="117760"/>
                  <a:pt x="58862" y="117760"/>
                </a:cubicBezTo>
                <a:lnTo>
                  <a:pt x="11780" y="117797"/>
                </a:lnTo>
                <a:cubicBezTo>
                  <a:pt x="8651" y="117797"/>
                  <a:pt x="5632" y="119049"/>
                  <a:pt x="3423" y="121294"/>
                </a:cubicBezTo>
                <a:cubicBezTo>
                  <a:pt x="1215" y="123540"/>
                  <a:pt x="-37" y="126521"/>
                  <a:pt x="0" y="129687"/>
                </a:cubicBezTo>
                <a:lnTo>
                  <a:pt x="368" y="176438"/>
                </a:lnTo>
                <a:cubicBezTo>
                  <a:pt x="405" y="182954"/>
                  <a:pt x="5743" y="188181"/>
                  <a:pt x="12258" y="188107"/>
                </a:cubicBezTo>
                <a:cubicBezTo>
                  <a:pt x="18774" y="188034"/>
                  <a:pt x="24001" y="182733"/>
                  <a:pt x="23928" y="176217"/>
                </a:cubicBezTo>
                <a:lnTo>
                  <a:pt x="23780" y="157259"/>
                </a:lnTo>
                <a:lnTo>
                  <a:pt x="27719" y="160977"/>
                </a:lnTo>
                <a:cubicBezTo>
                  <a:pt x="44763" y="177947"/>
                  <a:pt x="68286" y="188475"/>
                  <a:pt x="94238" y="188475"/>
                </a:cubicBezTo>
                <a:cubicBezTo>
                  <a:pt x="141725" y="188475"/>
                  <a:pt x="181003" y="153357"/>
                  <a:pt x="187518" y="107674"/>
                </a:cubicBezTo>
                <a:close/>
              </a:path>
            </a:pathLst>
          </a:custGeom>
          <a:solidFill>
            <a:srgbClr val="A67B5C"/>
          </a:solidFill>
          <a:ln/>
        </p:spPr>
      </p:sp>
      <p:sp>
        <p:nvSpPr>
          <p:cNvPr id="28" name="Text 26"/>
          <p:cNvSpPr/>
          <p:nvPr/>
        </p:nvSpPr>
        <p:spPr>
          <a:xfrm>
            <a:off x="9020589" y="2497299"/>
            <a:ext cx="659664" cy="282713"/>
          </a:xfrm>
          <a:prstGeom prst="rect">
            <a:avLst/>
          </a:prstGeom>
          <a:noFill/>
          <a:ln/>
        </p:spPr>
        <p:txBody>
          <a:bodyPr wrap="square" lIns="0" tIns="0" rIns="0" bIns="0" rtlCol="0" anchor="ctr"/>
          <a:lstStyle/>
          <a:p>
            <a:pPr>
              <a:lnSpc>
                <a:spcPct val="130000"/>
              </a:lnSpc>
            </a:pPr>
            <a:r>
              <a:rPr lang="en-US" sz="1484" b="1" dirty="0">
                <a:solidFill>
                  <a:srgbClr val="495057"/>
                </a:solidFill>
                <a:latin typeface="MiSans" pitchFamily="34" charset="0"/>
                <a:ea typeface="MiSans" pitchFamily="34" charset="-122"/>
                <a:cs typeface="MiSans" pitchFamily="34" charset="-120"/>
              </a:rPr>
              <a:t>词向量</a:t>
            </a:r>
            <a:endParaRPr lang="en-US" sz="1600" dirty="0"/>
          </a:p>
        </p:txBody>
      </p:sp>
      <p:sp>
        <p:nvSpPr>
          <p:cNvPr id="29" name="Text 27"/>
          <p:cNvSpPr/>
          <p:nvPr/>
        </p:nvSpPr>
        <p:spPr>
          <a:xfrm>
            <a:off x="8690757" y="2827130"/>
            <a:ext cx="6761554" cy="282713"/>
          </a:xfrm>
          <a:prstGeom prst="rect">
            <a:avLst/>
          </a:prstGeom>
          <a:noFill/>
          <a:ln/>
        </p:spPr>
        <p:txBody>
          <a:bodyPr wrap="square" lIns="0" tIns="0" rIns="0" bIns="0" rtlCol="0" anchor="ctr"/>
          <a:lstStyle/>
          <a:p>
            <a:pPr>
              <a:lnSpc>
                <a:spcPct val="130000"/>
              </a:lnSpc>
            </a:pPr>
            <a:r>
              <a:rPr lang="en-US" sz="1484" dirty="0">
                <a:solidFill>
                  <a:srgbClr val="495057">
                    <a:alpha val="80000"/>
                  </a:srgbClr>
                </a:solidFill>
                <a:latin typeface="MiSans" pitchFamily="34" charset="0"/>
                <a:ea typeface="MiSans" pitchFamily="34" charset="-122"/>
                <a:cs typeface="MiSans" pitchFamily="34" charset="-120"/>
              </a:rPr>
              <a:t>200维GloVe预训练向量，训练过程中微调</a:t>
            </a:r>
            <a:endParaRPr lang="en-US" sz="1600" dirty="0"/>
          </a:p>
        </p:txBody>
      </p:sp>
      <p:sp>
        <p:nvSpPr>
          <p:cNvPr id="30" name="Shape 28"/>
          <p:cNvSpPr/>
          <p:nvPr/>
        </p:nvSpPr>
        <p:spPr>
          <a:xfrm>
            <a:off x="8549401" y="3392557"/>
            <a:ext cx="6950029" cy="895258"/>
          </a:xfrm>
          <a:custGeom>
            <a:avLst/>
            <a:gdLst/>
            <a:ahLst/>
            <a:cxnLst/>
            <a:rect l="l" t="t" r="r" b="b"/>
            <a:pathLst>
              <a:path w="6950029" h="895258">
                <a:moveTo>
                  <a:pt x="47117" y="0"/>
                </a:moveTo>
                <a:lnTo>
                  <a:pt x="6902912" y="0"/>
                </a:lnTo>
                <a:cubicBezTo>
                  <a:pt x="6928934" y="0"/>
                  <a:pt x="6950029" y="21095"/>
                  <a:pt x="6950029" y="47117"/>
                </a:cubicBezTo>
                <a:lnTo>
                  <a:pt x="6950029" y="848141"/>
                </a:lnTo>
                <a:cubicBezTo>
                  <a:pt x="6950029" y="874163"/>
                  <a:pt x="6928934" y="895258"/>
                  <a:pt x="6902912" y="895258"/>
                </a:cubicBezTo>
                <a:lnTo>
                  <a:pt x="47117" y="895258"/>
                </a:lnTo>
                <a:cubicBezTo>
                  <a:pt x="21095" y="895258"/>
                  <a:pt x="0" y="874163"/>
                  <a:pt x="0" y="848141"/>
                </a:cubicBezTo>
                <a:lnTo>
                  <a:pt x="0" y="47117"/>
                </a:lnTo>
                <a:cubicBezTo>
                  <a:pt x="0" y="21095"/>
                  <a:pt x="21095" y="0"/>
                  <a:pt x="47117" y="0"/>
                </a:cubicBezTo>
                <a:close/>
              </a:path>
            </a:pathLst>
          </a:custGeom>
          <a:solidFill>
            <a:srgbClr val="495057">
              <a:alpha val="5098"/>
            </a:srgbClr>
          </a:solidFill>
          <a:ln/>
        </p:spPr>
      </p:sp>
      <p:sp>
        <p:nvSpPr>
          <p:cNvPr id="31" name="Shape 29"/>
          <p:cNvSpPr/>
          <p:nvPr/>
        </p:nvSpPr>
        <p:spPr>
          <a:xfrm>
            <a:off x="8702537" y="3581032"/>
            <a:ext cx="212035" cy="188475"/>
          </a:xfrm>
          <a:custGeom>
            <a:avLst/>
            <a:gdLst/>
            <a:ahLst/>
            <a:cxnLst/>
            <a:rect l="l" t="t" r="r" b="b"/>
            <a:pathLst>
              <a:path w="212035" h="188475">
                <a:moveTo>
                  <a:pt x="106017" y="11780"/>
                </a:moveTo>
                <a:cubicBezTo>
                  <a:pt x="76274" y="11780"/>
                  <a:pt x="52457" y="25326"/>
                  <a:pt x="35118" y="41450"/>
                </a:cubicBezTo>
                <a:cubicBezTo>
                  <a:pt x="17890" y="57463"/>
                  <a:pt x="6368" y="76568"/>
                  <a:pt x="883" y="89710"/>
                </a:cubicBezTo>
                <a:cubicBezTo>
                  <a:pt x="-331" y="92618"/>
                  <a:pt x="-331" y="95857"/>
                  <a:pt x="883" y="98766"/>
                </a:cubicBezTo>
                <a:cubicBezTo>
                  <a:pt x="6368" y="111907"/>
                  <a:pt x="17890" y="131049"/>
                  <a:pt x="35118" y="147026"/>
                </a:cubicBezTo>
                <a:cubicBezTo>
                  <a:pt x="52457" y="163112"/>
                  <a:pt x="76274" y="176696"/>
                  <a:pt x="106017" y="176696"/>
                </a:cubicBezTo>
                <a:cubicBezTo>
                  <a:pt x="135761" y="176696"/>
                  <a:pt x="159578" y="163149"/>
                  <a:pt x="176917" y="147026"/>
                </a:cubicBezTo>
                <a:cubicBezTo>
                  <a:pt x="194144" y="131012"/>
                  <a:pt x="205666" y="111907"/>
                  <a:pt x="211151" y="98766"/>
                </a:cubicBezTo>
                <a:cubicBezTo>
                  <a:pt x="212366" y="95857"/>
                  <a:pt x="212366" y="92618"/>
                  <a:pt x="211151" y="89710"/>
                </a:cubicBezTo>
                <a:cubicBezTo>
                  <a:pt x="205666" y="76568"/>
                  <a:pt x="194144" y="57426"/>
                  <a:pt x="176917" y="41450"/>
                </a:cubicBezTo>
                <a:cubicBezTo>
                  <a:pt x="159578" y="25363"/>
                  <a:pt x="135761" y="11780"/>
                  <a:pt x="106017" y="11780"/>
                </a:cubicBezTo>
                <a:close/>
                <a:moveTo>
                  <a:pt x="53009" y="94238"/>
                </a:moveTo>
                <a:cubicBezTo>
                  <a:pt x="53009" y="64981"/>
                  <a:pt x="76761" y="41229"/>
                  <a:pt x="106017" y="41229"/>
                </a:cubicBezTo>
                <a:cubicBezTo>
                  <a:pt x="135274" y="41229"/>
                  <a:pt x="159026" y="64981"/>
                  <a:pt x="159026" y="94238"/>
                </a:cubicBezTo>
                <a:cubicBezTo>
                  <a:pt x="159026" y="123494"/>
                  <a:pt x="135274" y="147246"/>
                  <a:pt x="106017" y="147246"/>
                </a:cubicBezTo>
                <a:cubicBezTo>
                  <a:pt x="76761" y="147246"/>
                  <a:pt x="53009" y="123494"/>
                  <a:pt x="53009" y="94238"/>
                </a:cubicBezTo>
                <a:close/>
                <a:moveTo>
                  <a:pt x="106017" y="70678"/>
                </a:moveTo>
                <a:cubicBezTo>
                  <a:pt x="106017" y="83673"/>
                  <a:pt x="95452" y="94238"/>
                  <a:pt x="82458" y="94238"/>
                </a:cubicBezTo>
                <a:cubicBezTo>
                  <a:pt x="78225" y="94238"/>
                  <a:pt x="74249" y="93133"/>
                  <a:pt x="70789" y="91146"/>
                </a:cubicBezTo>
                <a:cubicBezTo>
                  <a:pt x="70421" y="95158"/>
                  <a:pt x="70752" y="99281"/>
                  <a:pt x="71856" y="103367"/>
                </a:cubicBezTo>
                <a:cubicBezTo>
                  <a:pt x="76899" y="122214"/>
                  <a:pt x="96299" y="133405"/>
                  <a:pt x="115147" y="128362"/>
                </a:cubicBezTo>
                <a:cubicBezTo>
                  <a:pt x="133994" y="123319"/>
                  <a:pt x="145185" y="103919"/>
                  <a:pt x="140142" y="85072"/>
                </a:cubicBezTo>
                <a:cubicBezTo>
                  <a:pt x="135651" y="68249"/>
                  <a:pt x="119711" y="57537"/>
                  <a:pt x="102925" y="59009"/>
                </a:cubicBezTo>
                <a:cubicBezTo>
                  <a:pt x="104876" y="62432"/>
                  <a:pt x="106017" y="66408"/>
                  <a:pt x="106017" y="70678"/>
                </a:cubicBezTo>
                <a:close/>
              </a:path>
            </a:pathLst>
          </a:custGeom>
          <a:solidFill>
            <a:srgbClr val="495057"/>
          </a:solidFill>
          <a:ln/>
        </p:spPr>
      </p:sp>
      <p:sp>
        <p:nvSpPr>
          <p:cNvPr id="32" name="Text 30"/>
          <p:cNvSpPr/>
          <p:nvPr/>
        </p:nvSpPr>
        <p:spPr>
          <a:xfrm>
            <a:off x="9020589" y="3533913"/>
            <a:ext cx="848139" cy="282713"/>
          </a:xfrm>
          <a:prstGeom prst="rect">
            <a:avLst/>
          </a:prstGeom>
          <a:noFill/>
          <a:ln/>
        </p:spPr>
        <p:txBody>
          <a:bodyPr wrap="square" lIns="0" tIns="0" rIns="0" bIns="0" rtlCol="0" anchor="ctr"/>
          <a:lstStyle/>
          <a:p>
            <a:pPr>
              <a:lnSpc>
                <a:spcPct val="130000"/>
              </a:lnSpc>
            </a:pPr>
            <a:r>
              <a:rPr lang="en-US" sz="1484" b="1" dirty="0">
                <a:solidFill>
                  <a:srgbClr val="495057"/>
                </a:solidFill>
                <a:latin typeface="MiSans" pitchFamily="34" charset="0"/>
                <a:ea typeface="MiSans" pitchFamily="34" charset="-122"/>
                <a:cs typeface="MiSans" pitchFamily="34" charset="-120"/>
              </a:rPr>
              <a:t>视觉特征</a:t>
            </a:r>
            <a:endParaRPr lang="en-US" sz="1600" dirty="0"/>
          </a:p>
        </p:txBody>
      </p:sp>
      <p:sp>
        <p:nvSpPr>
          <p:cNvPr id="33" name="Text 31"/>
          <p:cNvSpPr/>
          <p:nvPr/>
        </p:nvSpPr>
        <p:spPr>
          <a:xfrm>
            <a:off x="8690757" y="3863745"/>
            <a:ext cx="6761554" cy="282713"/>
          </a:xfrm>
          <a:prstGeom prst="rect">
            <a:avLst/>
          </a:prstGeom>
          <a:noFill/>
          <a:ln/>
        </p:spPr>
        <p:txBody>
          <a:bodyPr wrap="square" lIns="0" tIns="0" rIns="0" bIns="0" rtlCol="0" anchor="ctr"/>
          <a:lstStyle/>
          <a:p>
            <a:pPr>
              <a:lnSpc>
                <a:spcPct val="130000"/>
              </a:lnSpc>
            </a:pPr>
            <a:r>
              <a:rPr lang="en-US" sz="1484" dirty="0">
                <a:solidFill>
                  <a:srgbClr val="495057">
                    <a:alpha val="80000"/>
                  </a:srgbClr>
                </a:solidFill>
                <a:latin typeface="MiSans" pitchFamily="34" charset="0"/>
                <a:ea typeface="MiSans" pitchFamily="34" charset="-122"/>
                <a:cs typeface="MiSans" pitchFamily="34" charset="-120"/>
              </a:rPr>
              <a:t>Object: 1000维, Scene: 365维</a:t>
            </a:r>
            <a:endParaRPr lang="en-US" sz="1600" dirty="0"/>
          </a:p>
        </p:txBody>
      </p:sp>
      <p:sp>
        <p:nvSpPr>
          <p:cNvPr id="34" name="Shape 32"/>
          <p:cNvSpPr/>
          <p:nvPr/>
        </p:nvSpPr>
        <p:spPr>
          <a:xfrm>
            <a:off x="8549401" y="4429171"/>
            <a:ext cx="6950029" cy="1177971"/>
          </a:xfrm>
          <a:custGeom>
            <a:avLst/>
            <a:gdLst/>
            <a:ahLst/>
            <a:cxnLst/>
            <a:rect l="l" t="t" r="r" b="b"/>
            <a:pathLst>
              <a:path w="6950029" h="1177971">
                <a:moveTo>
                  <a:pt x="47119" y="0"/>
                </a:moveTo>
                <a:lnTo>
                  <a:pt x="6902910" y="0"/>
                </a:lnTo>
                <a:cubicBezTo>
                  <a:pt x="6928933" y="0"/>
                  <a:pt x="6950029" y="21096"/>
                  <a:pt x="6950029" y="47119"/>
                </a:cubicBezTo>
                <a:lnTo>
                  <a:pt x="6950029" y="1130852"/>
                </a:lnTo>
                <a:cubicBezTo>
                  <a:pt x="6950029" y="1156875"/>
                  <a:pt x="6928933" y="1177971"/>
                  <a:pt x="6902910" y="1177971"/>
                </a:cubicBezTo>
                <a:lnTo>
                  <a:pt x="47119" y="1177971"/>
                </a:lnTo>
                <a:cubicBezTo>
                  <a:pt x="21096" y="1177971"/>
                  <a:pt x="0" y="1156875"/>
                  <a:pt x="0" y="1130852"/>
                </a:cubicBezTo>
                <a:lnTo>
                  <a:pt x="0" y="47119"/>
                </a:lnTo>
                <a:cubicBezTo>
                  <a:pt x="0" y="21113"/>
                  <a:pt x="21113" y="0"/>
                  <a:pt x="47119" y="0"/>
                </a:cubicBezTo>
                <a:close/>
              </a:path>
            </a:pathLst>
          </a:custGeom>
          <a:solidFill>
            <a:srgbClr val="ADB5BD">
              <a:alpha val="10196"/>
            </a:srgbClr>
          </a:solidFill>
          <a:ln/>
        </p:spPr>
      </p:sp>
      <p:sp>
        <p:nvSpPr>
          <p:cNvPr id="35" name="Shape 33"/>
          <p:cNvSpPr/>
          <p:nvPr/>
        </p:nvSpPr>
        <p:spPr>
          <a:xfrm>
            <a:off x="8714317" y="4617646"/>
            <a:ext cx="188475" cy="188475"/>
          </a:xfrm>
          <a:custGeom>
            <a:avLst/>
            <a:gdLst/>
            <a:ahLst/>
            <a:cxnLst/>
            <a:rect l="l" t="t" r="r" b="b"/>
            <a:pathLst>
              <a:path w="188475" h="188475">
                <a:moveTo>
                  <a:pt x="11780" y="23559"/>
                </a:moveTo>
                <a:cubicBezTo>
                  <a:pt x="5264" y="23559"/>
                  <a:pt x="0" y="28823"/>
                  <a:pt x="0" y="35339"/>
                </a:cubicBezTo>
                <a:cubicBezTo>
                  <a:pt x="0" y="41855"/>
                  <a:pt x="5264" y="47119"/>
                  <a:pt x="11780" y="47119"/>
                </a:cubicBezTo>
                <a:lnTo>
                  <a:pt x="43695" y="47119"/>
                </a:lnTo>
                <a:cubicBezTo>
                  <a:pt x="48223" y="57537"/>
                  <a:pt x="58604" y="64788"/>
                  <a:pt x="70678" y="64788"/>
                </a:cubicBezTo>
                <a:cubicBezTo>
                  <a:pt x="82752" y="64788"/>
                  <a:pt x="93133" y="57537"/>
                  <a:pt x="97661" y="47119"/>
                </a:cubicBezTo>
                <a:lnTo>
                  <a:pt x="176696" y="47119"/>
                </a:lnTo>
                <a:cubicBezTo>
                  <a:pt x="183211" y="47119"/>
                  <a:pt x="188475" y="41855"/>
                  <a:pt x="188475" y="35339"/>
                </a:cubicBezTo>
                <a:cubicBezTo>
                  <a:pt x="188475" y="28823"/>
                  <a:pt x="183211" y="23559"/>
                  <a:pt x="176696" y="23559"/>
                </a:cubicBezTo>
                <a:lnTo>
                  <a:pt x="97661" y="23559"/>
                </a:lnTo>
                <a:cubicBezTo>
                  <a:pt x="93133" y="13142"/>
                  <a:pt x="82752" y="5890"/>
                  <a:pt x="70678" y="5890"/>
                </a:cubicBezTo>
                <a:cubicBezTo>
                  <a:pt x="58604" y="5890"/>
                  <a:pt x="48223" y="13142"/>
                  <a:pt x="43695" y="23559"/>
                </a:cubicBezTo>
                <a:lnTo>
                  <a:pt x="11780" y="23559"/>
                </a:lnTo>
                <a:close/>
                <a:moveTo>
                  <a:pt x="11780" y="82458"/>
                </a:moveTo>
                <a:cubicBezTo>
                  <a:pt x="5264" y="82458"/>
                  <a:pt x="0" y="87722"/>
                  <a:pt x="0" y="94238"/>
                </a:cubicBezTo>
                <a:cubicBezTo>
                  <a:pt x="0" y="100753"/>
                  <a:pt x="5264" y="106017"/>
                  <a:pt x="11780" y="106017"/>
                </a:cubicBezTo>
                <a:lnTo>
                  <a:pt x="102594" y="106017"/>
                </a:lnTo>
                <a:cubicBezTo>
                  <a:pt x="107122" y="116435"/>
                  <a:pt x="117503" y="123687"/>
                  <a:pt x="129577" y="123687"/>
                </a:cubicBezTo>
                <a:cubicBezTo>
                  <a:pt x="141651" y="123687"/>
                  <a:pt x="152032" y="116435"/>
                  <a:pt x="156560" y="106017"/>
                </a:cubicBezTo>
                <a:lnTo>
                  <a:pt x="176696" y="106017"/>
                </a:lnTo>
                <a:cubicBezTo>
                  <a:pt x="183211" y="106017"/>
                  <a:pt x="188475" y="100753"/>
                  <a:pt x="188475" y="94238"/>
                </a:cubicBezTo>
                <a:cubicBezTo>
                  <a:pt x="188475" y="87722"/>
                  <a:pt x="183211" y="82458"/>
                  <a:pt x="176696" y="82458"/>
                </a:cubicBezTo>
                <a:lnTo>
                  <a:pt x="156560" y="82458"/>
                </a:lnTo>
                <a:cubicBezTo>
                  <a:pt x="152032" y="72040"/>
                  <a:pt x="141651" y="64788"/>
                  <a:pt x="129577" y="64788"/>
                </a:cubicBezTo>
                <a:cubicBezTo>
                  <a:pt x="117503" y="64788"/>
                  <a:pt x="107122" y="72040"/>
                  <a:pt x="102594" y="82458"/>
                </a:cubicBezTo>
                <a:lnTo>
                  <a:pt x="11780" y="82458"/>
                </a:lnTo>
                <a:close/>
                <a:moveTo>
                  <a:pt x="11780" y="141357"/>
                </a:moveTo>
                <a:cubicBezTo>
                  <a:pt x="5264" y="141357"/>
                  <a:pt x="0" y="146621"/>
                  <a:pt x="0" y="153136"/>
                </a:cubicBezTo>
                <a:cubicBezTo>
                  <a:pt x="0" y="159652"/>
                  <a:pt x="5264" y="164916"/>
                  <a:pt x="11780" y="164916"/>
                </a:cubicBezTo>
                <a:lnTo>
                  <a:pt x="31916" y="164916"/>
                </a:lnTo>
                <a:cubicBezTo>
                  <a:pt x="36443" y="175334"/>
                  <a:pt x="46824" y="182586"/>
                  <a:pt x="58899" y="182586"/>
                </a:cubicBezTo>
                <a:cubicBezTo>
                  <a:pt x="70973" y="182586"/>
                  <a:pt x="81354" y="175334"/>
                  <a:pt x="85881" y="164916"/>
                </a:cubicBezTo>
                <a:lnTo>
                  <a:pt x="176696" y="164916"/>
                </a:lnTo>
                <a:cubicBezTo>
                  <a:pt x="183211" y="164916"/>
                  <a:pt x="188475" y="159652"/>
                  <a:pt x="188475" y="153136"/>
                </a:cubicBezTo>
                <a:cubicBezTo>
                  <a:pt x="188475" y="146621"/>
                  <a:pt x="183211" y="141357"/>
                  <a:pt x="176696" y="141357"/>
                </a:cubicBezTo>
                <a:lnTo>
                  <a:pt x="85881" y="141357"/>
                </a:lnTo>
                <a:cubicBezTo>
                  <a:pt x="81354" y="130939"/>
                  <a:pt x="70973" y="123687"/>
                  <a:pt x="58899" y="123687"/>
                </a:cubicBezTo>
                <a:cubicBezTo>
                  <a:pt x="46824" y="123687"/>
                  <a:pt x="36443" y="130939"/>
                  <a:pt x="31916" y="141357"/>
                </a:cubicBezTo>
                <a:lnTo>
                  <a:pt x="11780" y="141357"/>
                </a:lnTo>
                <a:close/>
              </a:path>
            </a:pathLst>
          </a:custGeom>
          <a:solidFill>
            <a:srgbClr val="ADB5BD"/>
          </a:solidFill>
          <a:ln/>
        </p:spPr>
      </p:sp>
      <p:sp>
        <p:nvSpPr>
          <p:cNvPr id="36" name="Text 34"/>
          <p:cNvSpPr/>
          <p:nvPr/>
        </p:nvSpPr>
        <p:spPr>
          <a:xfrm>
            <a:off x="9020589" y="4570528"/>
            <a:ext cx="659664" cy="282713"/>
          </a:xfrm>
          <a:prstGeom prst="rect">
            <a:avLst/>
          </a:prstGeom>
          <a:noFill/>
          <a:ln/>
        </p:spPr>
        <p:txBody>
          <a:bodyPr wrap="square" lIns="0" tIns="0" rIns="0" bIns="0" rtlCol="0" anchor="ctr"/>
          <a:lstStyle/>
          <a:p>
            <a:pPr>
              <a:lnSpc>
                <a:spcPct val="130000"/>
              </a:lnSpc>
            </a:pPr>
            <a:r>
              <a:rPr lang="en-US" sz="1484" b="1" dirty="0">
                <a:solidFill>
                  <a:srgbClr val="495057"/>
                </a:solidFill>
                <a:latin typeface="MiSans" pitchFamily="34" charset="0"/>
                <a:ea typeface="MiSans" pitchFamily="34" charset="-122"/>
                <a:cs typeface="MiSans" pitchFamily="34" charset="-120"/>
              </a:rPr>
              <a:t>超参数</a:t>
            </a:r>
            <a:endParaRPr lang="en-US" sz="1600" dirty="0"/>
          </a:p>
        </p:txBody>
      </p:sp>
      <p:sp>
        <p:nvSpPr>
          <p:cNvPr id="37" name="Text 35"/>
          <p:cNvSpPr/>
          <p:nvPr/>
        </p:nvSpPr>
        <p:spPr>
          <a:xfrm>
            <a:off x="8690757" y="4900359"/>
            <a:ext cx="3368997" cy="235594"/>
          </a:xfrm>
          <a:prstGeom prst="rect">
            <a:avLst/>
          </a:prstGeom>
          <a:noFill/>
          <a:ln/>
        </p:spPr>
        <p:txBody>
          <a:bodyPr wrap="square" lIns="0" tIns="0" rIns="0" bIns="0" rtlCol="0" anchor="ctr"/>
          <a:lstStyle/>
          <a:p>
            <a:pPr>
              <a:lnSpc>
                <a:spcPct val="120000"/>
              </a:lnSpc>
            </a:pPr>
            <a:r>
              <a:rPr lang="en-US" sz="1299" dirty="0">
                <a:solidFill>
                  <a:srgbClr val="495057">
                    <a:alpha val="80000"/>
                  </a:srgbClr>
                </a:solidFill>
                <a:latin typeface="MiSans" pitchFamily="34" charset="0"/>
                <a:ea typeface="MiSans" pitchFamily="34" charset="-122"/>
                <a:cs typeface="MiSans" pitchFamily="34" charset="-120"/>
              </a:rPr>
              <a:t>学习率: 0.01</a:t>
            </a:r>
            <a:endParaRPr lang="en-US" sz="1600" dirty="0"/>
          </a:p>
        </p:txBody>
      </p:sp>
      <p:sp>
        <p:nvSpPr>
          <p:cNvPr id="38" name="Text 36"/>
          <p:cNvSpPr/>
          <p:nvPr/>
        </p:nvSpPr>
        <p:spPr>
          <a:xfrm>
            <a:off x="12070246" y="4900359"/>
            <a:ext cx="3368997" cy="235594"/>
          </a:xfrm>
          <a:prstGeom prst="rect">
            <a:avLst/>
          </a:prstGeom>
          <a:noFill/>
          <a:ln/>
        </p:spPr>
        <p:txBody>
          <a:bodyPr wrap="square" lIns="0" tIns="0" rIns="0" bIns="0" rtlCol="0" anchor="ctr"/>
          <a:lstStyle/>
          <a:p>
            <a:pPr>
              <a:lnSpc>
                <a:spcPct val="120000"/>
              </a:lnSpc>
            </a:pPr>
            <a:r>
              <a:rPr lang="en-US" sz="1299" dirty="0">
                <a:solidFill>
                  <a:srgbClr val="495057">
                    <a:alpha val="80000"/>
                  </a:srgbClr>
                </a:solidFill>
                <a:latin typeface="Quattrocento Sans" pitchFamily="34" charset="0"/>
                <a:ea typeface="Quattrocento Sans" pitchFamily="34" charset="-122"/>
                <a:cs typeface="Quattrocento Sans" pitchFamily="34" charset="-120"/>
              </a:rPr>
              <a:t>Batch Size: 128</a:t>
            </a:r>
            <a:endParaRPr lang="en-US" sz="1600" dirty="0"/>
          </a:p>
        </p:txBody>
      </p:sp>
      <p:sp>
        <p:nvSpPr>
          <p:cNvPr id="39" name="Text 37"/>
          <p:cNvSpPr/>
          <p:nvPr/>
        </p:nvSpPr>
        <p:spPr>
          <a:xfrm>
            <a:off x="8690757" y="5230191"/>
            <a:ext cx="3368997" cy="235594"/>
          </a:xfrm>
          <a:prstGeom prst="rect">
            <a:avLst/>
          </a:prstGeom>
          <a:noFill/>
          <a:ln/>
        </p:spPr>
        <p:txBody>
          <a:bodyPr wrap="square" lIns="0" tIns="0" rIns="0" bIns="0" rtlCol="0" anchor="ctr"/>
          <a:lstStyle/>
          <a:p>
            <a:pPr>
              <a:lnSpc>
                <a:spcPct val="120000"/>
              </a:lnSpc>
            </a:pPr>
            <a:r>
              <a:rPr lang="en-US" sz="1299" dirty="0">
                <a:solidFill>
                  <a:srgbClr val="495057">
                    <a:alpha val="80000"/>
                  </a:srgbClr>
                </a:solidFill>
                <a:latin typeface="Quattrocento Sans" pitchFamily="34" charset="0"/>
                <a:ea typeface="Quattrocento Sans" pitchFamily="34" charset="-122"/>
                <a:cs typeface="Quattrocento Sans" pitchFamily="34" charset="-120"/>
              </a:rPr>
              <a:t>Dropout: 0.5</a:t>
            </a:r>
            <a:endParaRPr lang="en-US" sz="1600" dirty="0"/>
          </a:p>
        </p:txBody>
      </p:sp>
      <p:sp>
        <p:nvSpPr>
          <p:cNvPr id="40" name="Text 38"/>
          <p:cNvSpPr/>
          <p:nvPr/>
        </p:nvSpPr>
        <p:spPr>
          <a:xfrm>
            <a:off x="12070246" y="5230191"/>
            <a:ext cx="3368997" cy="235594"/>
          </a:xfrm>
          <a:prstGeom prst="rect">
            <a:avLst/>
          </a:prstGeom>
          <a:noFill/>
          <a:ln/>
        </p:spPr>
        <p:txBody>
          <a:bodyPr wrap="square" lIns="0" tIns="0" rIns="0" bIns="0" rtlCol="0" anchor="ctr"/>
          <a:lstStyle/>
          <a:p>
            <a:pPr>
              <a:lnSpc>
                <a:spcPct val="120000"/>
              </a:lnSpc>
            </a:pPr>
            <a:r>
              <a:rPr lang="en-US" sz="1299" dirty="0">
                <a:solidFill>
                  <a:srgbClr val="495057">
                    <a:alpha val="80000"/>
                  </a:srgbClr>
                </a:solidFill>
                <a:latin typeface="MiSans" pitchFamily="34" charset="0"/>
                <a:ea typeface="MiSans" pitchFamily="34" charset="-122"/>
                <a:cs typeface="MiSans" pitchFamily="34" charset="-120"/>
              </a:rPr>
              <a:t>最大长度: 140</a:t>
            </a:r>
            <a:endParaRPr lang="en-US" sz="1600" dirty="0"/>
          </a:p>
        </p:txBody>
      </p:sp>
      <p:sp>
        <p:nvSpPr>
          <p:cNvPr id="41" name="Shape 39"/>
          <p:cNvSpPr/>
          <p:nvPr/>
        </p:nvSpPr>
        <p:spPr>
          <a:xfrm>
            <a:off x="8549401" y="5748499"/>
            <a:ext cx="6950029" cy="895258"/>
          </a:xfrm>
          <a:custGeom>
            <a:avLst/>
            <a:gdLst/>
            <a:ahLst/>
            <a:cxnLst/>
            <a:rect l="l" t="t" r="r" b="b"/>
            <a:pathLst>
              <a:path w="6950029" h="895258">
                <a:moveTo>
                  <a:pt x="47117" y="0"/>
                </a:moveTo>
                <a:lnTo>
                  <a:pt x="6902912" y="0"/>
                </a:lnTo>
                <a:cubicBezTo>
                  <a:pt x="6928934" y="0"/>
                  <a:pt x="6950029" y="21095"/>
                  <a:pt x="6950029" y="47117"/>
                </a:cubicBezTo>
                <a:lnTo>
                  <a:pt x="6950029" y="848141"/>
                </a:lnTo>
                <a:cubicBezTo>
                  <a:pt x="6950029" y="874163"/>
                  <a:pt x="6928934" y="895258"/>
                  <a:pt x="6902912" y="895258"/>
                </a:cubicBezTo>
                <a:lnTo>
                  <a:pt x="47117" y="895258"/>
                </a:lnTo>
                <a:cubicBezTo>
                  <a:pt x="21095" y="895258"/>
                  <a:pt x="0" y="874163"/>
                  <a:pt x="0" y="848141"/>
                </a:cubicBezTo>
                <a:lnTo>
                  <a:pt x="0" y="47117"/>
                </a:lnTo>
                <a:cubicBezTo>
                  <a:pt x="0" y="21095"/>
                  <a:pt x="21095" y="0"/>
                  <a:pt x="47117" y="0"/>
                </a:cubicBezTo>
                <a:close/>
              </a:path>
            </a:pathLst>
          </a:custGeom>
          <a:solidFill>
            <a:srgbClr val="495057"/>
          </a:solidFill>
          <a:ln/>
        </p:spPr>
      </p:sp>
      <p:sp>
        <p:nvSpPr>
          <p:cNvPr id="42" name="Shape 40"/>
          <p:cNvSpPr/>
          <p:nvPr/>
        </p:nvSpPr>
        <p:spPr>
          <a:xfrm>
            <a:off x="8714317" y="5936974"/>
            <a:ext cx="188475" cy="188475"/>
          </a:xfrm>
          <a:custGeom>
            <a:avLst/>
            <a:gdLst/>
            <a:ahLst/>
            <a:cxnLst/>
            <a:rect l="l" t="t" r="r" b="b"/>
            <a:pathLst>
              <a:path w="188475" h="188475">
                <a:moveTo>
                  <a:pt x="24259" y="84114"/>
                </a:moveTo>
                <a:cubicBezTo>
                  <a:pt x="29155" y="49880"/>
                  <a:pt x="58641" y="23559"/>
                  <a:pt x="94238" y="23559"/>
                </a:cubicBezTo>
                <a:cubicBezTo>
                  <a:pt x="113748" y="23559"/>
                  <a:pt x="131417" y="31474"/>
                  <a:pt x="144228" y="44248"/>
                </a:cubicBezTo>
                <a:cubicBezTo>
                  <a:pt x="144301" y="44321"/>
                  <a:pt x="144375" y="44395"/>
                  <a:pt x="144449" y="44468"/>
                </a:cubicBezTo>
                <a:lnTo>
                  <a:pt x="147246" y="47119"/>
                </a:lnTo>
                <a:lnTo>
                  <a:pt x="129614" y="47119"/>
                </a:lnTo>
                <a:cubicBezTo>
                  <a:pt x="123098" y="47119"/>
                  <a:pt x="117834" y="52383"/>
                  <a:pt x="117834" y="58899"/>
                </a:cubicBezTo>
                <a:cubicBezTo>
                  <a:pt x="117834" y="65414"/>
                  <a:pt x="123098" y="70678"/>
                  <a:pt x="129614" y="70678"/>
                </a:cubicBezTo>
                <a:lnTo>
                  <a:pt x="176732" y="70678"/>
                </a:lnTo>
                <a:cubicBezTo>
                  <a:pt x="183248" y="70678"/>
                  <a:pt x="188512" y="65414"/>
                  <a:pt x="188512" y="58899"/>
                </a:cubicBezTo>
                <a:lnTo>
                  <a:pt x="188512" y="11780"/>
                </a:lnTo>
                <a:cubicBezTo>
                  <a:pt x="188512" y="5264"/>
                  <a:pt x="183248" y="0"/>
                  <a:pt x="176732" y="0"/>
                </a:cubicBezTo>
                <a:cubicBezTo>
                  <a:pt x="170217" y="0"/>
                  <a:pt x="164953" y="5264"/>
                  <a:pt x="164953" y="11780"/>
                </a:cubicBezTo>
                <a:lnTo>
                  <a:pt x="164953" y="31437"/>
                </a:lnTo>
                <a:lnTo>
                  <a:pt x="160793" y="27498"/>
                </a:lnTo>
                <a:cubicBezTo>
                  <a:pt x="143749" y="10528"/>
                  <a:pt x="120190" y="0"/>
                  <a:pt x="94238" y="0"/>
                </a:cubicBezTo>
                <a:cubicBezTo>
                  <a:pt x="46751" y="0"/>
                  <a:pt x="7473" y="35118"/>
                  <a:pt x="957" y="80801"/>
                </a:cubicBezTo>
                <a:cubicBezTo>
                  <a:pt x="37" y="87243"/>
                  <a:pt x="4491" y="93207"/>
                  <a:pt x="10933" y="94127"/>
                </a:cubicBezTo>
                <a:cubicBezTo>
                  <a:pt x="17375" y="95048"/>
                  <a:pt x="23339" y="90557"/>
                  <a:pt x="24259" y="84151"/>
                </a:cubicBezTo>
                <a:close/>
                <a:moveTo>
                  <a:pt x="187518" y="107674"/>
                </a:moveTo>
                <a:cubicBezTo>
                  <a:pt x="188439" y="101232"/>
                  <a:pt x="183948" y="95268"/>
                  <a:pt x="177542" y="94348"/>
                </a:cubicBezTo>
                <a:cubicBezTo>
                  <a:pt x="171137" y="93428"/>
                  <a:pt x="165137" y="97919"/>
                  <a:pt x="164217" y="104324"/>
                </a:cubicBezTo>
                <a:cubicBezTo>
                  <a:pt x="159321" y="138559"/>
                  <a:pt x="129834" y="164879"/>
                  <a:pt x="94238" y="164879"/>
                </a:cubicBezTo>
                <a:cubicBezTo>
                  <a:pt x="74728" y="164879"/>
                  <a:pt x="57058" y="156965"/>
                  <a:pt x="44248" y="144191"/>
                </a:cubicBezTo>
                <a:cubicBezTo>
                  <a:pt x="44174" y="144117"/>
                  <a:pt x="44100" y="144044"/>
                  <a:pt x="44027" y="143970"/>
                </a:cubicBezTo>
                <a:lnTo>
                  <a:pt x="41229" y="141320"/>
                </a:lnTo>
                <a:lnTo>
                  <a:pt x="58862" y="141320"/>
                </a:lnTo>
                <a:cubicBezTo>
                  <a:pt x="65377" y="141320"/>
                  <a:pt x="70641" y="136056"/>
                  <a:pt x="70641" y="129540"/>
                </a:cubicBezTo>
                <a:cubicBezTo>
                  <a:pt x="70641" y="123024"/>
                  <a:pt x="65377" y="117760"/>
                  <a:pt x="58862" y="117760"/>
                </a:cubicBezTo>
                <a:lnTo>
                  <a:pt x="11780" y="117797"/>
                </a:lnTo>
                <a:cubicBezTo>
                  <a:pt x="8651" y="117797"/>
                  <a:pt x="5632" y="119049"/>
                  <a:pt x="3423" y="121294"/>
                </a:cubicBezTo>
                <a:cubicBezTo>
                  <a:pt x="1215" y="123540"/>
                  <a:pt x="-37" y="126521"/>
                  <a:pt x="0" y="129687"/>
                </a:cubicBezTo>
                <a:lnTo>
                  <a:pt x="368" y="176438"/>
                </a:lnTo>
                <a:cubicBezTo>
                  <a:pt x="405" y="182954"/>
                  <a:pt x="5743" y="188181"/>
                  <a:pt x="12258" y="188107"/>
                </a:cubicBezTo>
                <a:cubicBezTo>
                  <a:pt x="18774" y="188034"/>
                  <a:pt x="24001" y="182733"/>
                  <a:pt x="23928" y="176217"/>
                </a:cubicBezTo>
                <a:lnTo>
                  <a:pt x="23780" y="157259"/>
                </a:lnTo>
                <a:lnTo>
                  <a:pt x="27719" y="160977"/>
                </a:lnTo>
                <a:cubicBezTo>
                  <a:pt x="44763" y="177947"/>
                  <a:pt x="68286" y="188475"/>
                  <a:pt x="94238" y="188475"/>
                </a:cubicBezTo>
                <a:cubicBezTo>
                  <a:pt x="141725" y="188475"/>
                  <a:pt x="181003" y="153357"/>
                  <a:pt x="187518" y="107674"/>
                </a:cubicBezTo>
                <a:close/>
              </a:path>
            </a:pathLst>
          </a:custGeom>
          <a:solidFill>
            <a:srgbClr val="FFFFFF"/>
          </a:solidFill>
          <a:ln/>
        </p:spPr>
      </p:sp>
      <p:sp>
        <p:nvSpPr>
          <p:cNvPr id="43" name="Text 41"/>
          <p:cNvSpPr/>
          <p:nvPr/>
        </p:nvSpPr>
        <p:spPr>
          <a:xfrm>
            <a:off x="9020589" y="5889855"/>
            <a:ext cx="659664" cy="282713"/>
          </a:xfrm>
          <a:prstGeom prst="rect">
            <a:avLst/>
          </a:prstGeom>
          <a:noFill/>
          <a:ln/>
        </p:spPr>
        <p:txBody>
          <a:bodyPr wrap="square" lIns="0" tIns="0" rIns="0" bIns="0" rtlCol="0" anchor="ctr"/>
          <a:lstStyle/>
          <a:p>
            <a:pPr>
              <a:lnSpc>
                <a:spcPct val="130000"/>
              </a:lnSpc>
            </a:pPr>
            <a:r>
              <a:rPr lang="en-US" sz="1484" b="1" dirty="0">
                <a:solidFill>
                  <a:srgbClr val="FFFFFF"/>
                </a:solidFill>
                <a:latin typeface="MiSans" pitchFamily="34" charset="0"/>
                <a:ea typeface="MiSans" pitchFamily="34" charset="-122"/>
                <a:cs typeface="MiSans" pitchFamily="34" charset="-120"/>
              </a:rPr>
              <a:t>优化器</a:t>
            </a:r>
            <a:endParaRPr lang="en-US" sz="1600" dirty="0"/>
          </a:p>
        </p:txBody>
      </p:sp>
      <p:sp>
        <p:nvSpPr>
          <p:cNvPr id="44" name="Text 42"/>
          <p:cNvSpPr/>
          <p:nvPr/>
        </p:nvSpPr>
        <p:spPr>
          <a:xfrm>
            <a:off x="8690757" y="6219687"/>
            <a:ext cx="6761554" cy="282713"/>
          </a:xfrm>
          <a:prstGeom prst="rect">
            <a:avLst/>
          </a:prstGeom>
          <a:noFill/>
          <a:ln/>
        </p:spPr>
        <p:txBody>
          <a:bodyPr wrap="square" lIns="0" tIns="0" rIns="0" bIns="0" rtlCol="0" anchor="ctr"/>
          <a:lstStyle/>
          <a:p>
            <a:pPr>
              <a:lnSpc>
                <a:spcPct val="130000"/>
              </a:lnSpc>
            </a:pPr>
            <a:r>
              <a:rPr lang="en-US" sz="1484" dirty="0">
                <a:solidFill>
                  <a:srgbClr val="FFFFFF"/>
                </a:solidFill>
                <a:latin typeface="MiSans" pitchFamily="34" charset="0"/>
                <a:ea typeface="MiSans" pitchFamily="34" charset="-122"/>
                <a:cs typeface="MiSans" pitchFamily="34" charset="-120"/>
              </a:rPr>
              <a:t>RMSProp更新规则，交叉熵损失函数</a:t>
            </a:r>
            <a:endParaRPr lang="en-US" sz="1600" dirty="0"/>
          </a:p>
        </p:txBody>
      </p:sp>
      <p:sp>
        <p:nvSpPr>
          <p:cNvPr id="45" name="Shape 43"/>
          <p:cNvSpPr/>
          <p:nvPr/>
        </p:nvSpPr>
        <p:spPr>
          <a:xfrm>
            <a:off x="471188" y="7162064"/>
            <a:ext cx="15313623" cy="1978991"/>
          </a:xfrm>
          <a:custGeom>
            <a:avLst/>
            <a:gdLst/>
            <a:ahLst/>
            <a:cxnLst/>
            <a:rect l="l" t="t" r="r" b="b"/>
            <a:pathLst>
              <a:path w="15313623" h="1978991">
                <a:moveTo>
                  <a:pt x="94240" y="0"/>
                </a:moveTo>
                <a:lnTo>
                  <a:pt x="15219384" y="0"/>
                </a:lnTo>
                <a:cubicBezTo>
                  <a:pt x="15271431" y="0"/>
                  <a:pt x="15313623" y="42192"/>
                  <a:pt x="15313623" y="94240"/>
                </a:cubicBezTo>
                <a:lnTo>
                  <a:pt x="15313623" y="1884752"/>
                </a:lnTo>
                <a:cubicBezTo>
                  <a:pt x="15313623" y="1936799"/>
                  <a:pt x="15271431" y="1978991"/>
                  <a:pt x="15219384" y="1978991"/>
                </a:cubicBezTo>
                <a:lnTo>
                  <a:pt x="94240" y="1978991"/>
                </a:lnTo>
                <a:cubicBezTo>
                  <a:pt x="42192" y="1978991"/>
                  <a:pt x="0" y="1936799"/>
                  <a:pt x="0" y="1884752"/>
                </a:cubicBezTo>
                <a:lnTo>
                  <a:pt x="0" y="94240"/>
                </a:lnTo>
                <a:cubicBezTo>
                  <a:pt x="0" y="42227"/>
                  <a:pt x="42227" y="0"/>
                  <a:pt x="94240" y="0"/>
                </a:cubicBezTo>
                <a:close/>
              </a:path>
            </a:pathLst>
          </a:custGeom>
          <a:gradFill rotWithShape="1" flip="none">
            <a:gsLst>
              <a:gs pos="0">
                <a:srgbClr val="A67B5C">
                  <a:alpha val="10000"/>
                </a:srgbClr>
              </a:gs>
              <a:gs pos="100000">
                <a:srgbClr val="495057">
                  <a:alpha val="10000"/>
                </a:srgbClr>
              </a:gs>
            </a:gsLst>
            <a:lin ang="0" scaled="1"/>
          </a:gradFill>
          <a:ln/>
        </p:spPr>
      </p:sp>
      <p:sp>
        <p:nvSpPr>
          <p:cNvPr id="46" name="Text 44"/>
          <p:cNvSpPr/>
          <p:nvPr/>
        </p:nvSpPr>
        <p:spPr>
          <a:xfrm>
            <a:off x="706783" y="7397658"/>
            <a:ext cx="14960232" cy="329832"/>
          </a:xfrm>
          <a:prstGeom prst="rect">
            <a:avLst/>
          </a:prstGeom>
          <a:noFill/>
          <a:ln/>
        </p:spPr>
        <p:txBody>
          <a:bodyPr wrap="square" lIns="0" tIns="0" rIns="0" bIns="0" rtlCol="0" anchor="ctr"/>
          <a:lstStyle/>
          <a:p>
            <a:pPr>
              <a:lnSpc>
                <a:spcPct val="120000"/>
              </a:lnSpc>
            </a:pPr>
            <a:r>
              <a:rPr lang="en-US" sz="1855" b="1" dirty="0">
                <a:solidFill>
                  <a:srgbClr val="495057"/>
                </a:solidFill>
                <a:latin typeface="Noto Sans SC" pitchFamily="34" charset="0"/>
                <a:ea typeface="Noto Sans SC" pitchFamily="34" charset="-122"/>
                <a:cs typeface="Noto Sans SC" pitchFamily="34" charset="-120"/>
              </a:rPr>
              <a:t>数据划分与预处理策略</a:t>
            </a:r>
            <a:endParaRPr lang="en-US" sz="1600" dirty="0"/>
          </a:p>
        </p:txBody>
      </p:sp>
      <p:sp>
        <p:nvSpPr>
          <p:cNvPr id="47" name="Shape 45"/>
          <p:cNvSpPr/>
          <p:nvPr/>
        </p:nvSpPr>
        <p:spPr>
          <a:xfrm>
            <a:off x="706783" y="7868846"/>
            <a:ext cx="4817901" cy="1036614"/>
          </a:xfrm>
          <a:custGeom>
            <a:avLst/>
            <a:gdLst/>
            <a:ahLst/>
            <a:cxnLst/>
            <a:rect l="l" t="t" r="r" b="b"/>
            <a:pathLst>
              <a:path w="4817901" h="1036614">
                <a:moveTo>
                  <a:pt x="47114" y="0"/>
                </a:moveTo>
                <a:lnTo>
                  <a:pt x="4770787" y="0"/>
                </a:lnTo>
                <a:cubicBezTo>
                  <a:pt x="4796790" y="0"/>
                  <a:pt x="4817901" y="21111"/>
                  <a:pt x="4817901" y="47114"/>
                </a:cubicBezTo>
                <a:lnTo>
                  <a:pt x="4817901" y="989500"/>
                </a:lnTo>
                <a:cubicBezTo>
                  <a:pt x="4817901" y="1015521"/>
                  <a:pt x="4796808" y="1036614"/>
                  <a:pt x="4770787" y="1036614"/>
                </a:cubicBezTo>
                <a:lnTo>
                  <a:pt x="47114" y="1036614"/>
                </a:lnTo>
                <a:cubicBezTo>
                  <a:pt x="21111" y="1036614"/>
                  <a:pt x="0" y="1015503"/>
                  <a:pt x="0" y="989500"/>
                </a:cubicBezTo>
                <a:lnTo>
                  <a:pt x="0" y="47114"/>
                </a:lnTo>
                <a:cubicBezTo>
                  <a:pt x="0" y="21111"/>
                  <a:pt x="21111" y="0"/>
                  <a:pt x="47114" y="0"/>
                </a:cubicBezTo>
                <a:close/>
              </a:path>
            </a:pathLst>
          </a:custGeom>
          <a:solidFill>
            <a:srgbClr val="FFFFFF"/>
          </a:solidFill>
          <a:ln/>
        </p:spPr>
      </p:sp>
      <p:sp>
        <p:nvSpPr>
          <p:cNvPr id="48" name="Shape 46"/>
          <p:cNvSpPr/>
          <p:nvPr/>
        </p:nvSpPr>
        <p:spPr>
          <a:xfrm>
            <a:off x="918817" y="8104441"/>
            <a:ext cx="188475" cy="188475"/>
          </a:xfrm>
          <a:custGeom>
            <a:avLst/>
            <a:gdLst/>
            <a:ahLst/>
            <a:cxnLst/>
            <a:rect l="l" t="t" r="r" b="b"/>
            <a:pathLst>
              <a:path w="188475" h="188475">
                <a:moveTo>
                  <a:pt x="148645" y="12663"/>
                </a:moveTo>
                <a:cubicBezTo>
                  <a:pt x="153063" y="10823"/>
                  <a:pt x="158106" y="11853"/>
                  <a:pt x="161492" y="15203"/>
                </a:cubicBezTo>
                <a:lnTo>
                  <a:pt x="185052" y="38763"/>
                </a:lnTo>
                <a:cubicBezTo>
                  <a:pt x="187261" y="40971"/>
                  <a:pt x="188512" y="43953"/>
                  <a:pt x="188512" y="47082"/>
                </a:cubicBezTo>
                <a:cubicBezTo>
                  <a:pt x="188512" y="50211"/>
                  <a:pt x="187261" y="53193"/>
                  <a:pt x="185052" y="55401"/>
                </a:cubicBezTo>
                <a:lnTo>
                  <a:pt x="161492" y="78961"/>
                </a:lnTo>
                <a:cubicBezTo>
                  <a:pt x="158106" y="82348"/>
                  <a:pt x="153063" y="83341"/>
                  <a:pt x="148645" y="81501"/>
                </a:cubicBezTo>
                <a:cubicBezTo>
                  <a:pt x="144228" y="79660"/>
                  <a:pt x="141357" y="75427"/>
                  <a:pt x="141357" y="70678"/>
                </a:cubicBezTo>
                <a:lnTo>
                  <a:pt x="141357" y="58899"/>
                </a:lnTo>
                <a:lnTo>
                  <a:pt x="129577" y="58899"/>
                </a:lnTo>
                <a:cubicBezTo>
                  <a:pt x="125859" y="58899"/>
                  <a:pt x="122362" y="60629"/>
                  <a:pt x="120153" y="63610"/>
                </a:cubicBezTo>
                <a:lnTo>
                  <a:pt x="108226" y="79513"/>
                </a:lnTo>
                <a:lnTo>
                  <a:pt x="93501" y="59892"/>
                </a:lnTo>
                <a:lnTo>
                  <a:pt x="101306" y="49475"/>
                </a:lnTo>
                <a:cubicBezTo>
                  <a:pt x="107968" y="40566"/>
                  <a:pt x="118460" y="35339"/>
                  <a:pt x="129577" y="35339"/>
                </a:cubicBezTo>
                <a:lnTo>
                  <a:pt x="141357" y="35339"/>
                </a:lnTo>
                <a:lnTo>
                  <a:pt x="141357" y="23559"/>
                </a:lnTo>
                <a:cubicBezTo>
                  <a:pt x="141357" y="18811"/>
                  <a:pt x="144228" y="14504"/>
                  <a:pt x="148645" y="12663"/>
                </a:cubicBezTo>
                <a:close/>
                <a:moveTo>
                  <a:pt x="56690" y="108962"/>
                </a:moveTo>
                <a:lnTo>
                  <a:pt x="71414" y="128583"/>
                </a:lnTo>
                <a:lnTo>
                  <a:pt x="63610" y="139001"/>
                </a:lnTo>
                <a:cubicBezTo>
                  <a:pt x="56948" y="147909"/>
                  <a:pt x="46456" y="153136"/>
                  <a:pt x="35339" y="153136"/>
                </a:cubicBezTo>
                <a:lnTo>
                  <a:pt x="11780" y="153136"/>
                </a:lnTo>
                <a:cubicBezTo>
                  <a:pt x="5264" y="153136"/>
                  <a:pt x="0" y="147872"/>
                  <a:pt x="0" y="141357"/>
                </a:cubicBezTo>
                <a:cubicBezTo>
                  <a:pt x="0" y="134841"/>
                  <a:pt x="5264" y="129577"/>
                  <a:pt x="11780" y="129577"/>
                </a:cubicBezTo>
                <a:lnTo>
                  <a:pt x="35339" y="129577"/>
                </a:lnTo>
                <a:cubicBezTo>
                  <a:pt x="39057" y="129577"/>
                  <a:pt x="42554" y="127847"/>
                  <a:pt x="44763" y="124865"/>
                </a:cubicBezTo>
                <a:lnTo>
                  <a:pt x="56690" y="108962"/>
                </a:lnTo>
                <a:close/>
                <a:moveTo>
                  <a:pt x="161456" y="173235"/>
                </a:moveTo>
                <a:cubicBezTo>
                  <a:pt x="158069" y="176622"/>
                  <a:pt x="153026" y="177616"/>
                  <a:pt x="148608" y="175775"/>
                </a:cubicBezTo>
                <a:cubicBezTo>
                  <a:pt x="144191" y="173935"/>
                  <a:pt x="141357" y="169665"/>
                  <a:pt x="141357" y="164916"/>
                </a:cubicBezTo>
                <a:lnTo>
                  <a:pt x="141357" y="153136"/>
                </a:lnTo>
                <a:lnTo>
                  <a:pt x="129577" y="153136"/>
                </a:lnTo>
                <a:cubicBezTo>
                  <a:pt x="118460" y="153136"/>
                  <a:pt x="107968" y="147909"/>
                  <a:pt x="101306" y="139001"/>
                </a:cubicBezTo>
                <a:lnTo>
                  <a:pt x="44763" y="63610"/>
                </a:lnTo>
                <a:cubicBezTo>
                  <a:pt x="42554" y="60629"/>
                  <a:pt x="39057" y="58899"/>
                  <a:pt x="35339" y="58899"/>
                </a:cubicBezTo>
                <a:lnTo>
                  <a:pt x="11780" y="58899"/>
                </a:lnTo>
                <a:cubicBezTo>
                  <a:pt x="5264" y="58899"/>
                  <a:pt x="0" y="53634"/>
                  <a:pt x="0" y="47119"/>
                </a:cubicBezTo>
                <a:cubicBezTo>
                  <a:pt x="0" y="40603"/>
                  <a:pt x="5264" y="35339"/>
                  <a:pt x="11780" y="35339"/>
                </a:cubicBezTo>
                <a:lnTo>
                  <a:pt x="35339" y="35339"/>
                </a:lnTo>
                <a:cubicBezTo>
                  <a:pt x="46456" y="35339"/>
                  <a:pt x="56948" y="40566"/>
                  <a:pt x="63610" y="49475"/>
                </a:cubicBezTo>
                <a:lnTo>
                  <a:pt x="120153" y="124865"/>
                </a:lnTo>
                <a:cubicBezTo>
                  <a:pt x="122362" y="127847"/>
                  <a:pt x="125859" y="129577"/>
                  <a:pt x="129577" y="129577"/>
                </a:cubicBezTo>
                <a:lnTo>
                  <a:pt x="141357" y="129577"/>
                </a:lnTo>
                <a:lnTo>
                  <a:pt x="141357" y="117797"/>
                </a:lnTo>
                <a:cubicBezTo>
                  <a:pt x="141357" y="113048"/>
                  <a:pt x="144228" y="108741"/>
                  <a:pt x="148645" y="106901"/>
                </a:cubicBezTo>
                <a:cubicBezTo>
                  <a:pt x="153063" y="105060"/>
                  <a:pt x="158106" y="106091"/>
                  <a:pt x="161492" y="109441"/>
                </a:cubicBezTo>
                <a:lnTo>
                  <a:pt x="185052" y="133000"/>
                </a:lnTo>
                <a:cubicBezTo>
                  <a:pt x="187261" y="135209"/>
                  <a:pt x="188512" y="138191"/>
                  <a:pt x="188512" y="141320"/>
                </a:cubicBezTo>
                <a:cubicBezTo>
                  <a:pt x="188512" y="144449"/>
                  <a:pt x="187261" y="147430"/>
                  <a:pt x="185052" y="149639"/>
                </a:cubicBezTo>
                <a:lnTo>
                  <a:pt x="161492" y="173199"/>
                </a:lnTo>
                <a:close/>
              </a:path>
            </a:pathLst>
          </a:custGeom>
          <a:solidFill>
            <a:srgbClr val="A67B5C"/>
          </a:solidFill>
          <a:ln/>
        </p:spPr>
      </p:sp>
      <p:sp>
        <p:nvSpPr>
          <p:cNvPr id="49" name="Text 47"/>
          <p:cNvSpPr/>
          <p:nvPr/>
        </p:nvSpPr>
        <p:spPr>
          <a:xfrm>
            <a:off x="1225090" y="8057322"/>
            <a:ext cx="848139" cy="282713"/>
          </a:xfrm>
          <a:prstGeom prst="rect">
            <a:avLst/>
          </a:prstGeom>
          <a:noFill/>
          <a:ln/>
        </p:spPr>
        <p:txBody>
          <a:bodyPr wrap="square" lIns="0" tIns="0" rIns="0" bIns="0" rtlCol="0" anchor="ctr"/>
          <a:lstStyle/>
          <a:p>
            <a:pPr>
              <a:lnSpc>
                <a:spcPct val="130000"/>
              </a:lnSpc>
            </a:pPr>
            <a:r>
              <a:rPr lang="en-US" sz="1484" b="1" dirty="0">
                <a:solidFill>
                  <a:srgbClr val="495057"/>
                </a:solidFill>
                <a:latin typeface="MiSans" pitchFamily="34" charset="0"/>
                <a:ea typeface="MiSans" pitchFamily="34" charset="-122"/>
                <a:cs typeface="MiSans" pitchFamily="34" charset="-120"/>
              </a:rPr>
              <a:t>数据划分</a:t>
            </a:r>
            <a:endParaRPr lang="en-US" sz="1600" dirty="0"/>
          </a:p>
        </p:txBody>
      </p:sp>
      <p:sp>
        <p:nvSpPr>
          <p:cNvPr id="50" name="Text 48"/>
          <p:cNvSpPr/>
          <p:nvPr/>
        </p:nvSpPr>
        <p:spPr>
          <a:xfrm>
            <a:off x="895258" y="8434272"/>
            <a:ext cx="4535188" cy="282713"/>
          </a:xfrm>
          <a:prstGeom prst="rect">
            <a:avLst/>
          </a:prstGeom>
          <a:noFill/>
          <a:ln/>
        </p:spPr>
        <p:txBody>
          <a:bodyPr wrap="square" lIns="0" tIns="0" rIns="0" bIns="0" rtlCol="0" anchor="ctr"/>
          <a:lstStyle/>
          <a:p>
            <a:pPr>
              <a:lnSpc>
                <a:spcPct val="130000"/>
              </a:lnSpc>
            </a:pPr>
            <a:r>
              <a:rPr lang="en-US" sz="1484" dirty="0">
                <a:solidFill>
                  <a:srgbClr val="495057">
                    <a:alpha val="80000"/>
                  </a:srgbClr>
                </a:solidFill>
                <a:latin typeface="MiSans" pitchFamily="34" charset="0"/>
                <a:ea typeface="MiSans" pitchFamily="34" charset="-122"/>
                <a:cs typeface="MiSans" pitchFamily="34" charset="-120"/>
              </a:rPr>
              <a:t>训练集(80%) / 验证集(10%) / 测试集(10%)</a:t>
            </a:r>
            <a:endParaRPr lang="en-US" sz="1600" dirty="0"/>
          </a:p>
        </p:txBody>
      </p:sp>
      <p:sp>
        <p:nvSpPr>
          <p:cNvPr id="51" name="Shape 49"/>
          <p:cNvSpPr/>
          <p:nvPr/>
        </p:nvSpPr>
        <p:spPr>
          <a:xfrm>
            <a:off x="5715276" y="7868846"/>
            <a:ext cx="4817901" cy="1036614"/>
          </a:xfrm>
          <a:custGeom>
            <a:avLst/>
            <a:gdLst/>
            <a:ahLst/>
            <a:cxnLst/>
            <a:rect l="l" t="t" r="r" b="b"/>
            <a:pathLst>
              <a:path w="4817901" h="1036614">
                <a:moveTo>
                  <a:pt x="47114" y="0"/>
                </a:moveTo>
                <a:lnTo>
                  <a:pt x="4770787" y="0"/>
                </a:lnTo>
                <a:cubicBezTo>
                  <a:pt x="4796790" y="0"/>
                  <a:pt x="4817901" y="21111"/>
                  <a:pt x="4817901" y="47114"/>
                </a:cubicBezTo>
                <a:lnTo>
                  <a:pt x="4817901" y="989500"/>
                </a:lnTo>
                <a:cubicBezTo>
                  <a:pt x="4817901" y="1015521"/>
                  <a:pt x="4796808" y="1036614"/>
                  <a:pt x="4770787" y="1036614"/>
                </a:cubicBezTo>
                <a:lnTo>
                  <a:pt x="47114" y="1036614"/>
                </a:lnTo>
                <a:cubicBezTo>
                  <a:pt x="21111" y="1036614"/>
                  <a:pt x="0" y="1015503"/>
                  <a:pt x="0" y="989500"/>
                </a:cubicBezTo>
                <a:lnTo>
                  <a:pt x="0" y="47114"/>
                </a:lnTo>
                <a:cubicBezTo>
                  <a:pt x="0" y="21111"/>
                  <a:pt x="21111" y="0"/>
                  <a:pt x="47114" y="0"/>
                </a:cubicBezTo>
                <a:close/>
              </a:path>
            </a:pathLst>
          </a:custGeom>
          <a:solidFill>
            <a:srgbClr val="FFFFFF"/>
          </a:solidFill>
          <a:ln/>
        </p:spPr>
      </p:sp>
      <p:sp>
        <p:nvSpPr>
          <p:cNvPr id="52" name="Shape 50"/>
          <p:cNvSpPr/>
          <p:nvPr/>
        </p:nvSpPr>
        <p:spPr>
          <a:xfrm>
            <a:off x="5927311" y="8104441"/>
            <a:ext cx="188475" cy="188475"/>
          </a:xfrm>
          <a:custGeom>
            <a:avLst/>
            <a:gdLst/>
            <a:ahLst/>
            <a:cxnLst/>
            <a:rect l="l" t="t" r="r" b="b"/>
            <a:pathLst>
              <a:path w="188475" h="188475">
                <a:moveTo>
                  <a:pt x="11780" y="23559"/>
                </a:moveTo>
                <a:cubicBezTo>
                  <a:pt x="7031" y="23559"/>
                  <a:pt x="2724" y="26431"/>
                  <a:pt x="883" y="30848"/>
                </a:cubicBezTo>
                <a:cubicBezTo>
                  <a:pt x="-957" y="35266"/>
                  <a:pt x="74" y="40309"/>
                  <a:pt x="3460" y="43659"/>
                </a:cubicBezTo>
                <a:lnTo>
                  <a:pt x="70678" y="110913"/>
                </a:lnTo>
                <a:lnTo>
                  <a:pt x="70678" y="153136"/>
                </a:lnTo>
                <a:cubicBezTo>
                  <a:pt x="70678" y="156265"/>
                  <a:pt x="71930" y="159247"/>
                  <a:pt x="74139" y="161456"/>
                </a:cubicBezTo>
                <a:lnTo>
                  <a:pt x="97698" y="185015"/>
                </a:lnTo>
                <a:cubicBezTo>
                  <a:pt x="101085" y="188402"/>
                  <a:pt x="106128" y="189396"/>
                  <a:pt x="110545" y="187555"/>
                </a:cubicBezTo>
                <a:cubicBezTo>
                  <a:pt x="114963" y="185714"/>
                  <a:pt x="117797" y="181444"/>
                  <a:pt x="117797" y="176696"/>
                </a:cubicBezTo>
                <a:lnTo>
                  <a:pt x="117797" y="110913"/>
                </a:lnTo>
                <a:lnTo>
                  <a:pt x="185015" y="43695"/>
                </a:lnTo>
                <a:cubicBezTo>
                  <a:pt x="188402" y="40309"/>
                  <a:pt x="189396" y="35266"/>
                  <a:pt x="187555" y="30848"/>
                </a:cubicBezTo>
                <a:cubicBezTo>
                  <a:pt x="185714" y="26431"/>
                  <a:pt x="181444" y="23559"/>
                  <a:pt x="176696" y="23559"/>
                </a:cubicBezTo>
                <a:lnTo>
                  <a:pt x="11780" y="23559"/>
                </a:lnTo>
                <a:close/>
              </a:path>
            </a:pathLst>
          </a:custGeom>
          <a:solidFill>
            <a:srgbClr val="495057"/>
          </a:solidFill>
          <a:ln/>
        </p:spPr>
      </p:sp>
      <p:sp>
        <p:nvSpPr>
          <p:cNvPr id="53" name="Text 51"/>
          <p:cNvSpPr/>
          <p:nvPr/>
        </p:nvSpPr>
        <p:spPr>
          <a:xfrm>
            <a:off x="6233583" y="8057322"/>
            <a:ext cx="848139" cy="282713"/>
          </a:xfrm>
          <a:prstGeom prst="rect">
            <a:avLst/>
          </a:prstGeom>
          <a:noFill/>
          <a:ln/>
        </p:spPr>
        <p:txBody>
          <a:bodyPr wrap="square" lIns="0" tIns="0" rIns="0" bIns="0" rtlCol="0" anchor="ctr"/>
          <a:lstStyle/>
          <a:p>
            <a:pPr>
              <a:lnSpc>
                <a:spcPct val="130000"/>
              </a:lnSpc>
            </a:pPr>
            <a:r>
              <a:rPr lang="en-US" sz="1484" b="1" dirty="0">
                <a:solidFill>
                  <a:srgbClr val="495057"/>
                </a:solidFill>
                <a:latin typeface="MiSans" pitchFamily="34" charset="0"/>
                <a:ea typeface="MiSans" pitchFamily="34" charset="-122"/>
                <a:cs typeface="MiSans" pitchFamily="34" charset="-120"/>
              </a:rPr>
              <a:t>清洗规则</a:t>
            </a:r>
            <a:endParaRPr lang="en-US" sz="1600" dirty="0"/>
          </a:p>
        </p:txBody>
      </p:sp>
      <p:sp>
        <p:nvSpPr>
          <p:cNvPr id="54" name="Text 52"/>
          <p:cNvSpPr/>
          <p:nvPr/>
        </p:nvSpPr>
        <p:spPr>
          <a:xfrm>
            <a:off x="5903751" y="8434272"/>
            <a:ext cx="4535188" cy="282713"/>
          </a:xfrm>
          <a:prstGeom prst="rect">
            <a:avLst/>
          </a:prstGeom>
          <a:noFill/>
          <a:ln/>
        </p:spPr>
        <p:txBody>
          <a:bodyPr wrap="square" lIns="0" tIns="0" rIns="0" bIns="0" rtlCol="0" anchor="ctr"/>
          <a:lstStyle/>
          <a:p>
            <a:pPr>
              <a:lnSpc>
                <a:spcPct val="130000"/>
              </a:lnSpc>
            </a:pPr>
            <a:r>
              <a:rPr lang="en-US" sz="1484" dirty="0">
                <a:solidFill>
                  <a:srgbClr val="495057">
                    <a:alpha val="80000"/>
                  </a:srgbClr>
                </a:solidFill>
                <a:latin typeface="MiSans" pitchFamily="34" charset="0"/>
                <a:ea typeface="MiSans" pitchFamily="34" charset="-122"/>
                <a:cs typeface="MiSans" pitchFamily="34" charset="-120"/>
              </a:rPr>
              <a:t>剔除图文情感冲突样本，采用多数票原则</a:t>
            </a:r>
            <a:endParaRPr lang="en-US" sz="1600" dirty="0"/>
          </a:p>
        </p:txBody>
      </p:sp>
      <p:sp>
        <p:nvSpPr>
          <p:cNvPr id="55" name="Shape 53"/>
          <p:cNvSpPr/>
          <p:nvPr/>
        </p:nvSpPr>
        <p:spPr>
          <a:xfrm>
            <a:off x="10723862" y="7868846"/>
            <a:ext cx="4817901" cy="1036614"/>
          </a:xfrm>
          <a:custGeom>
            <a:avLst/>
            <a:gdLst/>
            <a:ahLst/>
            <a:cxnLst/>
            <a:rect l="l" t="t" r="r" b="b"/>
            <a:pathLst>
              <a:path w="4817901" h="1036614">
                <a:moveTo>
                  <a:pt x="47114" y="0"/>
                </a:moveTo>
                <a:lnTo>
                  <a:pt x="4770787" y="0"/>
                </a:lnTo>
                <a:cubicBezTo>
                  <a:pt x="4796790" y="0"/>
                  <a:pt x="4817901" y="21111"/>
                  <a:pt x="4817901" y="47114"/>
                </a:cubicBezTo>
                <a:lnTo>
                  <a:pt x="4817901" y="989500"/>
                </a:lnTo>
                <a:cubicBezTo>
                  <a:pt x="4817901" y="1015521"/>
                  <a:pt x="4796808" y="1036614"/>
                  <a:pt x="4770787" y="1036614"/>
                </a:cubicBezTo>
                <a:lnTo>
                  <a:pt x="47114" y="1036614"/>
                </a:lnTo>
                <a:cubicBezTo>
                  <a:pt x="21111" y="1036614"/>
                  <a:pt x="0" y="1015503"/>
                  <a:pt x="0" y="989500"/>
                </a:cubicBezTo>
                <a:lnTo>
                  <a:pt x="0" y="47114"/>
                </a:lnTo>
                <a:cubicBezTo>
                  <a:pt x="0" y="21111"/>
                  <a:pt x="21111" y="0"/>
                  <a:pt x="47114" y="0"/>
                </a:cubicBezTo>
                <a:close/>
              </a:path>
            </a:pathLst>
          </a:custGeom>
          <a:solidFill>
            <a:srgbClr val="FFFFFF"/>
          </a:solidFill>
          <a:ln/>
        </p:spPr>
      </p:sp>
      <p:sp>
        <p:nvSpPr>
          <p:cNvPr id="56" name="Shape 54"/>
          <p:cNvSpPr/>
          <p:nvPr/>
        </p:nvSpPr>
        <p:spPr>
          <a:xfrm>
            <a:off x="10935896" y="8104441"/>
            <a:ext cx="188475" cy="188475"/>
          </a:xfrm>
          <a:custGeom>
            <a:avLst/>
            <a:gdLst/>
            <a:ahLst/>
            <a:cxnLst/>
            <a:rect l="l" t="t" r="r" b="b"/>
            <a:pathLst>
              <a:path w="188475" h="188475">
                <a:moveTo>
                  <a:pt x="11780" y="11780"/>
                </a:moveTo>
                <a:cubicBezTo>
                  <a:pt x="18295" y="11780"/>
                  <a:pt x="23559" y="17044"/>
                  <a:pt x="23559" y="23559"/>
                </a:cubicBezTo>
                <a:lnTo>
                  <a:pt x="23559" y="147246"/>
                </a:lnTo>
                <a:cubicBezTo>
                  <a:pt x="23559" y="150486"/>
                  <a:pt x="26210" y="153136"/>
                  <a:pt x="29449" y="153136"/>
                </a:cubicBezTo>
                <a:lnTo>
                  <a:pt x="176696" y="153136"/>
                </a:lnTo>
                <a:cubicBezTo>
                  <a:pt x="183211" y="153136"/>
                  <a:pt x="188475" y="158400"/>
                  <a:pt x="188475" y="164916"/>
                </a:cubicBezTo>
                <a:cubicBezTo>
                  <a:pt x="188475" y="171432"/>
                  <a:pt x="183211" y="176696"/>
                  <a:pt x="176696" y="176696"/>
                </a:cubicBezTo>
                <a:lnTo>
                  <a:pt x="29449" y="176696"/>
                </a:lnTo>
                <a:cubicBezTo>
                  <a:pt x="13179" y="176696"/>
                  <a:pt x="0" y="163517"/>
                  <a:pt x="0" y="147246"/>
                </a:cubicBezTo>
                <a:lnTo>
                  <a:pt x="0" y="23559"/>
                </a:lnTo>
                <a:cubicBezTo>
                  <a:pt x="0" y="17044"/>
                  <a:pt x="5264" y="11780"/>
                  <a:pt x="11780" y="11780"/>
                </a:cubicBezTo>
                <a:close/>
                <a:moveTo>
                  <a:pt x="47119" y="35339"/>
                </a:moveTo>
                <a:cubicBezTo>
                  <a:pt x="47119" y="28823"/>
                  <a:pt x="52383" y="23559"/>
                  <a:pt x="58899" y="23559"/>
                </a:cubicBezTo>
                <a:lnTo>
                  <a:pt x="129577" y="23559"/>
                </a:lnTo>
                <a:cubicBezTo>
                  <a:pt x="136092" y="23559"/>
                  <a:pt x="141357" y="28823"/>
                  <a:pt x="141357" y="35339"/>
                </a:cubicBezTo>
                <a:cubicBezTo>
                  <a:pt x="141357" y="41855"/>
                  <a:pt x="136092" y="47119"/>
                  <a:pt x="129577" y="47119"/>
                </a:cubicBezTo>
                <a:lnTo>
                  <a:pt x="58899" y="47119"/>
                </a:lnTo>
                <a:cubicBezTo>
                  <a:pt x="52383" y="47119"/>
                  <a:pt x="47119" y="41855"/>
                  <a:pt x="47119" y="35339"/>
                </a:cubicBezTo>
                <a:close/>
                <a:moveTo>
                  <a:pt x="58899" y="64788"/>
                </a:moveTo>
                <a:lnTo>
                  <a:pt x="106017" y="64788"/>
                </a:lnTo>
                <a:cubicBezTo>
                  <a:pt x="112533" y="64788"/>
                  <a:pt x="117797" y="70052"/>
                  <a:pt x="117797" y="76568"/>
                </a:cubicBezTo>
                <a:cubicBezTo>
                  <a:pt x="117797" y="83084"/>
                  <a:pt x="112533" y="88348"/>
                  <a:pt x="106017" y="88348"/>
                </a:cubicBezTo>
                <a:lnTo>
                  <a:pt x="58899" y="88348"/>
                </a:lnTo>
                <a:cubicBezTo>
                  <a:pt x="52383" y="88348"/>
                  <a:pt x="47119" y="83084"/>
                  <a:pt x="47119" y="76568"/>
                </a:cubicBezTo>
                <a:cubicBezTo>
                  <a:pt x="47119" y="70052"/>
                  <a:pt x="52383" y="64788"/>
                  <a:pt x="58899" y="64788"/>
                </a:cubicBezTo>
                <a:close/>
                <a:moveTo>
                  <a:pt x="58899" y="106017"/>
                </a:moveTo>
                <a:lnTo>
                  <a:pt x="153136" y="106017"/>
                </a:lnTo>
                <a:cubicBezTo>
                  <a:pt x="159652" y="106017"/>
                  <a:pt x="164916" y="111281"/>
                  <a:pt x="164916" y="117797"/>
                </a:cubicBezTo>
                <a:cubicBezTo>
                  <a:pt x="164916" y="124313"/>
                  <a:pt x="159652" y="129577"/>
                  <a:pt x="153136" y="129577"/>
                </a:cubicBezTo>
                <a:lnTo>
                  <a:pt x="58899" y="129577"/>
                </a:lnTo>
                <a:cubicBezTo>
                  <a:pt x="52383" y="129577"/>
                  <a:pt x="47119" y="124313"/>
                  <a:pt x="47119" y="117797"/>
                </a:cubicBezTo>
                <a:cubicBezTo>
                  <a:pt x="47119" y="111281"/>
                  <a:pt x="52383" y="106017"/>
                  <a:pt x="58899" y="106017"/>
                </a:cubicBezTo>
                <a:close/>
              </a:path>
            </a:pathLst>
          </a:custGeom>
          <a:solidFill>
            <a:srgbClr val="ADB5BD"/>
          </a:solidFill>
          <a:ln/>
        </p:spPr>
      </p:sp>
      <p:sp>
        <p:nvSpPr>
          <p:cNvPr id="57" name="Text 55"/>
          <p:cNvSpPr/>
          <p:nvPr/>
        </p:nvSpPr>
        <p:spPr>
          <a:xfrm>
            <a:off x="11242169" y="8057322"/>
            <a:ext cx="848139" cy="282713"/>
          </a:xfrm>
          <a:prstGeom prst="rect">
            <a:avLst/>
          </a:prstGeom>
          <a:noFill/>
          <a:ln/>
        </p:spPr>
        <p:txBody>
          <a:bodyPr wrap="square" lIns="0" tIns="0" rIns="0" bIns="0" rtlCol="0" anchor="ctr"/>
          <a:lstStyle/>
          <a:p>
            <a:pPr>
              <a:lnSpc>
                <a:spcPct val="130000"/>
              </a:lnSpc>
            </a:pPr>
            <a:r>
              <a:rPr lang="en-US" sz="1484" b="1" dirty="0">
                <a:solidFill>
                  <a:srgbClr val="495057"/>
                </a:solidFill>
                <a:latin typeface="MiSans" pitchFamily="34" charset="0"/>
                <a:ea typeface="MiSans" pitchFamily="34" charset="-122"/>
                <a:cs typeface="MiSans" pitchFamily="34" charset="-120"/>
              </a:rPr>
              <a:t>评估指标</a:t>
            </a:r>
            <a:endParaRPr lang="en-US" sz="1600" dirty="0"/>
          </a:p>
        </p:txBody>
      </p:sp>
      <p:sp>
        <p:nvSpPr>
          <p:cNvPr id="58" name="Text 56"/>
          <p:cNvSpPr/>
          <p:nvPr/>
        </p:nvSpPr>
        <p:spPr>
          <a:xfrm>
            <a:off x="10912337" y="8434272"/>
            <a:ext cx="4535188" cy="282713"/>
          </a:xfrm>
          <a:prstGeom prst="rect">
            <a:avLst/>
          </a:prstGeom>
          <a:noFill/>
          <a:ln/>
        </p:spPr>
        <p:txBody>
          <a:bodyPr wrap="square" lIns="0" tIns="0" rIns="0" bIns="0" rtlCol="0" anchor="ctr"/>
          <a:lstStyle/>
          <a:p>
            <a:pPr>
              <a:lnSpc>
                <a:spcPct val="130000"/>
              </a:lnSpc>
            </a:pPr>
            <a:r>
              <a:rPr lang="en-US" sz="1484" dirty="0">
                <a:solidFill>
                  <a:srgbClr val="495057">
                    <a:alpha val="80000"/>
                  </a:srgbClr>
                </a:solidFill>
                <a:latin typeface="MiSans" pitchFamily="34" charset="0"/>
                <a:ea typeface="MiSans" pitchFamily="34" charset="-122"/>
                <a:cs typeface="MiSans" pitchFamily="34" charset="-120"/>
              </a:rPr>
              <a:t>准确率(Accuracy) 和 F1-measure</a:t>
            </a:r>
            <a:endParaRPr lang="en-US" sz="1600" dirty="0"/>
          </a:p>
        </p:txBody>
      </p:sp>
    </p:spTree>
  </p:cSld>
  <p:clrMapOvr>
    <a:masterClrMapping/>
  </p:clrMapOvr>
  <p:transition>
    <p:fade/>
    <p:spd val="med"/>
  </p:transition>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8F9FA"/>
        </a:solidFill>
      </p:bgPr>
    </p:bg>
    <p:spTree>
      <p:nvGrpSpPr>
        <p:cNvPr id="1" name=""/>
        <p:cNvGrpSpPr/>
        <p:nvPr/>
      </p:nvGrpSpPr>
      <p:grpSpPr>
        <a:xfrm>
          <a:off x="0" y="0"/>
          <a:ext cx="0" cy="0"/>
          <a:chOff x="0" y="0"/>
          <a:chExt cx="0" cy="0"/>
        </a:xfrm>
      </p:grpSpPr>
      <p:sp>
        <p:nvSpPr>
          <p:cNvPr id="2" name="Shape 0"/>
          <p:cNvSpPr/>
          <p:nvPr/>
        </p:nvSpPr>
        <p:spPr>
          <a:xfrm>
            <a:off x="508000" y="558800"/>
            <a:ext cx="406400" cy="406400"/>
          </a:xfrm>
          <a:custGeom>
            <a:avLst/>
            <a:gdLst/>
            <a:ahLst/>
            <a:cxnLst/>
            <a:rect l="l" t="t" r="r" b="b"/>
            <a:pathLst>
              <a:path w="406400" h="406400">
                <a:moveTo>
                  <a:pt x="50800" y="0"/>
                </a:moveTo>
                <a:lnTo>
                  <a:pt x="355600" y="0"/>
                </a:lnTo>
                <a:cubicBezTo>
                  <a:pt x="383637" y="0"/>
                  <a:pt x="406400" y="22763"/>
                  <a:pt x="406400" y="50800"/>
                </a:cubicBezTo>
                <a:lnTo>
                  <a:pt x="406400" y="355600"/>
                </a:lnTo>
                <a:cubicBezTo>
                  <a:pt x="406400" y="383637"/>
                  <a:pt x="383637" y="406400"/>
                  <a:pt x="355600" y="406400"/>
                </a:cubicBezTo>
                <a:lnTo>
                  <a:pt x="50800" y="406400"/>
                </a:lnTo>
                <a:cubicBezTo>
                  <a:pt x="22763" y="406400"/>
                  <a:pt x="0" y="383637"/>
                  <a:pt x="0" y="355600"/>
                </a:cubicBezTo>
                <a:lnTo>
                  <a:pt x="0" y="50800"/>
                </a:lnTo>
                <a:cubicBezTo>
                  <a:pt x="0" y="22763"/>
                  <a:pt x="22763" y="0"/>
                  <a:pt x="50800" y="0"/>
                </a:cubicBezTo>
                <a:close/>
              </a:path>
            </a:pathLst>
          </a:custGeom>
          <a:solidFill>
            <a:srgbClr val="495057"/>
          </a:solidFill>
          <a:ln/>
        </p:spPr>
      </p:sp>
      <p:sp>
        <p:nvSpPr>
          <p:cNvPr id="3" name="Text 1"/>
          <p:cNvSpPr/>
          <p:nvPr/>
        </p:nvSpPr>
        <p:spPr>
          <a:xfrm>
            <a:off x="586383" y="609600"/>
            <a:ext cx="355600" cy="304800"/>
          </a:xfrm>
          <a:prstGeom prst="rect">
            <a:avLst/>
          </a:prstGeom>
          <a:noFill/>
          <a:ln/>
        </p:spPr>
        <p:txBody>
          <a:bodyPr wrap="square" lIns="0" tIns="0" rIns="0" bIns="0" rtlCol="0" anchor="ctr"/>
          <a:lstStyle/>
          <a:p>
            <a:pPr>
              <a:lnSpc>
                <a:spcPct val="130000"/>
              </a:lnSpc>
            </a:pPr>
            <a:r>
              <a:rPr lang="en-US" sz="1600" b="1" dirty="0">
                <a:solidFill>
                  <a:srgbClr val="F8F9FA"/>
                </a:solidFill>
                <a:latin typeface="Liter" pitchFamily="34" charset="0"/>
                <a:ea typeface="Liter" pitchFamily="34" charset="-122"/>
                <a:cs typeface="Liter" pitchFamily="34" charset="-120"/>
              </a:rPr>
              <a:t>03</a:t>
            </a:r>
            <a:endParaRPr lang="en-US" sz="1600" dirty="0"/>
          </a:p>
        </p:txBody>
      </p:sp>
      <p:sp>
        <p:nvSpPr>
          <p:cNvPr id="4" name="Text 2"/>
          <p:cNvSpPr/>
          <p:nvPr/>
        </p:nvSpPr>
        <p:spPr>
          <a:xfrm>
            <a:off x="1066800" y="508000"/>
            <a:ext cx="4343400" cy="508000"/>
          </a:xfrm>
          <a:prstGeom prst="rect">
            <a:avLst/>
          </a:prstGeom>
          <a:noFill/>
          <a:ln/>
        </p:spPr>
        <p:txBody>
          <a:bodyPr wrap="square" lIns="0" tIns="0" rIns="0" bIns="0" rtlCol="0" anchor="ctr"/>
          <a:lstStyle/>
          <a:p>
            <a:pPr>
              <a:lnSpc>
                <a:spcPct val="90000"/>
              </a:lnSpc>
            </a:pPr>
            <a:r>
              <a:rPr lang="en-US" sz="3600" b="1" dirty="0">
                <a:solidFill>
                  <a:srgbClr val="495057"/>
                </a:solidFill>
                <a:latin typeface="Noto Sans SC" pitchFamily="34" charset="0"/>
                <a:ea typeface="Noto Sans SC" pitchFamily="34" charset="-122"/>
                <a:cs typeface="Noto Sans SC" pitchFamily="34" charset="-120"/>
              </a:rPr>
              <a:t>实验结果：对比分析</a:t>
            </a:r>
            <a:endParaRPr lang="en-US" sz="1600" dirty="0"/>
          </a:p>
        </p:txBody>
      </p:sp>
      <p:sp>
        <p:nvSpPr>
          <p:cNvPr id="5" name="Shape 3"/>
          <p:cNvSpPr/>
          <p:nvPr/>
        </p:nvSpPr>
        <p:spPr>
          <a:xfrm>
            <a:off x="508000" y="1117600"/>
            <a:ext cx="1016000" cy="50800"/>
          </a:xfrm>
          <a:custGeom>
            <a:avLst/>
            <a:gdLst/>
            <a:ahLst/>
            <a:cxnLst/>
            <a:rect l="l" t="t" r="r" b="b"/>
            <a:pathLst>
              <a:path w="1016000" h="50800">
                <a:moveTo>
                  <a:pt x="0" y="0"/>
                </a:moveTo>
                <a:lnTo>
                  <a:pt x="1016000" y="0"/>
                </a:lnTo>
                <a:lnTo>
                  <a:pt x="1016000" y="50800"/>
                </a:lnTo>
                <a:lnTo>
                  <a:pt x="0" y="50800"/>
                </a:lnTo>
                <a:lnTo>
                  <a:pt x="0" y="0"/>
                </a:lnTo>
                <a:close/>
              </a:path>
            </a:pathLst>
          </a:custGeom>
          <a:solidFill>
            <a:srgbClr val="A67B5C"/>
          </a:solidFill>
          <a:ln/>
        </p:spPr>
      </p:sp>
      <p:sp>
        <p:nvSpPr>
          <p:cNvPr id="6" name="Shape 4"/>
          <p:cNvSpPr/>
          <p:nvPr/>
        </p:nvSpPr>
        <p:spPr>
          <a:xfrm>
            <a:off x="508000" y="1320800"/>
            <a:ext cx="15240000" cy="5575300"/>
          </a:xfrm>
          <a:custGeom>
            <a:avLst/>
            <a:gdLst/>
            <a:ahLst/>
            <a:cxnLst/>
            <a:rect l="l" t="t" r="r" b="b"/>
            <a:pathLst>
              <a:path w="15240000" h="5575300">
                <a:moveTo>
                  <a:pt x="101582" y="0"/>
                </a:moveTo>
                <a:lnTo>
                  <a:pt x="15138418" y="0"/>
                </a:lnTo>
                <a:cubicBezTo>
                  <a:pt x="15194520" y="0"/>
                  <a:pt x="15240000" y="45480"/>
                  <a:pt x="15240000" y="101582"/>
                </a:cubicBezTo>
                <a:lnTo>
                  <a:pt x="15240000" y="5473718"/>
                </a:lnTo>
                <a:cubicBezTo>
                  <a:pt x="15240000" y="5529820"/>
                  <a:pt x="15194520" y="5575300"/>
                  <a:pt x="15138418" y="5575300"/>
                </a:cubicBezTo>
                <a:lnTo>
                  <a:pt x="101582" y="5575300"/>
                </a:lnTo>
                <a:cubicBezTo>
                  <a:pt x="45480" y="5575300"/>
                  <a:pt x="0" y="5529820"/>
                  <a:pt x="0" y="5473718"/>
                </a:cubicBezTo>
                <a:lnTo>
                  <a:pt x="0" y="101582"/>
                </a:lnTo>
                <a:cubicBezTo>
                  <a:pt x="0" y="45517"/>
                  <a:pt x="45517" y="0"/>
                  <a:pt x="101582" y="0"/>
                </a:cubicBezTo>
                <a:close/>
              </a:path>
            </a:pathLst>
          </a:custGeom>
          <a:solidFill>
            <a:srgbClr val="FFFFFF"/>
          </a:solidFill>
          <a:ln/>
          <a:effectLst>
            <a:outerShdw sx="100000" sy="100000" kx="0" ky="0" algn="bl" rotWithShape="0" blurRad="190500" dist="127000" dir="5400000">
              <a:srgbClr val="000000">
                <a:alpha val="10196"/>
              </a:srgbClr>
            </a:outerShdw>
          </a:effectLst>
        </p:spPr>
      </p:sp>
      <p:sp>
        <p:nvSpPr>
          <p:cNvPr id="7" name="Text 5"/>
          <p:cNvSpPr/>
          <p:nvPr/>
        </p:nvSpPr>
        <p:spPr>
          <a:xfrm>
            <a:off x="711200" y="1524000"/>
            <a:ext cx="14960600" cy="355600"/>
          </a:xfrm>
          <a:prstGeom prst="rect">
            <a:avLst/>
          </a:prstGeom>
          <a:noFill/>
          <a:ln/>
        </p:spPr>
        <p:txBody>
          <a:bodyPr wrap="square" lIns="0" tIns="0" rIns="0" bIns="0" rtlCol="0" anchor="ctr"/>
          <a:lstStyle/>
          <a:p>
            <a:pPr>
              <a:lnSpc>
                <a:spcPct val="120000"/>
              </a:lnSpc>
            </a:pPr>
            <a:r>
              <a:rPr lang="en-US" sz="2000" b="1" dirty="0">
                <a:solidFill>
                  <a:srgbClr val="495057"/>
                </a:solidFill>
                <a:latin typeface="Noto Sans SC" pitchFamily="34" charset="0"/>
                <a:ea typeface="Noto Sans SC" pitchFamily="34" charset="-122"/>
                <a:cs typeface="Noto Sans SC" pitchFamily="34" charset="-120"/>
              </a:rPr>
              <a:t>不同方法在MVSA数据集上的性能对比</a:t>
            </a:r>
            <a:endParaRPr lang="en-US" sz="16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711200" y="2032000"/>
          <a:ext cx="14833600" cy="4267200"/>
        </p:xfrm>
        <a:graphic>
          <a:graphicData uri="http://schemas.openxmlformats.org/drawingml/2006/table">
            <a:tbl>
              <a:tblPr/>
              <a:tblGrid>
                <a:gridCol w="5245100"/>
                <a:gridCol w="1752600"/>
                <a:gridCol w="4051300"/>
                <a:gridCol w="3784600"/>
              </a:tblGrid>
              <a:tr h="387927">
                <a:tc>
                  <a:txBody>
                    <a:bodyPr/>
                    <a:lstStyle/>
                    <a:p>
                      <a:pPr algn="l"/>
                      <a:r>
                        <a:rPr lang="en-US" sz="1400" b="1" u="none" dirty="0">
                          <a:solidFill>
                            <a:srgbClr val="FFFFFF"/>
                          </a:solidFill>
                          <a:latin typeface="微软雅黑" pitchFamily="34" charset="0"/>
                          <a:ea typeface="微软雅黑" pitchFamily="34" charset="-122"/>
                          <a:cs typeface="微软雅黑" pitchFamily="34" charset="-120"/>
                        </a:rPr>
                        <a:t>方法</a:t>
                      </a:r>
                      <a:endParaRPr lang="en-US" sz="1400" dirty="0">
                        <a:latin typeface="微软雅黑" charset="0"/>
                        <a:ea typeface="微软雅黑" charset="0"/>
                        <a:cs typeface="微软雅黑"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495057"/>
                    </a:solidFill>
                  </a:tcPr>
                </a:tc>
                <a:tc>
                  <a:txBody>
                    <a:bodyPr/>
                    <a:lstStyle/>
                    <a:p>
                      <a:pPr algn="ctr"/>
                      <a:r>
                        <a:rPr lang="en-US" sz="1400" b="1" u="none" dirty="0">
                          <a:solidFill>
                            <a:srgbClr val="FFFFFF"/>
                          </a:solidFill>
                          <a:latin typeface="微软雅黑" pitchFamily="34" charset="0"/>
                          <a:ea typeface="微软雅黑" pitchFamily="34" charset="-122"/>
                          <a:cs typeface="微软雅黑" pitchFamily="34" charset="-120"/>
                        </a:rPr>
                        <a:t>模态</a:t>
                      </a:r>
                      <a:endParaRPr lang="en-US" sz="1400" dirty="0">
                        <a:latin typeface="微软雅黑" charset="0"/>
                        <a:ea typeface="微软雅黑" charset="0"/>
                        <a:cs typeface="微软雅黑"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495057"/>
                    </a:solidFill>
                  </a:tcPr>
                </a:tc>
                <a:tc gridSpan="2">
                  <a:txBody>
                    <a:bodyPr/>
                    <a:lstStyle/>
                    <a:p>
                      <a:pPr algn="ctr"/>
                      <a:r>
                        <a:rPr lang="en-US" sz="1400" b="1" u="none" dirty="0">
                          <a:solidFill>
                            <a:srgbClr val="FFFFFF"/>
                          </a:solidFill>
                          <a:latin typeface="微软雅黑" pitchFamily="34" charset="0"/>
                          <a:ea typeface="微软雅黑" pitchFamily="34" charset="-122"/>
                          <a:cs typeface="微软雅黑" pitchFamily="34" charset="-120"/>
                        </a:rPr>
                        <a:t>MVSA-Single</a:t>
                      </a:r>
                      <a:endParaRPr lang="en-US" sz="1400" dirty="0">
                        <a:latin typeface="微软雅黑" charset="0"/>
                        <a:ea typeface="微软雅黑" charset="0"/>
                        <a:cs typeface="微软雅黑"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495057"/>
                    </a:solidFill>
                  </a:tcPr>
                </a:tc>
                <a:tc hMerge="1">
                  <a:tcPr/>
                </a:tc>
              </a:tr>
              <a:tr h="387927">
                <a:tc>
                  <a:txBody>
                    <a:bodyPr/>
                    <a:lstStyle/>
                    <a:p>
                      <a:pPr algn="l"/>
                      <a:endParaRPr lang="en-US" sz="1400" dirty="0">
                        <a:latin typeface="微软雅黑" charset="0"/>
                        <a:ea typeface="微软雅黑" charset="0"/>
                        <a:cs typeface="微软雅黑"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ADB5BD"/>
                    </a:solidFill>
                  </a:tcPr>
                </a:tc>
                <a:tc>
                  <a:txBody>
                    <a:bodyPr/>
                    <a:lstStyle/>
                    <a:p>
                      <a:pPr algn="ctr"/>
                      <a:endParaRPr lang="en-US" sz="1400" dirty="0">
                        <a:latin typeface="微软雅黑" charset="0"/>
                        <a:ea typeface="微软雅黑" charset="0"/>
                        <a:cs typeface="微软雅黑"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ADB5BD"/>
                    </a:solidFill>
                  </a:tcPr>
                </a:tc>
                <a:tc>
                  <a:txBody>
                    <a:bodyPr/>
                    <a:lstStyle/>
                    <a:p>
                      <a:pPr algn="ctr"/>
                      <a:r>
                        <a:rPr lang="en-US" sz="1400" b="1" u="none" dirty="0">
                          <a:solidFill>
                            <a:srgbClr val="495057"/>
                          </a:solidFill>
                          <a:latin typeface="微软雅黑" pitchFamily="34" charset="0"/>
                          <a:ea typeface="微软雅黑" pitchFamily="34" charset="-122"/>
                          <a:cs typeface="微软雅黑" pitchFamily="34" charset="-120"/>
                        </a:rPr>
                        <a:t>Acc(%)</a:t>
                      </a:r>
                      <a:endParaRPr lang="en-US" sz="1400" dirty="0">
                        <a:latin typeface="微软雅黑" charset="0"/>
                        <a:ea typeface="微软雅黑" charset="0"/>
                        <a:cs typeface="微软雅黑"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ADB5BD"/>
                    </a:solidFill>
                  </a:tcPr>
                </a:tc>
                <a:tc>
                  <a:txBody>
                    <a:bodyPr/>
                    <a:lstStyle/>
                    <a:p>
                      <a:pPr algn="ctr"/>
                      <a:r>
                        <a:rPr lang="en-US" sz="1400" b="1" u="none" dirty="0">
                          <a:solidFill>
                            <a:srgbClr val="495057"/>
                          </a:solidFill>
                          <a:latin typeface="微软雅黑" pitchFamily="34" charset="0"/>
                          <a:ea typeface="微软雅黑" pitchFamily="34" charset="-122"/>
                          <a:cs typeface="微软雅黑" pitchFamily="34" charset="-120"/>
                        </a:rPr>
                        <a:t>F1(%)</a:t>
                      </a:r>
                      <a:endParaRPr lang="en-US" sz="1400" dirty="0">
                        <a:latin typeface="微软雅黑" charset="0"/>
                        <a:ea typeface="微软雅黑" charset="0"/>
                        <a:cs typeface="微软雅黑"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ADB5BD"/>
                    </a:solidFill>
                  </a:tcPr>
                </a:tc>
              </a:tr>
              <a:tr h="387927">
                <a:tc>
                  <a:txBody>
                    <a:bodyPr/>
                    <a:lstStyle/>
                    <a:p>
                      <a:r>
                        <a:rPr lang="en-US" sz="1400" b="1" u="none" dirty="0">
                          <a:solidFill>
                            <a:srgbClr val="212529"/>
                          </a:solidFill>
                          <a:latin typeface="微软雅黑" pitchFamily="34" charset="0"/>
                          <a:ea typeface="微软雅黑" pitchFamily="34" charset="-122"/>
                          <a:cs typeface="微软雅黑" pitchFamily="34" charset="-120"/>
                        </a:rPr>
                        <a:t>SentiBank</a:t>
                      </a:r>
                      <a:endParaRPr lang="en-US" sz="1400" dirty="0">
                        <a:latin typeface="微软雅黑" charset="0"/>
                        <a:ea typeface="微软雅黑" charset="0"/>
                        <a:cs typeface="微软雅黑"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ctr"/>
                      <a:r>
                        <a:rPr lang="en-US" sz="1400" u="none" dirty="0">
                          <a:solidFill>
                            <a:srgbClr val="212529"/>
                          </a:solidFill>
                          <a:latin typeface="微软雅黑" pitchFamily="34" charset="0"/>
                          <a:ea typeface="微软雅黑" pitchFamily="34" charset="-122"/>
                          <a:cs typeface="微软雅黑" pitchFamily="34" charset="-120"/>
                        </a:rPr>
                        <a:t>图像</a:t>
                      </a:r>
                      <a:endParaRPr lang="en-US" sz="1400" dirty="0">
                        <a:latin typeface="微软雅黑" charset="0"/>
                        <a:ea typeface="微软雅黑" charset="0"/>
                        <a:cs typeface="微软雅黑"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ctr"/>
                      <a:r>
                        <a:rPr lang="en-US" sz="1400" u="none" dirty="0">
                          <a:solidFill>
                            <a:srgbClr val="212529"/>
                          </a:solidFill>
                          <a:latin typeface="微软雅黑" pitchFamily="34" charset="0"/>
                          <a:ea typeface="微软雅黑" pitchFamily="34" charset="-122"/>
                          <a:cs typeface="微软雅黑" pitchFamily="34" charset="-120"/>
                        </a:rPr>
                        <a:t>45.22</a:t>
                      </a:r>
                      <a:endParaRPr lang="en-US" sz="1400" dirty="0">
                        <a:latin typeface="微软雅黑" charset="0"/>
                        <a:ea typeface="微软雅黑" charset="0"/>
                        <a:cs typeface="微软雅黑"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ctr"/>
                      <a:r>
                        <a:rPr lang="en-US" sz="1400" u="none" dirty="0">
                          <a:solidFill>
                            <a:srgbClr val="212529"/>
                          </a:solidFill>
                          <a:latin typeface="微软雅黑" pitchFamily="34" charset="0"/>
                          <a:ea typeface="微软雅黑" pitchFamily="34" charset="-122"/>
                          <a:cs typeface="微软雅黑" pitchFamily="34" charset="-120"/>
                        </a:rPr>
                        <a:t>43.80</a:t>
                      </a:r>
                      <a:endParaRPr lang="en-US" sz="1400" dirty="0">
                        <a:latin typeface="微软雅黑" charset="0"/>
                        <a:ea typeface="微软雅黑" charset="0"/>
                        <a:cs typeface="微软雅黑"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alpha val="0"/>
                      </a:srgbClr>
                    </a:solidFill>
                  </a:tcPr>
                </a:tc>
              </a:tr>
              <a:tr h="387927">
                <a:tc>
                  <a:txBody>
                    <a:bodyPr/>
                    <a:lstStyle/>
                    <a:p>
                      <a:r>
                        <a:rPr lang="en-US" sz="1400" b="1" u="none" dirty="0">
                          <a:solidFill>
                            <a:srgbClr val="212529"/>
                          </a:solidFill>
                          <a:latin typeface="微软雅黑" pitchFamily="34" charset="0"/>
                          <a:ea typeface="微软雅黑" pitchFamily="34" charset="-122"/>
                          <a:cs typeface="微软雅黑" pitchFamily="34" charset="-120"/>
                        </a:rPr>
                        <a:t>Object</a:t>
                      </a:r>
                      <a:endParaRPr lang="en-US" sz="1400" dirty="0">
                        <a:latin typeface="微软雅黑" charset="0"/>
                        <a:ea typeface="微软雅黑" charset="0"/>
                        <a:cs typeface="微软雅黑"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A67B5C">
                        <a:alpha val="5000"/>
                      </a:srgbClr>
                    </a:solidFill>
                  </a:tcPr>
                </a:tc>
                <a:tc>
                  <a:txBody>
                    <a:bodyPr/>
                    <a:lstStyle/>
                    <a:p>
                      <a:pPr algn="ctr"/>
                      <a:r>
                        <a:rPr lang="en-US" sz="1400" u="none" dirty="0">
                          <a:solidFill>
                            <a:srgbClr val="212529"/>
                          </a:solidFill>
                          <a:latin typeface="微软雅黑" pitchFamily="34" charset="0"/>
                          <a:ea typeface="微软雅黑" pitchFamily="34" charset="-122"/>
                          <a:cs typeface="微软雅黑" pitchFamily="34" charset="-120"/>
                        </a:rPr>
                        <a:t>图像</a:t>
                      </a:r>
                      <a:endParaRPr lang="en-US" sz="1400" dirty="0">
                        <a:latin typeface="微软雅黑" charset="0"/>
                        <a:ea typeface="微软雅黑" charset="0"/>
                        <a:cs typeface="微软雅黑"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A67B5C">
                        <a:alpha val="5000"/>
                      </a:srgbClr>
                    </a:solidFill>
                  </a:tcPr>
                </a:tc>
                <a:tc>
                  <a:txBody>
                    <a:bodyPr/>
                    <a:lstStyle/>
                    <a:p>
                      <a:pPr algn="ctr"/>
                      <a:r>
                        <a:rPr lang="en-US" sz="1400" b="1" u="none" dirty="0">
                          <a:solidFill>
                            <a:srgbClr val="A67B5C"/>
                          </a:solidFill>
                          <a:latin typeface="微软雅黑" pitchFamily="34" charset="0"/>
                          <a:ea typeface="微软雅黑" pitchFamily="34" charset="-122"/>
                          <a:cs typeface="微软雅黑" pitchFamily="34" charset="-120"/>
                        </a:rPr>
                        <a:t>62.08</a:t>
                      </a:r>
                      <a:endParaRPr lang="en-US" sz="1400" dirty="0">
                        <a:latin typeface="微软雅黑" charset="0"/>
                        <a:ea typeface="微软雅黑" charset="0"/>
                        <a:cs typeface="微软雅黑"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A67B5C">
                        <a:alpha val="5000"/>
                      </a:srgbClr>
                    </a:solidFill>
                  </a:tcPr>
                </a:tc>
                <a:tc>
                  <a:txBody>
                    <a:bodyPr/>
                    <a:lstStyle/>
                    <a:p>
                      <a:pPr algn="ctr"/>
                      <a:r>
                        <a:rPr lang="en-US" sz="1400" b="1" u="none" dirty="0">
                          <a:solidFill>
                            <a:srgbClr val="A67B5C"/>
                          </a:solidFill>
                          <a:latin typeface="微软雅黑" pitchFamily="34" charset="0"/>
                          <a:ea typeface="微软雅黑" pitchFamily="34" charset="-122"/>
                          <a:cs typeface="微软雅黑" pitchFamily="34" charset="-120"/>
                        </a:rPr>
                        <a:t>56.45</a:t>
                      </a:r>
                      <a:endParaRPr lang="en-US" sz="1400" dirty="0">
                        <a:latin typeface="微软雅黑" charset="0"/>
                        <a:ea typeface="微软雅黑" charset="0"/>
                        <a:cs typeface="微软雅黑"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A67B5C">
                        <a:alpha val="5000"/>
                      </a:srgbClr>
                    </a:solidFill>
                  </a:tcPr>
                </a:tc>
              </a:tr>
              <a:tr h="387927">
                <a:tc>
                  <a:txBody>
                    <a:bodyPr/>
                    <a:lstStyle/>
                    <a:p>
                      <a:r>
                        <a:rPr lang="en-US" sz="1400" b="1" u="none" dirty="0">
                          <a:solidFill>
                            <a:srgbClr val="212529"/>
                          </a:solidFill>
                          <a:latin typeface="微软雅黑" pitchFamily="34" charset="0"/>
                          <a:ea typeface="微软雅黑" pitchFamily="34" charset="-122"/>
                          <a:cs typeface="微软雅黑" pitchFamily="34" charset="-120"/>
                        </a:rPr>
                        <a:t>Scene</a:t>
                      </a:r>
                      <a:endParaRPr lang="en-US" sz="1400" dirty="0">
                        <a:latin typeface="微软雅黑" charset="0"/>
                        <a:ea typeface="微软雅黑" charset="0"/>
                        <a:cs typeface="微软雅黑"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ctr"/>
                      <a:r>
                        <a:rPr lang="en-US" sz="1400" u="none" dirty="0">
                          <a:solidFill>
                            <a:srgbClr val="212529"/>
                          </a:solidFill>
                          <a:latin typeface="微软雅黑" pitchFamily="34" charset="0"/>
                          <a:ea typeface="微软雅黑" pitchFamily="34" charset="-122"/>
                          <a:cs typeface="微软雅黑" pitchFamily="34" charset="-120"/>
                        </a:rPr>
                        <a:t>图像</a:t>
                      </a:r>
                      <a:endParaRPr lang="en-US" sz="1400" dirty="0">
                        <a:latin typeface="微软雅黑" charset="0"/>
                        <a:ea typeface="微软雅黑" charset="0"/>
                        <a:cs typeface="微软雅黑"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ctr"/>
                      <a:r>
                        <a:rPr lang="en-US" sz="1400" b="1" u="none" dirty="0">
                          <a:solidFill>
                            <a:srgbClr val="A67B5C"/>
                          </a:solidFill>
                          <a:latin typeface="微软雅黑" pitchFamily="34" charset="0"/>
                          <a:ea typeface="微软雅黑" pitchFamily="34" charset="-122"/>
                          <a:cs typeface="微软雅黑" pitchFamily="34" charset="-120"/>
                        </a:rPr>
                        <a:t>63.64</a:t>
                      </a:r>
                      <a:endParaRPr lang="en-US" sz="1400" dirty="0">
                        <a:latin typeface="微软雅黑" charset="0"/>
                        <a:ea typeface="微软雅黑" charset="0"/>
                        <a:cs typeface="微软雅黑"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ctr"/>
                      <a:r>
                        <a:rPr lang="en-US" sz="1400" b="1" u="none" dirty="0">
                          <a:solidFill>
                            <a:srgbClr val="A67B5C"/>
                          </a:solidFill>
                          <a:latin typeface="微软雅黑" pitchFamily="34" charset="0"/>
                          <a:ea typeface="微软雅黑" pitchFamily="34" charset="-122"/>
                          <a:cs typeface="微软雅黑" pitchFamily="34" charset="-120"/>
                        </a:rPr>
                        <a:t>60.40</a:t>
                      </a:r>
                      <a:endParaRPr lang="en-US" sz="1400" dirty="0">
                        <a:latin typeface="微软雅黑" charset="0"/>
                        <a:ea typeface="微软雅黑" charset="0"/>
                        <a:cs typeface="微软雅黑"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alpha val="0"/>
                      </a:srgbClr>
                    </a:solidFill>
                  </a:tcPr>
                </a:tc>
              </a:tr>
              <a:tr h="387927">
                <a:tc>
                  <a:txBody>
                    <a:bodyPr/>
                    <a:lstStyle/>
                    <a:p>
                      <a:r>
                        <a:rPr lang="en-US" sz="1400" b="1" u="none" dirty="0">
                          <a:solidFill>
                            <a:srgbClr val="212529"/>
                          </a:solidFill>
                          <a:latin typeface="微软雅黑" pitchFamily="34" charset="0"/>
                          <a:ea typeface="微软雅黑" pitchFamily="34" charset="-122"/>
                          <a:cs typeface="微软雅黑" pitchFamily="34" charset="-120"/>
                        </a:rPr>
                        <a:t>Scene+Object</a:t>
                      </a:r>
                      <a:endParaRPr lang="en-US" sz="1400" dirty="0">
                        <a:latin typeface="微软雅黑" charset="0"/>
                        <a:ea typeface="微软雅黑" charset="0"/>
                        <a:cs typeface="微软雅黑"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ADB5BD">
                        <a:alpha val="10000"/>
                      </a:srgbClr>
                    </a:solidFill>
                  </a:tcPr>
                </a:tc>
                <a:tc>
                  <a:txBody>
                    <a:bodyPr/>
                    <a:lstStyle/>
                    <a:p>
                      <a:pPr algn="ctr"/>
                      <a:r>
                        <a:rPr lang="en-US" sz="1400" u="none" dirty="0">
                          <a:solidFill>
                            <a:srgbClr val="212529"/>
                          </a:solidFill>
                          <a:latin typeface="微软雅黑" pitchFamily="34" charset="0"/>
                          <a:ea typeface="微软雅黑" pitchFamily="34" charset="-122"/>
                          <a:cs typeface="微软雅黑" pitchFamily="34" charset="-120"/>
                        </a:rPr>
                        <a:t>图像</a:t>
                      </a:r>
                      <a:endParaRPr lang="en-US" sz="1400" dirty="0">
                        <a:latin typeface="微软雅黑" charset="0"/>
                        <a:ea typeface="微软雅黑" charset="0"/>
                        <a:cs typeface="微软雅黑"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ADB5BD">
                        <a:alpha val="10000"/>
                      </a:srgbClr>
                    </a:solidFill>
                  </a:tcPr>
                </a:tc>
                <a:tc>
                  <a:txBody>
                    <a:bodyPr/>
                    <a:lstStyle/>
                    <a:p>
                      <a:pPr algn="ctr"/>
                      <a:r>
                        <a:rPr lang="en-US" sz="1400" b="1" u="none" dirty="0">
                          <a:solidFill>
                            <a:srgbClr val="495057"/>
                          </a:solidFill>
                          <a:latin typeface="微软雅黑" pitchFamily="34" charset="0"/>
                          <a:ea typeface="微软雅黑" pitchFamily="34" charset="-122"/>
                          <a:cs typeface="微软雅黑" pitchFamily="34" charset="-120"/>
                        </a:rPr>
                        <a:t>64.08</a:t>
                      </a:r>
                      <a:endParaRPr lang="en-US" sz="1400" dirty="0">
                        <a:latin typeface="微软雅黑" charset="0"/>
                        <a:ea typeface="微软雅黑" charset="0"/>
                        <a:cs typeface="微软雅黑"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ADB5BD">
                        <a:alpha val="10000"/>
                      </a:srgbClr>
                    </a:solidFill>
                  </a:tcPr>
                </a:tc>
                <a:tc>
                  <a:txBody>
                    <a:bodyPr/>
                    <a:lstStyle/>
                    <a:p>
                      <a:pPr algn="ctr"/>
                      <a:r>
                        <a:rPr lang="en-US" sz="1400" b="1" u="none" dirty="0">
                          <a:solidFill>
                            <a:srgbClr val="495057"/>
                          </a:solidFill>
                          <a:latin typeface="微软雅黑" pitchFamily="34" charset="0"/>
                          <a:ea typeface="微软雅黑" pitchFamily="34" charset="-122"/>
                          <a:cs typeface="微软雅黑" pitchFamily="34" charset="-120"/>
                        </a:rPr>
                        <a:t>62.33</a:t>
                      </a:r>
                      <a:endParaRPr lang="en-US" sz="1400" dirty="0">
                        <a:latin typeface="微软雅黑" charset="0"/>
                        <a:ea typeface="微软雅黑" charset="0"/>
                        <a:cs typeface="微软雅黑"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ADB5BD">
                        <a:alpha val="10000"/>
                      </a:srgbClr>
                    </a:solidFill>
                  </a:tcPr>
                </a:tc>
              </a:tr>
              <a:tr h="387927">
                <a:tc>
                  <a:txBody>
                    <a:bodyPr/>
                    <a:lstStyle/>
                    <a:p>
                      <a:r>
                        <a:rPr lang="en-US" sz="1400" b="1" u="none" dirty="0">
                          <a:solidFill>
                            <a:srgbClr val="212529"/>
                          </a:solidFill>
                          <a:latin typeface="微软雅黑" pitchFamily="34" charset="0"/>
                          <a:ea typeface="微软雅黑" pitchFamily="34" charset="-122"/>
                          <a:cs typeface="微软雅黑" pitchFamily="34" charset="-120"/>
                        </a:rPr>
                        <a:t>SentiStrength</a:t>
                      </a:r>
                      <a:endParaRPr lang="en-US" sz="1400" dirty="0">
                        <a:latin typeface="微软雅黑" charset="0"/>
                        <a:ea typeface="微软雅黑" charset="0"/>
                        <a:cs typeface="微软雅黑"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ctr"/>
                      <a:r>
                        <a:rPr lang="en-US" sz="1400" u="none" dirty="0">
                          <a:solidFill>
                            <a:srgbClr val="212529"/>
                          </a:solidFill>
                          <a:latin typeface="微软雅黑" pitchFamily="34" charset="0"/>
                          <a:ea typeface="微软雅黑" pitchFamily="34" charset="-122"/>
                          <a:cs typeface="微软雅黑" pitchFamily="34" charset="-120"/>
                        </a:rPr>
                        <a:t>文本</a:t>
                      </a:r>
                      <a:endParaRPr lang="en-US" sz="1400" dirty="0">
                        <a:latin typeface="微软雅黑" charset="0"/>
                        <a:ea typeface="微软雅黑" charset="0"/>
                        <a:cs typeface="微软雅黑"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ctr"/>
                      <a:r>
                        <a:rPr lang="en-US" sz="1400" u="none" dirty="0">
                          <a:solidFill>
                            <a:srgbClr val="212529"/>
                          </a:solidFill>
                          <a:latin typeface="微软雅黑" pitchFamily="34" charset="0"/>
                          <a:ea typeface="微软雅黑" pitchFamily="34" charset="-122"/>
                          <a:cs typeface="微软雅黑" pitchFamily="34" charset="-120"/>
                        </a:rPr>
                        <a:t>49.86</a:t>
                      </a:r>
                      <a:endParaRPr lang="en-US" sz="1400" dirty="0">
                        <a:latin typeface="微软雅黑" charset="0"/>
                        <a:ea typeface="微软雅黑" charset="0"/>
                        <a:cs typeface="微软雅黑"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ctr"/>
                      <a:r>
                        <a:rPr lang="en-US" sz="1400" u="none" dirty="0">
                          <a:solidFill>
                            <a:srgbClr val="212529"/>
                          </a:solidFill>
                          <a:latin typeface="微软雅黑" pitchFamily="34" charset="0"/>
                          <a:ea typeface="微软雅黑" pitchFamily="34" charset="-122"/>
                          <a:cs typeface="微软雅黑" pitchFamily="34" charset="-120"/>
                        </a:rPr>
                        <a:t>48.45</a:t>
                      </a:r>
                      <a:endParaRPr lang="en-US" sz="1400" dirty="0">
                        <a:latin typeface="微软雅黑" charset="0"/>
                        <a:ea typeface="微软雅黑" charset="0"/>
                        <a:cs typeface="微软雅黑"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alpha val="0"/>
                      </a:srgbClr>
                    </a:solidFill>
                  </a:tcPr>
                </a:tc>
              </a:tr>
              <a:tr h="387927">
                <a:tc>
                  <a:txBody>
                    <a:bodyPr/>
                    <a:lstStyle/>
                    <a:p>
                      <a:r>
                        <a:rPr lang="en-US" sz="1400" b="1" u="none" dirty="0">
                          <a:solidFill>
                            <a:srgbClr val="212529"/>
                          </a:solidFill>
                          <a:latin typeface="微软雅黑" pitchFamily="34" charset="0"/>
                          <a:ea typeface="微软雅黑" pitchFamily="34" charset="-122"/>
                          <a:cs typeface="微软雅黑" pitchFamily="34" charset="-120"/>
                        </a:rPr>
                        <a:t>LSTM-Avg</a:t>
                      </a:r>
                      <a:endParaRPr lang="en-US" sz="1400" dirty="0">
                        <a:latin typeface="微软雅黑" charset="0"/>
                        <a:ea typeface="微软雅黑" charset="0"/>
                        <a:cs typeface="微软雅黑"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ctr"/>
                      <a:r>
                        <a:rPr lang="en-US" sz="1400" u="none" dirty="0">
                          <a:solidFill>
                            <a:srgbClr val="212529"/>
                          </a:solidFill>
                          <a:latin typeface="微软雅黑" pitchFamily="34" charset="0"/>
                          <a:ea typeface="微软雅黑" pitchFamily="34" charset="-122"/>
                          <a:cs typeface="微软雅黑" pitchFamily="34" charset="-120"/>
                        </a:rPr>
                        <a:t>文本</a:t>
                      </a:r>
                      <a:endParaRPr lang="en-US" sz="1400" dirty="0">
                        <a:latin typeface="微软雅黑" charset="0"/>
                        <a:ea typeface="微软雅黑" charset="0"/>
                        <a:cs typeface="微软雅黑"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ctr"/>
                      <a:r>
                        <a:rPr lang="en-US" sz="1400" u="none" dirty="0">
                          <a:solidFill>
                            <a:srgbClr val="212529"/>
                          </a:solidFill>
                          <a:latin typeface="微软雅黑" pitchFamily="34" charset="0"/>
                          <a:ea typeface="微软雅黑" pitchFamily="34" charset="-122"/>
                          <a:cs typeface="微软雅黑" pitchFamily="34" charset="-120"/>
                        </a:rPr>
                        <a:t>65.85</a:t>
                      </a:r>
                      <a:endParaRPr lang="en-US" sz="1400" dirty="0">
                        <a:latin typeface="微软雅黑" charset="0"/>
                        <a:ea typeface="微软雅黑" charset="0"/>
                        <a:cs typeface="微软雅黑"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ctr"/>
                      <a:r>
                        <a:rPr lang="en-US" sz="1400" u="none" dirty="0">
                          <a:solidFill>
                            <a:srgbClr val="212529"/>
                          </a:solidFill>
                          <a:latin typeface="微软雅黑" pitchFamily="34" charset="0"/>
                          <a:ea typeface="微软雅黑" pitchFamily="34" charset="-122"/>
                          <a:cs typeface="微软雅黑" pitchFamily="34" charset="-120"/>
                        </a:rPr>
                        <a:t>64.11</a:t>
                      </a:r>
                      <a:endParaRPr lang="en-US" sz="1400" dirty="0">
                        <a:latin typeface="微软雅黑" charset="0"/>
                        <a:ea typeface="微软雅黑" charset="0"/>
                        <a:cs typeface="微软雅黑"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alpha val="0"/>
                      </a:srgbClr>
                    </a:solidFill>
                  </a:tcPr>
                </a:tc>
              </a:tr>
              <a:tr h="387927">
                <a:tc>
                  <a:txBody>
                    <a:bodyPr/>
                    <a:lstStyle/>
                    <a:p>
                      <a:r>
                        <a:rPr lang="en-US" sz="1400" b="1" u="none" dirty="0">
                          <a:solidFill>
                            <a:srgbClr val="212529"/>
                          </a:solidFill>
                          <a:latin typeface="微软雅黑" pitchFamily="34" charset="0"/>
                          <a:ea typeface="微软雅黑" pitchFamily="34" charset="-122"/>
                          <a:cs typeface="微软雅黑" pitchFamily="34" charset="-120"/>
                        </a:rPr>
                        <a:t>CNN-Multi</a:t>
                      </a:r>
                      <a:endParaRPr lang="en-US" sz="1400" dirty="0">
                        <a:latin typeface="微软雅黑" charset="0"/>
                        <a:ea typeface="微软雅黑" charset="0"/>
                        <a:cs typeface="微软雅黑"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495057">
                        <a:alpha val="5000"/>
                      </a:srgbClr>
                    </a:solidFill>
                  </a:tcPr>
                </a:tc>
                <a:tc>
                  <a:txBody>
                    <a:bodyPr/>
                    <a:lstStyle/>
                    <a:p>
                      <a:pPr algn="ctr"/>
                      <a:r>
                        <a:rPr lang="en-US" sz="1400" u="none" dirty="0">
                          <a:solidFill>
                            <a:srgbClr val="212529"/>
                          </a:solidFill>
                          <a:latin typeface="微软雅黑" pitchFamily="34" charset="0"/>
                          <a:ea typeface="微软雅黑" pitchFamily="34" charset="-122"/>
                          <a:cs typeface="微软雅黑" pitchFamily="34" charset="-120"/>
                        </a:rPr>
                        <a:t>多模态</a:t>
                      </a:r>
                      <a:endParaRPr lang="en-US" sz="1400" dirty="0">
                        <a:latin typeface="微软雅黑" charset="0"/>
                        <a:ea typeface="微软雅黑" charset="0"/>
                        <a:cs typeface="微软雅黑"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495057">
                        <a:alpha val="5000"/>
                      </a:srgbClr>
                    </a:solidFill>
                  </a:tcPr>
                </a:tc>
                <a:tc>
                  <a:txBody>
                    <a:bodyPr/>
                    <a:lstStyle/>
                    <a:p>
                      <a:pPr algn="ctr"/>
                      <a:r>
                        <a:rPr lang="en-US" sz="1400" u="none" dirty="0">
                          <a:solidFill>
                            <a:srgbClr val="212529"/>
                          </a:solidFill>
                          <a:latin typeface="微软雅黑" pitchFamily="34" charset="0"/>
                          <a:ea typeface="微软雅黑" pitchFamily="34" charset="-122"/>
                          <a:cs typeface="微软雅黑" pitchFamily="34" charset="-120"/>
                        </a:rPr>
                        <a:t>61.20</a:t>
                      </a:r>
                      <a:endParaRPr lang="en-US" sz="1400" dirty="0">
                        <a:latin typeface="微软雅黑" charset="0"/>
                        <a:ea typeface="微软雅黑" charset="0"/>
                        <a:cs typeface="微软雅黑"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495057">
                        <a:alpha val="5000"/>
                      </a:srgbClr>
                    </a:solidFill>
                  </a:tcPr>
                </a:tc>
                <a:tc>
                  <a:txBody>
                    <a:bodyPr/>
                    <a:lstStyle/>
                    <a:p>
                      <a:pPr algn="ctr"/>
                      <a:r>
                        <a:rPr lang="en-US" sz="1400" u="none" dirty="0">
                          <a:solidFill>
                            <a:srgbClr val="212529"/>
                          </a:solidFill>
                          <a:latin typeface="微软雅黑" pitchFamily="34" charset="0"/>
                          <a:ea typeface="微软雅黑" pitchFamily="34" charset="-122"/>
                          <a:cs typeface="微软雅黑" pitchFamily="34" charset="-120"/>
                        </a:rPr>
                        <a:t>58.37</a:t>
                      </a:r>
                      <a:endParaRPr lang="en-US" sz="1400" dirty="0">
                        <a:latin typeface="微软雅黑" charset="0"/>
                        <a:ea typeface="微软雅黑" charset="0"/>
                        <a:cs typeface="微软雅黑"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495057">
                        <a:alpha val="5000"/>
                      </a:srgbClr>
                    </a:solidFill>
                  </a:tcPr>
                </a:tc>
              </a:tr>
              <a:tr h="387927">
                <a:tc>
                  <a:txBody>
                    <a:bodyPr/>
                    <a:lstStyle/>
                    <a:p>
                      <a:r>
                        <a:rPr lang="en-US" sz="1400" b="1" u="none" dirty="0">
                          <a:solidFill>
                            <a:srgbClr val="212529"/>
                          </a:solidFill>
                          <a:latin typeface="微软雅黑" pitchFamily="34" charset="0"/>
                          <a:ea typeface="微软雅黑" pitchFamily="34" charset="-122"/>
                          <a:cs typeface="微软雅黑" pitchFamily="34" charset="-120"/>
                        </a:rPr>
                        <a:t>DNN-LR</a:t>
                      </a:r>
                      <a:endParaRPr lang="en-US" sz="1400" dirty="0">
                        <a:latin typeface="微软雅黑" charset="0"/>
                        <a:ea typeface="微软雅黑" charset="0"/>
                        <a:cs typeface="微软雅黑"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ctr"/>
                      <a:r>
                        <a:rPr lang="en-US" sz="1400" u="none" dirty="0">
                          <a:solidFill>
                            <a:srgbClr val="212529"/>
                          </a:solidFill>
                          <a:latin typeface="微软雅黑" pitchFamily="34" charset="0"/>
                          <a:ea typeface="微软雅黑" pitchFamily="34" charset="-122"/>
                          <a:cs typeface="微软雅黑" pitchFamily="34" charset="-120"/>
                        </a:rPr>
                        <a:t>多模态</a:t>
                      </a:r>
                      <a:endParaRPr lang="en-US" sz="1400" dirty="0">
                        <a:latin typeface="微软雅黑" charset="0"/>
                        <a:ea typeface="微软雅黑" charset="0"/>
                        <a:cs typeface="微软雅黑"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ctr"/>
                      <a:r>
                        <a:rPr lang="en-US" sz="1400" u="none" dirty="0">
                          <a:solidFill>
                            <a:srgbClr val="212529"/>
                          </a:solidFill>
                          <a:latin typeface="微软雅黑" pitchFamily="34" charset="0"/>
                          <a:ea typeface="微软雅黑" pitchFamily="34" charset="-122"/>
                          <a:cs typeface="微软雅黑" pitchFamily="34" charset="-120"/>
                        </a:rPr>
                        <a:t>61.42</a:t>
                      </a:r>
                      <a:endParaRPr lang="en-US" sz="1400" dirty="0">
                        <a:latin typeface="微软雅黑" charset="0"/>
                        <a:ea typeface="微软雅黑" charset="0"/>
                        <a:cs typeface="微软雅黑"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ctr"/>
                      <a:r>
                        <a:rPr lang="en-US" sz="1400" u="none" dirty="0">
                          <a:solidFill>
                            <a:srgbClr val="212529"/>
                          </a:solidFill>
                          <a:latin typeface="微软雅黑" pitchFamily="34" charset="0"/>
                          <a:ea typeface="微软雅黑" pitchFamily="34" charset="-122"/>
                          <a:cs typeface="微软雅黑" pitchFamily="34" charset="-120"/>
                        </a:rPr>
                        <a:t>61.03</a:t>
                      </a:r>
                      <a:endParaRPr lang="en-US" sz="1400" dirty="0">
                        <a:latin typeface="微软雅黑" charset="0"/>
                        <a:ea typeface="微软雅黑" charset="0"/>
                        <a:cs typeface="微软雅黑"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alpha val="0"/>
                      </a:srgbClr>
                    </a:solidFill>
                  </a:tcPr>
                </a:tc>
              </a:tr>
              <a:tr h="387927">
                <a:tc>
                  <a:txBody>
                    <a:bodyPr/>
                    <a:lstStyle/>
                    <a:p>
                      <a:r>
                        <a:rPr lang="en-US" sz="1600" b="1" u="none" dirty="0">
                          <a:solidFill>
                            <a:srgbClr val="495057"/>
                          </a:solidFill>
                          <a:latin typeface="微软雅黑" pitchFamily="34" charset="0"/>
                          <a:ea typeface="微软雅黑" pitchFamily="34" charset="-122"/>
                          <a:cs typeface="微软雅黑" pitchFamily="34" charset="-120"/>
                        </a:rPr>
                        <a:t>MultiSentiNet-Att (复现)</a:t>
                      </a:r>
                      <a:endParaRPr lang="en-US" sz="1600" dirty="0">
                        <a:latin typeface="微软雅黑" charset="0"/>
                        <a:ea typeface="微软雅黑" charset="0"/>
                        <a:cs typeface="微软雅黑"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ctr"/>
                      <a:r>
                        <a:rPr lang="en-US" sz="1600" b="1" u="none" dirty="0">
                          <a:solidFill>
                            <a:srgbClr val="A67B5C"/>
                          </a:solidFill>
                          <a:latin typeface="微软雅黑" pitchFamily="34" charset="0"/>
                          <a:ea typeface="微软雅黑" pitchFamily="34" charset="-122"/>
                          <a:cs typeface="微软雅黑" pitchFamily="34" charset="-120"/>
                        </a:rPr>
                        <a:t>多模态</a:t>
                      </a:r>
                      <a:endParaRPr lang="en-US" sz="1600" dirty="0">
                        <a:latin typeface="微软雅黑" charset="0"/>
                        <a:ea typeface="微软雅黑" charset="0"/>
                        <a:cs typeface="微软雅黑"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ctr"/>
                      <a:r>
                        <a:rPr lang="en-US" sz="2400" b="1" u="none" dirty="0">
                          <a:solidFill>
                            <a:srgbClr val="A67B5C"/>
                          </a:solidFill>
                          <a:latin typeface="微软雅黑" pitchFamily="34" charset="0"/>
                          <a:ea typeface="微软雅黑" pitchFamily="34" charset="-122"/>
                          <a:cs typeface="微软雅黑" pitchFamily="34" charset="-120"/>
                        </a:rPr>
                        <a:t>69.84</a:t>
                      </a:r>
                      <a:endParaRPr lang="en-US" sz="2400" dirty="0">
                        <a:latin typeface="微软雅黑" charset="0"/>
                        <a:ea typeface="微软雅黑" charset="0"/>
                        <a:cs typeface="微软雅黑"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ctr"/>
                      <a:r>
                        <a:rPr lang="en-US" sz="2400" b="1" u="none" dirty="0">
                          <a:solidFill>
                            <a:srgbClr val="A67B5C"/>
                          </a:solidFill>
                          <a:latin typeface="微软雅黑" pitchFamily="34" charset="0"/>
                          <a:ea typeface="微软雅黑" pitchFamily="34" charset="-122"/>
                          <a:cs typeface="微软雅黑" pitchFamily="34" charset="-120"/>
                        </a:rPr>
                        <a:t>69.63</a:t>
                      </a:r>
                      <a:endParaRPr lang="en-US" sz="2400" dirty="0">
                        <a:latin typeface="微软雅黑" charset="0"/>
                        <a:ea typeface="微软雅黑" charset="0"/>
                        <a:cs typeface="微软雅黑"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alpha val="0"/>
                      </a:srgbClr>
                    </a:solidFill>
                  </a:tcPr>
                </a:tc>
              </a:tr>
            </a:tbl>
          </a:graphicData>
        </a:graphic>
      </p:graphicFrame>
      <p:sp>
        <p:nvSpPr>
          <p:cNvPr id="9" name="Shape 6"/>
          <p:cNvSpPr/>
          <p:nvPr/>
        </p:nvSpPr>
        <p:spPr>
          <a:xfrm>
            <a:off x="508000" y="7042150"/>
            <a:ext cx="4978400" cy="1600200"/>
          </a:xfrm>
          <a:custGeom>
            <a:avLst/>
            <a:gdLst/>
            <a:ahLst/>
            <a:cxnLst/>
            <a:rect l="l" t="t" r="r" b="b"/>
            <a:pathLst>
              <a:path w="4978400" h="1600200">
                <a:moveTo>
                  <a:pt x="101597" y="0"/>
                </a:moveTo>
                <a:lnTo>
                  <a:pt x="4876803" y="0"/>
                </a:lnTo>
                <a:cubicBezTo>
                  <a:pt x="4932914" y="0"/>
                  <a:pt x="4978400" y="45486"/>
                  <a:pt x="4978400" y="101597"/>
                </a:cubicBezTo>
                <a:lnTo>
                  <a:pt x="4978400" y="1498603"/>
                </a:lnTo>
                <a:cubicBezTo>
                  <a:pt x="4978400" y="1554714"/>
                  <a:pt x="4932914" y="1600200"/>
                  <a:pt x="4876803" y="1600200"/>
                </a:cubicBezTo>
                <a:lnTo>
                  <a:pt x="101597" y="1600200"/>
                </a:lnTo>
                <a:cubicBezTo>
                  <a:pt x="45486" y="1600200"/>
                  <a:pt x="0" y="1554714"/>
                  <a:pt x="0" y="1498603"/>
                </a:cubicBezTo>
                <a:lnTo>
                  <a:pt x="0" y="101597"/>
                </a:lnTo>
                <a:cubicBezTo>
                  <a:pt x="0" y="45524"/>
                  <a:pt x="45524" y="0"/>
                  <a:pt x="101597" y="0"/>
                </a:cubicBezTo>
                <a:close/>
              </a:path>
            </a:pathLst>
          </a:custGeom>
          <a:gradFill rotWithShape="1" flip="none">
            <a:gsLst>
              <a:gs pos="0">
                <a:srgbClr val="A67B5C"/>
              </a:gs>
              <a:gs pos="100000">
                <a:srgbClr val="A67B5C">
                  <a:alpha val="80000"/>
                </a:srgbClr>
              </a:gs>
            </a:gsLst>
            <a:lin ang="2700000" scaled="1"/>
          </a:gradFill>
          <a:ln/>
        </p:spPr>
      </p:sp>
      <p:sp>
        <p:nvSpPr>
          <p:cNvPr id="10" name="Shape 7"/>
          <p:cNvSpPr/>
          <p:nvPr/>
        </p:nvSpPr>
        <p:spPr>
          <a:xfrm>
            <a:off x="711200" y="7245350"/>
            <a:ext cx="508000" cy="508000"/>
          </a:xfrm>
          <a:custGeom>
            <a:avLst/>
            <a:gdLst/>
            <a:ahLst/>
            <a:cxnLst/>
            <a:rect l="l" t="t" r="r" b="b"/>
            <a:pathLst>
              <a:path w="508000" h="508000">
                <a:moveTo>
                  <a:pt x="254000" y="0"/>
                </a:moveTo>
                <a:lnTo>
                  <a:pt x="254000" y="0"/>
                </a:lnTo>
                <a:cubicBezTo>
                  <a:pt x="394186" y="0"/>
                  <a:pt x="508000" y="113814"/>
                  <a:pt x="508000" y="254000"/>
                </a:cubicBezTo>
                <a:lnTo>
                  <a:pt x="508000" y="254000"/>
                </a:lnTo>
                <a:cubicBezTo>
                  <a:pt x="508000" y="394186"/>
                  <a:pt x="394186" y="508000"/>
                  <a:pt x="254000" y="508000"/>
                </a:cubicBezTo>
                <a:lnTo>
                  <a:pt x="254000" y="508000"/>
                </a:lnTo>
                <a:cubicBezTo>
                  <a:pt x="113814" y="508000"/>
                  <a:pt x="0" y="394186"/>
                  <a:pt x="0" y="254000"/>
                </a:cubicBezTo>
                <a:lnTo>
                  <a:pt x="0" y="254000"/>
                </a:lnTo>
                <a:cubicBezTo>
                  <a:pt x="0" y="113814"/>
                  <a:pt x="113814" y="0"/>
                  <a:pt x="254000" y="0"/>
                </a:cubicBezTo>
                <a:close/>
              </a:path>
            </a:pathLst>
          </a:custGeom>
          <a:solidFill>
            <a:srgbClr val="FFFFFF">
              <a:alpha val="20000"/>
            </a:srgbClr>
          </a:solidFill>
          <a:ln/>
        </p:spPr>
      </p:sp>
      <p:sp>
        <p:nvSpPr>
          <p:cNvPr id="11" name="Shape 8"/>
          <p:cNvSpPr/>
          <p:nvPr/>
        </p:nvSpPr>
        <p:spPr>
          <a:xfrm>
            <a:off x="822325" y="7372350"/>
            <a:ext cx="285750" cy="254000"/>
          </a:xfrm>
          <a:custGeom>
            <a:avLst/>
            <a:gdLst/>
            <a:ahLst/>
            <a:cxnLst/>
            <a:rect l="l" t="t" r="r" b="b"/>
            <a:pathLst>
              <a:path w="285750" h="254000">
                <a:moveTo>
                  <a:pt x="142875" y="15875"/>
                </a:moveTo>
                <a:cubicBezTo>
                  <a:pt x="102791" y="15875"/>
                  <a:pt x="70693" y="34131"/>
                  <a:pt x="47327" y="55860"/>
                </a:cubicBezTo>
                <a:cubicBezTo>
                  <a:pt x="24110" y="77440"/>
                  <a:pt x="8582" y="103188"/>
                  <a:pt x="1191" y="120898"/>
                </a:cubicBezTo>
                <a:cubicBezTo>
                  <a:pt x="-446" y="124817"/>
                  <a:pt x="-446" y="129183"/>
                  <a:pt x="1191" y="133102"/>
                </a:cubicBezTo>
                <a:cubicBezTo>
                  <a:pt x="8582" y="150813"/>
                  <a:pt x="24110" y="176609"/>
                  <a:pt x="47327" y="198140"/>
                </a:cubicBezTo>
                <a:cubicBezTo>
                  <a:pt x="70693" y="219819"/>
                  <a:pt x="102791" y="238125"/>
                  <a:pt x="142875" y="238125"/>
                </a:cubicBezTo>
                <a:cubicBezTo>
                  <a:pt x="182959" y="238125"/>
                  <a:pt x="215057" y="219869"/>
                  <a:pt x="238423" y="198140"/>
                </a:cubicBezTo>
                <a:cubicBezTo>
                  <a:pt x="261640" y="176560"/>
                  <a:pt x="277168" y="150813"/>
                  <a:pt x="284559" y="133102"/>
                </a:cubicBezTo>
                <a:cubicBezTo>
                  <a:pt x="286196" y="129183"/>
                  <a:pt x="286196" y="124817"/>
                  <a:pt x="284559" y="120898"/>
                </a:cubicBezTo>
                <a:cubicBezTo>
                  <a:pt x="277168" y="103187"/>
                  <a:pt x="261640" y="77391"/>
                  <a:pt x="238423" y="55860"/>
                </a:cubicBezTo>
                <a:cubicBezTo>
                  <a:pt x="215057" y="34181"/>
                  <a:pt x="182959" y="15875"/>
                  <a:pt x="142875" y="15875"/>
                </a:cubicBezTo>
                <a:close/>
                <a:moveTo>
                  <a:pt x="71438" y="127000"/>
                </a:moveTo>
                <a:cubicBezTo>
                  <a:pt x="71438" y="87573"/>
                  <a:pt x="103448" y="55563"/>
                  <a:pt x="142875" y="55563"/>
                </a:cubicBezTo>
                <a:cubicBezTo>
                  <a:pt x="182302" y="55563"/>
                  <a:pt x="214313" y="87573"/>
                  <a:pt x="214313" y="127000"/>
                </a:cubicBezTo>
                <a:cubicBezTo>
                  <a:pt x="214313" y="166427"/>
                  <a:pt x="182302" y="198438"/>
                  <a:pt x="142875" y="198438"/>
                </a:cubicBezTo>
                <a:cubicBezTo>
                  <a:pt x="103448" y="198438"/>
                  <a:pt x="71438" y="166427"/>
                  <a:pt x="71438" y="127000"/>
                </a:cubicBezTo>
                <a:close/>
                <a:moveTo>
                  <a:pt x="142875" y="95250"/>
                </a:moveTo>
                <a:cubicBezTo>
                  <a:pt x="142875" y="112762"/>
                  <a:pt x="128637" y="127000"/>
                  <a:pt x="111125" y="127000"/>
                </a:cubicBezTo>
                <a:cubicBezTo>
                  <a:pt x="105420" y="127000"/>
                  <a:pt x="100062" y="125512"/>
                  <a:pt x="95399" y="122833"/>
                </a:cubicBezTo>
                <a:cubicBezTo>
                  <a:pt x="94903" y="128240"/>
                  <a:pt x="95349" y="133796"/>
                  <a:pt x="96838" y="139303"/>
                </a:cubicBezTo>
                <a:cubicBezTo>
                  <a:pt x="103634" y="164703"/>
                  <a:pt x="129778" y="179784"/>
                  <a:pt x="155178" y="172988"/>
                </a:cubicBezTo>
                <a:cubicBezTo>
                  <a:pt x="180578" y="166191"/>
                  <a:pt x="195659" y="140047"/>
                  <a:pt x="188863" y="114647"/>
                </a:cubicBezTo>
                <a:cubicBezTo>
                  <a:pt x="182811" y="91976"/>
                  <a:pt x="161330" y="77539"/>
                  <a:pt x="138708" y="79524"/>
                </a:cubicBezTo>
                <a:cubicBezTo>
                  <a:pt x="141337" y="84138"/>
                  <a:pt x="142875" y="89495"/>
                  <a:pt x="142875" y="95250"/>
                </a:cubicBezTo>
                <a:close/>
              </a:path>
            </a:pathLst>
          </a:custGeom>
          <a:solidFill>
            <a:srgbClr val="FFFFFF"/>
          </a:solidFill>
          <a:ln/>
        </p:spPr>
      </p:sp>
      <p:sp>
        <p:nvSpPr>
          <p:cNvPr id="12" name="Text 9"/>
          <p:cNvSpPr/>
          <p:nvPr/>
        </p:nvSpPr>
        <p:spPr>
          <a:xfrm>
            <a:off x="1371600" y="7346950"/>
            <a:ext cx="1727200" cy="304800"/>
          </a:xfrm>
          <a:prstGeom prst="rect">
            <a:avLst/>
          </a:prstGeom>
          <a:noFill/>
          <a:ln/>
        </p:spPr>
        <p:txBody>
          <a:bodyPr wrap="square" lIns="0" tIns="0" rIns="0" bIns="0" rtlCol="0" anchor="ctr"/>
          <a:lstStyle/>
          <a:p>
            <a:pPr>
              <a:lnSpc>
                <a:spcPct val="130000"/>
              </a:lnSpc>
            </a:pPr>
            <a:r>
              <a:rPr lang="en-US" sz="1600" b="1" dirty="0">
                <a:solidFill>
                  <a:srgbClr val="FFFFFF"/>
                </a:solidFill>
                <a:latin typeface="MiSans" pitchFamily="34" charset="0"/>
                <a:ea typeface="MiSans" pitchFamily="34" charset="-122"/>
                <a:cs typeface="MiSans" pitchFamily="34" charset="-120"/>
              </a:rPr>
              <a:t>视觉语义特征优势</a:t>
            </a:r>
            <a:endParaRPr lang="en-US" sz="1600" dirty="0"/>
          </a:p>
        </p:txBody>
      </p:sp>
      <p:sp>
        <p:nvSpPr>
          <p:cNvPr id="13" name="Text 10"/>
          <p:cNvSpPr/>
          <p:nvPr/>
        </p:nvSpPr>
        <p:spPr>
          <a:xfrm>
            <a:off x="711200" y="7854950"/>
            <a:ext cx="4660900" cy="584200"/>
          </a:xfrm>
          <a:prstGeom prst="rect">
            <a:avLst/>
          </a:prstGeom>
          <a:noFill/>
          <a:ln/>
        </p:spPr>
        <p:txBody>
          <a:bodyPr wrap="square" lIns="0" tIns="0" rIns="0" bIns="0" rtlCol="0" anchor="ctr"/>
          <a:lstStyle/>
          <a:p>
            <a:pPr>
              <a:lnSpc>
                <a:spcPct val="140000"/>
              </a:lnSpc>
            </a:pPr>
            <a:r>
              <a:rPr lang="en-US" sz="1400" dirty="0">
                <a:solidFill>
                  <a:srgbClr val="FFFFFF"/>
                </a:solidFill>
                <a:latin typeface="MiSans" pitchFamily="34" charset="0"/>
                <a:ea typeface="MiSans" pitchFamily="34" charset="-122"/>
                <a:cs typeface="MiSans" pitchFamily="34" charset="-120"/>
              </a:rPr>
              <a:t>Object(65.80%)和Scene(67.69%)显著优于SentiBank(55.02%)，验证深度语义特征优越性</a:t>
            </a:r>
            <a:endParaRPr lang="en-US" sz="1600" dirty="0"/>
          </a:p>
        </p:txBody>
      </p:sp>
      <p:sp>
        <p:nvSpPr>
          <p:cNvPr id="14" name="Shape 11"/>
          <p:cNvSpPr/>
          <p:nvPr/>
        </p:nvSpPr>
        <p:spPr>
          <a:xfrm>
            <a:off x="5638800" y="7042150"/>
            <a:ext cx="4978400" cy="1600200"/>
          </a:xfrm>
          <a:custGeom>
            <a:avLst/>
            <a:gdLst/>
            <a:ahLst/>
            <a:cxnLst/>
            <a:rect l="l" t="t" r="r" b="b"/>
            <a:pathLst>
              <a:path w="4978400" h="1600200">
                <a:moveTo>
                  <a:pt x="101597" y="0"/>
                </a:moveTo>
                <a:lnTo>
                  <a:pt x="4876803" y="0"/>
                </a:lnTo>
                <a:cubicBezTo>
                  <a:pt x="4932914" y="0"/>
                  <a:pt x="4978400" y="45486"/>
                  <a:pt x="4978400" y="101597"/>
                </a:cubicBezTo>
                <a:lnTo>
                  <a:pt x="4978400" y="1498603"/>
                </a:lnTo>
                <a:cubicBezTo>
                  <a:pt x="4978400" y="1554714"/>
                  <a:pt x="4932914" y="1600200"/>
                  <a:pt x="4876803" y="1600200"/>
                </a:cubicBezTo>
                <a:lnTo>
                  <a:pt x="101597" y="1600200"/>
                </a:lnTo>
                <a:cubicBezTo>
                  <a:pt x="45486" y="1600200"/>
                  <a:pt x="0" y="1554714"/>
                  <a:pt x="0" y="1498603"/>
                </a:cubicBezTo>
                <a:lnTo>
                  <a:pt x="0" y="101597"/>
                </a:lnTo>
                <a:cubicBezTo>
                  <a:pt x="0" y="45524"/>
                  <a:pt x="45524" y="0"/>
                  <a:pt x="101597" y="0"/>
                </a:cubicBezTo>
                <a:close/>
              </a:path>
            </a:pathLst>
          </a:custGeom>
          <a:gradFill rotWithShape="1" flip="none">
            <a:gsLst>
              <a:gs pos="0">
                <a:srgbClr val="495057"/>
              </a:gs>
              <a:gs pos="100000">
                <a:srgbClr val="495057">
                  <a:alpha val="80000"/>
                </a:srgbClr>
              </a:gs>
            </a:gsLst>
            <a:lin ang="2700000" scaled="1"/>
          </a:gradFill>
          <a:ln/>
        </p:spPr>
      </p:sp>
      <p:sp>
        <p:nvSpPr>
          <p:cNvPr id="15" name="Shape 12"/>
          <p:cNvSpPr/>
          <p:nvPr/>
        </p:nvSpPr>
        <p:spPr>
          <a:xfrm>
            <a:off x="5842000" y="7245350"/>
            <a:ext cx="508000" cy="508000"/>
          </a:xfrm>
          <a:custGeom>
            <a:avLst/>
            <a:gdLst/>
            <a:ahLst/>
            <a:cxnLst/>
            <a:rect l="l" t="t" r="r" b="b"/>
            <a:pathLst>
              <a:path w="508000" h="508000">
                <a:moveTo>
                  <a:pt x="254000" y="0"/>
                </a:moveTo>
                <a:lnTo>
                  <a:pt x="254000" y="0"/>
                </a:lnTo>
                <a:cubicBezTo>
                  <a:pt x="394186" y="0"/>
                  <a:pt x="508000" y="113814"/>
                  <a:pt x="508000" y="254000"/>
                </a:cubicBezTo>
                <a:lnTo>
                  <a:pt x="508000" y="254000"/>
                </a:lnTo>
                <a:cubicBezTo>
                  <a:pt x="508000" y="394186"/>
                  <a:pt x="394186" y="508000"/>
                  <a:pt x="254000" y="508000"/>
                </a:cubicBezTo>
                <a:lnTo>
                  <a:pt x="254000" y="508000"/>
                </a:lnTo>
                <a:cubicBezTo>
                  <a:pt x="113814" y="508000"/>
                  <a:pt x="0" y="394186"/>
                  <a:pt x="0" y="254000"/>
                </a:cubicBezTo>
                <a:lnTo>
                  <a:pt x="0" y="254000"/>
                </a:lnTo>
                <a:cubicBezTo>
                  <a:pt x="0" y="113814"/>
                  <a:pt x="113814" y="0"/>
                  <a:pt x="254000" y="0"/>
                </a:cubicBezTo>
                <a:close/>
              </a:path>
            </a:pathLst>
          </a:custGeom>
          <a:solidFill>
            <a:srgbClr val="FFFFFF">
              <a:alpha val="20000"/>
            </a:srgbClr>
          </a:solidFill>
          <a:ln/>
        </p:spPr>
      </p:sp>
      <p:sp>
        <p:nvSpPr>
          <p:cNvPr id="16" name="Shape 13"/>
          <p:cNvSpPr/>
          <p:nvPr/>
        </p:nvSpPr>
        <p:spPr>
          <a:xfrm>
            <a:off x="5969000" y="7372350"/>
            <a:ext cx="254000" cy="254000"/>
          </a:xfrm>
          <a:custGeom>
            <a:avLst/>
            <a:gdLst/>
            <a:ahLst/>
            <a:cxnLst/>
            <a:rect l="l" t="t" r="r" b="b"/>
            <a:pathLst>
              <a:path w="254000" h="254000">
                <a:moveTo>
                  <a:pt x="59531" y="27781"/>
                </a:moveTo>
                <a:cubicBezTo>
                  <a:pt x="59531" y="12452"/>
                  <a:pt x="71983" y="0"/>
                  <a:pt x="87313" y="0"/>
                </a:cubicBezTo>
                <a:lnTo>
                  <a:pt x="99219" y="0"/>
                </a:lnTo>
                <a:cubicBezTo>
                  <a:pt x="108000" y="0"/>
                  <a:pt x="115094" y="7094"/>
                  <a:pt x="115094" y="15875"/>
                </a:cubicBezTo>
                <a:lnTo>
                  <a:pt x="115094" y="238125"/>
                </a:lnTo>
                <a:cubicBezTo>
                  <a:pt x="115094" y="246906"/>
                  <a:pt x="108000" y="254000"/>
                  <a:pt x="99219" y="254000"/>
                </a:cubicBezTo>
                <a:lnTo>
                  <a:pt x="83344" y="254000"/>
                </a:lnTo>
                <a:cubicBezTo>
                  <a:pt x="68560" y="254000"/>
                  <a:pt x="56108" y="243880"/>
                  <a:pt x="52586" y="230188"/>
                </a:cubicBezTo>
                <a:cubicBezTo>
                  <a:pt x="52239" y="230188"/>
                  <a:pt x="51941" y="230188"/>
                  <a:pt x="51594" y="230188"/>
                </a:cubicBezTo>
                <a:cubicBezTo>
                  <a:pt x="29666" y="230188"/>
                  <a:pt x="11906" y="212427"/>
                  <a:pt x="11906" y="190500"/>
                </a:cubicBezTo>
                <a:cubicBezTo>
                  <a:pt x="11906" y="181570"/>
                  <a:pt x="14883" y="173335"/>
                  <a:pt x="19844" y="166688"/>
                </a:cubicBezTo>
                <a:cubicBezTo>
                  <a:pt x="10220" y="159445"/>
                  <a:pt x="3969" y="147935"/>
                  <a:pt x="3969" y="134938"/>
                </a:cubicBezTo>
                <a:cubicBezTo>
                  <a:pt x="3969" y="119608"/>
                  <a:pt x="12700" y="106263"/>
                  <a:pt x="25400" y="99665"/>
                </a:cubicBezTo>
                <a:cubicBezTo>
                  <a:pt x="21878" y="93712"/>
                  <a:pt x="19844" y="86767"/>
                  <a:pt x="19844" y="79375"/>
                </a:cubicBezTo>
                <a:cubicBezTo>
                  <a:pt x="19844" y="57448"/>
                  <a:pt x="37604" y="39688"/>
                  <a:pt x="59531" y="39688"/>
                </a:cubicBezTo>
                <a:lnTo>
                  <a:pt x="59531" y="27781"/>
                </a:lnTo>
                <a:close/>
                <a:moveTo>
                  <a:pt x="194469" y="27781"/>
                </a:moveTo>
                <a:lnTo>
                  <a:pt x="194469" y="39688"/>
                </a:lnTo>
                <a:cubicBezTo>
                  <a:pt x="216396" y="39688"/>
                  <a:pt x="234156" y="57448"/>
                  <a:pt x="234156" y="79375"/>
                </a:cubicBezTo>
                <a:cubicBezTo>
                  <a:pt x="234156" y="86816"/>
                  <a:pt x="232122" y="93762"/>
                  <a:pt x="228600" y="99665"/>
                </a:cubicBezTo>
                <a:cubicBezTo>
                  <a:pt x="241350" y="106263"/>
                  <a:pt x="250031" y="119559"/>
                  <a:pt x="250031" y="134938"/>
                </a:cubicBezTo>
                <a:cubicBezTo>
                  <a:pt x="250031" y="147935"/>
                  <a:pt x="243780" y="159445"/>
                  <a:pt x="234156" y="166688"/>
                </a:cubicBezTo>
                <a:cubicBezTo>
                  <a:pt x="239117" y="173335"/>
                  <a:pt x="242094" y="181570"/>
                  <a:pt x="242094" y="190500"/>
                </a:cubicBezTo>
                <a:cubicBezTo>
                  <a:pt x="242094" y="212427"/>
                  <a:pt x="224334" y="230188"/>
                  <a:pt x="202406" y="230188"/>
                </a:cubicBezTo>
                <a:cubicBezTo>
                  <a:pt x="202059" y="230188"/>
                  <a:pt x="201761" y="230188"/>
                  <a:pt x="201414" y="230188"/>
                </a:cubicBezTo>
                <a:cubicBezTo>
                  <a:pt x="197892" y="243880"/>
                  <a:pt x="185440" y="254000"/>
                  <a:pt x="170656" y="254000"/>
                </a:cubicBezTo>
                <a:lnTo>
                  <a:pt x="154781" y="254000"/>
                </a:lnTo>
                <a:cubicBezTo>
                  <a:pt x="146000" y="254000"/>
                  <a:pt x="138906" y="246906"/>
                  <a:pt x="138906" y="238125"/>
                </a:cubicBezTo>
                <a:lnTo>
                  <a:pt x="138906" y="15875"/>
                </a:lnTo>
                <a:cubicBezTo>
                  <a:pt x="138906" y="7094"/>
                  <a:pt x="146000" y="0"/>
                  <a:pt x="154781" y="0"/>
                </a:cubicBezTo>
                <a:lnTo>
                  <a:pt x="166688" y="0"/>
                </a:lnTo>
                <a:cubicBezTo>
                  <a:pt x="182017" y="0"/>
                  <a:pt x="194469" y="12452"/>
                  <a:pt x="194469" y="27781"/>
                </a:cubicBezTo>
                <a:close/>
              </a:path>
            </a:pathLst>
          </a:custGeom>
          <a:solidFill>
            <a:srgbClr val="FFFFFF"/>
          </a:solidFill>
          <a:ln/>
        </p:spPr>
      </p:sp>
      <p:sp>
        <p:nvSpPr>
          <p:cNvPr id="17" name="Text 14"/>
          <p:cNvSpPr/>
          <p:nvPr/>
        </p:nvSpPr>
        <p:spPr>
          <a:xfrm>
            <a:off x="6502400" y="7346950"/>
            <a:ext cx="1727200" cy="304800"/>
          </a:xfrm>
          <a:prstGeom prst="rect">
            <a:avLst/>
          </a:prstGeom>
          <a:noFill/>
          <a:ln/>
        </p:spPr>
        <p:txBody>
          <a:bodyPr wrap="square" lIns="0" tIns="0" rIns="0" bIns="0" rtlCol="0" anchor="ctr"/>
          <a:lstStyle/>
          <a:p>
            <a:pPr>
              <a:lnSpc>
                <a:spcPct val="130000"/>
              </a:lnSpc>
            </a:pPr>
            <a:r>
              <a:rPr lang="en-US" sz="1600" b="1" dirty="0">
                <a:solidFill>
                  <a:srgbClr val="FFFFFF"/>
                </a:solidFill>
                <a:latin typeface="MiSans" pitchFamily="34" charset="0"/>
                <a:ea typeface="MiSans" pitchFamily="34" charset="-122"/>
                <a:cs typeface="MiSans" pitchFamily="34" charset="-120"/>
              </a:rPr>
              <a:t>注意力机制有效性</a:t>
            </a:r>
            <a:endParaRPr lang="en-US" sz="1600" dirty="0"/>
          </a:p>
        </p:txBody>
      </p:sp>
      <p:sp>
        <p:nvSpPr>
          <p:cNvPr id="18" name="Text 15"/>
          <p:cNvSpPr/>
          <p:nvPr/>
        </p:nvSpPr>
        <p:spPr>
          <a:xfrm>
            <a:off x="5842000" y="7854950"/>
            <a:ext cx="4660900" cy="584200"/>
          </a:xfrm>
          <a:prstGeom prst="rect">
            <a:avLst/>
          </a:prstGeom>
          <a:noFill/>
          <a:ln/>
        </p:spPr>
        <p:txBody>
          <a:bodyPr wrap="square" lIns="0" tIns="0" rIns="0" bIns="0" rtlCol="0" anchor="ctr"/>
          <a:lstStyle/>
          <a:p>
            <a:pPr>
              <a:lnSpc>
                <a:spcPct val="140000"/>
              </a:lnSpc>
            </a:pPr>
            <a:r>
              <a:rPr lang="en-US" sz="1400" dirty="0">
                <a:solidFill>
                  <a:srgbClr val="FFFFFF"/>
                </a:solidFill>
                <a:latin typeface="MiSans" pitchFamily="34" charset="0"/>
                <a:ea typeface="MiSans" pitchFamily="34" charset="-122"/>
                <a:cs typeface="MiSans" pitchFamily="34" charset="-120"/>
              </a:rPr>
              <a:t>MultiSentiNet-Att(68.86%) &gt; CNN-Multi(66.39%)，证明视觉引导注意力机制精准捕捉关键词</a:t>
            </a:r>
            <a:endParaRPr lang="en-US" sz="1600" dirty="0"/>
          </a:p>
        </p:txBody>
      </p:sp>
      <p:sp>
        <p:nvSpPr>
          <p:cNvPr id="19" name="Shape 16"/>
          <p:cNvSpPr/>
          <p:nvPr/>
        </p:nvSpPr>
        <p:spPr>
          <a:xfrm>
            <a:off x="10769600" y="7042150"/>
            <a:ext cx="4978400" cy="1600200"/>
          </a:xfrm>
          <a:custGeom>
            <a:avLst/>
            <a:gdLst/>
            <a:ahLst/>
            <a:cxnLst/>
            <a:rect l="l" t="t" r="r" b="b"/>
            <a:pathLst>
              <a:path w="4978400" h="1600200">
                <a:moveTo>
                  <a:pt x="101597" y="0"/>
                </a:moveTo>
                <a:lnTo>
                  <a:pt x="4876803" y="0"/>
                </a:lnTo>
                <a:cubicBezTo>
                  <a:pt x="4932914" y="0"/>
                  <a:pt x="4978400" y="45486"/>
                  <a:pt x="4978400" y="101597"/>
                </a:cubicBezTo>
                <a:lnTo>
                  <a:pt x="4978400" y="1498603"/>
                </a:lnTo>
                <a:cubicBezTo>
                  <a:pt x="4978400" y="1554714"/>
                  <a:pt x="4932914" y="1600200"/>
                  <a:pt x="4876803" y="1600200"/>
                </a:cubicBezTo>
                <a:lnTo>
                  <a:pt x="101597" y="1600200"/>
                </a:lnTo>
                <a:cubicBezTo>
                  <a:pt x="45486" y="1600200"/>
                  <a:pt x="0" y="1554714"/>
                  <a:pt x="0" y="1498603"/>
                </a:cubicBezTo>
                <a:lnTo>
                  <a:pt x="0" y="101597"/>
                </a:lnTo>
                <a:cubicBezTo>
                  <a:pt x="0" y="45524"/>
                  <a:pt x="45524" y="0"/>
                  <a:pt x="101597" y="0"/>
                </a:cubicBezTo>
                <a:close/>
              </a:path>
            </a:pathLst>
          </a:custGeom>
          <a:gradFill rotWithShape="1" flip="none">
            <a:gsLst>
              <a:gs pos="0">
                <a:srgbClr val="ADB5BD"/>
              </a:gs>
              <a:gs pos="100000">
                <a:srgbClr val="ADB5BD">
                  <a:alpha val="80000"/>
                </a:srgbClr>
              </a:gs>
            </a:gsLst>
            <a:lin ang="2700000" scaled="1"/>
          </a:gradFill>
          <a:ln/>
        </p:spPr>
      </p:sp>
      <p:sp>
        <p:nvSpPr>
          <p:cNvPr id="20" name="Shape 17"/>
          <p:cNvSpPr/>
          <p:nvPr/>
        </p:nvSpPr>
        <p:spPr>
          <a:xfrm>
            <a:off x="10972800" y="7245350"/>
            <a:ext cx="508000" cy="508000"/>
          </a:xfrm>
          <a:custGeom>
            <a:avLst/>
            <a:gdLst/>
            <a:ahLst/>
            <a:cxnLst/>
            <a:rect l="l" t="t" r="r" b="b"/>
            <a:pathLst>
              <a:path w="508000" h="508000">
                <a:moveTo>
                  <a:pt x="254000" y="0"/>
                </a:moveTo>
                <a:lnTo>
                  <a:pt x="254000" y="0"/>
                </a:lnTo>
                <a:cubicBezTo>
                  <a:pt x="394186" y="0"/>
                  <a:pt x="508000" y="113814"/>
                  <a:pt x="508000" y="254000"/>
                </a:cubicBezTo>
                <a:lnTo>
                  <a:pt x="508000" y="254000"/>
                </a:lnTo>
                <a:cubicBezTo>
                  <a:pt x="508000" y="394186"/>
                  <a:pt x="394186" y="508000"/>
                  <a:pt x="254000" y="508000"/>
                </a:cubicBezTo>
                <a:lnTo>
                  <a:pt x="254000" y="508000"/>
                </a:lnTo>
                <a:cubicBezTo>
                  <a:pt x="113814" y="508000"/>
                  <a:pt x="0" y="394186"/>
                  <a:pt x="0" y="254000"/>
                </a:cubicBezTo>
                <a:lnTo>
                  <a:pt x="0" y="254000"/>
                </a:lnTo>
                <a:cubicBezTo>
                  <a:pt x="0" y="113814"/>
                  <a:pt x="113814" y="0"/>
                  <a:pt x="254000" y="0"/>
                </a:cubicBezTo>
                <a:close/>
              </a:path>
            </a:pathLst>
          </a:custGeom>
          <a:solidFill>
            <a:srgbClr val="FFFFFF">
              <a:alpha val="20000"/>
            </a:srgbClr>
          </a:solidFill>
          <a:ln/>
        </p:spPr>
      </p:sp>
      <p:sp>
        <p:nvSpPr>
          <p:cNvPr id="21" name="Shape 18"/>
          <p:cNvSpPr/>
          <p:nvPr/>
        </p:nvSpPr>
        <p:spPr>
          <a:xfrm>
            <a:off x="11099800" y="7372350"/>
            <a:ext cx="254000" cy="254000"/>
          </a:xfrm>
          <a:custGeom>
            <a:avLst/>
            <a:gdLst/>
            <a:ahLst/>
            <a:cxnLst/>
            <a:rect l="l" t="t" r="r" b="b"/>
            <a:pathLst>
              <a:path w="254000" h="254000">
                <a:moveTo>
                  <a:pt x="115342" y="2580"/>
                </a:moveTo>
                <a:cubicBezTo>
                  <a:pt x="122734" y="-843"/>
                  <a:pt x="131266" y="-843"/>
                  <a:pt x="138658" y="2580"/>
                </a:cubicBezTo>
                <a:lnTo>
                  <a:pt x="247104" y="52685"/>
                </a:lnTo>
                <a:cubicBezTo>
                  <a:pt x="251321" y="54620"/>
                  <a:pt x="254000" y="58837"/>
                  <a:pt x="254000" y="63500"/>
                </a:cubicBezTo>
                <a:cubicBezTo>
                  <a:pt x="254000" y="68163"/>
                  <a:pt x="251321" y="72380"/>
                  <a:pt x="247104" y="74315"/>
                </a:cubicBezTo>
                <a:lnTo>
                  <a:pt x="138658" y="124420"/>
                </a:lnTo>
                <a:cubicBezTo>
                  <a:pt x="131266" y="127843"/>
                  <a:pt x="122734" y="127843"/>
                  <a:pt x="115342" y="124420"/>
                </a:cubicBezTo>
                <a:lnTo>
                  <a:pt x="6896" y="74315"/>
                </a:lnTo>
                <a:cubicBezTo>
                  <a:pt x="2679" y="72330"/>
                  <a:pt x="0" y="68114"/>
                  <a:pt x="0" y="63500"/>
                </a:cubicBezTo>
                <a:cubicBezTo>
                  <a:pt x="0" y="58886"/>
                  <a:pt x="2679" y="54620"/>
                  <a:pt x="6896" y="52685"/>
                </a:cubicBezTo>
                <a:lnTo>
                  <a:pt x="115342" y="2580"/>
                </a:lnTo>
                <a:close/>
                <a:moveTo>
                  <a:pt x="23862" y="108347"/>
                </a:moveTo>
                <a:lnTo>
                  <a:pt x="105370" y="146000"/>
                </a:lnTo>
                <a:cubicBezTo>
                  <a:pt x="119112" y="152350"/>
                  <a:pt x="134938" y="152350"/>
                  <a:pt x="148679" y="146000"/>
                </a:cubicBezTo>
                <a:lnTo>
                  <a:pt x="230188" y="108347"/>
                </a:lnTo>
                <a:lnTo>
                  <a:pt x="247104" y="116185"/>
                </a:lnTo>
                <a:cubicBezTo>
                  <a:pt x="251321" y="118120"/>
                  <a:pt x="254000" y="122337"/>
                  <a:pt x="254000" y="127000"/>
                </a:cubicBezTo>
                <a:cubicBezTo>
                  <a:pt x="254000" y="131663"/>
                  <a:pt x="251321" y="135880"/>
                  <a:pt x="247104" y="137815"/>
                </a:cubicBezTo>
                <a:lnTo>
                  <a:pt x="138658" y="187920"/>
                </a:lnTo>
                <a:cubicBezTo>
                  <a:pt x="131266" y="191343"/>
                  <a:pt x="122734" y="191343"/>
                  <a:pt x="115342" y="187920"/>
                </a:cubicBezTo>
                <a:lnTo>
                  <a:pt x="6896" y="137815"/>
                </a:lnTo>
                <a:cubicBezTo>
                  <a:pt x="2679" y="135830"/>
                  <a:pt x="0" y="131614"/>
                  <a:pt x="0" y="127000"/>
                </a:cubicBezTo>
                <a:cubicBezTo>
                  <a:pt x="0" y="122386"/>
                  <a:pt x="2679" y="118120"/>
                  <a:pt x="6896" y="116185"/>
                </a:cubicBezTo>
                <a:lnTo>
                  <a:pt x="23812" y="108347"/>
                </a:lnTo>
                <a:close/>
                <a:moveTo>
                  <a:pt x="6896" y="179685"/>
                </a:moveTo>
                <a:lnTo>
                  <a:pt x="23812" y="171847"/>
                </a:lnTo>
                <a:lnTo>
                  <a:pt x="105321" y="209500"/>
                </a:lnTo>
                <a:cubicBezTo>
                  <a:pt x="119063" y="215850"/>
                  <a:pt x="134888" y="215850"/>
                  <a:pt x="148630" y="209500"/>
                </a:cubicBezTo>
                <a:lnTo>
                  <a:pt x="230138" y="171847"/>
                </a:lnTo>
                <a:lnTo>
                  <a:pt x="247055" y="179685"/>
                </a:lnTo>
                <a:cubicBezTo>
                  <a:pt x="251271" y="181620"/>
                  <a:pt x="253950" y="185837"/>
                  <a:pt x="253950" y="190500"/>
                </a:cubicBezTo>
                <a:cubicBezTo>
                  <a:pt x="253950" y="195163"/>
                  <a:pt x="251271" y="199380"/>
                  <a:pt x="247055" y="201315"/>
                </a:cubicBezTo>
                <a:lnTo>
                  <a:pt x="138609" y="251420"/>
                </a:lnTo>
                <a:cubicBezTo>
                  <a:pt x="131217" y="254843"/>
                  <a:pt x="122684" y="254843"/>
                  <a:pt x="115292" y="251420"/>
                </a:cubicBezTo>
                <a:lnTo>
                  <a:pt x="6896" y="201315"/>
                </a:lnTo>
                <a:cubicBezTo>
                  <a:pt x="2679" y="199330"/>
                  <a:pt x="0" y="195114"/>
                  <a:pt x="0" y="190500"/>
                </a:cubicBezTo>
                <a:cubicBezTo>
                  <a:pt x="0" y="185886"/>
                  <a:pt x="2679" y="181620"/>
                  <a:pt x="6896" y="179685"/>
                </a:cubicBezTo>
                <a:close/>
              </a:path>
            </a:pathLst>
          </a:custGeom>
          <a:solidFill>
            <a:srgbClr val="FFFFFF"/>
          </a:solidFill>
          <a:ln/>
        </p:spPr>
      </p:sp>
      <p:sp>
        <p:nvSpPr>
          <p:cNvPr id="22" name="Text 19"/>
          <p:cNvSpPr/>
          <p:nvPr/>
        </p:nvSpPr>
        <p:spPr>
          <a:xfrm>
            <a:off x="11633200" y="7346950"/>
            <a:ext cx="1524000" cy="304800"/>
          </a:xfrm>
          <a:prstGeom prst="rect">
            <a:avLst/>
          </a:prstGeom>
          <a:noFill/>
          <a:ln/>
        </p:spPr>
        <p:txBody>
          <a:bodyPr wrap="square" lIns="0" tIns="0" rIns="0" bIns="0" rtlCol="0" anchor="ctr"/>
          <a:lstStyle/>
          <a:p>
            <a:pPr>
              <a:lnSpc>
                <a:spcPct val="130000"/>
              </a:lnSpc>
            </a:pPr>
            <a:r>
              <a:rPr lang="en-US" sz="1600" b="1" dirty="0">
                <a:solidFill>
                  <a:srgbClr val="FFFFFF"/>
                </a:solidFill>
                <a:latin typeface="MiSans" pitchFamily="34" charset="0"/>
                <a:ea typeface="MiSans" pitchFamily="34" charset="-122"/>
                <a:cs typeface="MiSans" pitchFamily="34" charset="-120"/>
              </a:rPr>
              <a:t>多模态聚合优势</a:t>
            </a:r>
            <a:endParaRPr lang="en-US" sz="1600" dirty="0"/>
          </a:p>
        </p:txBody>
      </p:sp>
      <p:sp>
        <p:nvSpPr>
          <p:cNvPr id="23" name="Text 20"/>
          <p:cNvSpPr/>
          <p:nvPr/>
        </p:nvSpPr>
        <p:spPr>
          <a:xfrm>
            <a:off x="10972800" y="7854950"/>
            <a:ext cx="4660900" cy="584200"/>
          </a:xfrm>
          <a:prstGeom prst="rect">
            <a:avLst/>
          </a:prstGeom>
          <a:noFill/>
          <a:ln/>
        </p:spPr>
        <p:txBody>
          <a:bodyPr wrap="square" lIns="0" tIns="0" rIns="0" bIns="0" rtlCol="0" anchor="ctr"/>
          <a:lstStyle/>
          <a:p>
            <a:pPr>
              <a:lnSpc>
                <a:spcPct val="140000"/>
              </a:lnSpc>
            </a:pPr>
            <a:r>
              <a:rPr lang="en-US" sz="1400" dirty="0">
                <a:solidFill>
                  <a:srgbClr val="FFFFFF"/>
                </a:solidFill>
                <a:latin typeface="MiSans" pitchFamily="34" charset="0"/>
                <a:ea typeface="MiSans" pitchFamily="34" charset="-122"/>
                <a:cs typeface="MiSans" pitchFamily="34" charset="-120"/>
              </a:rPr>
              <a:t>融合三重特征后性能提升(68.86% vs 67.69%)，验证多模态聚合有效性</a:t>
            </a:r>
            <a:endParaRPr lang="en-US" sz="1600" dirty="0"/>
          </a:p>
        </p:txBody>
      </p:sp>
    </p:spTree>
  </p:cSld>
  <p:clrMapOvr>
    <a:masterClrMapping/>
  </p:clrMapOvr>
  <p:transition>
    <p:fade/>
    <p:spd val="med"/>
  </p:transition>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8F9FA"/>
        </a:solidFill>
      </p:bgPr>
    </p:bg>
    <p:spTree>
      <p:nvGrpSpPr>
        <p:cNvPr id="1" name=""/>
        <p:cNvGrpSpPr/>
        <p:nvPr/>
      </p:nvGrpSpPr>
      <p:grpSpPr>
        <a:xfrm>
          <a:off x="0" y="0"/>
          <a:ext cx="0" cy="0"/>
          <a:chOff x="0" y="0"/>
          <a:chExt cx="0" cy="0"/>
        </a:xfrm>
      </p:grpSpPr>
      <p:sp>
        <p:nvSpPr>
          <p:cNvPr id="2" name="Shape 0"/>
          <p:cNvSpPr/>
          <p:nvPr/>
        </p:nvSpPr>
        <p:spPr>
          <a:xfrm>
            <a:off x="476366" y="524003"/>
            <a:ext cx="381093" cy="381093"/>
          </a:xfrm>
          <a:custGeom>
            <a:avLst/>
            <a:gdLst/>
            <a:ahLst/>
            <a:cxnLst/>
            <a:rect l="l" t="t" r="r" b="b"/>
            <a:pathLst>
              <a:path w="381093" h="381093">
                <a:moveTo>
                  <a:pt x="47637" y="0"/>
                </a:moveTo>
                <a:lnTo>
                  <a:pt x="333456" y="0"/>
                </a:lnTo>
                <a:cubicBezTo>
                  <a:pt x="359765" y="0"/>
                  <a:pt x="381093" y="21328"/>
                  <a:pt x="381093" y="47637"/>
                </a:cubicBezTo>
                <a:lnTo>
                  <a:pt x="381093" y="333456"/>
                </a:lnTo>
                <a:cubicBezTo>
                  <a:pt x="381093" y="359765"/>
                  <a:pt x="359765" y="381093"/>
                  <a:pt x="333456" y="381093"/>
                </a:cubicBezTo>
                <a:lnTo>
                  <a:pt x="47637" y="381093"/>
                </a:lnTo>
                <a:cubicBezTo>
                  <a:pt x="21328" y="381093"/>
                  <a:pt x="0" y="359765"/>
                  <a:pt x="0" y="333456"/>
                </a:cubicBezTo>
                <a:lnTo>
                  <a:pt x="0" y="47637"/>
                </a:lnTo>
                <a:cubicBezTo>
                  <a:pt x="0" y="21345"/>
                  <a:pt x="21345" y="0"/>
                  <a:pt x="47637" y="0"/>
                </a:cubicBezTo>
                <a:close/>
              </a:path>
            </a:pathLst>
          </a:custGeom>
          <a:solidFill>
            <a:srgbClr val="495057"/>
          </a:solidFill>
          <a:ln/>
        </p:spPr>
      </p:sp>
      <p:sp>
        <p:nvSpPr>
          <p:cNvPr id="3" name="Text 1"/>
          <p:cNvSpPr/>
          <p:nvPr/>
        </p:nvSpPr>
        <p:spPr>
          <a:xfrm>
            <a:off x="549868" y="571640"/>
            <a:ext cx="333456" cy="285820"/>
          </a:xfrm>
          <a:prstGeom prst="rect">
            <a:avLst/>
          </a:prstGeom>
          <a:noFill/>
          <a:ln/>
        </p:spPr>
        <p:txBody>
          <a:bodyPr wrap="square" lIns="0" tIns="0" rIns="0" bIns="0" rtlCol="0" anchor="ctr"/>
          <a:lstStyle/>
          <a:p>
            <a:pPr>
              <a:lnSpc>
                <a:spcPct val="130000"/>
              </a:lnSpc>
            </a:pPr>
            <a:r>
              <a:rPr lang="en-US" sz="1500" b="1" dirty="0">
                <a:solidFill>
                  <a:srgbClr val="F8F9FA"/>
                </a:solidFill>
                <a:latin typeface="Liter" pitchFamily="34" charset="0"/>
                <a:ea typeface="Liter" pitchFamily="34" charset="-122"/>
                <a:cs typeface="Liter" pitchFamily="34" charset="-120"/>
              </a:rPr>
              <a:t>03</a:t>
            </a:r>
            <a:endParaRPr lang="en-US" sz="1600" dirty="0"/>
          </a:p>
        </p:txBody>
      </p:sp>
      <p:sp>
        <p:nvSpPr>
          <p:cNvPr id="4" name="Text 2"/>
          <p:cNvSpPr/>
          <p:nvPr/>
        </p:nvSpPr>
        <p:spPr>
          <a:xfrm>
            <a:off x="1000369" y="476366"/>
            <a:ext cx="4072932" cy="476366"/>
          </a:xfrm>
          <a:prstGeom prst="rect">
            <a:avLst/>
          </a:prstGeom>
          <a:noFill/>
          <a:ln/>
        </p:spPr>
        <p:txBody>
          <a:bodyPr wrap="square" lIns="0" tIns="0" rIns="0" bIns="0" rtlCol="0" anchor="ctr"/>
          <a:lstStyle/>
          <a:p>
            <a:pPr>
              <a:lnSpc>
                <a:spcPct val="90000"/>
              </a:lnSpc>
            </a:pPr>
            <a:r>
              <a:rPr lang="en-US" sz="3376" b="1" dirty="0">
                <a:solidFill>
                  <a:srgbClr val="495057"/>
                </a:solidFill>
                <a:latin typeface="Noto Sans SC" pitchFamily="34" charset="0"/>
                <a:ea typeface="Noto Sans SC" pitchFamily="34" charset="-122"/>
                <a:cs typeface="Noto Sans SC" pitchFamily="34" charset="-120"/>
              </a:rPr>
              <a:t>实验结果：深度分析</a:t>
            </a:r>
            <a:endParaRPr lang="en-US" sz="1600" dirty="0"/>
          </a:p>
        </p:txBody>
      </p:sp>
      <p:sp>
        <p:nvSpPr>
          <p:cNvPr id="5" name="Shape 3"/>
          <p:cNvSpPr/>
          <p:nvPr/>
        </p:nvSpPr>
        <p:spPr>
          <a:xfrm>
            <a:off x="476366" y="1048006"/>
            <a:ext cx="952733" cy="47637"/>
          </a:xfrm>
          <a:custGeom>
            <a:avLst/>
            <a:gdLst/>
            <a:ahLst/>
            <a:cxnLst/>
            <a:rect l="l" t="t" r="r" b="b"/>
            <a:pathLst>
              <a:path w="952733" h="47637">
                <a:moveTo>
                  <a:pt x="0" y="0"/>
                </a:moveTo>
                <a:lnTo>
                  <a:pt x="952733" y="0"/>
                </a:lnTo>
                <a:lnTo>
                  <a:pt x="952733" y="47637"/>
                </a:lnTo>
                <a:lnTo>
                  <a:pt x="0" y="47637"/>
                </a:lnTo>
                <a:lnTo>
                  <a:pt x="0" y="0"/>
                </a:lnTo>
                <a:close/>
              </a:path>
            </a:pathLst>
          </a:custGeom>
          <a:solidFill>
            <a:srgbClr val="A67B5C"/>
          </a:solidFill>
          <a:ln/>
        </p:spPr>
      </p:sp>
      <p:sp>
        <p:nvSpPr>
          <p:cNvPr id="6" name="Shape 4"/>
          <p:cNvSpPr/>
          <p:nvPr/>
        </p:nvSpPr>
        <p:spPr>
          <a:xfrm>
            <a:off x="476366" y="1333826"/>
            <a:ext cx="7514678" cy="7645679"/>
          </a:xfrm>
          <a:custGeom>
            <a:avLst/>
            <a:gdLst/>
            <a:ahLst/>
            <a:cxnLst/>
            <a:rect l="l" t="t" r="r" b="b"/>
            <a:pathLst>
              <a:path w="7514678" h="7645679">
                <a:moveTo>
                  <a:pt x="95286" y="0"/>
                </a:moveTo>
                <a:lnTo>
                  <a:pt x="7419392" y="0"/>
                </a:lnTo>
                <a:cubicBezTo>
                  <a:pt x="7472017" y="0"/>
                  <a:pt x="7514678" y="42661"/>
                  <a:pt x="7514678" y="95286"/>
                </a:cubicBezTo>
                <a:lnTo>
                  <a:pt x="7514678" y="7550393"/>
                </a:lnTo>
                <a:cubicBezTo>
                  <a:pt x="7514678" y="7603018"/>
                  <a:pt x="7472017" y="7645679"/>
                  <a:pt x="7419392" y="7645679"/>
                </a:cubicBezTo>
                <a:lnTo>
                  <a:pt x="95286" y="7645679"/>
                </a:lnTo>
                <a:cubicBezTo>
                  <a:pt x="42661" y="7645679"/>
                  <a:pt x="0" y="7603018"/>
                  <a:pt x="0" y="7550393"/>
                </a:cubicBezTo>
                <a:lnTo>
                  <a:pt x="0" y="95286"/>
                </a:lnTo>
                <a:cubicBezTo>
                  <a:pt x="0" y="42696"/>
                  <a:pt x="42696" y="0"/>
                  <a:pt x="95286" y="0"/>
                </a:cubicBezTo>
                <a:close/>
              </a:path>
            </a:pathLst>
          </a:custGeom>
          <a:solidFill>
            <a:srgbClr val="FFFFFF"/>
          </a:solidFill>
          <a:ln/>
          <a:effectLst>
            <a:outerShdw sx="100000" sy="100000" kx="0" ky="0" algn="bl" rotWithShape="0" blurRad="178637" dist="119092" dir="5400000">
              <a:srgbClr val="000000">
                <a:alpha val="10196"/>
              </a:srgbClr>
            </a:outerShdw>
          </a:effectLst>
        </p:spPr>
      </p:sp>
      <p:sp>
        <p:nvSpPr>
          <p:cNvPr id="7" name="Shape 5"/>
          <p:cNvSpPr/>
          <p:nvPr/>
        </p:nvSpPr>
        <p:spPr>
          <a:xfrm>
            <a:off x="762186" y="1619645"/>
            <a:ext cx="571640" cy="571640"/>
          </a:xfrm>
          <a:custGeom>
            <a:avLst/>
            <a:gdLst/>
            <a:ahLst/>
            <a:cxnLst/>
            <a:rect l="l" t="t" r="r" b="b"/>
            <a:pathLst>
              <a:path w="571640" h="571640">
                <a:moveTo>
                  <a:pt x="95275" y="0"/>
                </a:moveTo>
                <a:lnTo>
                  <a:pt x="476364" y="0"/>
                </a:lnTo>
                <a:cubicBezTo>
                  <a:pt x="528983" y="0"/>
                  <a:pt x="571640" y="42656"/>
                  <a:pt x="571640" y="95275"/>
                </a:cubicBezTo>
                <a:lnTo>
                  <a:pt x="571640" y="476364"/>
                </a:lnTo>
                <a:cubicBezTo>
                  <a:pt x="571640" y="528983"/>
                  <a:pt x="528983" y="571640"/>
                  <a:pt x="476364" y="571640"/>
                </a:cubicBezTo>
                <a:lnTo>
                  <a:pt x="95275" y="571640"/>
                </a:lnTo>
                <a:cubicBezTo>
                  <a:pt x="42656" y="571640"/>
                  <a:pt x="0" y="528983"/>
                  <a:pt x="0" y="476364"/>
                </a:cubicBezTo>
                <a:lnTo>
                  <a:pt x="0" y="95275"/>
                </a:lnTo>
                <a:cubicBezTo>
                  <a:pt x="0" y="42656"/>
                  <a:pt x="42656" y="0"/>
                  <a:pt x="95275" y="0"/>
                </a:cubicBezTo>
                <a:close/>
              </a:path>
            </a:pathLst>
          </a:custGeom>
          <a:solidFill>
            <a:srgbClr val="A67B5C">
              <a:alpha val="10196"/>
            </a:srgbClr>
          </a:solidFill>
          <a:ln/>
        </p:spPr>
      </p:sp>
      <p:sp>
        <p:nvSpPr>
          <p:cNvPr id="8" name="Shape 6"/>
          <p:cNvSpPr/>
          <p:nvPr/>
        </p:nvSpPr>
        <p:spPr>
          <a:xfrm>
            <a:off x="887232" y="1762555"/>
            <a:ext cx="321547" cy="285820"/>
          </a:xfrm>
          <a:custGeom>
            <a:avLst/>
            <a:gdLst/>
            <a:ahLst/>
            <a:cxnLst/>
            <a:rect l="l" t="t" r="r" b="b"/>
            <a:pathLst>
              <a:path w="321547" h="285820">
                <a:moveTo>
                  <a:pt x="286043" y="133978"/>
                </a:moveTo>
                <a:lnTo>
                  <a:pt x="187793" y="133978"/>
                </a:lnTo>
                <a:cubicBezTo>
                  <a:pt x="177912" y="133978"/>
                  <a:pt x="169929" y="125995"/>
                  <a:pt x="169929" y="116114"/>
                </a:cubicBezTo>
                <a:lnTo>
                  <a:pt x="169929" y="17864"/>
                </a:lnTo>
                <a:cubicBezTo>
                  <a:pt x="169929" y="7983"/>
                  <a:pt x="177967" y="-112"/>
                  <a:pt x="187737" y="1172"/>
                </a:cubicBezTo>
                <a:cubicBezTo>
                  <a:pt x="247469" y="9099"/>
                  <a:pt x="294807" y="56438"/>
                  <a:pt x="302735" y="116170"/>
                </a:cubicBezTo>
                <a:cubicBezTo>
                  <a:pt x="304018" y="125939"/>
                  <a:pt x="295924" y="133978"/>
                  <a:pt x="286043" y="133978"/>
                </a:cubicBezTo>
                <a:close/>
                <a:moveTo>
                  <a:pt x="124265" y="20767"/>
                </a:moveTo>
                <a:cubicBezTo>
                  <a:pt x="134369" y="18645"/>
                  <a:pt x="143133" y="26907"/>
                  <a:pt x="143133" y="37235"/>
                </a:cubicBezTo>
                <a:lnTo>
                  <a:pt x="143133" y="147376"/>
                </a:lnTo>
                <a:cubicBezTo>
                  <a:pt x="143133" y="150502"/>
                  <a:pt x="144250" y="153516"/>
                  <a:pt x="146204" y="155917"/>
                </a:cubicBezTo>
                <a:lnTo>
                  <a:pt x="219947" y="244901"/>
                </a:lnTo>
                <a:cubicBezTo>
                  <a:pt x="226479" y="252772"/>
                  <a:pt x="225083" y="264662"/>
                  <a:pt x="216095" y="269519"/>
                </a:cubicBezTo>
                <a:cubicBezTo>
                  <a:pt x="197059" y="279902"/>
                  <a:pt x="175232" y="285820"/>
                  <a:pt x="152065" y="285820"/>
                </a:cubicBezTo>
                <a:cubicBezTo>
                  <a:pt x="78098" y="285820"/>
                  <a:pt x="18087" y="225809"/>
                  <a:pt x="18087" y="151842"/>
                </a:cubicBezTo>
                <a:cubicBezTo>
                  <a:pt x="18087" y="87365"/>
                  <a:pt x="63584" y="33550"/>
                  <a:pt x="124265" y="20767"/>
                </a:cubicBezTo>
                <a:close/>
                <a:moveTo>
                  <a:pt x="266728" y="160774"/>
                </a:moveTo>
                <a:lnTo>
                  <a:pt x="302455" y="160774"/>
                </a:lnTo>
                <a:cubicBezTo>
                  <a:pt x="312783" y="160774"/>
                  <a:pt x="321045" y="169538"/>
                  <a:pt x="318924" y="179642"/>
                </a:cubicBezTo>
                <a:cubicBezTo>
                  <a:pt x="313229" y="206661"/>
                  <a:pt x="299385" y="230665"/>
                  <a:pt x="280070" y="248976"/>
                </a:cubicBezTo>
                <a:cubicBezTo>
                  <a:pt x="273204" y="255507"/>
                  <a:pt x="262429" y="254112"/>
                  <a:pt x="256400" y="246799"/>
                </a:cubicBezTo>
                <a:lnTo>
                  <a:pt x="209285" y="190025"/>
                </a:lnTo>
                <a:cubicBezTo>
                  <a:pt x="199627" y="178358"/>
                  <a:pt x="207945" y="160774"/>
                  <a:pt x="223018" y="160774"/>
                </a:cubicBezTo>
                <a:lnTo>
                  <a:pt x="266672" y="160774"/>
                </a:lnTo>
                <a:close/>
              </a:path>
            </a:pathLst>
          </a:custGeom>
          <a:solidFill>
            <a:srgbClr val="A67B5C"/>
          </a:solidFill>
          <a:ln/>
        </p:spPr>
      </p:sp>
      <p:sp>
        <p:nvSpPr>
          <p:cNvPr id="9" name="Text 7"/>
          <p:cNvSpPr/>
          <p:nvPr/>
        </p:nvSpPr>
        <p:spPr>
          <a:xfrm>
            <a:off x="1476736" y="1714919"/>
            <a:ext cx="2143648" cy="381093"/>
          </a:xfrm>
          <a:prstGeom prst="rect">
            <a:avLst/>
          </a:prstGeom>
          <a:noFill/>
          <a:ln/>
        </p:spPr>
        <p:txBody>
          <a:bodyPr wrap="square" lIns="0" tIns="0" rIns="0" bIns="0" rtlCol="0" anchor="ctr"/>
          <a:lstStyle/>
          <a:p>
            <a:pPr>
              <a:lnSpc>
                <a:spcPct val="110000"/>
              </a:lnSpc>
            </a:pPr>
            <a:r>
              <a:rPr lang="en-US" sz="2251" b="1" dirty="0">
                <a:solidFill>
                  <a:srgbClr val="495057"/>
                </a:solidFill>
                <a:latin typeface="Noto Sans SC" pitchFamily="34" charset="0"/>
                <a:ea typeface="Noto Sans SC" pitchFamily="34" charset="-122"/>
                <a:cs typeface="Noto Sans SC" pitchFamily="34" charset="-120"/>
              </a:rPr>
              <a:t>信息增益比分析</a:t>
            </a:r>
            <a:endParaRPr lang="en-US" sz="1600" dirty="0"/>
          </a:p>
        </p:txBody>
      </p:sp>
      <p:sp>
        <p:nvSpPr>
          <p:cNvPr id="10" name="Shape 8"/>
          <p:cNvSpPr/>
          <p:nvPr/>
        </p:nvSpPr>
        <p:spPr>
          <a:xfrm>
            <a:off x="786004" y="2381832"/>
            <a:ext cx="6919221" cy="1429099"/>
          </a:xfrm>
          <a:custGeom>
            <a:avLst/>
            <a:gdLst/>
            <a:ahLst/>
            <a:cxnLst/>
            <a:rect l="l" t="t" r="r" b="b"/>
            <a:pathLst>
              <a:path w="6919221" h="1429099">
                <a:moveTo>
                  <a:pt x="47637" y="0"/>
                </a:moveTo>
                <a:lnTo>
                  <a:pt x="6823942" y="0"/>
                </a:lnTo>
                <a:cubicBezTo>
                  <a:pt x="6876563" y="0"/>
                  <a:pt x="6919221" y="42657"/>
                  <a:pt x="6919221" y="95278"/>
                </a:cubicBezTo>
                <a:lnTo>
                  <a:pt x="6919221" y="1333821"/>
                </a:lnTo>
                <a:cubicBezTo>
                  <a:pt x="6919221" y="1386441"/>
                  <a:pt x="6876563" y="1429099"/>
                  <a:pt x="6823942" y="1429099"/>
                </a:cubicBezTo>
                <a:lnTo>
                  <a:pt x="47637" y="1429099"/>
                </a:lnTo>
                <a:cubicBezTo>
                  <a:pt x="21328" y="1429099"/>
                  <a:pt x="0" y="1407771"/>
                  <a:pt x="0" y="1381462"/>
                </a:cubicBezTo>
                <a:lnTo>
                  <a:pt x="0" y="47637"/>
                </a:lnTo>
                <a:cubicBezTo>
                  <a:pt x="0" y="21345"/>
                  <a:pt x="21345" y="0"/>
                  <a:pt x="47637" y="0"/>
                </a:cubicBezTo>
                <a:close/>
              </a:path>
            </a:pathLst>
          </a:custGeom>
          <a:solidFill>
            <a:srgbClr val="A67B5C">
              <a:alpha val="5098"/>
            </a:srgbClr>
          </a:solidFill>
          <a:ln/>
        </p:spPr>
      </p:sp>
      <p:sp>
        <p:nvSpPr>
          <p:cNvPr id="11" name="Shape 9"/>
          <p:cNvSpPr/>
          <p:nvPr/>
        </p:nvSpPr>
        <p:spPr>
          <a:xfrm>
            <a:off x="786004" y="2381832"/>
            <a:ext cx="47637" cy="1429099"/>
          </a:xfrm>
          <a:custGeom>
            <a:avLst/>
            <a:gdLst/>
            <a:ahLst/>
            <a:cxnLst/>
            <a:rect l="l" t="t" r="r" b="b"/>
            <a:pathLst>
              <a:path w="47637" h="1429099">
                <a:moveTo>
                  <a:pt x="47637" y="0"/>
                </a:moveTo>
                <a:lnTo>
                  <a:pt x="47637" y="0"/>
                </a:lnTo>
                <a:lnTo>
                  <a:pt x="47637" y="1429099"/>
                </a:lnTo>
                <a:lnTo>
                  <a:pt x="47637" y="1429099"/>
                </a:lnTo>
                <a:cubicBezTo>
                  <a:pt x="21328" y="1429099"/>
                  <a:pt x="0" y="1407771"/>
                  <a:pt x="0" y="1381462"/>
                </a:cubicBezTo>
                <a:lnTo>
                  <a:pt x="0" y="47637"/>
                </a:lnTo>
                <a:cubicBezTo>
                  <a:pt x="0" y="21345"/>
                  <a:pt x="21345" y="0"/>
                  <a:pt x="47637" y="0"/>
                </a:cubicBezTo>
                <a:close/>
              </a:path>
            </a:pathLst>
          </a:custGeom>
          <a:solidFill>
            <a:srgbClr val="A67B5C"/>
          </a:solidFill>
          <a:ln/>
        </p:spPr>
      </p:sp>
      <p:sp>
        <p:nvSpPr>
          <p:cNvPr id="12" name="Text 10"/>
          <p:cNvSpPr/>
          <p:nvPr/>
        </p:nvSpPr>
        <p:spPr>
          <a:xfrm>
            <a:off x="1000369" y="2572378"/>
            <a:ext cx="6621492" cy="333456"/>
          </a:xfrm>
          <a:prstGeom prst="rect">
            <a:avLst/>
          </a:prstGeom>
          <a:noFill/>
          <a:ln/>
        </p:spPr>
        <p:txBody>
          <a:bodyPr wrap="square" lIns="0" tIns="0" rIns="0" bIns="0" rtlCol="0" anchor="ctr"/>
          <a:lstStyle/>
          <a:p>
            <a:pPr>
              <a:lnSpc>
                <a:spcPct val="130000"/>
              </a:lnSpc>
            </a:pPr>
            <a:r>
              <a:rPr lang="en-US" sz="1688" b="1" dirty="0">
                <a:solidFill>
                  <a:srgbClr val="495057"/>
                </a:solidFill>
                <a:latin typeface="MiSans" pitchFamily="34" charset="0"/>
                <a:ea typeface="MiSans" pitchFamily="34" charset="-122"/>
                <a:cs typeface="MiSans" pitchFamily="34" charset="-120"/>
              </a:rPr>
              <a:t>分析方法</a:t>
            </a:r>
            <a:endParaRPr lang="en-US" sz="1600" dirty="0"/>
          </a:p>
        </p:txBody>
      </p:sp>
      <p:sp>
        <p:nvSpPr>
          <p:cNvPr id="13" name="Text 11"/>
          <p:cNvSpPr/>
          <p:nvPr/>
        </p:nvSpPr>
        <p:spPr>
          <a:xfrm>
            <a:off x="1000369" y="3001108"/>
            <a:ext cx="6609582" cy="619276"/>
          </a:xfrm>
          <a:prstGeom prst="rect">
            <a:avLst/>
          </a:prstGeom>
          <a:noFill/>
          <a:ln/>
        </p:spPr>
        <p:txBody>
          <a:bodyPr wrap="square" lIns="0" tIns="0" rIns="0" bIns="0" rtlCol="0" anchor="ctr"/>
          <a:lstStyle/>
          <a:p>
            <a:pPr>
              <a:lnSpc>
                <a:spcPct val="140000"/>
              </a:lnSpc>
            </a:pPr>
            <a:r>
              <a:rPr lang="en-US" sz="1500" dirty="0">
                <a:solidFill>
                  <a:srgbClr val="495057">
                    <a:alpha val="80000"/>
                  </a:srgbClr>
                </a:solidFill>
                <a:latin typeface="MiSans" pitchFamily="34" charset="0"/>
                <a:ea typeface="MiSans" pitchFamily="34" charset="-122"/>
                <a:cs typeface="MiSans" pitchFamily="34" charset="-120"/>
              </a:rPr>
              <a:t>通过计算</a:t>
            </a:r>
            <a:pPr>
              <a:lnSpc>
                <a:spcPct val="140000"/>
              </a:lnSpc>
            </a:pPr>
            <a:r>
              <a:rPr lang="en-US" sz="1500" b="1" dirty="0">
                <a:solidFill>
                  <a:srgbClr val="A67B5C"/>
                </a:solidFill>
                <a:latin typeface="MiSans" pitchFamily="34" charset="0"/>
                <a:ea typeface="MiSans" pitchFamily="34" charset="-122"/>
                <a:cs typeface="MiSans" pitchFamily="34" charset="-120"/>
              </a:rPr>
              <a:t>信息增益比</a:t>
            </a:r>
            <a:pPr>
              <a:lnSpc>
                <a:spcPct val="140000"/>
              </a:lnSpc>
            </a:pPr>
            <a:r>
              <a:rPr lang="en-US" sz="1500" dirty="0">
                <a:solidFill>
                  <a:srgbClr val="495057">
                    <a:alpha val="80000"/>
                  </a:srgbClr>
                </a:solidFill>
                <a:latin typeface="MiSans" pitchFamily="34" charset="0"/>
                <a:ea typeface="MiSans" pitchFamily="34" charset="-122"/>
                <a:cs typeface="MiSans" pitchFamily="34" charset="-120"/>
              </a:rPr>
              <a:t>量化对象和场景与情感的相关性，识别对情感分类贡献最大的视觉语义特征。</a:t>
            </a:r>
            <a:endParaRPr lang="en-US" sz="1600" dirty="0"/>
          </a:p>
        </p:txBody>
      </p:sp>
      <p:sp>
        <p:nvSpPr>
          <p:cNvPr id="14" name="Shape 12"/>
          <p:cNvSpPr/>
          <p:nvPr/>
        </p:nvSpPr>
        <p:spPr>
          <a:xfrm>
            <a:off x="762186" y="4001477"/>
            <a:ext cx="6943039" cy="3834749"/>
          </a:xfrm>
          <a:custGeom>
            <a:avLst/>
            <a:gdLst/>
            <a:ahLst/>
            <a:cxnLst/>
            <a:rect l="l" t="t" r="r" b="b"/>
            <a:pathLst>
              <a:path w="6943039" h="3834749">
                <a:moveTo>
                  <a:pt x="95255" y="0"/>
                </a:moveTo>
                <a:lnTo>
                  <a:pt x="6847784" y="0"/>
                </a:lnTo>
                <a:cubicBezTo>
                  <a:pt x="6900392" y="0"/>
                  <a:pt x="6943039" y="42647"/>
                  <a:pt x="6943039" y="95255"/>
                </a:cubicBezTo>
                <a:lnTo>
                  <a:pt x="6943039" y="3739494"/>
                </a:lnTo>
                <a:cubicBezTo>
                  <a:pt x="6943039" y="3792102"/>
                  <a:pt x="6900392" y="3834749"/>
                  <a:pt x="6847784" y="3834749"/>
                </a:cubicBezTo>
                <a:lnTo>
                  <a:pt x="95255" y="3834749"/>
                </a:lnTo>
                <a:cubicBezTo>
                  <a:pt x="42647" y="3834749"/>
                  <a:pt x="0" y="3792102"/>
                  <a:pt x="0" y="3739494"/>
                </a:cubicBezTo>
                <a:lnTo>
                  <a:pt x="0" y="95255"/>
                </a:lnTo>
                <a:cubicBezTo>
                  <a:pt x="0" y="42647"/>
                  <a:pt x="42647" y="0"/>
                  <a:pt x="95255" y="0"/>
                </a:cubicBezTo>
                <a:close/>
              </a:path>
            </a:pathLst>
          </a:custGeom>
          <a:solidFill>
            <a:srgbClr val="495057">
              <a:alpha val="5098"/>
            </a:srgbClr>
          </a:solidFill>
          <a:ln/>
        </p:spPr>
      </p:sp>
      <p:sp>
        <p:nvSpPr>
          <p:cNvPr id="15" name="Text 13"/>
          <p:cNvSpPr/>
          <p:nvPr/>
        </p:nvSpPr>
        <p:spPr>
          <a:xfrm>
            <a:off x="952733" y="4192023"/>
            <a:ext cx="6669128" cy="333456"/>
          </a:xfrm>
          <a:prstGeom prst="rect">
            <a:avLst/>
          </a:prstGeom>
          <a:noFill/>
          <a:ln/>
        </p:spPr>
        <p:txBody>
          <a:bodyPr wrap="square" lIns="0" tIns="0" rIns="0" bIns="0" rtlCol="0" anchor="ctr"/>
          <a:lstStyle/>
          <a:p>
            <a:pPr>
              <a:lnSpc>
                <a:spcPct val="130000"/>
              </a:lnSpc>
            </a:pPr>
            <a:r>
              <a:rPr lang="en-US" sz="1688" b="1" dirty="0">
                <a:solidFill>
                  <a:srgbClr val="495057"/>
                </a:solidFill>
                <a:latin typeface="MiSans" pitchFamily="34" charset="0"/>
                <a:ea typeface="MiSans" pitchFamily="34" charset="-122"/>
                <a:cs typeface="MiSans" pitchFamily="34" charset="-120"/>
              </a:rPr>
              <a:t>关键发现</a:t>
            </a:r>
            <a:endParaRPr lang="en-US" sz="1600" dirty="0"/>
          </a:p>
        </p:txBody>
      </p:sp>
      <p:sp>
        <p:nvSpPr>
          <p:cNvPr id="16" name="Shape 14"/>
          <p:cNvSpPr/>
          <p:nvPr/>
        </p:nvSpPr>
        <p:spPr>
          <a:xfrm>
            <a:off x="976551" y="5630612"/>
            <a:ext cx="190547" cy="190547"/>
          </a:xfrm>
          <a:custGeom>
            <a:avLst/>
            <a:gdLst/>
            <a:ahLst/>
            <a:cxnLst/>
            <a:rect l="l" t="t" r="r" b="b"/>
            <a:pathLst>
              <a:path w="190547" h="190547">
                <a:moveTo>
                  <a:pt x="95273" y="190547"/>
                </a:moveTo>
                <a:cubicBezTo>
                  <a:pt x="147856" y="190547"/>
                  <a:pt x="190547" y="147856"/>
                  <a:pt x="190547" y="95273"/>
                </a:cubicBezTo>
                <a:cubicBezTo>
                  <a:pt x="190547" y="42691"/>
                  <a:pt x="147856" y="0"/>
                  <a:pt x="95273" y="0"/>
                </a:cubicBezTo>
                <a:cubicBezTo>
                  <a:pt x="42691" y="0"/>
                  <a:pt x="0" y="42691"/>
                  <a:pt x="0" y="95273"/>
                </a:cubicBezTo>
                <a:cubicBezTo>
                  <a:pt x="0" y="147856"/>
                  <a:pt x="42691" y="190547"/>
                  <a:pt x="95273" y="190547"/>
                </a:cubicBezTo>
                <a:close/>
                <a:moveTo>
                  <a:pt x="126684" y="79159"/>
                </a:moveTo>
                <a:lnTo>
                  <a:pt x="96911" y="126795"/>
                </a:lnTo>
                <a:cubicBezTo>
                  <a:pt x="95348" y="129289"/>
                  <a:pt x="92668" y="130852"/>
                  <a:pt x="89728" y="131001"/>
                </a:cubicBezTo>
                <a:cubicBezTo>
                  <a:pt x="86788" y="131150"/>
                  <a:pt x="83960" y="129810"/>
                  <a:pt x="82210" y="127428"/>
                </a:cubicBezTo>
                <a:lnTo>
                  <a:pt x="64347" y="103610"/>
                </a:lnTo>
                <a:cubicBezTo>
                  <a:pt x="61369" y="99665"/>
                  <a:pt x="62188" y="94082"/>
                  <a:pt x="66133" y="91105"/>
                </a:cubicBezTo>
                <a:cubicBezTo>
                  <a:pt x="70078" y="88128"/>
                  <a:pt x="75660" y="88947"/>
                  <a:pt x="78638" y="92891"/>
                </a:cubicBezTo>
                <a:lnTo>
                  <a:pt x="88686" y="106289"/>
                </a:lnTo>
                <a:lnTo>
                  <a:pt x="111537" y="69706"/>
                </a:lnTo>
                <a:cubicBezTo>
                  <a:pt x="114142" y="65538"/>
                  <a:pt x="119650" y="64235"/>
                  <a:pt x="123855" y="66877"/>
                </a:cubicBezTo>
                <a:cubicBezTo>
                  <a:pt x="128061" y="69520"/>
                  <a:pt x="129326" y="74990"/>
                  <a:pt x="126684" y="79196"/>
                </a:cubicBezTo>
                <a:close/>
              </a:path>
            </a:pathLst>
          </a:custGeom>
          <a:solidFill>
            <a:srgbClr val="A67B5C"/>
          </a:solidFill>
          <a:ln/>
        </p:spPr>
      </p:sp>
      <p:sp>
        <p:nvSpPr>
          <p:cNvPr id="17" name="Text 15"/>
          <p:cNvSpPr/>
          <p:nvPr/>
        </p:nvSpPr>
        <p:spPr>
          <a:xfrm>
            <a:off x="1333826" y="5582976"/>
            <a:ext cx="4477843" cy="285820"/>
          </a:xfrm>
          <a:prstGeom prst="rect">
            <a:avLst/>
          </a:prstGeom>
          <a:noFill/>
          <a:ln/>
        </p:spPr>
        <p:txBody>
          <a:bodyPr wrap="square" lIns="0" tIns="0" rIns="0" bIns="0" rtlCol="0" anchor="ctr"/>
          <a:lstStyle/>
          <a:p>
            <a:pPr>
              <a:lnSpc>
                <a:spcPct val="130000"/>
              </a:lnSpc>
            </a:pPr>
            <a:r>
              <a:rPr lang="en-US" sz="1500" b="1" dirty="0">
                <a:solidFill>
                  <a:srgbClr val="495057">
                    <a:alpha val="80000"/>
                  </a:srgbClr>
                </a:solidFill>
                <a:latin typeface="MiSans" pitchFamily="34" charset="0"/>
                <a:ea typeface="MiSans" pitchFamily="34" charset="-122"/>
                <a:cs typeface="MiSans" pitchFamily="34" charset="-120"/>
              </a:rPr>
              <a:t>负面对象：</a:t>
            </a:r>
            <a:pPr>
              <a:lnSpc>
                <a:spcPct val="130000"/>
              </a:lnSpc>
            </a:pPr>
            <a:r>
              <a:rPr lang="en-US" sz="1500" dirty="0">
                <a:solidFill>
                  <a:srgbClr val="495057">
                    <a:alpha val="80000"/>
                  </a:srgbClr>
                </a:solidFill>
                <a:latin typeface="MiSans" pitchFamily="34" charset="0"/>
                <a:ea typeface="MiSans" pitchFamily="34" charset="-122"/>
                <a:cs typeface="MiSans" pitchFamily="34" charset="-120"/>
              </a:rPr>
              <a:t>监狱、警车、残骸等与负面情感高度相关</a:t>
            </a:r>
            <a:endParaRPr lang="en-US" sz="1600" dirty="0"/>
          </a:p>
        </p:txBody>
      </p:sp>
      <p:sp>
        <p:nvSpPr>
          <p:cNvPr id="18" name="Shape 16"/>
          <p:cNvSpPr/>
          <p:nvPr/>
        </p:nvSpPr>
        <p:spPr>
          <a:xfrm>
            <a:off x="976551" y="6059342"/>
            <a:ext cx="190547" cy="190547"/>
          </a:xfrm>
          <a:custGeom>
            <a:avLst/>
            <a:gdLst/>
            <a:ahLst/>
            <a:cxnLst/>
            <a:rect l="l" t="t" r="r" b="b"/>
            <a:pathLst>
              <a:path w="190547" h="190547">
                <a:moveTo>
                  <a:pt x="95273" y="190547"/>
                </a:moveTo>
                <a:cubicBezTo>
                  <a:pt x="147856" y="190547"/>
                  <a:pt x="190547" y="147856"/>
                  <a:pt x="190547" y="95273"/>
                </a:cubicBezTo>
                <a:cubicBezTo>
                  <a:pt x="190547" y="42691"/>
                  <a:pt x="147856" y="0"/>
                  <a:pt x="95273" y="0"/>
                </a:cubicBezTo>
                <a:cubicBezTo>
                  <a:pt x="42691" y="0"/>
                  <a:pt x="0" y="42691"/>
                  <a:pt x="0" y="95273"/>
                </a:cubicBezTo>
                <a:cubicBezTo>
                  <a:pt x="0" y="147856"/>
                  <a:pt x="42691" y="190547"/>
                  <a:pt x="95273" y="190547"/>
                </a:cubicBezTo>
                <a:close/>
                <a:moveTo>
                  <a:pt x="126684" y="79159"/>
                </a:moveTo>
                <a:lnTo>
                  <a:pt x="96911" y="126795"/>
                </a:lnTo>
                <a:cubicBezTo>
                  <a:pt x="95348" y="129289"/>
                  <a:pt x="92668" y="130852"/>
                  <a:pt x="89728" y="131001"/>
                </a:cubicBezTo>
                <a:cubicBezTo>
                  <a:pt x="86788" y="131150"/>
                  <a:pt x="83960" y="129810"/>
                  <a:pt x="82210" y="127428"/>
                </a:cubicBezTo>
                <a:lnTo>
                  <a:pt x="64347" y="103610"/>
                </a:lnTo>
                <a:cubicBezTo>
                  <a:pt x="61369" y="99665"/>
                  <a:pt x="62188" y="94082"/>
                  <a:pt x="66133" y="91105"/>
                </a:cubicBezTo>
                <a:cubicBezTo>
                  <a:pt x="70078" y="88128"/>
                  <a:pt x="75660" y="88947"/>
                  <a:pt x="78638" y="92891"/>
                </a:cubicBezTo>
                <a:lnTo>
                  <a:pt x="88686" y="106289"/>
                </a:lnTo>
                <a:lnTo>
                  <a:pt x="111537" y="69706"/>
                </a:lnTo>
                <a:cubicBezTo>
                  <a:pt x="114142" y="65538"/>
                  <a:pt x="119650" y="64235"/>
                  <a:pt x="123855" y="66877"/>
                </a:cubicBezTo>
                <a:cubicBezTo>
                  <a:pt x="128061" y="69520"/>
                  <a:pt x="129326" y="74990"/>
                  <a:pt x="126684" y="79196"/>
                </a:cubicBezTo>
                <a:close/>
              </a:path>
            </a:pathLst>
          </a:custGeom>
          <a:solidFill>
            <a:srgbClr val="A67B5C"/>
          </a:solidFill>
          <a:ln/>
        </p:spPr>
      </p:sp>
      <p:sp>
        <p:nvSpPr>
          <p:cNvPr id="19" name="Text 17"/>
          <p:cNvSpPr/>
          <p:nvPr/>
        </p:nvSpPr>
        <p:spPr>
          <a:xfrm>
            <a:off x="1333826" y="6011705"/>
            <a:ext cx="5049483" cy="285820"/>
          </a:xfrm>
          <a:prstGeom prst="rect">
            <a:avLst/>
          </a:prstGeom>
          <a:noFill/>
          <a:ln/>
        </p:spPr>
        <p:txBody>
          <a:bodyPr wrap="square" lIns="0" tIns="0" rIns="0" bIns="0" rtlCol="0" anchor="ctr"/>
          <a:lstStyle/>
          <a:p>
            <a:pPr>
              <a:lnSpc>
                <a:spcPct val="130000"/>
              </a:lnSpc>
            </a:pPr>
            <a:r>
              <a:rPr lang="en-US" sz="1500" b="1" dirty="0">
                <a:solidFill>
                  <a:srgbClr val="495057">
                    <a:alpha val="80000"/>
                  </a:srgbClr>
                </a:solidFill>
                <a:latin typeface="MiSans" pitchFamily="34" charset="0"/>
                <a:ea typeface="MiSans" pitchFamily="34" charset="-122"/>
                <a:cs typeface="MiSans" pitchFamily="34" charset="-120"/>
              </a:rPr>
              <a:t>正面场景：</a:t>
            </a:r>
            <a:pPr>
              <a:lnSpc>
                <a:spcPct val="130000"/>
              </a:lnSpc>
            </a:pPr>
            <a:r>
              <a:rPr lang="en-US" sz="1500" dirty="0">
                <a:solidFill>
                  <a:srgbClr val="495057">
                    <a:alpha val="80000"/>
                  </a:srgbClr>
                </a:solidFill>
                <a:latin typeface="MiSans" pitchFamily="34" charset="0"/>
                <a:ea typeface="MiSans" pitchFamily="34" charset="-122"/>
                <a:cs typeface="MiSans" pitchFamily="34" charset="-120"/>
              </a:rPr>
              <a:t>美容院、竞技场、游乐园等与正面情感高度相关</a:t>
            </a:r>
            <a:endParaRPr lang="en-US" sz="1600" dirty="0"/>
          </a:p>
        </p:txBody>
      </p:sp>
      <p:sp>
        <p:nvSpPr>
          <p:cNvPr id="20" name="Shape 18"/>
          <p:cNvSpPr/>
          <p:nvPr/>
        </p:nvSpPr>
        <p:spPr>
          <a:xfrm>
            <a:off x="976551" y="6488072"/>
            <a:ext cx="190547" cy="190547"/>
          </a:xfrm>
          <a:custGeom>
            <a:avLst/>
            <a:gdLst/>
            <a:ahLst/>
            <a:cxnLst/>
            <a:rect l="l" t="t" r="r" b="b"/>
            <a:pathLst>
              <a:path w="190547" h="190547">
                <a:moveTo>
                  <a:pt x="95273" y="190547"/>
                </a:moveTo>
                <a:cubicBezTo>
                  <a:pt x="147856" y="190547"/>
                  <a:pt x="190547" y="147856"/>
                  <a:pt x="190547" y="95273"/>
                </a:cubicBezTo>
                <a:cubicBezTo>
                  <a:pt x="190547" y="42691"/>
                  <a:pt x="147856" y="0"/>
                  <a:pt x="95273" y="0"/>
                </a:cubicBezTo>
                <a:cubicBezTo>
                  <a:pt x="42691" y="0"/>
                  <a:pt x="0" y="42691"/>
                  <a:pt x="0" y="95273"/>
                </a:cubicBezTo>
                <a:cubicBezTo>
                  <a:pt x="0" y="147856"/>
                  <a:pt x="42691" y="190547"/>
                  <a:pt x="95273" y="190547"/>
                </a:cubicBezTo>
                <a:close/>
                <a:moveTo>
                  <a:pt x="126684" y="79159"/>
                </a:moveTo>
                <a:lnTo>
                  <a:pt x="96911" y="126795"/>
                </a:lnTo>
                <a:cubicBezTo>
                  <a:pt x="95348" y="129289"/>
                  <a:pt x="92668" y="130852"/>
                  <a:pt x="89728" y="131001"/>
                </a:cubicBezTo>
                <a:cubicBezTo>
                  <a:pt x="86788" y="131150"/>
                  <a:pt x="83960" y="129810"/>
                  <a:pt x="82210" y="127428"/>
                </a:cubicBezTo>
                <a:lnTo>
                  <a:pt x="64347" y="103610"/>
                </a:lnTo>
                <a:cubicBezTo>
                  <a:pt x="61369" y="99665"/>
                  <a:pt x="62188" y="94082"/>
                  <a:pt x="66133" y="91105"/>
                </a:cubicBezTo>
                <a:cubicBezTo>
                  <a:pt x="70078" y="88128"/>
                  <a:pt x="75660" y="88947"/>
                  <a:pt x="78638" y="92891"/>
                </a:cubicBezTo>
                <a:lnTo>
                  <a:pt x="88686" y="106289"/>
                </a:lnTo>
                <a:lnTo>
                  <a:pt x="111537" y="69706"/>
                </a:lnTo>
                <a:cubicBezTo>
                  <a:pt x="114142" y="65538"/>
                  <a:pt x="119650" y="64235"/>
                  <a:pt x="123855" y="66877"/>
                </a:cubicBezTo>
                <a:cubicBezTo>
                  <a:pt x="128061" y="69520"/>
                  <a:pt x="129326" y="74990"/>
                  <a:pt x="126684" y="79196"/>
                </a:cubicBezTo>
                <a:close/>
              </a:path>
            </a:pathLst>
          </a:custGeom>
          <a:solidFill>
            <a:srgbClr val="A67B5C"/>
          </a:solidFill>
          <a:ln/>
        </p:spPr>
      </p:sp>
      <p:sp>
        <p:nvSpPr>
          <p:cNvPr id="21" name="Text 19"/>
          <p:cNvSpPr/>
          <p:nvPr/>
        </p:nvSpPr>
        <p:spPr>
          <a:xfrm>
            <a:off x="1333826" y="6440435"/>
            <a:ext cx="4287297" cy="285820"/>
          </a:xfrm>
          <a:prstGeom prst="rect">
            <a:avLst/>
          </a:prstGeom>
          <a:noFill/>
          <a:ln/>
        </p:spPr>
        <p:txBody>
          <a:bodyPr wrap="square" lIns="0" tIns="0" rIns="0" bIns="0" rtlCol="0" anchor="ctr"/>
          <a:lstStyle/>
          <a:p>
            <a:pPr>
              <a:lnSpc>
                <a:spcPct val="130000"/>
              </a:lnSpc>
            </a:pPr>
            <a:r>
              <a:rPr lang="en-US" sz="1500" dirty="0">
                <a:solidFill>
                  <a:srgbClr val="495057">
                    <a:alpha val="80000"/>
                  </a:srgbClr>
                </a:solidFill>
                <a:latin typeface="MiSans" pitchFamily="34" charset="0"/>
                <a:ea typeface="MiSans" pitchFamily="34" charset="-122"/>
                <a:cs typeface="MiSans" pitchFamily="34" charset="-120"/>
              </a:rPr>
              <a:t>这些视觉语义特征与人类情感判断具有</a:t>
            </a:r>
            <a:pPr>
              <a:lnSpc>
                <a:spcPct val="130000"/>
              </a:lnSpc>
            </a:pPr>
            <a:r>
              <a:rPr lang="en-US" sz="1500" b="1" dirty="0">
                <a:solidFill>
                  <a:srgbClr val="A67B5C"/>
                </a:solidFill>
                <a:latin typeface="MiSans" pitchFamily="34" charset="0"/>
                <a:ea typeface="MiSans" pitchFamily="34" charset="-122"/>
                <a:cs typeface="MiSans" pitchFamily="34" charset="-120"/>
              </a:rPr>
              <a:t>高度相关性</a:t>
            </a:r>
            <a:endParaRPr lang="en-US" sz="1600" dirty="0"/>
          </a:p>
        </p:txBody>
      </p:sp>
      <p:sp>
        <p:nvSpPr>
          <p:cNvPr id="22" name="Shape 20"/>
          <p:cNvSpPr/>
          <p:nvPr/>
        </p:nvSpPr>
        <p:spPr>
          <a:xfrm>
            <a:off x="762186" y="8021934"/>
            <a:ext cx="6943039" cy="666913"/>
          </a:xfrm>
          <a:custGeom>
            <a:avLst/>
            <a:gdLst/>
            <a:ahLst/>
            <a:cxnLst/>
            <a:rect l="l" t="t" r="r" b="b"/>
            <a:pathLst>
              <a:path w="6943039" h="666913">
                <a:moveTo>
                  <a:pt x="95275" y="0"/>
                </a:moveTo>
                <a:lnTo>
                  <a:pt x="6847764" y="0"/>
                </a:lnTo>
                <a:cubicBezTo>
                  <a:pt x="6900383" y="0"/>
                  <a:pt x="6943039" y="42656"/>
                  <a:pt x="6943039" y="95275"/>
                </a:cubicBezTo>
                <a:lnTo>
                  <a:pt x="6943039" y="571638"/>
                </a:lnTo>
                <a:cubicBezTo>
                  <a:pt x="6943039" y="624257"/>
                  <a:pt x="6900383" y="666913"/>
                  <a:pt x="6847764" y="666913"/>
                </a:cubicBezTo>
                <a:lnTo>
                  <a:pt x="95275" y="666913"/>
                </a:lnTo>
                <a:cubicBezTo>
                  <a:pt x="42656" y="666913"/>
                  <a:pt x="0" y="624257"/>
                  <a:pt x="0" y="571638"/>
                </a:cubicBezTo>
                <a:lnTo>
                  <a:pt x="0" y="95275"/>
                </a:lnTo>
                <a:cubicBezTo>
                  <a:pt x="0" y="42656"/>
                  <a:pt x="42656" y="0"/>
                  <a:pt x="95275" y="0"/>
                </a:cubicBezTo>
                <a:close/>
              </a:path>
            </a:pathLst>
          </a:custGeom>
          <a:solidFill>
            <a:srgbClr val="495057"/>
          </a:solidFill>
          <a:ln/>
        </p:spPr>
      </p:sp>
      <p:sp>
        <p:nvSpPr>
          <p:cNvPr id="23" name="Shape 21"/>
          <p:cNvSpPr/>
          <p:nvPr/>
        </p:nvSpPr>
        <p:spPr>
          <a:xfrm>
            <a:off x="1000369" y="8248208"/>
            <a:ext cx="142910" cy="190547"/>
          </a:xfrm>
          <a:custGeom>
            <a:avLst/>
            <a:gdLst/>
            <a:ahLst/>
            <a:cxnLst/>
            <a:rect l="l" t="t" r="r" b="b"/>
            <a:pathLst>
              <a:path w="142910" h="190547">
                <a:moveTo>
                  <a:pt x="109006" y="142910"/>
                </a:moveTo>
                <a:cubicBezTo>
                  <a:pt x="111723" y="134611"/>
                  <a:pt x="117156" y="127093"/>
                  <a:pt x="123297" y="120617"/>
                </a:cubicBezTo>
                <a:cubicBezTo>
                  <a:pt x="135467" y="107815"/>
                  <a:pt x="142910" y="90510"/>
                  <a:pt x="142910" y="71455"/>
                </a:cubicBezTo>
                <a:cubicBezTo>
                  <a:pt x="142910" y="32006"/>
                  <a:pt x="110904" y="0"/>
                  <a:pt x="71455" y="0"/>
                </a:cubicBezTo>
                <a:cubicBezTo>
                  <a:pt x="32006" y="0"/>
                  <a:pt x="0" y="32006"/>
                  <a:pt x="0" y="71455"/>
                </a:cubicBezTo>
                <a:cubicBezTo>
                  <a:pt x="0" y="90510"/>
                  <a:pt x="7443" y="107815"/>
                  <a:pt x="19613" y="120617"/>
                </a:cubicBezTo>
                <a:cubicBezTo>
                  <a:pt x="25754" y="127093"/>
                  <a:pt x="31224" y="134611"/>
                  <a:pt x="33904" y="142910"/>
                </a:cubicBezTo>
                <a:lnTo>
                  <a:pt x="108969" y="142910"/>
                </a:lnTo>
                <a:close/>
                <a:moveTo>
                  <a:pt x="107182" y="160774"/>
                </a:moveTo>
                <a:lnTo>
                  <a:pt x="35727" y="160774"/>
                </a:lnTo>
                <a:lnTo>
                  <a:pt x="35727" y="166728"/>
                </a:lnTo>
                <a:cubicBezTo>
                  <a:pt x="35727" y="183178"/>
                  <a:pt x="49051" y="196501"/>
                  <a:pt x="65500" y="196501"/>
                </a:cubicBezTo>
                <a:lnTo>
                  <a:pt x="77410" y="196501"/>
                </a:lnTo>
                <a:cubicBezTo>
                  <a:pt x="93859" y="196501"/>
                  <a:pt x="107182" y="183178"/>
                  <a:pt x="107182" y="166728"/>
                </a:cubicBezTo>
                <a:lnTo>
                  <a:pt x="107182" y="160774"/>
                </a:lnTo>
                <a:close/>
                <a:moveTo>
                  <a:pt x="68478" y="41682"/>
                </a:moveTo>
                <a:cubicBezTo>
                  <a:pt x="53666" y="41682"/>
                  <a:pt x="41682" y="53666"/>
                  <a:pt x="41682" y="68478"/>
                </a:cubicBezTo>
                <a:cubicBezTo>
                  <a:pt x="41682" y="73427"/>
                  <a:pt x="37700" y="77410"/>
                  <a:pt x="32750" y="77410"/>
                </a:cubicBezTo>
                <a:cubicBezTo>
                  <a:pt x="27800" y="77410"/>
                  <a:pt x="23818" y="73427"/>
                  <a:pt x="23818" y="68478"/>
                </a:cubicBezTo>
                <a:cubicBezTo>
                  <a:pt x="23818" y="43803"/>
                  <a:pt x="43803" y="23818"/>
                  <a:pt x="68478" y="23818"/>
                </a:cubicBezTo>
                <a:cubicBezTo>
                  <a:pt x="73427" y="23818"/>
                  <a:pt x="77410" y="27800"/>
                  <a:pt x="77410" y="32750"/>
                </a:cubicBezTo>
                <a:cubicBezTo>
                  <a:pt x="77410" y="37700"/>
                  <a:pt x="73427" y="41682"/>
                  <a:pt x="68478" y="41682"/>
                </a:cubicBezTo>
                <a:close/>
              </a:path>
            </a:pathLst>
          </a:custGeom>
          <a:solidFill>
            <a:srgbClr val="A67B5C"/>
          </a:solidFill>
          <a:ln/>
        </p:spPr>
      </p:sp>
      <p:sp>
        <p:nvSpPr>
          <p:cNvPr id="24" name="Text 22"/>
          <p:cNvSpPr/>
          <p:nvPr/>
        </p:nvSpPr>
        <p:spPr>
          <a:xfrm>
            <a:off x="1280256" y="8212481"/>
            <a:ext cx="6329695" cy="285820"/>
          </a:xfrm>
          <a:prstGeom prst="rect">
            <a:avLst/>
          </a:prstGeom>
          <a:noFill/>
          <a:ln/>
        </p:spPr>
        <p:txBody>
          <a:bodyPr wrap="square" lIns="0" tIns="0" rIns="0" bIns="0" rtlCol="0" anchor="ctr"/>
          <a:lstStyle/>
          <a:p>
            <a:pPr>
              <a:lnSpc>
                <a:spcPct val="130000"/>
              </a:lnSpc>
            </a:pPr>
            <a:r>
              <a:rPr lang="en-US" sz="1500" dirty="0">
                <a:solidFill>
                  <a:srgbClr val="FFFFFF"/>
                </a:solidFill>
                <a:latin typeface="MiSans" pitchFamily="34" charset="0"/>
                <a:ea typeface="MiSans" pitchFamily="34" charset="-122"/>
                <a:cs typeface="MiSans" pitchFamily="34" charset="-120"/>
              </a:rPr>
              <a:t>验证模型设计的合理性：对象和场景确实是情感分析的关键线索</a:t>
            </a:r>
            <a:endParaRPr lang="en-US" sz="1600" dirty="0"/>
          </a:p>
        </p:txBody>
      </p:sp>
      <p:sp>
        <p:nvSpPr>
          <p:cNvPr id="25" name="Shape 23"/>
          <p:cNvSpPr/>
          <p:nvPr/>
        </p:nvSpPr>
        <p:spPr>
          <a:xfrm>
            <a:off x="8272864" y="1333826"/>
            <a:ext cx="7514678" cy="3727566"/>
          </a:xfrm>
          <a:custGeom>
            <a:avLst/>
            <a:gdLst/>
            <a:ahLst/>
            <a:cxnLst/>
            <a:rect l="l" t="t" r="r" b="b"/>
            <a:pathLst>
              <a:path w="7514678" h="3727566">
                <a:moveTo>
                  <a:pt x="95277" y="0"/>
                </a:moveTo>
                <a:lnTo>
                  <a:pt x="7419402" y="0"/>
                </a:lnTo>
                <a:cubicBezTo>
                  <a:pt x="7472022" y="0"/>
                  <a:pt x="7514678" y="42657"/>
                  <a:pt x="7514678" y="95277"/>
                </a:cubicBezTo>
                <a:lnTo>
                  <a:pt x="7514678" y="3632290"/>
                </a:lnTo>
                <a:cubicBezTo>
                  <a:pt x="7514678" y="3684910"/>
                  <a:pt x="7472022" y="3727566"/>
                  <a:pt x="7419402" y="3727566"/>
                </a:cubicBezTo>
                <a:lnTo>
                  <a:pt x="95277" y="3727566"/>
                </a:lnTo>
                <a:cubicBezTo>
                  <a:pt x="42657" y="3727566"/>
                  <a:pt x="0" y="3684910"/>
                  <a:pt x="0" y="3632290"/>
                </a:cubicBezTo>
                <a:lnTo>
                  <a:pt x="0" y="95277"/>
                </a:lnTo>
                <a:cubicBezTo>
                  <a:pt x="0" y="42692"/>
                  <a:pt x="42692" y="0"/>
                  <a:pt x="95277" y="0"/>
                </a:cubicBezTo>
                <a:close/>
              </a:path>
            </a:pathLst>
          </a:custGeom>
          <a:solidFill>
            <a:srgbClr val="FFFFFF"/>
          </a:solidFill>
          <a:ln/>
          <a:effectLst>
            <a:outerShdw sx="100000" sy="100000" kx="0" ky="0" algn="bl" rotWithShape="0" blurRad="71455" dist="47637" dir="5400000">
              <a:srgbClr val="000000">
                <a:alpha val="10196"/>
              </a:srgbClr>
            </a:outerShdw>
          </a:effectLst>
        </p:spPr>
      </p:sp>
      <p:sp>
        <p:nvSpPr>
          <p:cNvPr id="26" name="Shape 24"/>
          <p:cNvSpPr/>
          <p:nvPr/>
        </p:nvSpPr>
        <p:spPr>
          <a:xfrm>
            <a:off x="8511047" y="1572009"/>
            <a:ext cx="476366" cy="476366"/>
          </a:xfrm>
          <a:custGeom>
            <a:avLst/>
            <a:gdLst/>
            <a:ahLst/>
            <a:cxnLst/>
            <a:rect l="l" t="t" r="r" b="b"/>
            <a:pathLst>
              <a:path w="476366" h="476366">
                <a:moveTo>
                  <a:pt x="238183" y="0"/>
                </a:moveTo>
                <a:lnTo>
                  <a:pt x="238183" y="0"/>
                </a:lnTo>
                <a:cubicBezTo>
                  <a:pt x="369640" y="0"/>
                  <a:pt x="476366" y="106726"/>
                  <a:pt x="476366" y="238183"/>
                </a:cubicBezTo>
                <a:lnTo>
                  <a:pt x="476366" y="238183"/>
                </a:lnTo>
                <a:cubicBezTo>
                  <a:pt x="476366" y="369640"/>
                  <a:pt x="369640" y="476366"/>
                  <a:pt x="238183" y="476366"/>
                </a:cubicBezTo>
                <a:lnTo>
                  <a:pt x="238183" y="476366"/>
                </a:lnTo>
                <a:cubicBezTo>
                  <a:pt x="106726" y="476366"/>
                  <a:pt x="0" y="369640"/>
                  <a:pt x="0" y="238183"/>
                </a:cubicBezTo>
                <a:lnTo>
                  <a:pt x="0" y="238183"/>
                </a:lnTo>
                <a:cubicBezTo>
                  <a:pt x="0" y="106726"/>
                  <a:pt x="106726" y="0"/>
                  <a:pt x="238183" y="0"/>
                </a:cubicBezTo>
                <a:close/>
              </a:path>
            </a:pathLst>
          </a:custGeom>
          <a:solidFill>
            <a:srgbClr val="495057"/>
          </a:solidFill>
          <a:ln/>
        </p:spPr>
      </p:sp>
      <p:sp>
        <p:nvSpPr>
          <p:cNvPr id="27" name="Shape 25"/>
          <p:cNvSpPr/>
          <p:nvPr/>
        </p:nvSpPr>
        <p:spPr>
          <a:xfrm>
            <a:off x="8645025" y="1703010"/>
            <a:ext cx="214365" cy="214365"/>
          </a:xfrm>
          <a:custGeom>
            <a:avLst/>
            <a:gdLst/>
            <a:ahLst/>
            <a:cxnLst/>
            <a:rect l="l" t="t" r="r" b="b"/>
            <a:pathLst>
              <a:path w="214365" h="214365">
                <a:moveTo>
                  <a:pt x="160774" y="13398"/>
                </a:moveTo>
                <a:cubicBezTo>
                  <a:pt x="171869" y="13398"/>
                  <a:pt x="180870" y="22399"/>
                  <a:pt x="180870" y="33495"/>
                </a:cubicBezTo>
                <a:cubicBezTo>
                  <a:pt x="180870" y="36132"/>
                  <a:pt x="180326" y="38602"/>
                  <a:pt x="179447" y="40905"/>
                </a:cubicBezTo>
                <a:cubicBezTo>
                  <a:pt x="187988" y="43208"/>
                  <a:pt x="194268" y="50995"/>
                  <a:pt x="194268" y="60290"/>
                </a:cubicBezTo>
                <a:cubicBezTo>
                  <a:pt x="194268" y="64100"/>
                  <a:pt x="193180" y="67659"/>
                  <a:pt x="191337" y="70715"/>
                </a:cubicBezTo>
                <a:cubicBezTo>
                  <a:pt x="200632" y="72474"/>
                  <a:pt x="207666" y="80638"/>
                  <a:pt x="207666" y="90435"/>
                </a:cubicBezTo>
                <a:cubicBezTo>
                  <a:pt x="207666" y="98683"/>
                  <a:pt x="202684" y="105759"/>
                  <a:pt x="195566" y="108857"/>
                </a:cubicBezTo>
                <a:cubicBezTo>
                  <a:pt x="202684" y="111955"/>
                  <a:pt x="207666" y="119031"/>
                  <a:pt x="207666" y="127279"/>
                </a:cubicBezTo>
                <a:cubicBezTo>
                  <a:pt x="207666" y="138374"/>
                  <a:pt x="198664" y="147376"/>
                  <a:pt x="187569" y="147376"/>
                </a:cubicBezTo>
                <a:lnTo>
                  <a:pt x="120580" y="147376"/>
                </a:lnTo>
                <a:lnTo>
                  <a:pt x="132387" y="176851"/>
                </a:lnTo>
                <a:cubicBezTo>
                  <a:pt x="133434" y="179489"/>
                  <a:pt x="133978" y="182336"/>
                  <a:pt x="133978" y="185183"/>
                </a:cubicBezTo>
                <a:lnTo>
                  <a:pt x="133978" y="186941"/>
                </a:lnTo>
                <a:cubicBezTo>
                  <a:pt x="133978" y="198371"/>
                  <a:pt x="124725" y="207624"/>
                  <a:pt x="113295" y="207624"/>
                </a:cubicBezTo>
                <a:cubicBezTo>
                  <a:pt x="105466" y="207624"/>
                  <a:pt x="98306" y="203186"/>
                  <a:pt x="94789" y="196194"/>
                </a:cubicBezTo>
                <a:lnTo>
                  <a:pt x="71218" y="149176"/>
                </a:lnTo>
                <a:cubicBezTo>
                  <a:pt x="68413" y="143608"/>
                  <a:pt x="66989" y="137453"/>
                  <a:pt x="66989" y="131215"/>
                </a:cubicBezTo>
                <a:lnTo>
                  <a:pt x="66989" y="53089"/>
                </a:lnTo>
                <a:cubicBezTo>
                  <a:pt x="66989" y="44966"/>
                  <a:pt x="70715" y="37263"/>
                  <a:pt x="77037" y="32155"/>
                </a:cubicBezTo>
                <a:lnTo>
                  <a:pt x="82145" y="28094"/>
                </a:lnTo>
                <a:cubicBezTo>
                  <a:pt x="94036" y="18589"/>
                  <a:pt x="108773" y="13398"/>
                  <a:pt x="123972" y="13398"/>
                </a:cubicBezTo>
                <a:lnTo>
                  <a:pt x="160774" y="13398"/>
                </a:lnTo>
                <a:close/>
                <a:moveTo>
                  <a:pt x="33495" y="40193"/>
                </a:moveTo>
                <a:cubicBezTo>
                  <a:pt x="40905" y="40193"/>
                  <a:pt x="46892" y="46181"/>
                  <a:pt x="46892" y="53591"/>
                </a:cubicBezTo>
                <a:lnTo>
                  <a:pt x="46892" y="160774"/>
                </a:lnTo>
                <a:cubicBezTo>
                  <a:pt x="46892" y="168184"/>
                  <a:pt x="40905" y="174171"/>
                  <a:pt x="33495" y="174171"/>
                </a:cubicBezTo>
                <a:lnTo>
                  <a:pt x="13398" y="174171"/>
                </a:lnTo>
                <a:cubicBezTo>
                  <a:pt x="5987" y="174171"/>
                  <a:pt x="0" y="168184"/>
                  <a:pt x="0" y="160774"/>
                </a:cubicBezTo>
                <a:lnTo>
                  <a:pt x="0" y="53591"/>
                </a:lnTo>
                <a:cubicBezTo>
                  <a:pt x="0" y="46181"/>
                  <a:pt x="5987" y="40193"/>
                  <a:pt x="13398" y="40193"/>
                </a:cubicBezTo>
                <a:lnTo>
                  <a:pt x="33495" y="40193"/>
                </a:lnTo>
                <a:close/>
              </a:path>
            </a:pathLst>
          </a:custGeom>
          <a:solidFill>
            <a:srgbClr val="FFFFFF"/>
          </a:solidFill>
          <a:ln/>
        </p:spPr>
      </p:sp>
      <p:sp>
        <p:nvSpPr>
          <p:cNvPr id="28" name="Text 26"/>
          <p:cNvSpPr/>
          <p:nvPr/>
        </p:nvSpPr>
        <p:spPr>
          <a:xfrm>
            <a:off x="9130323" y="1643464"/>
            <a:ext cx="1774464" cy="333456"/>
          </a:xfrm>
          <a:prstGeom prst="rect">
            <a:avLst/>
          </a:prstGeom>
          <a:noFill/>
          <a:ln/>
        </p:spPr>
        <p:txBody>
          <a:bodyPr wrap="square" lIns="0" tIns="0" rIns="0" bIns="0" rtlCol="0" anchor="ctr"/>
          <a:lstStyle/>
          <a:p>
            <a:pPr>
              <a:lnSpc>
                <a:spcPct val="120000"/>
              </a:lnSpc>
            </a:pPr>
            <a:r>
              <a:rPr lang="en-US" sz="1875" b="1" dirty="0">
                <a:solidFill>
                  <a:srgbClr val="495057"/>
                </a:solidFill>
                <a:latin typeface="Noto Sans SC" pitchFamily="34" charset="0"/>
                <a:ea typeface="Noto Sans SC" pitchFamily="34" charset="-122"/>
                <a:cs typeface="Noto Sans SC" pitchFamily="34" charset="-120"/>
              </a:rPr>
              <a:t>Top10 负面对象</a:t>
            </a:r>
            <a:endParaRPr lang="en-US" sz="1600" dirty="0"/>
          </a:p>
        </p:txBody>
      </p:sp>
      <p:sp>
        <p:nvSpPr>
          <p:cNvPr id="29" name="Shape 27"/>
          <p:cNvSpPr/>
          <p:nvPr/>
        </p:nvSpPr>
        <p:spPr>
          <a:xfrm>
            <a:off x="8511047" y="2191285"/>
            <a:ext cx="3465565" cy="476366"/>
          </a:xfrm>
          <a:custGeom>
            <a:avLst/>
            <a:gdLst/>
            <a:ahLst/>
            <a:cxnLst/>
            <a:rect l="l" t="t" r="r" b="b"/>
            <a:pathLst>
              <a:path w="3465565" h="476366">
                <a:moveTo>
                  <a:pt x="47637" y="0"/>
                </a:moveTo>
                <a:lnTo>
                  <a:pt x="3417928" y="0"/>
                </a:lnTo>
                <a:cubicBezTo>
                  <a:pt x="3444237" y="0"/>
                  <a:pt x="3465565" y="21328"/>
                  <a:pt x="3465565" y="47637"/>
                </a:cubicBezTo>
                <a:lnTo>
                  <a:pt x="3465565" y="428730"/>
                </a:lnTo>
                <a:cubicBezTo>
                  <a:pt x="3465565" y="455039"/>
                  <a:pt x="3444237" y="476366"/>
                  <a:pt x="3417928" y="476366"/>
                </a:cubicBezTo>
                <a:lnTo>
                  <a:pt x="47637" y="476366"/>
                </a:lnTo>
                <a:cubicBezTo>
                  <a:pt x="21328" y="476366"/>
                  <a:pt x="0" y="455039"/>
                  <a:pt x="0" y="428730"/>
                </a:cubicBezTo>
                <a:lnTo>
                  <a:pt x="0" y="47637"/>
                </a:lnTo>
                <a:cubicBezTo>
                  <a:pt x="0" y="21345"/>
                  <a:pt x="21345" y="0"/>
                  <a:pt x="47637" y="0"/>
                </a:cubicBezTo>
                <a:close/>
              </a:path>
            </a:pathLst>
          </a:custGeom>
          <a:solidFill>
            <a:srgbClr val="495057">
              <a:alpha val="5098"/>
            </a:srgbClr>
          </a:solidFill>
          <a:ln/>
        </p:spPr>
      </p:sp>
      <p:sp>
        <p:nvSpPr>
          <p:cNvPr id="30" name="Shape 28"/>
          <p:cNvSpPr/>
          <p:nvPr/>
        </p:nvSpPr>
        <p:spPr>
          <a:xfrm>
            <a:off x="8606320" y="2310377"/>
            <a:ext cx="238183" cy="238183"/>
          </a:xfrm>
          <a:custGeom>
            <a:avLst/>
            <a:gdLst/>
            <a:ahLst/>
            <a:cxnLst/>
            <a:rect l="l" t="t" r="r" b="b"/>
            <a:pathLst>
              <a:path w="238183" h="238183">
                <a:moveTo>
                  <a:pt x="119092" y="0"/>
                </a:moveTo>
                <a:lnTo>
                  <a:pt x="119092" y="0"/>
                </a:lnTo>
                <a:cubicBezTo>
                  <a:pt x="184820" y="0"/>
                  <a:pt x="238183" y="53363"/>
                  <a:pt x="238183" y="119092"/>
                </a:cubicBezTo>
                <a:lnTo>
                  <a:pt x="238183" y="119092"/>
                </a:lnTo>
                <a:cubicBezTo>
                  <a:pt x="238183" y="184820"/>
                  <a:pt x="184820" y="238183"/>
                  <a:pt x="119092" y="238183"/>
                </a:cubicBezTo>
                <a:lnTo>
                  <a:pt x="119092" y="238183"/>
                </a:lnTo>
                <a:cubicBezTo>
                  <a:pt x="53363" y="238183"/>
                  <a:pt x="0" y="184820"/>
                  <a:pt x="0" y="119092"/>
                </a:cubicBezTo>
                <a:lnTo>
                  <a:pt x="0" y="119092"/>
                </a:lnTo>
                <a:cubicBezTo>
                  <a:pt x="0" y="53363"/>
                  <a:pt x="53363" y="0"/>
                  <a:pt x="119092" y="0"/>
                </a:cubicBezTo>
                <a:close/>
              </a:path>
            </a:pathLst>
          </a:custGeom>
          <a:solidFill>
            <a:srgbClr val="495057"/>
          </a:solidFill>
          <a:ln/>
        </p:spPr>
      </p:sp>
      <p:sp>
        <p:nvSpPr>
          <p:cNvPr id="31" name="Text 29"/>
          <p:cNvSpPr/>
          <p:nvPr/>
        </p:nvSpPr>
        <p:spPr>
          <a:xfrm>
            <a:off x="8570593" y="2310377"/>
            <a:ext cx="309638" cy="238183"/>
          </a:xfrm>
          <a:prstGeom prst="rect">
            <a:avLst/>
          </a:prstGeom>
          <a:noFill/>
          <a:ln/>
        </p:spPr>
        <p:txBody>
          <a:bodyPr wrap="square" lIns="0" tIns="0" rIns="0" bIns="0" rtlCol="0" anchor="ctr"/>
          <a:lstStyle/>
          <a:p>
            <a:pPr algn="ctr">
              <a:lnSpc>
                <a:spcPct val="110000"/>
              </a:lnSpc>
            </a:pPr>
            <a:r>
              <a:rPr lang="en-US" sz="1125" b="1" dirty="0">
                <a:solidFill>
                  <a:srgbClr val="FFFFFF"/>
                </a:solidFill>
                <a:latin typeface="MiSans" pitchFamily="34" charset="0"/>
                <a:ea typeface="MiSans" pitchFamily="34" charset="-122"/>
                <a:cs typeface="MiSans" pitchFamily="34" charset="-120"/>
              </a:rPr>
              <a:t>1</a:t>
            </a:r>
            <a:endParaRPr lang="en-US" sz="1600" dirty="0"/>
          </a:p>
        </p:txBody>
      </p:sp>
      <p:sp>
        <p:nvSpPr>
          <p:cNvPr id="32" name="Text 30"/>
          <p:cNvSpPr/>
          <p:nvPr/>
        </p:nvSpPr>
        <p:spPr>
          <a:xfrm>
            <a:off x="8939777" y="2286558"/>
            <a:ext cx="1155188" cy="285820"/>
          </a:xfrm>
          <a:prstGeom prst="rect">
            <a:avLst/>
          </a:prstGeom>
          <a:noFill/>
          <a:ln/>
        </p:spPr>
        <p:txBody>
          <a:bodyPr wrap="square" lIns="0" tIns="0" rIns="0" bIns="0" rtlCol="0" anchor="ctr"/>
          <a:lstStyle/>
          <a:p>
            <a:pPr>
              <a:lnSpc>
                <a:spcPct val="130000"/>
              </a:lnSpc>
            </a:pPr>
            <a:r>
              <a:rPr lang="en-US" sz="1500" dirty="0">
                <a:solidFill>
                  <a:srgbClr val="495057"/>
                </a:solidFill>
                <a:latin typeface="MiSans" pitchFamily="34" charset="0"/>
                <a:ea typeface="MiSans" pitchFamily="34" charset="-122"/>
                <a:cs typeface="MiSans" pitchFamily="34" charset="-120"/>
              </a:rPr>
              <a:t>prison (监狱)</a:t>
            </a:r>
            <a:endParaRPr lang="en-US" sz="1600" dirty="0"/>
          </a:p>
        </p:txBody>
      </p:sp>
      <p:sp>
        <p:nvSpPr>
          <p:cNvPr id="33" name="Shape 31"/>
          <p:cNvSpPr/>
          <p:nvPr/>
        </p:nvSpPr>
        <p:spPr>
          <a:xfrm>
            <a:off x="8511047" y="2715288"/>
            <a:ext cx="3465565" cy="476366"/>
          </a:xfrm>
          <a:custGeom>
            <a:avLst/>
            <a:gdLst/>
            <a:ahLst/>
            <a:cxnLst/>
            <a:rect l="l" t="t" r="r" b="b"/>
            <a:pathLst>
              <a:path w="3465565" h="476366">
                <a:moveTo>
                  <a:pt x="47637" y="0"/>
                </a:moveTo>
                <a:lnTo>
                  <a:pt x="3417928" y="0"/>
                </a:lnTo>
                <a:cubicBezTo>
                  <a:pt x="3444237" y="0"/>
                  <a:pt x="3465565" y="21328"/>
                  <a:pt x="3465565" y="47637"/>
                </a:cubicBezTo>
                <a:lnTo>
                  <a:pt x="3465565" y="428730"/>
                </a:lnTo>
                <a:cubicBezTo>
                  <a:pt x="3465565" y="455039"/>
                  <a:pt x="3444237" y="476366"/>
                  <a:pt x="3417928" y="476366"/>
                </a:cubicBezTo>
                <a:lnTo>
                  <a:pt x="47637" y="476366"/>
                </a:lnTo>
                <a:cubicBezTo>
                  <a:pt x="21328" y="476366"/>
                  <a:pt x="0" y="455039"/>
                  <a:pt x="0" y="428730"/>
                </a:cubicBezTo>
                <a:lnTo>
                  <a:pt x="0" y="47637"/>
                </a:lnTo>
                <a:cubicBezTo>
                  <a:pt x="0" y="21345"/>
                  <a:pt x="21345" y="0"/>
                  <a:pt x="47637" y="0"/>
                </a:cubicBezTo>
                <a:close/>
              </a:path>
            </a:pathLst>
          </a:custGeom>
          <a:solidFill>
            <a:srgbClr val="495057">
              <a:alpha val="5098"/>
            </a:srgbClr>
          </a:solidFill>
          <a:ln/>
        </p:spPr>
      </p:sp>
      <p:sp>
        <p:nvSpPr>
          <p:cNvPr id="34" name="Shape 32"/>
          <p:cNvSpPr/>
          <p:nvPr/>
        </p:nvSpPr>
        <p:spPr>
          <a:xfrm>
            <a:off x="8606320" y="2834379"/>
            <a:ext cx="238183" cy="238183"/>
          </a:xfrm>
          <a:custGeom>
            <a:avLst/>
            <a:gdLst/>
            <a:ahLst/>
            <a:cxnLst/>
            <a:rect l="l" t="t" r="r" b="b"/>
            <a:pathLst>
              <a:path w="238183" h="238183">
                <a:moveTo>
                  <a:pt x="119092" y="0"/>
                </a:moveTo>
                <a:lnTo>
                  <a:pt x="119092" y="0"/>
                </a:lnTo>
                <a:cubicBezTo>
                  <a:pt x="184820" y="0"/>
                  <a:pt x="238183" y="53363"/>
                  <a:pt x="238183" y="119092"/>
                </a:cubicBezTo>
                <a:lnTo>
                  <a:pt x="238183" y="119092"/>
                </a:lnTo>
                <a:cubicBezTo>
                  <a:pt x="238183" y="184820"/>
                  <a:pt x="184820" y="238183"/>
                  <a:pt x="119092" y="238183"/>
                </a:cubicBezTo>
                <a:lnTo>
                  <a:pt x="119092" y="238183"/>
                </a:lnTo>
                <a:cubicBezTo>
                  <a:pt x="53363" y="238183"/>
                  <a:pt x="0" y="184820"/>
                  <a:pt x="0" y="119092"/>
                </a:cubicBezTo>
                <a:lnTo>
                  <a:pt x="0" y="119092"/>
                </a:lnTo>
                <a:cubicBezTo>
                  <a:pt x="0" y="53363"/>
                  <a:pt x="53363" y="0"/>
                  <a:pt x="119092" y="0"/>
                </a:cubicBezTo>
                <a:close/>
              </a:path>
            </a:pathLst>
          </a:custGeom>
          <a:solidFill>
            <a:srgbClr val="495057"/>
          </a:solidFill>
          <a:ln/>
        </p:spPr>
      </p:sp>
      <p:sp>
        <p:nvSpPr>
          <p:cNvPr id="35" name="Text 33"/>
          <p:cNvSpPr/>
          <p:nvPr/>
        </p:nvSpPr>
        <p:spPr>
          <a:xfrm>
            <a:off x="8570593" y="2834379"/>
            <a:ext cx="309638" cy="238183"/>
          </a:xfrm>
          <a:prstGeom prst="rect">
            <a:avLst/>
          </a:prstGeom>
          <a:noFill/>
          <a:ln/>
        </p:spPr>
        <p:txBody>
          <a:bodyPr wrap="square" lIns="0" tIns="0" rIns="0" bIns="0" rtlCol="0" anchor="ctr"/>
          <a:lstStyle/>
          <a:p>
            <a:pPr algn="ctr">
              <a:lnSpc>
                <a:spcPct val="110000"/>
              </a:lnSpc>
            </a:pPr>
            <a:r>
              <a:rPr lang="en-US" sz="1125" b="1" dirty="0">
                <a:solidFill>
                  <a:srgbClr val="FFFFFF"/>
                </a:solidFill>
                <a:latin typeface="MiSans" pitchFamily="34" charset="0"/>
                <a:ea typeface="MiSans" pitchFamily="34" charset="-122"/>
                <a:cs typeface="MiSans" pitchFamily="34" charset="-120"/>
              </a:rPr>
              <a:t>2</a:t>
            </a:r>
            <a:endParaRPr lang="en-US" sz="1600" dirty="0"/>
          </a:p>
        </p:txBody>
      </p:sp>
      <p:sp>
        <p:nvSpPr>
          <p:cNvPr id="36" name="Text 34"/>
          <p:cNvSpPr/>
          <p:nvPr/>
        </p:nvSpPr>
        <p:spPr>
          <a:xfrm>
            <a:off x="8939777" y="2810561"/>
            <a:ext cx="1810192" cy="285820"/>
          </a:xfrm>
          <a:prstGeom prst="rect">
            <a:avLst/>
          </a:prstGeom>
          <a:noFill/>
          <a:ln/>
        </p:spPr>
        <p:txBody>
          <a:bodyPr wrap="square" lIns="0" tIns="0" rIns="0" bIns="0" rtlCol="0" anchor="ctr"/>
          <a:lstStyle/>
          <a:p>
            <a:pPr>
              <a:lnSpc>
                <a:spcPct val="130000"/>
              </a:lnSpc>
            </a:pPr>
            <a:r>
              <a:rPr lang="en-US" sz="1500" dirty="0">
                <a:solidFill>
                  <a:srgbClr val="495057"/>
                </a:solidFill>
                <a:latin typeface="Quattrocento Sans" pitchFamily="34" charset="0"/>
                <a:ea typeface="Quattrocento Sans" pitchFamily="34" charset="-122"/>
                <a:cs typeface="Quattrocento Sans" pitchFamily="34" charset="-120"/>
              </a:rPr>
              <a:t>hand-held computer</a:t>
            </a:r>
            <a:endParaRPr lang="en-US" sz="1600" dirty="0"/>
          </a:p>
        </p:txBody>
      </p:sp>
      <p:sp>
        <p:nvSpPr>
          <p:cNvPr id="37" name="Shape 35"/>
          <p:cNvSpPr/>
          <p:nvPr/>
        </p:nvSpPr>
        <p:spPr>
          <a:xfrm>
            <a:off x="8511047" y="3239291"/>
            <a:ext cx="3465565" cy="476366"/>
          </a:xfrm>
          <a:custGeom>
            <a:avLst/>
            <a:gdLst/>
            <a:ahLst/>
            <a:cxnLst/>
            <a:rect l="l" t="t" r="r" b="b"/>
            <a:pathLst>
              <a:path w="3465565" h="476366">
                <a:moveTo>
                  <a:pt x="47637" y="0"/>
                </a:moveTo>
                <a:lnTo>
                  <a:pt x="3417928" y="0"/>
                </a:lnTo>
                <a:cubicBezTo>
                  <a:pt x="3444237" y="0"/>
                  <a:pt x="3465565" y="21328"/>
                  <a:pt x="3465565" y="47637"/>
                </a:cubicBezTo>
                <a:lnTo>
                  <a:pt x="3465565" y="428730"/>
                </a:lnTo>
                <a:cubicBezTo>
                  <a:pt x="3465565" y="455039"/>
                  <a:pt x="3444237" y="476366"/>
                  <a:pt x="3417928" y="476366"/>
                </a:cubicBezTo>
                <a:lnTo>
                  <a:pt x="47637" y="476366"/>
                </a:lnTo>
                <a:cubicBezTo>
                  <a:pt x="21328" y="476366"/>
                  <a:pt x="0" y="455039"/>
                  <a:pt x="0" y="428730"/>
                </a:cubicBezTo>
                <a:lnTo>
                  <a:pt x="0" y="47637"/>
                </a:lnTo>
                <a:cubicBezTo>
                  <a:pt x="0" y="21345"/>
                  <a:pt x="21345" y="0"/>
                  <a:pt x="47637" y="0"/>
                </a:cubicBezTo>
                <a:close/>
              </a:path>
            </a:pathLst>
          </a:custGeom>
          <a:solidFill>
            <a:srgbClr val="495057">
              <a:alpha val="5098"/>
            </a:srgbClr>
          </a:solidFill>
          <a:ln/>
        </p:spPr>
      </p:sp>
      <p:sp>
        <p:nvSpPr>
          <p:cNvPr id="38" name="Shape 36"/>
          <p:cNvSpPr/>
          <p:nvPr/>
        </p:nvSpPr>
        <p:spPr>
          <a:xfrm>
            <a:off x="8606320" y="3358382"/>
            <a:ext cx="238183" cy="238183"/>
          </a:xfrm>
          <a:custGeom>
            <a:avLst/>
            <a:gdLst/>
            <a:ahLst/>
            <a:cxnLst/>
            <a:rect l="l" t="t" r="r" b="b"/>
            <a:pathLst>
              <a:path w="238183" h="238183">
                <a:moveTo>
                  <a:pt x="119092" y="0"/>
                </a:moveTo>
                <a:lnTo>
                  <a:pt x="119092" y="0"/>
                </a:lnTo>
                <a:cubicBezTo>
                  <a:pt x="184820" y="0"/>
                  <a:pt x="238183" y="53363"/>
                  <a:pt x="238183" y="119092"/>
                </a:cubicBezTo>
                <a:lnTo>
                  <a:pt x="238183" y="119092"/>
                </a:lnTo>
                <a:cubicBezTo>
                  <a:pt x="238183" y="184820"/>
                  <a:pt x="184820" y="238183"/>
                  <a:pt x="119092" y="238183"/>
                </a:cubicBezTo>
                <a:lnTo>
                  <a:pt x="119092" y="238183"/>
                </a:lnTo>
                <a:cubicBezTo>
                  <a:pt x="53363" y="238183"/>
                  <a:pt x="0" y="184820"/>
                  <a:pt x="0" y="119092"/>
                </a:cubicBezTo>
                <a:lnTo>
                  <a:pt x="0" y="119092"/>
                </a:lnTo>
                <a:cubicBezTo>
                  <a:pt x="0" y="53363"/>
                  <a:pt x="53363" y="0"/>
                  <a:pt x="119092" y="0"/>
                </a:cubicBezTo>
                <a:close/>
              </a:path>
            </a:pathLst>
          </a:custGeom>
          <a:solidFill>
            <a:srgbClr val="495057"/>
          </a:solidFill>
          <a:ln/>
        </p:spPr>
      </p:sp>
      <p:sp>
        <p:nvSpPr>
          <p:cNvPr id="39" name="Text 37"/>
          <p:cNvSpPr/>
          <p:nvPr/>
        </p:nvSpPr>
        <p:spPr>
          <a:xfrm>
            <a:off x="8570593" y="3358382"/>
            <a:ext cx="309638" cy="238183"/>
          </a:xfrm>
          <a:prstGeom prst="rect">
            <a:avLst/>
          </a:prstGeom>
          <a:noFill/>
          <a:ln/>
        </p:spPr>
        <p:txBody>
          <a:bodyPr wrap="square" lIns="0" tIns="0" rIns="0" bIns="0" rtlCol="0" anchor="ctr"/>
          <a:lstStyle/>
          <a:p>
            <a:pPr algn="ctr">
              <a:lnSpc>
                <a:spcPct val="110000"/>
              </a:lnSpc>
            </a:pPr>
            <a:r>
              <a:rPr lang="en-US" sz="1125" b="1" dirty="0">
                <a:solidFill>
                  <a:srgbClr val="FFFFFF"/>
                </a:solidFill>
                <a:latin typeface="MiSans" pitchFamily="34" charset="0"/>
                <a:ea typeface="MiSans" pitchFamily="34" charset="-122"/>
                <a:cs typeface="MiSans" pitchFamily="34" charset="-120"/>
              </a:rPr>
              <a:t>3</a:t>
            </a:r>
            <a:endParaRPr lang="en-US" sz="1600" dirty="0"/>
          </a:p>
        </p:txBody>
      </p:sp>
      <p:sp>
        <p:nvSpPr>
          <p:cNvPr id="40" name="Text 38"/>
          <p:cNvSpPr/>
          <p:nvPr/>
        </p:nvSpPr>
        <p:spPr>
          <a:xfrm>
            <a:off x="8939777" y="3334564"/>
            <a:ext cx="1488645" cy="285820"/>
          </a:xfrm>
          <a:prstGeom prst="rect">
            <a:avLst/>
          </a:prstGeom>
          <a:noFill/>
          <a:ln/>
        </p:spPr>
        <p:txBody>
          <a:bodyPr wrap="square" lIns="0" tIns="0" rIns="0" bIns="0" rtlCol="0" anchor="ctr"/>
          <a:lstStyle/>
          <a:p>
            <a:pPr>
              <a:lnSpc>
                <a:spcPct val="130000"/>
              </a:lnSpc>
            </a:pPr>
            <a:r>
              <a:rPr lang="en-US" sz="1500" dirty="0">
                <a:solidFill>
                  <a:srgbClr val="495057"/>
                </a:solidFill>
                <a:latin typeface="MiSans" pitchFamily="34" charset="0"/>
                <a:ea typeface="MiSans" pitchFamily="34" charset="-122"/>
                <a:cs typeface="MiSans" pitchFamily="34" charset="-120"/>
              </a:rPr>
              <a:t>police van (警车)</a:t>
            </a:r>
            <a:endParaRPr lang="en-US" sz="1600" dirty="0"/>
          </a:p>
        </p:txBody>
      </p:sp>
      <p:sp>
        <p:nvSpPr>
          <p:cNvPr id="41" name="Shape 39"/>
          <p:cNvSpPr/>
          <p:nvPr/>
        </p:nvSpPr>
        <p:spPr>
          <a:xfrm>
            <a:off x="8511047" y="3763294"/>
            <a:ext cx="3465565" cy="476366"/>
          </a:xfrm>
          <a:custGeom>
            <a:avLst/>
            <a:gdLst/>
            <a:ahLst/>
            <a:cxnLst/>
            <a:rect l="l" t="t" r="r" b="b"/>
            <a:pathLst>
              <a:path w="3465565" h="476366">
                <a:moveTo>
                  <a:pt x="47637" y="0"/>
                </a:moveTo>
                <a:lnTo>
                  <a:pt x="3417928" y="0"/>
                </a:lnTo>
                <a:cubicBezTo>
                  <a:pt x="3444237" y="0"/>
                  <a:pt x="3465565" y="21328"/>
                  <a:pt x="3465565" y="47637"/>
                </a:cubicBezTo>
                <a:lnTo>
                  <a:pt x="3465565" y="428730"/>
                </a:lnTo>
                <a:cubicBezTo>
                  <a:pt x="3465565" y="455039"/>
                  <a:pt x="3444237" y="476366"/>
                  <a:pt x="3417928" y="476366"/>
                </a:cubicBezTo>
                <a:lnTo>
                  <a:pt x="47637" y="476366"/>
                </a:lnTo>
                <a:cubicBezTo>
                  <a:pt x="21328" y="476366"/>
                  <a:pt x="0" y="455039"/>
                  <a:pt x="0" y="428730"/>
                </a:cubicBezTo>
                <a:lnTo>
                  <a:pt x="0" y="47637"/>
                </a:lnTo>
                <a:cubicBezTo>
                  <a:pt x="0" y="21345"/>
                  <a:pt x="21345" y="0"/>
                  <a:pt x="47637" y="0"/>
                </a:cubicBezTo>
                <a:close/>
              </a:path>
            </a:pathLst>
          </a:custGeom>
          <a:solidFill>
            <a:srgbClr val="495057">
              <a:alpha val="5098"/>
            </a:srgbClr>
          </a:solidFill>
          <a:ln/>
        </p:spPr>
      </p:sp>
      <p:sp>
        <p:nvSpPr>
          <p:cNvPr id="42" name="Shape 40"/>
          <p:cNvSpPr/>
          <p:nvPr/>
        </p:nvSpPr>
        <p:spPr>
          <a:xfrm>
            <a:off x="8606320" y="3882385"/>
            <a:ext cx="238183" cy="238183"/>
          </a:xfrm>
          <a:custGeom>
            <a:avLst/>
            <a:gdLst/>
            <a:ahLst/>
            <a:cxnLst/>
            <a:rect l="l" t="t" r="r" b="b"/>
            <a:pathLst>
              <a:path w="238183" h="238183">
                <a:moveTo>
                  <a:pt x="119092" y="0"/>
                </a:moveTo>
                <a:lnTo>
                  <a:pt x="119092" y="0"/>
                </a:lnTo>
                <a:cubicBezTo>
                  <a:pt x="184820" y="0"/>
                  <a:pt x="238183" y="53363"/>
                  <a:pt x="238183" y="119092"/>
                </a:cubicBezTo>
                <a:lnTo>
                  <a:pt x="238183" y="119092"/>
                </a:lnTo>
                <a:cubicBezTo>
                  <a:pt x="238183" y="184820"/>
                  <a:pt x="184820" y="238183"/>
                  <a:pt x="119092" y="238183"/>
                </a:cubicBezTo>
                <a:lnTo>
                  <a:pt x="119092" y="238183"/>
                </a:lnTo>
                <a:cubicBezTo>
                  <a:pt x="53363" y="238183"/>
                  <a:pt x="0" y="184820"/>
                  <a:pt x="0" y="119092"/>
                </a:cubicBezTo>
                <a:lnTo>
                  <a:pt x="0" y="119092"/>
                </a:lnTo>
                <a:cubicBezTo>
                  <a:pt x="0" y="53363"/>
                  <a:pt x="53363" y="0"/>
                  <a:pt x="119092" y="0"/>
                </a:cubicBezTo>
                <a:close/>
              </a:path>
            </a:pathLst>
          </a:custGeom>
          <a:solidFill>
            <a:srgbClr val="495057"/>
          </a:solidFill>
          <a:ln/>
        </p:spPr>
      </p:sp>
      <p:sp>
        <p:nvSpPr>
          <p:cNvPr id="43" name="Text 41"/>
          <p:cNvSpPr/>
          <p:nvPr/>
        </p:nvSpPr>
        <p:spPr>
          <a:xfrm>
            <a:off x="8570593" y="3882385"/>
            <a:ext cx="309638" cy="238183"/>
          </a:xfrm>
          <a:prstGeom prst="rect">
            <a:avLst/>
          </a:prstGeom>
          <a:noFill/>
          <a:ln/>
        </p:spPr>
        <p:txBody>
          <a:bodyPr wrap="square" lIns="0" tIns="0" rIns="0" bIns="0" rtlCol="0" anchor="ctr"/>
          <a:lstStyle/>
          <a:p>
            <a:pPr algn="ctr">
              <a:lnSpc>
                <a:spcPct val="110000"/>
              </a:lnSpc>
            </a:pPr>
            <a:r>
              <a:rPr lang="en-US" sz="1125" b="1" dirty="0">
                <a:solidFill>
                  <a:srgbClr val="FFFFFF"/>
                </a:solidFill>
                <a:latin typeface="MiSans" pitchFamily="34" charset="0"/>
                <a:ea typeface="MiSans" pitchFamily="34" charset="-122"/>
                <a:cs typeface="MiSans" pitchFamily="34" charset="-120"/>
              </a:rPr>
              <a:t>4</a:t>
            </a:r>
            <a:endParaRPr lang="en-US" sz="1600" dirty="0"/>
          </a:p>
        </p:txBody>
      </p:sp>
      <p:sp>
        <p:nvSpPr>
          <p:cNvPr id="44" name="Text 42"/>
          <p:cNvSpPr/>
          <p:nvPr/>
        </p:nvSpPr>
        <p:spPr>
          <a:xfrm>
            <a:off x="8939777" y="3858567"/>
            <a:ext cx="1083733" cy="285820"/>
          </a:xfrm>
          <a:prstGeom prst="rect">
            <a:avLst/>
          </a:prstGeom>
          <a:noFill/>
          <a:ln/>
        </p:spPr>
        <p:txBody>
          <a:bodyPr wrap="square" lIns="0" tIns="0" rIns="0" bIns="0" rtlCol="0" anchor="ctr"/>
          <a:lstStyle/>
          <a:p>
            <a:pPr>
              <a:lnSpc>
                <a:spcPct val="130000"/>
              </a:lnSpc>
            </a:pPr>
            <a:r>
              <a:rPr lang="en-US" sz="1500" dirty="0">
                <a:solidFill>
                  <a:srgbClr val="495057"/>
                </a:solidFill>
                <a:latin typeface="MiSans" pitchFamily="34" charset="0"/>
                <a:ea typeface="MiSans" pitchFamily="34" charset="-122"/>
                <a:cs typeface="MiSans" pitchFamily="34" charset="-120"/>
              </a:rPr>
              <a:t>bison (野牛)</a:t>
            </a:r>
            <a:endParaRPr lang="en-US" sz="1600" dirty="0"/>
          </a:p>
        </p:txBody>
      </p:sp>
      <p:sp>
        <p:nvSpPr>
          <p:cNvPr id="45" name="Shape 43"/>
          <p:cNvSpPr/>
          <p:nvPr/>
        </p:nvSpPr>
        <p:spPr>
          <a:xfrm>
            <a:off x="8511047" y="4287297"/>
            <a:ext cx="3465565" cy="476366"/>
          </a:xfrm>
          <a:custGeom>
            <a:avLst/>
            <a:gdLst/>
            <a:ahLst/>
            <a:cxnLst/>
            <a:rect l="l" t="t" r="r" b="b"/>
            <a:pathLst>
              <a:path w="3465565" h="476366">
                <a:moveTo>
                  <a:pt x="47637" y="0"/>
                </a:moveTo>
                <a:lnTo>
                  <a:pt x="3417928" y="0"/>
                </a:lnTo>
                <a:cubicBezTo>
                  <a:pt x="3444237" y="0"/>
                  <a:pt x="3465565" y="21328"/>
                  <a:pt x="3465565" y="47637"/>
                </a:cubicBezTo>
                <a:lnTo>
                  <a:pt x="3465565" y="428730"/>
                </a:lnTo>
                <a:cubicBezTo>
                  <a:pt x="3465565" y="455039"/>
                  <a:pt x="3444237" y="476366"/>
                  <a:pt x="3417928" y="476366"/>
                </a:cubicBezTo>
                <a:lnTo>
                  <a:pt x="47637" y="476366"/>
                </a:lnTo>
                <a:cubicBezTo>
                  <a:pt x="21328" y="476366"/>
                  <a:pt x="0" y="455039"/>
                  <a:pt x="0" y="428730"/>
                </a:cubicBezTo>
                <a:lnTo>
                  <a:pt x="0" y="47637"/>
                </a:lnTo>
                <a:cubicBezTo>
                  <a:pt x="0" y="21345"/>
                  <a:pt x="21345" y="0"/>
                  <a:pt x="47637" y="0"/>
                </a:cubicBezTo>
                <a:close/>
              </a:path>
            </a:pathLst>
          </a:custGeom>
          <a:solidFill>
            <a:srgbClr val="495057">
              <a:alpha val="5098"/>
            </a:srgbClr>
          </a:solidFill>
          <a:ln/>
        </p:spPr>
      </p:sp>
      <p:sp>
        <p:nvSpPr>
          <p:cNvPr id="46" name="Shape 44"/>
          <p:cNvSpPr/>
          <p:nvPr/>
        </p:nvSpPr>
        <p:spPr>
          <a:xfrm>
            <a:off x="8606320" y="4406388"/>
            <a:ext cx="238183" cy="238183"/>
          </a:xfrm>
          <a:custGeom>
            <a:avLst/>
            <a:gdLst/>
            <a:ahLst/>
            <a:cxnLst/>
            <a:rect l="l" t="t" r="r" b="b"/>
            <a:pathLst>
              <a:path w="238183" h="238183">
                <a:moveTo>
                  <a:pt x="119092" y="0"/>
                </a:moveTo>
                <a:lnTo>
                  <a:pt x="119092" y="0"/>
                </a:lnTo>
                <a:cubicBezTo>
                  <a:pt x="184820" y="0"/>
                  <a:pt x="238183" y="53363"/>
                  <a:pt x="238183" y="119092"/>
                </a:cubicBezTo>
                <a:lnTo>
                  <a:pt x="238183" y="119092"/>
                </a:lnTo>
                <a:cubicBezTo>
                  <a:pt x="238183" y="184820"/>
                  <a:pt x="184820" y="238183"/>
                  <a:pt x="119092" y="238183"/>
                </a:cubicBezTo>
                <a:lnTo>
                  <a:pt x="119092" y="238183"/>
                </a:lnTo>
                <a:cubicBezTo>
                  <a:pt x="53363" y="238183"/>
                  <a:pt x="0" y="184820"/>
                  <a:pt x="0" y="119092"/>
                </a:cubicBezTo>
                <a:lnTo>
                  <a:pt x="0" y="119092"/>
                </a:lnTo>
                <a:cubicBezTo>
                  <a:pt x="0" y="53363"/>
                  <a:pt x="53363" y="0"/>
                  <a:pt x="119092" y="0"/>
                </a:cubicBezTo>
                <a:close/>
              </a:path>
            </a:pathLst>
          </a:custGeom>
          <a:solidFill>
            <a:srgbClr val="495057"/>
          </a:solidFill>
          <a:ln/>
        </p:spPr>
      </p:sp>
      <p:sp>
        <p:nvSpPr>
          <p:cNvPr id="47" name="Text 45"/>
          <p:cNvSpPr/>
          <p:nvPr/>
        </p:nvSpPr>
        <p:spPr>
          <a:xfrm>
            <a:off x="8570593" y="4406388"/>
            <a:ext cx="309638" cy="238183"/>
          </a:xfrm>
          <a:prstGeom prst="rect">
            <a:avLst/>
          </a:prstGeom>
          <a:noFill/>
          <a:ln/>
        </p:spPr>
        <p:txBody>
          <a:bodyPr wrap="square" lIns="0" tIns="0" rIns="0" bIns="0" rtlCol="0" anchor="ctr"/>
          <a:lstStyle/>
          <a:p>
            <a:pPr algn="ctr">
              <a:lnSpc>
                <a:spcPct val="110000"/>
              </a:lnSpc>
            </a:pPr>
            <a:r>
              <a:rPr lang="en-US" sz="1125" b="1" dirty="0">
                <a:solidFill>
                  <a:srgbClr val="FFFFFF"/>
                </a:solidFill>
                <a:latin typeface="MiSans" pitchFamily="34" charset="0"/>
                <a:ea typeface="MiSans" pitchFamily="34" charset="-122"/>
                <a:cs typeface="MiSans" pitchFamily="34" charset="-120"/>
              </a:rPr>
              <a:t>5</a:t>
            </a:r>
            <a:endParaRPr lang="en-US" sz="1600" dirty="0"/>
          </a:p>
        </p:txBody>
      </p:sp>
      <p:sp>
        <p:nvSpPr>
          <p:cNvPr id="48" name="Text 46"/>
          <p:cNvSpPr/>
          <p:nvPr/>
        </p:nvSpPr>
        <p:spPr>
          <a:xfrm>
            <a:off x="8939777" y="4382570"/>
            <a:ext cx="1464826" cy="285820"/>
          </a:xfrm>
          <a:prstGeom prst="rect">
            <a:avLst/>
          </a:prstGeom>
          <a:noFill/>
          <a:ln/>
        </p:spPr>
        <p:txBody>
          <a:bodyPr wrap="square" lIns="0" tIns="0" rIns="0" bIns="0" rtlCol="0" anchor="ctr"/>
          <a:lstStyle/>
          <a:p>
            <a:pPr>
              <a:lnSpc>
                <a:spcPct val="130000"/>
              </a:lnSpc>
            </a:pPr>
            <a:r>
              <a:rPr lang="en-US" sz="1500" dirty="0">
                <a:solidFill>
                  <a:srgbClr val="495057"/>
                </a:solidFill>
                <a:latin typeface="MiSans" pitchFamily="34" charset="0"/>
                <a:ea typeface="MiSans" pitchFamily="34" charset="-122"/>
                <a:cs typeface="MiSans" pitchFamily="34" charset="-120"/>
              </a:rPr>
              <a:t>sawmill (锯木厂)</a:t>
            </a:r>
            <a:endParaRPr lang="en-US" sz="1600" dirty="0"/>
          </a:p>
        </p:txBody>
      </p:sp>
      <p:sp>
        <p:nvSpPr>
          <p:cNvPr id="49" name="Shape 47"/>
          <p:cNvSpPr/>
          <p:nvPr/>
        </p:nvSpPr>
        <p:spPr>
          <a:xfrm>
            <a:off x="12075793" y="2191285"/>
            <a:ext cx="3465565" cy="476366"/>
          </a:xfrm>
          <a:custGeom>
            <a:avLst/>
            <a:gdLst/>
            <a:ahLst/>
            <a:cxnLst/>
            <a:rect l="l" t="t" r="r" b="b"/>
            <a:pathLst>
              <a:path w="3465565" h="476366">
                <a:moveTo>
                  <a:pt x="47637" y="0"/>
                </a:moveTo>
                <a:lnTo>
                  <a:pt x="3417928" y="0"/>
                </a:lnTo>
                <a:cubicBezTo>
                  <a:pt x="3444237" y="0"/>
                  <a:pt x="3465565" y="21328"/>
                  <a:pt x="3465565" y="47637"/>
                </a:cubicBezTo>
                <a:lnTo>
                  <a:pt x="3465565" y="428730"/>
                </a:lnTo>
                <a:cubicBezTo>
                  <a:pt x="3465565" y="455039"/>
                  <a:pt x="3444237" y="476366"/>
                  <a:pt x="3417928" y="476366"/>
                </a:cubicBezTo>
                <a:lnTo>
                  <a:pt x="47637" y="476366"/>
                </a:lnTo>
                <a:cubicBezTo>
                  <a:pt x="21328" y="476366"/>
                  <a:pt x="0" y="455039"/>
                  <a:pt x="0" y="428730"/>
                </a:cubicBezTo>
                <a:lnTo>
                  <a:pt x="0" y="47637"/>
                </a:lnTo>
                <a:cubicBezTo>
                  <a:pt x="0" y="21345"/>
                  <a:pt x="21345" y="0"/>
                  <a:pt x="47637" y="0"/>
                </a:cubicBezTo>
                <a:close/>
              </a:path>
            </a:pathLst>
          </a:custGeom>
          <a:solidFill>
            <a:srgbClr val="495057">
              <a:alpha val="5098"/>
            </a:srgbClr>
          </a:solidFill>
          <a:ln/>
        </p:spPr>
      </p:sp>
      <p:sp>
        <p:nvSpPr>
          <p:cNvPr id="50" name="Shape 48"/>
          <p:cNvSpPr/>
          <p:nvPr/>
        </p:nvSpPr>
        <p:spPr>
          <a:xfrm>
            <a:off x="12171066" y="2310377"/>
            <a:ext cx="238183" cy="238183"/>
          </a:xfrm>
          <a:custGeom>
            <a:avLst/>
            <a:gdLst/>
            <a:ahLst/>
            <a:cxnLst/>
            <a:rect l="l" t="t" r="r" b="b"/>
            <a:pathLst>
              <a:path w="238183" h="238183">
                <a:moveTo>
                  <a:pt x="119092" y="0"/>
                </a:moveTo>
                <a:lnTo>
                  <a:pt x="119092" y="0"/>
                </a:lnTo>
                <a:cubicBezTo>
                  <a:pt x="184820" y="0"/>
                  <a:pt x="238183" y="53363"/>
                  <a:pt x="238183" y="119092"/>
                </a:cubicBezTo>
                <a:lnTo>
                  <a:pt x="238183" y="119092"/>
                </a:lnTo>
                <a:cubicBezTo>
                  <a:pt x="238183" y="184820"/>
                  <a:pt x="184820" y="238183"/>
                  <a:pt x="119092" y="238183"/>
                </a:cubicBezTo>
                <a:lnTo>
                  <a:pt x="119092" y="238183"/>
                </a:lnTo>
                <a:cubicBezTo>
                  <a:pt x="53363" y="238183"/>
                  <a:pt x="0" y="184820"/>
                  <a:pt x="0" y="119092"/>
                </a:cubicBezTo>
                <a:lnTo>
                  <a:pt x="0" y="119092"/>
                </a:lnTo>
                <a:cubicBezTo>
                  <a:pt x="0" y="53363"/>
                  <a:pt x="53363" y="0"/>
                  <a:pt x="119092" y="0"/>
                </a:cubicBezTo>
                <a:close/>
              </a:path>
            </a:pathLst>
          </a:custGeom>
          <a:solidFill>
            <a:srgbClr val="495057"/>
          </a:solidFill>
          <a:ln/>
        </p:spPr>
      </p:sp>
      <p:sp>
        <p:nvSpPr>
          <p:cNvPr id="51" name="Text 49"/>
          <p:cNvSpPr/>
          <p:nvPr/>
        </p:nvSpPr>
        <p:spPr>
          <a:xfrm>
            <a:off x="12135338" y="2310377"/>
            <a:ext cx="309638" cy="238183"/>
          </a:xfrm>
          <a:prstGeom prst="rect">
            <a:avLst/>
          </a:prstGeom>
          <a:noFill/>
          <a:ln/>
        </p:spPr>
        <p:txBody>
          <a:bodyPr wrap="square" lIns="0" tIns="0" rIns="0" bIns="0" rtlCol="0" anchor="ctr"/>
          <a:lstStyle/>
          <a:p>
            <a:pPr algn="ctr">
              <a:lnSpc>
                <a:spcPct val="110000"/>
              </a:lnSpc>
            </a:pPr>
            <a:r>
              <a:rPr lang="en-US" sz="1125" b="1" dirty="0">
                <a:solidFill>
                  <a:srgbClr val="FFFFFF"/>
                </a:solidFill>
                <a:latin typeface="MiSans" pitchFamily="34" charset="0"/>
                <a:ea typeface="MiSans" pitchFamily="34" charset="-122"/>
                <a:cs typeface="MiSans" pitchFamily="34" charset="-120"/>
              </a:rPr>
              <a:t>6</a:t>
            </a:r>
            <a:endParaRPr lang="en-US" sz="1600" dirty="0"/>
          </a:p>
        </p:txBody>
      </p:sp>
      <p:sp>
        <p:nvSpPr>
          <p:cNvPr id="52" name="Text 50"/>
          <p:cNvSpPr/>
          <p:nvPr/>
        </p:nvSpPr>
        <p:spPr>
          <a:xfrm>
            <a:off x="12504522" y="2286558"/>
            <a:ext cx="1703010" cy="285820"/>
          </a:xfrm>
          <a:prstGeom prst="rect">
            <a:avLst/>
          </a:prstGeom>
          <a:noFill/>
          <a:ln/>
        </p:spPr>
        <p:txBody>
          <a:bodyPr wrap="square" lIns="0" tIns="0" rIns="0" bIns="0" rtlCol="0" anchor="ctr"/>
          <a:lstStyle/>
          <a:p>
            <a:pPr>
              <a:lnSpc>
                <a:spcPct val="130000"/>
              </a:lnSpc>
            </a:pPr>
            <a:r>
              <a:rPr lang="en-US" sz="1500" dirty="0">
                <a:solidFill>
                  <a:srgbClr val="495057"/>
                </a:solidFill>
                <a:latin typeface="MiSans" pitchFamily="34" charset="0"/>
                <a:ea typeface="MiSans" pitchFamily="34" charset="-122"/>
                <a:cs typeface="MiSans" pitchFamily="34" charset="-120"/>
              </a:rPr>
              <a:t>great dane (大丹犬)</a:t>
            </a:r>
            <a:endParaRPr lang="en-US" sz="1600" dirty="0"/>
          </a:p>
        </p:txBody>
      </p:sp>
      <p:sp>
        <p:nvSpPr>
          <p:cNvPr id="53" name="Shape 51"/>
          <p:cNvSpPr/>
          <p:nvPr/>
        </p:nvSpPr>
        <p:spPr>
          <a:xfrm>
            <a:off x="12075793" y="2715288"/>
            <a:ext cx="3465565" cy="476366"/>
          </a:xfrm>
          <a:custGeom>
            <a:avLst/>
            <a:gdLst/>
            <a:ahLst/>
            <a:cxnLst/>
            <a:rect l="l" t="t" r="r" b="b"/>
            <a:pathLst>
              <a:path w="3465565" h="476366">
                <a:moveTo>
                  <a:pt x="47637" y="0"/>
                </a:moveTo>
                <a:lnTo>
                  <a:pt x="3417928" y="0"/>
                </a:lnTo>
                <a:cubicBezTo>
                  <a:pt x="3444237" y="0"/>
                  <a:pt x="3465565" y="21328"/>
                  <a:pt x="3465565" y="47637"/>
                </a:cubicBezTo>
                <a:lnTo>
                  <a:pt x="3465565" y="428730"/>
                </a:lnTo>
                <a:cubicBezTo>
                  <a:pt x="3465565" y="455039"/>
                  <a:pt x="3444237" y="476366"/>
                  <a:pt x="3417928" y="476366"/>
                </a:cubicBezTo>
                <a:lnTo>
                  <a:pt x="47637" y="476366"/>
                </a:lnTo>
                <a:cubicBezTo>
                  <a:pt x="21328" y="476366"/>
                  <a:pt x="0" y="455039"/>
                  <a:pt x="0" y="428730"/>
                </a:cubicBezTo>
                <a:lnTo>
                  <a:pt x="0" y="47637"/>
                </a:lnTo>
                <a:cubicBezTo>
                  <a:pt x="0" y="21345"/>
                  <a:pt x="21345" y="0"/>
                  <a:pt x="47637" y="0"/>
                </a:cubicBezTo>
                <a:close/>
              </a:path>
            </a:pathLst>
          </a:custGeom>
          <a:solidFill>
            <a:srgbClr val="495057">
              <a:alpha val="5098"/>
            </a:srgbClr>
          </a:solidFill>
          <a:ln/>
        </p:spPr>
      </p:sp>
      <p:sp>
        <p:nvSpPr>
          <p:cNvPr id="54" name="Shape 52"/>
          <p:cNvSpPr/>
          <p:nvPr/>
        </p:nvSpPr>
        <p:spPr>
          <a:xfrm>
            <a:off x="12171066" y="2834379"/>
            <a:ext cx="238183" cy="238183"/>
          </a:xfrm>
          <a:custGeom>
            <a:avLst/>
            <a:gdLst/>
            <a:ahLst/>
            <a:cxnLst/>
            <a:rect l="l" t="t" r="r" b="b"/>
            <a:pathLst>
              <a:path w="238183" h="238183">
                <a:moveTo>
                  <a:pt x="119092" y="0"/>
                </a:moveTo>
                <a:lnTo>
                  <a:pt x="119092" y="0"/>
                </a:lnTo>
                <a:cubicBezTo>
                  <a:pt x="184820" y="0"/>
                  <a:pt x="238183" y="53363"/>
                  <a:pt x="238183" y="119092"/>
                </a:cubicBezTo>
                <a:lnTo>
                  <a:pt x="238183" y="119092"/>
                </a:lnTo>
                <a:cubicBezTo>
                  <a:pt x="238183" y="184820"/>
                  <a:pt x="184820" y="238183"/>
                  <a:pt x="119092" y="238183"/>
                </a:cubicBezTo>
                <a:lnTo>
                  <a:pt x="119092" y="238183"/>
                </a:lnTo>
                <a:cubicBezTo>
                  <a:pt x="53363" y="238183"/>
                  <a:pt x="0" y="184820"/>
                  <a:pt x="0" y="119092"/>
                </a:cubicBezTo>
                <a:lnTo>
                  <a:pt x="0" y="119092"/>
                </a:lnTo>
                <a:cubicBezTo>
                  <a:pt x="0" y="53363"/>
                  <a:pt x="53363" y="0"/>
                  <a:pt x="119092" y="0"/>
                </a:cubicBezTo>
                <a:close/>
              </a:path>
            </a:pathLst>
          </a:custGeom>
          <a:solidFill>
            <a:srgbClr val="495057"/>
          </a:solidFill>
          <a:ln/>
        </p:spPr>
      </p:sp>
      <p:sp>
        <p:nvSpPr>
          <p:cNvPr id="55" name="Text 53"/>
          <p:cNvSpPr/>
          <p:nvPr/>
        </p:nvSpPr>
        <p:spPr>
          <a:xfrm>
            <a:off x="12135338" y="2834379"/>
            <a:ext cx="309638" cy="238183"/>
          </a:xfrm>
          <a:prstGeom prst="rect">
            <a:avLst/>
          </a:prstGeom>
          <a:noFill/>
          <a:ln/>
        </p:spPr>
        <p:txBody>
          <a:bodyPr wrap="square" lIns="0" tIns="0" rIns="0" bIns="0" rtlCol="0" anchor="ctr"/>
          <a:lstStyle/>
          <a:p>
            <a:pPr algn="ctr">
              <a:lnSpc>
                <a:spcPct val="110000"/>
              </a:lnSpc>
            </a:pPr>
            <a:r>
              <a:rPr lang="en-US" sz="1125" b="1" dirty="0">
                <a:solidFill>
                  <a:srgbClr val="FFFFFF"/>
                </a:solidFill>
                <a:latin typeface="MiSans" pitchFamily="34" charset="0"/>
                <a:ea typeface="MiSans" pitchFamily="34" charset="-122"/>
                <a:cs typeface="MiSans" pitchFamily="34" charset="-120"/>
              </a:rPr>
              <a:t>7</a:t>
            </a:r>
            <a:endParaRPr lang="en-US" sz="1600" dirty="0"/>
          </a:p>
        </p:txBody>
      </p:sp>
      <p:sp>
        <p:nvSpPr>
          <p:cNvPr id="56" name="Text 54"/>
          <p:cNvSpPr/>
          <p:nvPr/>
        </p:nvSpPr>
        <p:spPr>
          <a:xfrm>
            <a:off x="12504522" y="2810561"/>
            <a:ext cx="1155188" cy="285820"/>
          </a:xfrm>
          <a:prstGeom prst="rect">
            <a:avLst/>
          </a:prstGeom>
          <a:noFill/>
          <a:ln/>
        </p:spPr>
        <p:txBody>
          <a:bodyPr wrap="square" lIns="0" tIns="0" rIns="0" bIns="0" rtlCol="0" anchor="ctr"/>
          <a:lstStyle/>
          <a:p>
            <a:pPr>
              <a:lnSpc>
                <a:spcPct val="130000"/>
              </a:lnSpc>
            </a:pPr>
            <a:r>
              <a:rPr lang="en-US" sz="1500" dirty="0">
                <a:solidFill>
                  <a:srgbClr val="495057"/>
                </a:solidFill>
                <a:latin typeface="MiSans" pitchFamily="34" charset="0"/>
                <a:ea typeface="MiSans" pitchFamily="34" charset="-122"/>
                <a:cs typeface="MiSans" pitchFamily="34" charset="-120"/>
              </a:rPr>
              <a:t>wreck (残骸)</a:t>
            </a:r>
            <a:endParaRPr lang="en-US" sz="1600" dirty="0"/>
          </a:p>
        </p:txBody>
      </p:sp>
      <p:sp>
        <p:nvSpPr>
          <p:cNvPr id="57" name="Shape 55"/>
          <p:cNvSpPr/>
          <p:nvPr/>
        </p:nvSpPr>
        <p:spPr>
          <a:xfrm>
            <a:off x="12075793" y="3239291"/>
            <a:ext cx="3465565" cy="476366"/>
          </a:xfrm>
          <a:custGeom>
            <a:avLst/>
            <a:gdLst/>
            <a:ahLst/>
            <a:cxnLst/>
            <a:rect l="l" t="t" r="r" b="b"/>
            <a:pathLst>
              <a:path w="3465565" h="476366">
                <a:moveTo>
                  <a:pt x="47637" y="0"/>
                </a:moveTo>
                <a:lnTo>
                  <a:pt x="3417928" y="0"/>
                </a:lnTo>
                <a:cubicBezTo>
                  <a:pt x="3444237" y="0"/>
                  <a:pt x="3465565" y="21328"/>
                  <a:pt x="3465565" y="47637"/>
                </a:cubicBezTo>
                <a:lnTo>
                  <a:pt x="3465565" y="428730"/>
                </a:lnTo>
                <a:cubicBezTo>
                  <a:pt x="3465565" y="455039"/>
                  <a:pt x="3444237" y="476366"/>
                  <a:pt x="3417928" y="476366"/>
                </a:cubicBezTo>
                <a:lnTo>
                  <a:pt x="47637" y="476366"/>
                </a:lnTo>
                <a:cubicBezTo>
                  <a:pt x="21328" y="476366"/>
                  <a:pt x="0" y="455039"/>
                  <a:pt x="0" y="428730"/>
                </a:cubicBezTo>
                <a:lnTo>
                  <a:pt x="0" y="47637"/>
                </a:lnTo>
                <a:cubicBezTo>
                  <a:pt x="0" y="21345"/>
                  <a:pt x="21345" y="0"/>
                  <a:pt x="47637" y="0"/>
                </a:cubicBezTo>
                <a:close/>
              </a:path>
            </a:pathLst>
          </a:custGeom>
          <a:solidFill>
            <a:srgbClr val="495057">
              <a:alpha val="5098"/>
            </a:srgbClr>
          </a:solidFill>
          <a:ln/>
        </p:spPr>
      </p:sp>
      <p:sp>
        <p:nvSpPr>
          <p:cNvPr id="58" name="Shape 56"/>
          <p:cNvSpPr/>
          <p:nvPr/>
        </p:nvSpPr>
        <p:spPr>
          <a:xfrm>
            <a:off x="12171066" y="3358382"/>
            <a:ext cx="238183" cy="238183"/>
          </a:xfrm>
          <a:custGeom>
            <a:avLst/>
            <a:gdLst/>
            <a:ahLst/>
            <a:cxnLst/>
            <a:rect l="l" t="t" r="r" b="b"/>
            <a:pathLst>
              <a:path w="238183" h="238183">
                <a:moveTo>
                  <a:pt x="119092" y="0"/>
                </a:moveTo>
                <a:lnTo>
                  <a:pt x="119092" y="0"/>
                </a:lnTo>
                <a:cubicBezTo>
                  <a:pt x="184820" y="0"/>
                  <a:pt x="238183" y="53363"/>
                  <a:pt x="238183" y="119092"/>
                </a:cubicBezTo>
                <a:lnTo>
                  <a:pt x="238183" y="119092"/>
                </a:lnTo>
                <a:cubicBezTo>
                  <a:pt x="238183" y="184820"/>
                  <a:pt x="184820" y="238183"/>
                  <a:pt x="119092" y="238183"/>
                </a:cubicBezTo>
                <a:lnTo>
                  <a:pt x="119092" y="238183"/>
                </a:lnTo>
                <a:cubicBezTo>
                  <a:pt x="53363" y="238183"/>
                  <a:pt x="0" y="184820"/>
                  <a:pt x="0" y="119092"/>
                </a:cubicBezTo>
                <a:lnTo>
                  <a:pt x="0" y="119092"/>
                </a:lnTo>
                <a:cubicBezTo>
                  <a:pt x="0" y="53363"/>
                  <a:pt x="53363" y="0"/>
                  <a:pt x="119092" y="0"/>
                </a:cubicBezTo>
                <a:close/>
              </a:path>
            </a:pathLst>
          </a:custGeom>
          <a:solidFill>
            <a:srgbClr val="495057"/>
          </a:solidFill>
          <a:ln/>
        </p:spPr>
      </p:sp>
      <p:sp>
        <p:nvSpPr>
          <p:cNvPr id="59" name="Text 57"/>
          <p:cNvSpPr/>
          <p:nvPr/>
        </p:nvSpPr>
        <p:spPr>
          <a:xfrm>
            <a:off x="12135338" y="3358382"/>
            <a:ext cx="309638" cy="238183"/>
          </a:xfrm>
          <a:prstGeom prst="rect">
            <a:avLst/>
          </a:prstGeom>
          <a:noFill/>
          <a:ln/>
        </p:spPr>
        <p:txBody>
          <a:bodyPr wrap="square" lIns="0" tIns="0" rIns="0" bIns="0" rtlCol="0" anchor="ctr"/>
          <a:lstStyle/>
          <a:p>
            <a:pPr algn="ctr">
              <a:lnSpc>
                <a:spcPct val="110000"/>
              </a:lnSpc>
            </a:pPr>
            <a:r>
              <a:rPr lang="en-US" sz="1125" b="1" dirty="0">
                <a:solidFill>
                  <a:srgbClr val="FFFFFF"/>
                </a:solidFill>
                <a:latin typeface="MiSans" pitchFamily="34" charset="0"/>
                <a:ea typeface="MiSans" pitchFamily="34" charset="-122"/>
                <a:cs typeface="MiSans" pitchFamily="34" charset="-120"/>
              </a:rPr>
              <a:t>8</a:t>
            </a:r>
            <a:endParaRPr lang="en-US" sz="1600" dirty="0"/>
          </a:p>
        </p:txBody>
      </p:sp>
      <p:sp>
        <p:nvSpPr>
          <p:cNvPr id="60" name="Text 58"/>
          <p:cNvSpPr/>
          <p:nvPr/>
        </p:nvSpPr>
        <p:spPr>
          <a:xfrm>
            <a:off x="12504522" y="3334564"/>
            <a:ext cx="1036097" cy="285820"/>
          </a:xfrm>
          <a:prstGeom prst="rect">
            <a:avLst/>
          </a:prstGeom>
          <a:noFill/>
          <a:ln/>
        </p:spPr>
        <p:txBody>
          <a:bodyPr wrap="square" lIns="0" tIns="0" rIns="0" bIns="0" rtlCol="0" anchor="ctr"/>
          <a:lstStyle/>
          <a:p>
            <a:pPr>
              <a:lnSpc>
                <a:spcPct val="130000"/>
              </a:lnSpc>
            </a:pPr>
            <a:r>
              <a:rPr lang="en-US" sz="1500" dirty="0">
                <a:solidFill>
                  <a:srgbClr val="495057"/>
                </a:solidFill>
                <a:latin typeface="MiSans" pitchFamily="34" charset="0"/>
                <a:ea typeface="MiSans" pitchFamily="34" charset="-122"/>
                <a:cs typeface="MiSans" pitchFamily="34" charset="-120"/>
              </a:rPr>
              <a:t>claw (爪子)</a:t>
            </a:r>
            <a:endParaRPr lang="en-US" sz="1600" dirty="0"/>
          </a:p>
        </p:txBody>
      </p:sp>
      <p:sp>
        <p:nvSpPr>
          <p:cNvPr id="61" name="Shape 59"/>
          <p:cNvSpPr/>
          <p:nvPr/>
        </p:nvSpPr>
        <p:spPr>
          <a:xfrm>
            <a:off x="12075793" y="3763294"/>
            <a:ext cx="3465565" cy="476366"/>
          </a:xfrm>
          <a:custGeom>
            <a:avLst/>
            <a:gdLst/>
            <a:ahLst/>
            <a:cxnLst/>
            <a:rect l="l" t="t" r="r" b="b"/>
            <a:pathLst>
              <a:path w="3465565" h="476366">
                <a:moveTo>
                  <a:pt x="47637" y="0"/>
                </a:moveTo>
                <a:lnTo>
                  <a:pt x="3417928" y="0"/>
                </a:lnTo>
                <a:cubicBezTo>
                  <a:pt x="3444237" y="0"/>
                  <a:pt x="3465565" y="21328"/>
                  <a:pt x="3465565" y="47637"/>
                </a:cubicBezTo>
                <a:lnTo>
                  <a:pt x="3465565" y="428730"/>
                </a:lnTo>
                <a:cubicBezTo>
                  <a:pt x="3465565" y="455039"/>
                  <a:pt x="3444237" y="476366"/>
                  <a:pt x="3417928" y="476366"/>
                </a:cubicBezTo>
                <a:lnTo>
                  <a:pt x="47637" y="476366"/>
                </a:lnTo>
                <a:cubicBezTo>
                  <a:pt x="21328" y="476366"/>
                  <a:pt x="0" y="455039"/>
                  <a:pt x="0" y="428730"/>
                </a:cubicBezTo>
                <a:lnTo>
                  <a:pt x="0" y="47637"/>
                </a:lnTo>
                <a:cubicBezTo>
                  <a:pt x="0" y="21345"/>
                  <a:pt x="21345" y="0"/>
                  <a:pt x="47637" y="0"/>
                </a:cubicBezTo>
                <a:close/>
              </a:path>
            </a:pathLst>
          </a:custGeom>
          <a:solidFill>
            <a:srgbClr val="495057">
              <a:alpha val="5098"/>
            </a:srgbClr>
          </a:solidFill>
          <a:ln/>
        </p:spPr>
      </p:sp>
      <p:sp>
        <p:nvSpPr>
          <p:cNvPr id="62" name="Shape 60"/>
          <p:cNvSpPr/>
          <p:nvPr/>
        </p:nvSpPr>
        <p:spPr>
          <a:xfrm>
            <a:off x="12171066" y="3882385"/>
            <a:ext cx="238183" cy="238183"/>
          </a:xfrm>
          <a:custGeom>
            <a:avLst/>
            <a:gdLst/>
            <a:ahLst/>
            <a:cxnLst/>
            <a:rect l="l" t="t" r="r" b="b"/>
            <a:pathLst>
              <a:path w="238183" h="238183">
                <a:moveTo>
                  <a:pt x="119092" y="0"/>
                </a:moveTo>
                <a:lnTo>
                  <a:pt x="119092" y="0"/>
                </a:lnTo>
                <a:cubicBezTo>
                  <a:pt x="184820" y="0"/>
                  <a:pt x="238183" y="53363"/>
                  <a:pt x="238183" y="119092"/>
                </a:cubicBezTo>
                <a:lnTo>
                  <a:pt x="238183" y="119092"/>
                </a:lnTo>
                <a:cubicBezTo>
                  <a:pt x="238183" y="184820"/>
                  <a:pt x="184820" y="238183"/>
                  <a:pt x="119092" y="238183"/>
                </a:cubicBezTo>
                <a:lnTo>
                  <a:pt x="119092" y="238183"/>
                </a:lnTo>
                <a:cubicBezTo>
                  <a:pt x="53363" y="238183"/>
                  <a:pt x="0" y="184820"/>
                  <a:pt x="0" y="119092"/>
                </a:cubicBezTo>
                <a:lnTo>
                  <a:pt x="0" y="119092"/>
                </a:lnTo>
                <a:cubicBezTo>
                  <a:pt x="0" y="53363"/>
                  <a:pt x="53363" y="0"/>
                  <a:pt x="119092" y="0"/>
                </a:cubicBezTo>
                <a:close/>
              </a:path>
            </a:pathLst>
          </a:custGeom>
          <a:solidFill>
            <a:srgbClr val="495057"/>
          </a:solidFill>
          <a:ln/>
        </p:spPr>
      </p:sp>
      <p:sp>
        <p:nvSpPr>
          <p:cNvPr id="63" name="Text 61"/>
          <p:cNvSpPr/>
          <p:nvPr/>
        </p:nvSpPr>
        <p:spPr>
          <a:xfrm>
            <a:off x="12135338" y="3882385"/>
            <a:ext cx="309638" cy="238183"/>
          </a:xfrm>
          <a:prstGeom prst="rect">
            <a:avLst/>
          </a:prstGeom>
          <a:noFill/>
          <a:ln/>
        </p:spPr>
        <p:txBody>
          <a:bodyPr wrap="square" lIns="0" tIns="0" rIns="0" bIns="0" rtlCol="0" anchor="ctr"/>
          <a:lstStyle/>
          <a:p>
            <a:pPr algn="ctr">
              <a:lnSpc>
                <a:spcPct val="110000"/>
              </a:lnSpc>
            </a:pPr>
            <a:r>
              <a:rPr lang="en-US" sz="1125" b="1" dirty="0">
                <a:solidFill>
                  <a:srgbClr val="FFFFFF"/>
                </a:solidFill>
                <a:latin typeface="MiSans" pitchFamily="34" charset="0"/>
                <a:ea typeface="MiSans" pitchFamily="34" charset="-122"/>
                <a:cs typeface="MiSans" pitchFamily="34" charset="-120"/>
              </a:rPr>
              <a:t>9</a:t>
            </a:r>
            <a:endParaRPr lang="en-US" sz="1600" dirty="0"/>
          </a:p>
        </p:txBody>
      </p:sp>
      <p:sp>
        <p:nvSpPr>
          <p:cNvPr id="64" name="Text 62"/>
          <p:cNvSpPr/>
          <p:nvPr/>
        </p:nvSpPr>
        <p:spPr>
          <a:xfrm>
            <a:off x="12504522" y="3858567"/>
            <a:ext cx="1953102" cy="285820"/>
          </a:xfrm>
          <a:prstGeom prst="rect">
            <a:avLst/>
          </a:prstGeom>
          <a:noFill/>
          <a:ln/>
        </p:spPr>
        <p:txBody>
          <a:bodyPr wrap="square" lIns="0" tIns="0" rIns="0" bIns="0" rtlCol="0" anchor="ctr"/>
          <a:lstStyle/>
          <a:p>
            <a:pPr>
              <a:lnSpc>
                <a:spcPct val="130000"/>
              </a:lnSpc>
            </a:pPr>
            <a:r>
              <a:rPr lang="en-US" sz="1500" dirty="0">
                <a:solidFill>
                  <a:srgbClr val="495057"/>
                </a:solidFill>
                <a:latin typeface="MiSans" pitchFamily="34" charset="0"/>
                <a:ea typeface="MiSans" pitchFamily="34" charset="-122"/>
                <a:cs typeface="MiSans" pitchFamily="34" charset="-120"/>
              </a:rPr>
              <a:t>military uniform (军装)</a:t>
            </a:r>
            <a:endParaRPr lang="en-US" sz="1600" dirty="0"/>
          </a:p>
        </p:txBody>
      </p:sp>
      <p:sp>
        <p:nvSpPr>
          <p:cNvPr id="65" name="Shape 63"/>
          <p:cNvSpPr/>
          <p:nvPr/>
        </p:nvSpPr>
        <p:spPr>
          <a:xfrm>
            <a:off x="12075793" y="4287297"/>
            <a:ext cx="3465565" cy="476366"/>
          </a:xfrm>
          <a:custGeom>
            <a:avLst/>
            <a:gdLst/>
            <a:ahLst/>
            <a:cxnLst/>
            <a:rect l="l" t="t" r="r" b="b"/>
            <a:pathLst>
              <a:path w="3465565" h="476366">
                <a:moveTo>
                  <a:pt x="47637" y="0"/>
                </a:moveTo>
                <a:lnTo>
                  <a:pt x="3417928" y="0"/>
                </a:lnTo>
                <a:cubicBezTo>
                  <a:pt x="3444237" y="0"/>
                  <a:pt x="3465565" y="21328"/>
                  <a:pt x="3465565" y="47637"/>
                </a:cubicBezTo>
                <a:lnTo>
                  <a:pt x="3465565" y="428730"/>
                </a:lnTo>
                <a:cubicBezTo>
                  <a:pt x="3465565" y="455039"/>
                  <a:pt x="3444237" y="476366"/>
                  <a:pt x="3417928" y="476366"/>
                </a:cubicBezTo>
                <a:lnTo>
                  <a:pt x="47637" y="476366"/>
                </a:lnTo>
                <a:cubicBezTo>
                  <a:pt x="21328" y="476366"/>
                  <a:pt x="0" y="455039"/>
                  <a:pt x="0" y="428730"/>
                </a:cubicBezTo>
                <a:lnTo>
                  <a:pt x="0" y="47637"/>
                </a:lnTo>
                <a:cubicBezTo>
                  <a:pt x="0" y="21345"/>
                  <a:pt x="21345" y="0"/>
                  <a:pt x="47637" y="0"/>
                </a:cubicBezTo>
                <a:close/>
              </a:path>
            </a:pathLst>
          </a:custGeom>
          <a:solidFill>
            <a:srgbClr val="495057">
              <a:alpha val="5098"/>
            </a:srgbClr>
          </a:solidFill>
          <a:ln/>
        </p:spPr>
      </p:sp>
      <p:sp>
        <p:nvSpPr>
          <p:cNvPr id="66" name="Shape 64"/>
          <p:cNvSpPr/>
          <p:nvPr/>
        </p:nvSpPr>
        <p:spPr>
          <a:xfrm>
            <a:off x="12171066" y="4406388"/>
            <a:ext cx="238183" cy="238183"/>
          </a:xfrm>
          <a:custGeom>
            <a:avLst/>
            <a:gdLst/>
            <a:ahLst/>
            <a:cxnLst/>
            <a:rect l="l" t="t" r="r" b="b"/>
            <a:pathLst>
              <a:path w="238183" h="238183">
                <a:moveTo>
                  <a:pt x="119092" y="0"/>
                </a:moveTo>
                <a:lnTo>
                  <a:pt x="119092" y="0"/>
                </a:lnTo>
                <a:cubicBezTo>
                  <a:pt x="184820" y="0"/>
                  <a:pt x="238183" y="53363"/>
                  <a:pt x="238183" y="119092"/>
                </a:cubicBezTo>
                <a:lnTo>
                  <a:pt x="238183" y="119092"/>
                </a:lnTo>
                <a:cubicBezTo>
                  <a:pt x="238183" y="184820"/>
                  <a:pt x="184820" y="238183"/>
                  <a:pt x="119092" y="238183"/>
                </a:cubicBezTo>
                <a:lnTo>
                  <a:pt x="119092" y="238183"/>
                </a:lnTo>
                <a:cubicBezTo>
                  <a:pt x="53363" y="238183"/>
                  <a:pt x="0" y="184820"/>
                  <a:pt x="0" y="119092"/>
                </a:cubicBezTo>
                <a:lnTo>
                  <a:pt x="0" y="119092"/>
                </a:lnTo>
                <a:cubicBezTo>
                  <a:pt x="0" y="53363"/>
                  <a:pt x="53363" y="0"/>
                  <a:pt x="119092" y="0"/>
                </a:cubicBezTo>
                <a:close/>
              </a:path>
            </a:pathLst>
          </a:custGeom>
          <a:solidFill>
            <a:srgbClr val="495057"/>
          </a:solidFill>
          <a:ln/>
        </p:spPr>
      </p:sp>
      <p:sp>
        <p:nvSpPr>
          <p:cNvPr id="67" name="Text 65"/>
          <p:cNvSpPr/>
          <p:nvPr/>
        </p:nvSpPr>
        <p:spPr>
          <a:xfrm>
            <a:off x="12135338" y="4406388"/>
            <a:ext cx="309638" cy="238183"/>
          </a:xfrm>
          <a:prstGeom prst="rect">
            <a:avLst/>
          </a:prstGeom>
          <a:noFill/>
          <a:ln/>
        </p:spPr>
        <p:txBody>
          <a:bodyPr wrap="square" lIns="0" tIns="0" rIns="0" bIns="0" rtlCol="0" anchor="ctr"/>
          <a:lstStyle/>
          <a:p>
            <a:pPr algn="ctr">
              <a:lnSpc>
                <a:spcPct val="110000"/>
              </a:lnSpc>
            </a:pPr>
            <a:r>
              <a:rPr lang="en-US" sz="1125" b="1" dirty="0">
                <a:solidFill>
                  <a:srgbClr val="FFFFFF"/>
                </a:solidFill>
                <a:latin typeface="MiSans" pitchFamily="34" charset="0"/>
                <a:ea typeface="MiSans" pitchFamily="34" charset="-122"/>
                <a:cs typeface="MiSans" pitchFamily="34" charset="-120"/>
              </a:rPr>
              <a:t>10</a:t>
            </a:r>
            <a:endParaRPr lang="en-US" sz="1600" dirty="0"/>
          </a:p>
        </p:txBody>
      </p:sp>
      <p:sp>
        <p:nvSpPr>
          <p:cNvPr id="68" name="Text 66"/>
          <p:cNvSpPr/>
          <p:nvPr/>
        </p:nvSpPr>
        <p:spPr>
          <a:xfrm>
            <a:off x="12504522" y="4382570"/>
            <a:ext cx="1583918" cy="285820"/>
          </a:xfrm>
          <a:prstGeom prst="rect">
            <a:avLst/>
          </a:prstGeom>
          <a:noFill/>
          <a:ln/>
        </p:spPr>
        <p:txBody>
          <a:bodyPr wrap="square" lIns="0" tIns="0" rIns="0" bIns="0" rtlCol="0" anchor="ctr"/>
          <a:lstStyle/>
          <a:p>
            <a:pPr>
              <a:lnSpc>
                <a:spcPct val="130000"/>
              </a:lnSpc>
            </a:pPr>
            <a:r>
              <a:rPr lang="en-US" sz="1500" dirty="0">
                <a:solidFill>
                  <a:srgbClr val="495057"/>
                </a:solidFill>
                <a:latin typeface="MiSans" pitchFamily="34" charset="0"/>
                <a:ea typeface="MiSans" pitchFamily="34" charset="-122"/>
                <a:cs typeface="MiSans" pitchFamily="34" charset="-120"/>
              </a:rPr>
              <a:t>trailer truck (拖车)</a:t>
            </a:r>
            <a:endParaRPr lang="en-US" sz="1600" dirty="0"/>
          </a:p>
        </p:txBody>
      </p:sp>
      <p:sp>
        <p:nvSpPr>
          <p:cNvPr id="69" name="Shape 67"/>
          <p:cNvSpPr/>
          <p:nvPr/>
        </p:nvSpPr>
        <p:spPr>
          <a:xfrm>
            <a:off x="8272864" y="5249519"/>
            <a:ext cx="7514678" cy="3727566"/>
          </a:xfrm>
          <a:custGeom>
            <a:avLst/>
            <a:gdLst/>
            <a:ahLst/>
            <a:cxnLst/>
            <a:rect l="l" t="t" r="r" b="b"/>
            <a:pathLst>
              <a:path w="7514678" h="3727566">
                <a:moveTo>
                  <a:pt x="95277" y="0"/>
                </a:moveTo>
                <a:lnTo>
                  <a:pt x="7419402" y="0"/>
                </a:lnTo>
                <a:cubicBezTo>
                  <a:pt x="7472022" y="0"/>
                  <a:pt x="7514678" y="42657"/>
                  <a:pt x="7514678" y="95277"/>
                </a:cubicBezTo>
                <a:lnTo>
                  <a:pt x="7514678" y="3632290"/>
                </a:lnTo>
                <a:cubicBezTo>
                  <a:pt x="7514678" y="3684910"/>
                  <a:pt x="7472022" y="3727566"/>
                  <a:pt x="7419402" y="3727566"/>
                </a:cubicBezTo>
                <a:lnTo>
                  <a:pt x="95277" y="3727566"/>
                </a:lnTo>
                <a:cubicBezTo>
                  <a:pt x="42657" y="3727566"/>
                  <a:pt x="0" y="3684910"/>
                  <a:pt x="0" y="3632290"/>
                </a:cubicBezTo>
                <a:lnTo>
                  <a:pt x="0" y="95277"/>
                </a:lnTo>
                <a:cubicBezTo>
                  <a:pt x="0" y="42692"/>
                  <a:pt x="42692" y="0"/>
                  <a:pt x="95277" y="0"/>
                </a:cubicBezTo>
                <a:close/>
              </a:path>
            </a:pathLst>
          </a:custGeom>
          <a:solidFill>
            <a:srgbClr val="FFFFFF"/>
          </a:solidFill>
          <a:ln/>
          <a:effectLst>
            <a:outerShdw sx="100000" sy="100000" kx="0" ky="0" algn="bl" rotWithShape="0" blurRad="71455" dist="47637" dir="5400000">
              <a:srgbClr val="000000">
                <a:alpha val="10196"/>
              </a:srgbClr>
            </a:outerShdw>
          </a:effectLst>
        </p:spPr>
      </p:sp>
      <p:sp>
        <p:nvSpPr>
          <p:cNvPr id="70" name="Shape 68"/>
          <p:cNvSpPr/>
          <p:nvPr/>
        </p:nvSpPr>
        <p:spPr>
          <a:xfrm>
            <a:off x="8511047" y="5487703"/>
            <a:ext cx="476366" cy="476366"/>
          </a:xfrm>
          <a:custGeom>
            <a:avLst/>
            <a:gdLst/>
            <a:ahLst/>
            <a:cxnLst/>
            <a:rect l="l" t="t" r="r" b="b"/>
            <a:pathLst>
              <a:path w="476366" h="476366">
                <a:moveTo>
                  <a:pt x="238183" y="0"/>
                </a:moveTo>
                <a:lnTo>
                  <a:pt x="238183" y="0"/>
                </a:lnTo>
                <a:cubicBezTo>
                  <a:pt x="369640" y="0"/>
                  <a:pt x="476366" y="106726"/>
                  <a:pt x="476366" y="238183"/>
                </a:cubicBezTo>
                <a:lnTo>
                  <a:pt x="476366" y="238183"/>
                </a:lnTo>
                <a:cubicBezTo>
                  <a:pt x="476366" y="369640"/>
                  <a:pt x="369640" y="476366"/>
                  <a:pt x="238183" y="476366"/>
                </a:cubicBezTo>
                <a:lnTo>
                  <a:pt x="238183" y="476366"/>
                </a:lnTo>
                <a:cubicBezTo>
                  <a:pt x="106726" y="476366"/>
                  <a:pt x="0" y="369640"/>
                  <a:pt x="0" y="238183"/>
                </a:cubicBezTo>
                <a:lnTo>
                  <a:pt x="0" y="238183"/>
                </a:lnTo>
                <a:cubicBezTo>
                  <a:pt x="0" y="106726"/>
                  <a:pt x="106726" y="0"/>
                  <a:pt x="238183" y="0"/>
                </a:cubicBezTo>
                <a:close/>
              </a:path>
            </a:pathLst>
          </a:custGeom>
          <a:solidFill>
            <a:srgbClr val="A67B5C"/>
          </a:solidFill>
          <a:ln/>
        </p:spPr>
      </p:sp>
      <p:sp>
        <p:nvSpPr>
          <p:cNvPr id="71" name="Shape 69"/>
          <p:cNvSpPr/>
          <p:nvPr/>
        </p:nvSpPr>
        <p:spPr>
          <a:xfrm>
            <a:off x="8645025" y="5618703"/>
            <a:ext cx="214365" cy="214365"/>
          </a:xfrm>
          <a:custGeom>
            <a:avLst/>
            <a:gdLst/>
            <a:ahLst/>
            <a:cxnLst/>
            <a:rect l="l" t="t" r="r" b="b"/>
            <a:pathLst>
              <a:path w="214365" h="214365">
                <a:moveTo>
                  <a:pt x="33495" y="66989"/>
                </a:moveTo>
                <a:cubicBezTo>
                  <a:pt x="40905" y="66989"/>
                  <a:pt x="46892" y="72976"/>
                  <a:pt x="46892" y="80387"/>
                </a:cubicBezTo>
                <a:lnTo>
                  <a:pt x="46892" y="187569"/>
                </a:lnTo>
                <a:cubicBezTo>
                  <a:pt x="46892" y="194980"/>
                  <a:pt x="40905" y="200967"/>
                  <a:pt x="33495" y="200967"/>
                </a:cubicBezTo>
                <a:lnTo>
                  <a:pt x="13398" y="200967"/>
                </a:lnTo>
                <a:cubicBezTo>
                  <a:pt x="5987" y="200967"/>
                  <a:pt x="0" y="194980"/>
                  <a:pt x="0" y="187569"/>
                </a:cubicBezTo>
                <a:lnTo>
                  <a:pt x="0" y="80387"/>
                </a:lnTo>
                <a:cubicBezTo>
                  <a:pt x="0" y="72976"/>
                  <a:pt x="5987" y="66989"/>
                  <a:pt x="13398" y="66989"/>
                </a:cubicBezTo>
                <a:lnTo>
                  <a:pt x="33495" y="66989"/>
                </a:lnTo>
                <a:close/>
                <a:moveTo>
                  <a:pt x="113295" y="6699"/>
                </a:moveTo>
                <a:cubicBezTo>
                  <a:pt x="124725" y="6699"/>
                  <a:pt x="133978" y="15952"/>
                  <a:pt x="133978" y="27382"/>
                </a:cubicBezTo>
                <a:lnTo>
                  <a:pt x="133978" y="29140"/>
                </a:lnTo>
                <a:cubicBezTo>
                  <a:pt x="133978" y="31987"/>
                  <a:pt x="133434" y="34834"/>
                  <a:pt x="132387" y="37472"/>
                </a:cubicBezTo>
                <a:lnTo>
                  <a:pt x="120580" y="66989"/>
                </a:lnTo>
                <a:lnTo>
                  <a:pt x="187569" y="66989"/>
                </a:lnTo>
                <a:cubicBezTo>
                  <a:pt x="198664" y="66989"/>
                  <a:pt x="207666" y="75991"/>
                  <a:pt x="207666" y="87086"/>
                </a:cubicBezTo>
                <a:cubicBezTo>
                  <a:pt x="207666" y="95334"/>
                  <a:pt x="202684" y="102409"/>
                  <a:pt x="195566" y="105508"/>
                </a:cubicBezTo>
                <a:cubicBezTo>
                  <a:pt x="202684" y="108606"/>
                  <a:pt x="207666" y="115682"/>
                  <a:pt x="207666" y="123930"/>
                </a:cubicBezTo>
                <a:cubicBezTo>
                  <a:pt x="207666" y="133727"/>
                  <a:pt x="200632" y="141891"/>
                  <a:pt x="191337" y="143650"/>
                </a:cubicBezTo>
                <a:cubicBezTo>
                  <a:pt x="193180" y="146706"/>
                  <a:pt x="194268" y="150265"/>
                  <a:pt x="194268" y="154075"/>
                </a:cubicBezTo>
                <a:cubicBezTo>
                  <a:pt x="194268" y="163369"/>
                  <a:pt x="187988" y="171157"/>
                  <a:pt x="179447" y="173460"/>
                </a:cubicBezTo>
                <a:cubicBezTo>
                  <a:pt x="180368" y="175762"/>
                  <a:pt x="180870" y="178275"/>
                  <a:pt x="180870" y="180870"/>
                </a:cubicBezTo>
                <a:cubicBezTo>
                  <a:pt x="180870" y="191965"/>
                  <a:pt x="171869" y="200967"/>
                  <a:pt x="160774" y="200967"/>
                </a:cubicBezTo>
                <a:lnTo>
                  <a:pt x="123972" y="200967"/>
                </a:lnTo>
                <a:cubicBezTo>
                  <a:pt x="108773" y="200967"/>
                  <a:pt x="93994" y="195775"/>
                  <a:pt x="82145" y="186271"/>
                </a:cubicBezTo>
                <a:lnTo>
                  <a:pt x="77037" y="182210"/>
                </a:lnTo>
                <a:cubicBezTo>
                  <a:pt x="70673" y="177144"/>
                  <a:pt x="66989" y="169440"/>
                  <a:pt x="66989" y="161276"/>
                </a:cubicBezTo>
                <a:lnTo>
                  <a:pt x="66989" y="83150"/>
                </a:lnTo>
                <a:cubicBezTo>
                  <a:pt x="66989" y="76912"/>
                  <a:pt x="68454" y="70757"/>
                  <a:pt x="71218" y="65189"/>
                </a:cubicBezTo>
                <a:lnTo>
                  <a:pt x="94748" y="18129"/>
                </a:lnTo>
                <a:cubicBezTo>
                  <a:pt x="98265" y="11137"/>
                  <a:pt x="105424" y="6699"/>
                  <a:pt x="113295" y="6699"/>
                </a:cubicBezTo>
                <a:close/>
              </a:path>
            </a:pathLst>
          </a:custGeom>
          <a:solidFill>
            <a:srgbClr val="FFFFFF"/>
          </a:solidFill>
          <a:ln/>
        </p:spPr>
      </p:sp>
      <p:sp>
        <p:nvSpPr>
          <p:cNvPr id="72" name="Text 70"/>
          <p:cNvSpPr/>
          <p:nvPr/>
        </p:nvSpPr>
        <p:spPr>
          <a:xfrm>
            <a:off x="9130323" y="5559158"/>
            <a:ext cx="1774464" cy="333456"/>
          </a:xfrm>
          <a:prstGeom prst="rect">
            <a:avLst/>
          </a:prstGeom>
          <a:noFill/>
          <a:ln/>
        </p:spPr>
        <p:txBody>
          <a:bodyPr wrap="square" lIns="0" tIns="0" rIns="0" bIns="0" rtlCol="0" anchor="ctr"/>
          <a:lstStyle/>
          <a:p>
            <a:pPr>
              <a:lnSpc>
                <a:spcPct val="120000"/>
              </a:lnSpc>
            </a:pPr>
            <a:r>
              <a:rPr lang="en-US" sz="1875" b="1" dirty="0">
                <a:solidFill>
                  <a:srgbClr val="495057"/>
                </a:solidFill>
                <a:latin typeface="Noto Sans SC" pitchFamily="34" charset="0"/>
                <a:ea typeface="Noto Sans SC" pitchFamily="34" charset="-122"/>
                <a:cs typeface="Noto Sans SC" pitchFamily="34" charset="-120"/>
              </a:rPr>
              <a:t>Top10 正面场景</a:t>
            </a:r>
            <a:endParaRPr lang="en-US" sz="1600" dirty="0"/>
          </a:p>
        </p:txBody>
      </p:sp>
      <p:sp>
        <p:nvSpPr>
          <p:cNvPr id="73" name="Shape 71"/>
          <p:cNvSpPr/>
          <p:nvPr/>
        </p:nvSpPr>
        <p:spPr>
          <a:xfrm>
            <a:off x="8522956" y="6106979"/>
            <a:ext cx="3453656" cy="476366"/>
          </a:xfrm>
          <a:custGeom>
            <a:avLst/>
            <a:gdLst/>
            <a:ahLst/>
            <a:cxnLst/>
            <a:rect l="l" t="t" r="r" b="b"/>
            <a:pathLst>
              <a:path w="3453656" h="476366">
                <a:moveTo>
                  <a:pt x="23818" y="0"/>
                </a:moveTo>
                <a:lnTo>
                  <a:pt x="3406019" y="0"/>
                </a:lnTo>
                <a:cubicBezTo>
                  <a:pt x="3432328" y="0"/>
                  <a:pt x="3453656" y="21328"/>
                  <a:pt x="3453656" y="47637"/>
                </a:cubicBezTo>
                <a:lnTo>
                  <a:pt x="3453656" y="428730"/>
                </a:lnTo>
                <a:cubicBezTo>
                  <a:pt x="3453656" y="455039"/>
                  <a:pt x="3432328" y="476366"/>
                  <a:pt x="3406019" y="476366"/>
                </a:cubicBezTo>
                <a:lnTo>
                  <a:pt x="23818" y="476366"/>
                </a:lnTo>
                <a:cubicBezTo>
                  <a:pt x="10664" y="476366"/>
                  <a:pt x="0" y="465702"/>
                  <a:pt x="0" y="452548"/>
                </a:cubicBezTo>
                <a:lnTo>
                  <a:pt x="0" y="23818"/>
                </a:lnTo>
                <a:cubicBezTo>
                  <a:pt x="0" y="10673"/>
                  <a:pt x="10673" y="0"/>
                  <a:pt x="23818" y="0"/>
                </a:cubicBezTo>
                <a:close/>
              </a:path>
            </a:pathLst>
          </a:custGeom>
          <a:solidFill>
            <a:srgbClr val="A67B5C">
              <a:alpha val="10196"/>
            </a:srgbClr>
          </a:solidFill>
          <a:ln/>
        </p:spPr>
      </p:sp>
      <p:sp>
        <p:nvSpPr>
          <p:cNvPr id="74" name="Shape 72"/>
          <p:cNvSpPr/>
          <p:nvPr/>
        </p:nvSpPr>
        <p:spPr>
          <a:xfrm>
            <a:off x="8522956" y="6106979"/>
            <a:ext cx="23818" cy="476366"/>
          </a:xfrm>
          <a:custGeom>
            <a:avLst/>
            <a:gdLst/>
            <a:ahLst/>
            <a:cxnLst/>
            <a:rect l="l" t="t" r="r" b="b"/>
            <a:pathLst>
              <a:path w="23818" h="476366">
                <a:moveTo>
                  <a:pt x="23818" y="0"/>
                </a:moveTo>
                <a:lnTo>
                  <a:pt x="23818" y="0"/>
                </a:lnTo>
                <a:lnTo>
                  <a:pt x="23818" y="476366"/>
                </a:lnTo>
                <a:lnTo>
                  <a:pt x="23818" y="476366"/>
                </a:lnTo>
                <a:cubicBezTo>
                  <a:pt x="10664" y="476366"/>
                  <a:pt x="0" y="465702"/>
                  <a:pt x="0" y="452548"/>
                </a:cubicBezTo>
                <a:lnTo>
                  <a:pt x="0" y="23818"/>
                </a:lnTo>
                <a:cubicBezTo>
                  <a:pt x="0" y="10673"/>
                  <a:pt x="10673" y="0"/>
                  <a:pt x="23818" y="0"/>
                </a:cubicBezTo>
                <a:close/>
              </a:path>
            </a:pathLst>
          </a:custGeom>
          <a:solidFill>
            <a:srgbClr val="A67B5C"/>
          </a:solidFill>
          <a:ln/>
        </p:spPr>
      </p:sp>
      <p:sp>
        <p:nvSpPr>
          <p:cNvPr id="75" name="Shape 73"/>
          <p:cNvSpPr/>
          <p:nvPr/>
        </p:nvSpPr>
        <p:spPr>
          <a:xfrm>
            <a:off x="8630138" y="6226070"/>
            <a:ext cx="238183" cy="238183"/>
          </a:xfrm>
          <a:custGeom>
            <a:avLst/>
            <a:gdLst/>
            <a:ahLst/>
            <a:cxnLst/>
            <a:rect l="l" t="t" r="r" b="b"/>
            <a:pathLst>
              <a:path w="238183" h="238183">
                <a:moveTo>
                  <a:pt x="119092" y="0"/>
                </a:moveTo>
                <a:lnTo>
                  <a:pt x="119092" y="0"/>
                </a:lnTo>
                <a:cubicBezTo>
                  <a:pt x="184820" y="0"/>
                  <a:pt x="238183" y="53363"/>
                  <a:pt x="238183" y="119092"/>
                </a:cubicBezTo>
                <a:lnTo>
                  <a:pt x="238183" y="119092"/>
                </a:lnTo>
                <a:cubicBezTo>
                  <a:pt x="238183" y="184820"/>
                  <a:pt x="184820" y="238183"/>
                  <a:pt x="119092" y="238183"/>
                </a:cubicBezTo>
                <a:lnTo>
                  <a:pt x="119092" y="238183"/>
                </a:lnTo>
                <a:cubicBezTo>
                  <a:pt x="53363" y="238183"/>
                  <a:pt x="0" y="184820"/>
                  <a:pt x="0" y="119092"/>
                </a:cubicBezTo>
                <a:lnTo>
                  <a:pt x="0" y="119092"/>
                </a:lnTo>
                <a:cubicBezTo>
                  <a:pt x="0" y="53363"/>
                  <a:pt x="53363" y="0"/>
                  <a:pt x="119092" y="0"/>
                </a:cubicBezTo>
                <a:close/>
              </a:path>
            </a:pathLst>
          </a:custGeom>
          <a:solidFill>
            <a:srgbClr val="A67B5C"/>
          </a:solidFill>
          <a:ln/>
        </p:spPr>
      </p:sp>
      <p:sp>
        <p:nvSpPr>
          <p:cNvPr id="76" name="Text 74"/>
          <p:cNvSpPr/>
          <p:nvPr/>
        </p:nvSpPr>
        <p:spPr>
          <a:xfrm>
            <a:off x="8594411" y="6226070"/>
            <a:ext cx="309638" cy="238183"/>
          </a:xfrm>
          <a:prstGeom prst="rect">
            <a:avLst/>
          </a:prstGeom>
          <a:noFill/>
          <a:ln/>
        </p:spPr>
        <p:txBody>
          <a:bodyPr wrap="square" lIns="0" tIns="0" rIns="0" bIns="0" rtlCol="0" anchor="ctr"/>
          <a:lstStyle/>
          <a:p>
            <a:pPr algn="ctr">
              <a:lnSpc>
                <a:spcPct val="110000"/>
              </a:lnSpc>
            </a:pPr>
            <a:r>
              <a:rPr lang="en-US" sz="1125" b="1" dirty="0">
                <a:solidFill>
                  <a:srgbClr val="FFFFFF"/>
                </a:solidFill>
                <a:latin typeface="MiSans" pitchFamily="34" charset="0"/>
                <a:ea typeface="MiSans" pitchFamily="34" charset="-122"/>
                <a:cs typeface="MiSans" pitchFamily="34" charset="-120"/>
              </a:rPr>
              <a:t>1</a:t>
            </a:r>
            <a:endParaRPr lang="en-US" sz="1600" dirty="0"/>
          </a:p>
        </p:txBody>
      </p:sp>
      <p:sp>
        <p:nvSpPr>
          <p:cNvPr id="77" name="Text 75"/>
          <p:cNvSpPr/>
          <p:nvPr/>
        </p:nvSpPr>
        <p:spPr>
          <a:xfrm>
            <a:off x="8963595" y="6202252"/>
            <a:ext cx="1881647" cy="285820"/>
          </a:xfrm>
          <a:prstGeom prst="rect">
            <a:avLst/>
          </a:prstGeom>
          <a:noFill/>
          <a:ln/>
        </p:spPr>
        <p:txBody>
          <a:bodyPr wrap="square" lIns="0" tIns="0" rIns="0" bIns="0" rtlCol="0" anchor="ctr"/>
          <a:lstStyle/>
          <a:p>
            <a:pPr>
              <a:lnSpc>
                <a:spcPct val="130000"/>
              </a:lnSpc>
            </a:pPr>
            <a:r>
              <a:rPr lang="en-US" sz="1500" dirty="0">
                <a:solidFill>
                  <a:srgbClr val="495057"/>
                </a:solidFill>
                <a:latin typeface="MiSans" pitchFamily="34" charset="0"/>
                <a:ea typeface="MiSans" pitchFamily="34" charset="-122"/>
                <a:cs typeface="MiSans" pitchFamily="34" charset="-120"/>
              </a:rPr>
              <a:t>beauty salon (美容院)</a:t>
            </a:r>
            <a:endParaRPr lang="en-US" sz="1600" dirty="0"/>
          </a:p>
        </p:txBody>
      </p:sp>
      <p:sp>
        <p:nvSpPr>
          <p:cNvPr id="78" name="Shape 76"/>
          <p:cNvSpPr/>
          <p:nvPr/>
        </p:nvSpPr>
        <p:spPr>
          <a:xfrm>
            <a:off x="8522956" y="6630982"/>
            <a:ext cx="3453656" cy="476366"/>
          </a:xfrm>
          <a:custGeom>
            <a:avLst/>
            <a:gdLst/>
            <a:ahLst/>
            <a:cxnLst/>
            <a:rect l="l" t="t" r="r" b="b"/>
            <a:pathLst>
              <a:path w="3453656" h="476366">
                <a:moveTo>
                  <a:pt x="23818" y="0"/>
                </a:moveTo>
                <a:lnTo>
                  <a:pt x="3406019" y="0"/>
                </a:lnTo>
                <a:cubicBezTo>
                  <a:pt x="3432328" y="0"/>
                  <a:pt x="3453656" y="21328"/>
                  <a:pt x="3453656" y="47637"/>
                </a:cubicBezTo>
                <a:lnTo>
                  <a:pt x="3453656" y="428730"/>
                </a:lnTo>
                <a:cubicBezTo>
                  <a:pt x="3453656" y="455039"/>
                  <a:pt x="3432328" y="476366"/>
                  <a:pt x="3406019" y="476366"/>
                </a:cubicBezTo>
                <a:lnTo>
                  <a:pt x="23818" y="476366"/>
                </a:lnTo>
                <a:cubicBezTo>
                  <a:pt x="10664" y="476366"/>
                  <a:pt x="0" y="465702"/>
                  <a:pt x="0" y="452548"/>
                </a:cubicBezTo>
                <a:lnTo>
                  <a:pt x="0" y="23818"/>
                </a:lnTo>
                <a:cubicBezTo>
                  <a:pt x="0" y="10673"/>
                  <a:pt x="10673" y="0"/>
                  <a:pt x="23818" y="0"/>
                </a:cubicBezTo>
                <a:close/>
              </a:path>
            </a:pathLst>
          </a:custGeom>
          <a:solidFill>
            <a:srgbClr val="A67B5C">
              <a:alpha val="10196"/>
            </a:srgbClr>
          </a:solidFill>
          <a:ln/>
        </p:spPr>
      </p:sp>
      <p:sp>
        <p:nvSpPr>
          <p:cNvPr id="79" name="Shape 77"/>
          <p:cNvSpPr/>
          <p:nvPr/>
        </p:nvSpPr>
        <p:spPr>
          <a:xfrm>
            <a:off x="8522956" y="6630982"/>
            <a:ext cx="23818" cy="476366"/>
          </a:xfrm>
          <a:custGeom>
            <a:avLst/>
            <a:gdLst/>
            <a:ahLst/>
            <a:cxnLst/>
            <a:rect l="l" t="t" r="r" b="b"/>
            <a:pathLst>
              <a:path w="23818" h="476366">
                <a:moveTo>
                  <a:pt x="23818" y="0"/>
                </a:moveTo>
                <a:lnTo>
                  <a:pt x="23818" y="0"/>
                </a:lnTo>
                <a:lnTo>
                  <a:pt x="23818" y="476366"/>
                </a:lnTo>
                <a:lnTo>
                  <a:pt x="23818" y="476366"/>
                </a:lnTo>
                <a:cubicBezTo>
                  <a:pt x="10664" y="476366"/>
                  <a:pt x="0" y="465702"/>
                  <a:pt x="0" y="452548"/>
                </a:cubicBezTo>
                <a:lnTo>
                  <a:pt x="0" y="23818"/>
                </a:lnTo>
                <a:cubicBezTo>
                  <a:pt x="0" y="10673"/>
                  <a:pt x="10673" y="0"/>
                  <a:pt x="23818" y="0"/>
                </a:cubicBezTo>
                <a:close/>
              </a:path>
            </a:pathLst>
          </a:custGeom>
          <a:solidFill>
            <a:srgbClr val="A67B5C"/>
          </a:solidFill>
          <a:ln/>
        </p:spPr>
      </p:sp>
      <p:sp>
        <p:nvSpPr>
          <p:cNvPr id="80" name="Shape 78"/>
          <p:cNvSpPr/>
          <p:nvPr/>
        </p:nvSpPr>
        <p:spPr>
          <a:xfrm>
            <a:off x="8630138" y="6750073"/>
            <a:ext cx="238183" cy="238183"/>
          </a:xfrm>
          <a:custGeom>
            <a:avLst/>
            <a:gdLst/>
            <a:ahLst/>
            <a:cxnLst/>
            <a:rect l="l" t="t" r="r" b="b"/>
            <a:pathLst>
              <a:path w="238183" h="238183">
                <a:moveTo>
                  <a:pt x="119092" y="0"/>
                </a:moveTo>
                <a:lnTo>
                  <a:pt x="119092" y="0"/>
                </a:lnTo>
                <a:cubicBezTo>
                  <a:pt x="184820" y="0"/>
                  <a:pt x="238183" y="53363"/>
                  <a:pt x="238183" y="119092"/>
                </a:cubicBezTo>
                <a:lnTo>
                  <a:pt x="238183" y="119092"/>
                </a:lnTo>
                <a:cubicBezTo>
                  <a:pt x="238183" y="184820"/>
                  <a:pt x="184820" y="238183"/>
                  <a:pt x="119092" y="238183"/>
                </a:cubicBezTo>
                <a:lnTo>
                  <a:pt x="119092" y="238183"/>
                </a:lnTo>
                <a:cubicBezTo>
                  <a:pt x="53363" y="238183"/>
                  <a:pt x="0" y="184820"/>
                  <a:pt x="0" y="119092"/>
                </a:cubicBezTo>
                <a:lnTo>
                  <a:pt x="0" y="119092"/>
                </a:lnTo>
                <a:cubicBezTo>
                  <a:pt x="0" y="53363"/>
                  <a:pt x="53363" y="0"/>
                  <a:pt x="119092" y="0"/>
                </a:cubicBezTo>
                <a:close/>
              </a:path>
            </a:pathLst>
          </a:custGeom>
          <a:solidFill>
            <a:srgbClr val="A67B5C"/>
          </a:solidFill>
          <a:ln/>
        </p:spPr>
      </p:sp>
      <p:sp>
        <p:nvSpPr>
          <p:cNvPr id="81" name="Text 79"/>
          <p:cNvSpPr/>
          <p:nvPr/>
        </p:nvSpPr>
        <p:spPr>
          <a:xfrm>
            <a:off x="8594411" y="6750073"/>
            <a:ext cx="309638" cy="238183"/>
          </a:xfrm>
          <a:prstGeom prst="rect">
            <a:avLst/>
          </a:prstGeom>
          <a:noFill/>
          <a:ln/>
        </p:spPr>
        <p:txBody>
          <a:bodyPr wrap="square" lIns="0" tIns="0" rIns="0" bIns="0" rtlCol="0" anchor="ctr"/>
          <a:lstStyle/>
          <a:p>
            <a:pPr algn="ctr">
              <a:lnSpc>
                <a:spcPct val="110000"/>
              </a:lnSpc>
            </a:pPr>
            <a:r>
              <a:rPr lang="en-US" sz="1125" b="1" dirty="0">
                <a:solidFill>
                  <a:srgbClr val="FFFFFF"/>
                </a:solidFill>
                <a:latin typeface="MiSans" pitchFamily="34" charset="0"/>
                <a:ea typeface="MiSans" pitchFamily="34" charset="-122"/>
                <a:cs typeface="MiSans" pitchFamily="34" charset="-120"/>
              </a:rPr>
              <a:t>2</a:t>
            </a:r>
            <a:endParaRPr lang="en-US" sz="1600" dirty="0"/>
          </a:p>
        </p:txBody>
      </p:sp>
      <p:sp>
        <p:nvSpPr>
          <p:cNvPr id="82" name="Text 80"/>
          <p:cNvSpPr/>
          <p:nvPr/>
        </p:nvSpPr>
        <p:spPr>
          <a:xfrm>
            <a:off x="8963595" y="6726255"/>
            <a:ext cx="2786743" cy="285820"/>
          </a:xfrm>
          <a:prstGeom prst="rect">
            <a:avLst/>
          </a:prstGeom>
          <a:noFill/>
          <a:ln/>
        </p:spPr>
        <p:txBody>
          <a:bodyPr wrap="square" lIns="0" tIns="0" rIns="0" bIns="0" rtlCol="0" anchor="ctr"/>
          <a:lstStyle/>
          <a:p>
            <a:pPr>
              <a:lnSpc>
                <a:spcPct val="130000"/>
              </a:lnSpc>
            </a:pPr>
            <a:r>
              <a:rPr lang="en-US" sz="1500" dirty="0">
                <a:solidFill>
                  <a:srgbClr val="495057"/>
                </a:solidFill>
                <a:latin typeface="MiSans" pitchFamily="34" charset="0"/>
                <a:ea typeface="MiSans" pitchFamily="34" charset="-122"/>
                <a:cs typeface="MiSans" pitchFamily="34" charset="-120"/>
              </a:rPr>
              <a:t>arena performance (竞技场表演)</a:t>
            </a:r>
            <a:endParaRPr lang="en-US" sz="1600" dirty="0"/>
          </a:p>
        </p:txBody>
      </p:sp>
      <p:sp>
        <p:nvSpPr>
          <p:cNvPr id="83" name="Shape 81"/>
          <p:cNvSpPr/>
          <p:nvPr/>
        </p:nvSpPr>
        <p:spPr>
          <a:xfrm>
            <a:off x="8522956" y="7154985"/>
            <a:ext cx="3453656" cy="476366"/>
          </a:xfrm>
          <a:custGeom>
            <a:avLst/>
            <a:gdLst/>
            <a:ahLst/>
            <a:cxnLst/>
            <a:rect l="l" t="t" r="r" b="b"/>
            <a:pathLst>
              <a:path w="3453656" h="476366">
                <a:moveTo>
                  <a:pt x="23818" y="0"/>
                </a:moveTo>
                <a:lnTo>
                  <a:pt x="3406019" y="0"/>
                </a:lnTo>
                <a:cubicBezTo>
                  <a:pt x="3432328" y="0"/>
                  <a:pt x="3453656" y="21328"/>
                  <a:pt x="3453656" y="47637"/>
                </a:cubicBezTo>
                <a:lnTo>
                  <a:pt x="3453656" y="428730"/>
                </a:lnTo>
                <a:cubicBezTo>
                  <a:pt x="3453656" y="455039"/>
                  <a:pt x="3432328" y="476366"/>
                  <a:pt x="3406019" y="476366"/>
                </a:cubicBezTo>
                <a:lnTo>
                  <a:pt x="23818" y="476366"/>
                </a:lnTo>
                <a:cubicBezTo>
                  <a:pt x="10664" y="476366"/>
                  <a:pt x="0" y="465702"/>
                  <a:pt x="0" y="452548"/>
                </a:cubicBezTo>
                <a:lnTo>
                  <a:pt x="0" y="23818"/>
                </a:lnTo>
                <a:cubicBezTo>
                  <a:pt x="0" y="10673"/>
                  <a:pt x="10673" y="0"/>
                  <a:pt x="23818" y="0"/>
                </a:cubicBezTo>
                <a:close/>
              </a:path>
            </a:pathLst>
          </a:custGeom>
          <a:solidFill>
            <a:srgbClr val="A67B5C">
              <a:alpha val="10196"/>
            </a:srgbClr>
          </a:solidFill>
          <a:ln/>
        </p:spPr>
      </p:sp>
      <p:sp>
        <p:nvSpPr>
          <p:cNvPr id="84" name="Shape 82"/>
          <p:cNvSpPr/>
          <p:nvPr/>
        </p:nvSpPr>
        <p:spPr>
          <a:xfrm>
            <a:off x="8522956" y="7154985"/>
            <a:ext cx="23818" cy="476366"/>
          </a:xfrm>
          <a:custGeom>
            <a:avLst/>
            <a:gdLst/>
            <a:ahLst/>
            <a:cxnLst/>
            <a:rect l="l" t="t" r="r" b="b"/>
            <a:pathLst>
              <a:path w="23818" h="476366">
                <a:moveTo>
                  <a:pt x="23818" y="0"/>
                </a:moveTo>
                <a:lnTo>
                  <a:pt x="23818" y="0"/>
                </a:lnTo>
                <a:lnTo>
                  <a:pt x="23818" y="476366"/>
                </a:lnTo>
                <a:lnTo>
                  <a:pt x="23818" y="476366"/>
                </a:lnTo>
                <a:cubicBezTo>
                  <a:pt x="10664" y="476366"/>
                  <a:pt x="0" y="465702"/>
                  <a:pt x="0" y="452548"/>
                </a:cubicBezTo>
                <a:lnTo>
                  <a:pt x="0" y="23818"/>
                </a:lnTo>
                <a:cubicBezTo>
                  <a:pt x="0" y="10673"/>
                  <a:pt x="10673" y="0"/>
                  <a:pt x="23818" y="0"/>
                </a:cubicBezTo>
                <a:close/>
              </a:path>
            </a:pathLst>
          </a:custGeom>
          <a:solidFill>
            <a:srgbClr val="A67B5C"/>
          </a:solidFill>
          <a:ln/>
        </p:spPr>
      </p:sp>
      <p:sp>
        <p:nvSpPr>
          <p:cNvPr id="85" name="Shape 83"/>
          <p:cNvSpPr/>
          <p:nvPr/>
        </p:nvSpPr>
        <p:spPr>
          <a:xfrm>
            <a:off x="8630138" y="7274076"/>
            <a:ext cx="238183" cy="238183"/>
          </a:xfrm>
          <a:custGeom>
            <a:avLst/>
            <a:gdLst/>
            <a:ahLst/>
            <a:cxnLst/>
            <a:rect l="l" t="t" r="r" b="b"/>
            <a:pathLst>
              <a:path w="238183" h="238183">
                <a:moveTo>
                  <a:pt x="119092" y="0"/>
                </a:moveTo>
                <a:lnTo>
                  <a:pt x="119092" y="0"/>
                </a:lnTo>
                <a:cubicBezTo>
                  <a:pt x="184820" y="0"/>
                  <a:pt x="238183" y="53363"/>
                  <a:pt x="238183" y="119092"/>
                </a:cubicBezTo>
                <a:lnTo>
                  <a:pt x="238183" y="119092"/>
                </a:lnTo>
                <a:cubicBezTo>
                  <a:pt x="238183" y="184820"/>
                  <a:pt x="184820" y="238183"/>
                  <a:pt x="119092" y="238183"/>
                </a:cubicBezTo>
                <a:lnTo>
                  <a:pt x="119092" y="238183"/>
                </a:lnTo>
                <a:cubicBezTo>
                  <a:pt x="53363" y="238183"/>
                  <a:pt x="0" y="184820"/>
                  <a:pt x="0" y="119092"/>
                </a:cubicBezTo>
                <a:lnTo>
                  <a:pt x="0" y="119092"/>
                </a:lnTo>
                <a:cubicBezTo>
                  <a:pt x="0" y="53363"/>
                  <a:pt x="53363" y="0"/>
                  <a:pt x="119092" y="0"/>
                </a:cubicBezTo>
                <a:close/>
              </a:path>
            </a:pathLst>
          </a:custGeom>
          <a:solidFill>
            <a:srgbClr val="A67B5C"/>
          </a:solidFill>
          <a:ln/>
        </p:spPr>
      </p:sp>
      <p:sp>
        <p:nvSpPr>
          <p:cNvPr id="86" name="Text 84"/>
          <p:cNvSpPr/>
          <p:nvPr/>
        </p:nvSpPr>
        <p:spPr>
          <a:xfrm>
            <a:off x="8594411" y="7274076"/>
            <a:ext cx="309638" cy="238183"/>
          </a:xfrm>
          <a:prstGeom prst="rect">
            <a:avLst/>
          </a:prstGeom>
          <a:noFill/>
          <a:ln/>
        </p:spPr>
        <p:txBody>
          <a:bodyPr wrap="square" lIns="0" tIns="0" rIns="0" bIns="0" rtlCol="0" anchor="ctr"/>
          <a:lstStyle/>
          <a:p>
            <a:pPr algn="ctr">
              <a:lnSpc>
                <a:spcPct val="110000"/>
              </a:lnSpc>
            </a:pPr>
            <a:r>
              <a:rPr lang="en-US" sz="1125" b="1" dirty="0">
                <a:solidFill>
                  <a:srgbClr val="FFFFFF"/>
                </a:solidFill>
                <a:latin typeface="MiSans" pitchFamily="34" charset="0"/>
                <a:ea typeface="MiSans" pitchFamily="34" charset="-122"/>
                <a:cs typeface="MiSans" pitchFamily="34" charset="-120"/>
              </a:rPr>
              <a:t>3</a:t>
            </a:r>
            <a:endParaRPr lang="en-US" sz="1600" dirty="0"/>
          </a:p>
        </p:txBody>
      </p:sp>
      <p:sp>
        <p:nvSpPr>
          <p:cNvPr id="87" name="Text 85"/>
          <p:cNvSpPr/>
          <p:nvPr/>
        </p:nvSpPr>
        <p:spPr>
          <a:xfrm>
            <a:off x="8963595" y="7250258"/>
            <a:ext cx="1488645" cy="285820"/>
          </a:xfrm>
          <a:prstGeom prst="rect">
            <a:avLst/>
          </a:prstGeom>
          <a:noFill/>
          <a:ln/>
        </p:spPr>
        <p:txBody>
          <a:bodyPr wrap="square" lIns="0" tIns="0" rIns="0" bIns="0" rtlCol="0" anchor="ctr"/>
          <a:lstStyle/>
          <a:p>
            <a:pPr>
              <a:lnSpc>
                <a:spcPct val="130000"/>
              </a:lnSpc>
            </a:pPr>
            <a:r>
              <a:rPr lang="en-US" sz="1500" dirty="0">
                <a:solidFill>
                  <a:srgbClr val="495057"/>
                </a:solidFill>
                <a:latin typeface="MiSans" pitchFamily="34" charset="0"/>
                <a:ea typeface="MiSans" pitchFamily="34" charset="-122"/>
                <a:cs typeface="MiSans" pitchFamily="34" charset="-120"/>
              </a:rPr>
              <a:t>shoe shop (鞋店)</a:t>
            </a:r>
            <a:endParaRPr lang="en-US" sz="1600" dirty="0"/>
          </a:p>
        </p:txBody>
      </p:sp>
      <p:sp>
        <p:nvSpPr>
          <p:cNvPr id="88" name="Shape 86"/>
          <p:cNvSpPr/>
          <p:nvPr/>
        </p:nvSpPr>
        <p:spPr>
          <a:xfrm>
            <a:off x="8522956" y="7678988"/>
            <a:ext cx="3453656" cy="476366"/>
          </a:xfrm>
          <a:custGeom>
            <a:avLst/>
            <a:gdLst/>
            <a:ahLst/>
            <a:cxnLst/>
            <a:rect l="l" t="t" r="r" b="b"/>
            <a:pathLst>
              <a:path w="3453656" h="476366">
                <a:moveTo>
                  <a:pt x="23818" y="0"/>
                </a:moveTo>
                <a:lnTo>
                  <a:pt x="3406019" y="0"/>
                </a:lnTo>
                <a:cubicBezTo>
                  <a:pt x="3432328" y="0"/>
                  <a:pt x="3453656" y="21328"/>
                  <a:pt x="3453656" y="47637"/>
                </a:cubicBezTo>
                <a:lnTo>
                  <a:pt x="3453656" y="428730"/>
                </a:lnTo>
                <a:cubicBezTo>
                  <a:pt x="3453656" y="455039"/>
                  <a:pt x="3432328" y="476366"/>
                  <a:pt x="3406019" y="476366"/>
                </a:cubicBezTo>
                <a:lnTo>
                  <a:pt x="23818" y="476366"/>
                </a:lnTo>
                <a:cubicBezTo>
                  <a:pt x="10664" y="476366"/>
                  <a:pt x="0" y="465702"/>
                  <a:pt x="0" y="452548"/>
                </a:cubicBezTo>
                <a:lnTo>
                  <a:pt x="0" y="23818"/>
                </a:lnTo>
                <a:cubicBezTo>
                  <a:pt x="0" y="10673"/>
                  <a:pt x="10673" y="0"/>
                  <a:pt x="23818" y="0"/>
                </a:cubicBezTo>
                <a:close/>
              </a:path>
            </a:pathLst>
          </a:custGeom>
          <a:solidFill>
            <a:srgbClr val="A67B5C">
              <a:alpha val="10196"/>
            </a:srgbClr>
          </a:solidFill>
          <a:ln/>
        </p:spPr>
      </p:sp>
      <p:sp>
        <p:nvSpPr>
          <p:cNvPr id="89" name="Shape 87"/>
          <p:cNvSpPr/>
          <p:nvPr/>
        </p:nvSpPr>
        <p:spPr>
          <a:xfrm>
            <a:off x="8522956" y="7678988"/>
            <a:ext cx="23818" cy="476366"/>
          </a:xfrm>
          <a:custGeom>
            <a:avLst/>
            <a:gdLst/>
            <a:ahLst/>
            <a:cxnLst/>
            <a:rect l="l" t="t" r="r" b="b"/>
            <a:pathLst>
              <a:path w="23818" h="476366">
                <a:moveTo>
                  <a:pt x="23818" y="0"/>
                </a:moveTo>
                <a:lnTo>
                  <a:pt x="23818" y="0"/>
                </a:lnTo>
                <a:lnTo>
                  <a:pt x="23818" y="476366"/>
                </a:lnTo>
                <a:lnTo>
                  <a:pt x="23818" y="476366"/>
                </a:lnTo>
                <a:cubicBezTo>
                  <a:pt x="10664" y="476366"/>
                  <a:pt x="0" y="465702"/>
                  <a:pt x="0" y="452548"/>
                </a:cubicBezTo>
                <a:lnTo>
                  <a:pt x="0" y="23818"/>
                </a:lnTo>
                <a:cubicBezTo>
                  <a:pt x="0" y="10673"/>
                  <a:pt x="10673" y="0"/>
                  <a:pt x="23818" y="0"/>
                </a:cubicBezTo>
                <a:close/>
              </a:path>
            </a:pathLst>
          </a:custGeom>
          <a:solidFill>
            <a:srgbClr val="A67B5C"/>
          </a:solidFill>
          <a:ln/>
        </p:spPr>
      </p:sp>
      <p:sp>
        <p:nvSpPr>
          <p:cNvPr id="90" name="Shape 88"/>
          <p:cNvSpPr/>
          <p:nvPr/>
        </p:nvSpPr>
        <p:spPr>
          <a:xfrm>
            <a:off x="8630138" y="7798079"/>
            <a:ext cx="238183" cy="238183"/>
          </a:xfrm>
          <a:custGeom>
            <a:avLst/>
            <a:gdLst/>
            <a:ahLst/>
            <a:cxnLst/>
            <a:rect l="l" t="t" r="r" b="b"/>
            <a:pathLst>
              <a:path w="238183" h="238183">
                <a:moveTo>
                  <a:pt x="119092" y="0"/>
                </a:moveTo>
                <a:lnTo>
                  <a:pt x="119092" y="0"/>
                </a:lnTo>
                <a:cubicBezTo>
                  <a:pt x="184820" y="0"/>
                  <a:pt x="238183" y="53363"/>
                  <a:pt x="238183" y="119092"/>
                </a:cubicBezTo>
                <a:lnTo>
                  <a:pt x="238183" y="119092"/>
                </a:lnTo>
                <a:cubicBezTo>
                  <a:pt x="238183" y="184820"/>
                  <a:pt x="184820" y="238183"/>
                  <a:pt x="119092" y="238183"/>
                </a:cubicBezTo>
                <a:lnTo>
                  <a:pt x="119092" y="238183"/>
                </a:lnTo>
                <a:cubicBezTo>
                  <a:pt x="53363" y="238183"/>
                  <a:pt x="0" y="184820"/>
                  <a:pt x="0" y="119092"/>
                </a:cubicBezTo>
                <a:lnTo>
                  <a:pt x="0" y="119092"/>
                </a:lnTo>
                <a:cubicBezTo>
                  <a:pt x="0" y="53363"/>
                  <a:pt x="53363" y="0"/>
                  <a:pt x="119092" y="0"/>
                </a:cubicBezTo>
                <a:close/>
              </a:path>
            </a:pathLst>
          </a:custGeom>
          <a:solidFill>
            <a:srgbClr val="A67B5C"/>
          </a:solidFill>
          <a:ln/>
        </p:spPr>
      </p:sp>
      <p:sp>
        <p:nvSpPr>
          <p:cNvPr id="91" name="Text 89"/>
          <p:cNvSpPr/>
          <p:nvPr/>
        </p:nvSpPr>
        <p:spPr>
          <a:xfrm>
            <a:off x="8594411" y="7798079"/>
            <a:ext cx="309638" cy="238183"/>
          </a:xfrm>
          <a:prstGeom prst="rect">
            <a:avLst/>
          </a:prstGeom>
          <a:noFill/>
          <a:ln/>
        </p:spPr>
        <p:txBody>
          <a:bodyPr wrap="square" lIns="0" tIns="0" rIns="0" bIns="0" rtlCol="0" anchor="ctr"/>
          <a:lstStyle/>
          <a:p>
            <a:pPr algn="ctr">
              <a:lnSpc>
                <a:spcPct val="110000"/>
              </a:lnSpc>
            </a:pPr>
            <a:r>
              <a:rPr lang="en-US" sz="1125" b="1" dirty="0">
                <a:solidFill>
                  <a:srgbClr val="FFFFFF"/>
                </a:solidFill>
                <a:latin typeface="MiSans" pitchFamily="34" charset="0"/>
                <a:ea typeface="MiSans" pitchFamily="34" charset="-122"/>
                <a:cs typeface="MiSans" pitchFamily="34" charset="-120"/>
              </a:rPr>
              <a:t>4</a:t>
            </a:r>
            <a:endParaRPr lang="en-US" sz="1600" dirty="0"/>
          </a:p>
        </p:txBody>
      </p:sp>
      <p:sp>
        <p:nvSpPr>
          <p:cNvPr id="92" name="Text 90"/>
          <p:cNvSpPr/>
          <p:nvPr/>
        </p:nvSpPr>
        <p:spPr>
          <a:xfrm>
            <a:off x="8963595" y="7774261"/>
            <a:ext cx="2405650" cy="285820"/>
          </a:xfrm>
          <a:prstGeom prst="rect">
            <a:avLst/>
          </a:prstGeom>
          <a:noFill/>
          <a:ln/>
        </p:spPr>
        <p:txBody>
          <a:bodyPr wrap="square" lIns="0" tIns="0" rIns="0" bIns="0" rtlCol="0" anchor="ctr"/>
          <a:lstStyle/>
          <a:p>
            <a:pPr>
              <a:lnSpc>
                <a:spcPct val="130000"/>
              </a:lnSpc>
            </a:pPr>
            <a:r>
              <a:rPr lang="en-US" sz="1500" dirty="0">
                <a:solidFill>
                  <a:srgbClr val="495057"/>
                </a:solidFill>
                <a:latin typeface="MiSans" pitchFamily="34" charset="0"/>
                <a:ea typeface="MiSans" pitchFamily="34" charset="-122"/>
                <a:cs typeface="MiSans" pitchFamily="34" charset="-120"/>
              </a:rPr>
              <a:t>amusement arcade (游乐园)</a:t>
            </a:r>
            <a:endParaRPr lang="en-US" sz="1600" dirty="0"/>
          </a:p>
        </p:txBody>
      </p:sp>
      <p:sp>
        <p:nvSpPr>
          <p:cNvPr id="93" name="Shape 91"/>
          <p:cNvSpPr/>
          <p:nvPr/>
        </p:nvSpPr>
        <p:spPr>
          <a:xfrm>
            <a:off x="8522956" y="8202990"/>
            <a:ext cx="3453656" cy="476366"/>
          </a:xfrm>
          <a:custGeom>
            <a:avLst/>
            <a:gdLst/>
            <a:ahLst/>
            <a:cxnLst/>
            <a:rect l="l" t="t" r="r" b="b"/>
            <a:pathLst>
              <a:path w="3453656" h="476366">
                <a:moveTo>
                  <a:pt x="23818" y="0"/>
                </a:moveTo>
                <a:lnTo>
                  <a:pt x="3406019" y="0"/>
                </a:lnTo>
                <a:cubicBezTo>
                  <a:pt x="3432328" y="0"/>
                  <a:pt x="3453656" y="21328"/>
                  <a:pt x="3453656" y="47637"/>
                </a:cubicBezTo>
                <a:lnTo>
                  <a:pt x="3453656" y="428730"/>
                </a:lnTo>
                <a:cubicBezTo>
                  <a:pt x="3453656" y="455039"/>
                  <a:pt x="3432328" y="476366"/>
                  <a:pt x="3406019" y="476366"/>
                </a:cubicBezTo>
                <a:lnTo>
                  <a:pt x="23818" y="476366"/>
                </a:lnTo>
                <a:cubicBezTo>
                  <a:pt x="10664" y="476366"/>
                  <a:pt x="0" y="465702"/>
                  <a:pt x="0" y="452548"/>
                </a:cubicBezTo>
                <a:lnTo>
                  <a:pt x="0" y="23818"/>
                </a:lnTo>
                <a:cubicBezTo>
                  <a:pt x="0" y="10673"/>
                  <a:pt x="10673" y="0"/>
                  <a:pt x="23818" y="0"/>
                </a:cubicBezTo>
                <a:close/>
              </a:path>
            </a:pathLst>
          </a:custGeom>
          <a:solidFill>
            <a:srgbClr val="A67B5C">
              <a:alpha val="10196"/>
            </a:srgbClr>
          </a:solidFill>
          <a:ln/>
        </p:spPr>
      </p:sp>
      <p:sp>
        <p:nvSpPr>
          <p:cNvPr id="94" name="Shape 92"/>
          <p:cNvSpPr/>
          <p:nvPr/>
        </p:nvSpPr>
        <p:spPr>
          <a:xfrm>
            <a:off x="8522956" y="8202990"/>
            <a:ext cx="23818" cy="476366"/>
          </a:xfrm>
          <a:custGeom>
            <a:avLst/>
            <a:gdLst/>
            <a:ahLst/>
            <a:cxnLst/>
            <a:rect l="l" t="t" r="r" b="b"/>
            <a:pathLst>
              <a:path w="23818" h="476366">
                <a:moveTo>
                  <a:pt x="23818" y="0"/>
                </a:moveTo>
                <a:lnTo>
                  <a:pt x="23818" y="0"/>
                </a:lnTo>
                <a:lnTo>
                  <a:pt x="23818" y="476366"/>
                </a:lnTo>
                <a:lnTo>
                  <a:pt x="23818" y="476366"/>
                </a:lnTo>
                <a:cubicBezTo>
                  <a:pt x="10664" y="476366"/>
                  <a:pt x="0" y="465702"/>
                  <a:pt x="0" y="452548"/>
                </a:cubicBezTo>
                <a:lnTo>
                  <a:pt x="0" y="23818"/>
                </a:lnTo>
                <a:cubicBezTo>
                  <a:pt x="0" y="10673"/>
                  <a:pt x="10673" y="0"/>
                  <a:pt x="23818" y="0"/>
                </a:cubicBezTo>
                <a:close/>
              </a:path>
            </a:pathLst>
          </a:custGeom>
          <a:solidFill>
            <a:srgbClr val="A67B5C"/>
          </a:solidFill>
          <a:ln/>
        </p:spPr>
      </p:sp>
      <p:sp>
        <p:nvSpPr>
          <p:cNvPr id="95" name="Shape 93"/>
          <p:cNvSpPr/>
          <p:nvPr/>
        </p:nvSpPr>
        <p:spPr>
          <a:xfrm>
            <a:off x="8630138" y="8322082"/>
            <a:ext cx="238183" cy="238183"/>
          </a:xfrm>
          <a:custGeom>
            <a:avLst/>
            <a:gdLst/>
            <a:ahLst/>
            <a:cxnLst/>
            <a:rect l="l" t="t" r="r" b="b"/>
            <a:pathLst>
              <a:path w="238183" h="238183">
                <a:moveTo>
                  <a:pt x="119092" y="0"/>
                </a:moveTo>
                <a:lnTo>
                  <a:pt x="119092" y="0"/>
                </a:lnTo>
                <a:cubicBezTo>
                  <a:pt x="184820" y="0"/>
                  <a:pt x="238183" y="53363"/>
                  <a:pt x="238183" y="119092"/>
                </a:cubicBezTo>
                <a:lnTo>
                  <a:pt x="238183" y="119092"/>
                </a:lnTo>
                <a:cubicBezTo>
                  <a:pt x="238183" y="184820"/>
                  <a:pt x="184820" y="238183"/>
                  <a:pt x="119092" y="238183"/>
                </a:cubicBezTo>
                <a:lnTo>
                  <a:pt x="119092" y="238183"/>
                </a:lnTo>
                <a:cubicBezTo>
                  <a:pt x="53363" y="238183"/>
                  <a:pt x="0" y="184820"/>
                  <a:pt x="0" y="119092"/>
                </a:cubicBezTo>
                <a:lnTo>
                  <a:pt x="0" y="119092"/>
                </a:lnTo>
                <a:cubicBezTo>
                  <a:pt x="0" y="53363"/>
                  <a:pt x="53363" y="0"/>
                  <a:pt x="119092" y="0"/>
                </a:cubicBezTo>
                <a:close/>
              </a:path>
            </a:pathLst>
          </a:custGeom>
          <a:solidFill>
            <a:srgbClr val="A67B5C"/>
          </a:solidFill>
          <a:ln/>
        </p:spPr>
      </p:sp>
      <p:sp>
        <p:nvSpPr>
          <p:cNvPr id="96" name="Text 94"/>
          <p:cNvSpPr/>
          <p:nvPr/>
        </p:nvSpPr>
        <p:spPr>
          <a:xfrm>
            <a:off x="8594411" y="8322082"/>
            <a:ext cx="309638" cy="238183"/>
          </a:xfrm>
          <a:prstGeom prst="rect">
            <a:avLst/>
          </a:prstGeom>
          <a:noFill/>
          <a:ln/>
        </p:spPr>
        <p:txBody>
          <a:bodyPr wrap="square" lIns="0" tIns="0" rIns="0" bIns="0" rtlCol="0" anchor="ctr"/>
          <a:lstStyle/>
          <a:p>
            <a:pPr algn="ctr">
              <a:lnSpc>
                <a:spcPct val="110000"/>
              </a:lnSpc>
            </a:pPr>
            <a:r>
              <a:rPr lang="en-US" sz="1125" b="1" dirty="0">
                <a:solidFill>
                  <a:srgbClr val="FFFFFF"/>
                </a:solidFill>
                <a:latin typeface="MiSans" pitchFamily="34" charset="0"/>
                <a:ea typeface="MiSans" pitchFamily="34" charset="-122"/>
                <a:cs typeface="MiSans" pitchFamily="34" charset="-120"/>
              </a:rPr>
              <a:t>5</a:t>
            </a:r>
            <a:endParaRPr lang="en-US" sz="1600" dirty="0"/>
          </a:p>
        </p:txBody>
      </p:sp>
      <p:sp>
        <p:nvSpPr>
          <p:cNvPr id="97" name="Text 95"/>
          <p:cNvSpPr/>
          <p:nvPr/>
        </p:nvSpPr>
        <p:spPr>
          <a:xfrm>
            <a:off x="8963595" y="8298264"/>
            <a:ext cx="2012648" cy="285820"/>
          </a:xfrm>
          <a:prstGeom prst="rect">
            <a:avLst/>
          </a:prstGeom>
          <a:noFill/>
          <a:ln/>
        </p:spPr>
        <p:txBody>
          <a:bodyPr wrap="square" lIns="0" tIns="0" rIns="0" bIns="0" rtlCol="0" anchor="ctr"/>
          <a:lstStyle/>
          <a:p>
            <a:pPr>
              <a:lnSpc>
                <a:spcPct val="130000"/>
              </a:lnSpc>
            </a:pPr>
            <a:r>
              <a:rPr lang="en-US" sz="1500" dirty="0">
                <a:solidFill>
                  <a:srgbClr val="495057"/>
                </a:solidFill>
                <a:latin typeface="MiSans" pitchFamily="34" charset="0"/>
                <a:ea typeface="MiSans" pitchFamily="34" charset="-122"/>
                <a:cs typeface="MiSans" pitchFamily="34" charset="-120"/>
              </a:rPr>
              <a:t>dressing room (更衣室)</a:t>
            </a:r>
            <a:endParaRPr lang="en-US" sz="1600" dirty="0"/>
          </a:p>
        </p:txBody>
      </p:sp>
      <p:sp>
        <p:nvSpPr>
          <p:cNvPr id="98" name="Shape 96"/>
          <p:cNvSpPr/>
          <p:nvPr/>
        </p:nvSpPr>
        <p:spPr>
          <a:xfrm>
            <a:off x="12087702" y="6106979"/>
            <a:ext cx="3453656" cy="476366"/>
          </a:xfrm>
          <a:custGeom>
            <a:avLst/>
            <a:gdLst/>
            <a:ahLst/>
            <a:cxnLst/>
            <a:rect l="l" t="t" r="r" b="b"/>
            <a:pathLst>
              <a:path w="3453656" h="476366">
                <a:moveTo>
                  <a:pt x="23818" y="0"/>
                </a:moveTo>
                <a:lnTo>
                  <a:pt x="3406019" y="0"/>
                </a:lnTo>
                <a:cubicBezTo>
                  <a:pt x="3432328" y="0"/>
                  <a:pt x="3453656" y="21328"/>
                  <a:pt x="3453656" y="47637"/>
                </a:cubicBezTo>
                <a:lnTo>
                  <a:pt x="3453656" y="428730"/>
                </a:lnTo>
                <a:cubicBezTo>
                  <a:pt x="3453656" y="455039"/>
                  <a:pt x="3432328" y="476366"/>
                  <a:pt x="3406019" y="476366"/>
                </a:cubicBezTo>
                <a:lnTo>
                  <a:pt x="23818" y="476366"/>
                </a:lnTo>
                <a:cubicBezTo>
                  <a:pt x="10664" y="476366"/>
                  <a:pt x="0" y="465702"/>
                  <a:pt x="0" y="452548"/>
                </a:cubicBezTo>
                <a:lnTo>
                  <a:pt x="0" y="23818"/>
                </a:lnTo>
                <a:cubicBezTo>
                  <a:pt x="0" y="10673"/>
                  <a:pt x="10673" y="0"/>
                  <a:pt x="23818" y="0"/>
                </a:cubicBezTo>
                <a:close/>
              </a:path>
            </a:pathLst>
          </a:custGeom>
          <a:solidFill>
            <a:srgbClr val="A67B5C">
              <a:alpha val="10196"/>
            </a:srgbClr>
          </a:solidFill>
          <a:ln/>
        </p:spPr>
      </p:sp>
      <p:sp>
        <p:nvSpPr>
          <p:cNvPr id="99" name="Shape 97"/>
          <p:cNvSpPr/>
          <p:nvPr/>
        </p:nvSpPr>
        <p:spPr>
          <a:xfrm>
            <a:off x="12087702" y="6106979"/>
            <a:ext cx="23818" cy="476366"/>
          </a:xfrm>
          <a:custGeom>
            <a:avLst/>
            <a:gdLst/>
            <a:ahLst/>
            <a:cxnLst/>
            <a:rect l="l" t="t" r="r" b="b"/>
            <a:pathLst>
              <a:path w="23818" h="476366">
                <a:moveTo>
                  <a:pt x="23818" y="0"/>
                </a:moveTo>
                <a:lnTo>
                  <a:pt x="23818" y="0"/>
                </a:lnTo>
                <a:lnTo>
                  <a:pt x="23818" y="476366"/>
                </a:lnTo>
                <a:lnTo>
                  <a:pt x="23818" y="476366"/>
                </a:lnTo>
                <a:cubicBezTo>
                  <a:pt x="10664" y="476366"/>
                  <a:pt x="0" y="465702"/>
                  <a:pt x="0" y="452548"/>
                </a:cubicBezTo>
                <a:lnTo>
                  <a:pt x="0" y="23818"/>
                </a:lnTo>
                <a:cubicBezTo>
                  <a:pt x="0" y="10673"/>
                  <a:pt x="10673" y="0"/>
                  <a:pt x="23818" y="0"/>
                </a:cubicBezTo>
                <a:close/>
              </a:path>
            </a:pathLst>
          </a:custGeom>
          <a:solidFill>
            <a:srgbClr val="A67B5C"/>
          </a:solidFill>
          <a:ln/>
        </p:spPr>
      </p:sp>
      <p:sp>
        <p:nvSpPr>
          <p:cNvPr id="100" name="Shape 98"/>
          <p:cNvSpPr/>
          <p:nvPr/>
        </p:nvSpPr>
        <p:spPr>
          <a:xfrm>
            <a:off x="12194884" y="6226070"/>
            <a:ext cx="238183" cy="238183"/>
          </a:xfrm>
          <a:custGeom>
            <a:avLst/>
            <a:gdLst/>
            <a:ahLst/>
            <a:cxnLst/>
            <a:rect l="l" t="t" r="r" b="b"/>
            <a:pathLst>
              <a:path w="238183" h="238183">
                <a:moveTo>
                  <a:pt x="119092" y="0"/>
                </a:moveTo>
                <a:lnTo>
                  <a:pt x="119092" y="0"/>
                </a:lnTo>
                <a:cubicBezTo>
                  <a:pt x="184820" y="0"/>
                  <a:pt x="238183" y="53363"/>
                  <a:pt x="238183" y="119092"/>
                </a:cubicBezTo>
                <a:lnTo>
                  <a:pt x="238183" y="119092"/>
                </a:lnTo>
                <a:cubicBezTo>
                  <a:pt x="238183" y="184820"/>
                  <a:pt x="184820" y="238183"/>
                  <a:pt x="119092" y="238183"/>
                </a:cubicBezTo>
                <a:lnTo>
                  <a:pt x="119092" y="238183"/>
                </a:lnTo>
                <a:cubicBezTo>
                  <a:pt x="53363" y="238183"/>
                  <a:pt x="0" y="184820"/>
                  <a:pt x="0" y="119092"/>
                </a:cubicBezTo>
                <a:lnTo>
                  <a:pt x="0" y="119092"/>
                </a:lnTo>
                <a:cubicBezTo>
                  <a:pt x="0" y="53363"/>
                  <a:pt x="53363" y="0"/>
                  <a:pt x="119092" y="0"/>
                </a:cubicBezTo>
                <a:close/>
              </a:path>
            </a:pathLst>
          </a:custGeom>
          <a:solidFill>
            <a:srgbClr val="A67B5C"/>
          </a:solidFill>
          <a:ln/>
        </p:spPr>
      </p:sp>
      <p:sp>
        <p:nvSpPr>
          <p:cNvPr id="101" name="Text 99"/>
          <p:cNvSpPr/>
          <p:nvPr/>
        </p:nvSpPr>
        <p:spPr>
          <a:xfrm>
            <a:off x="12159157" y="6226070"/>
            <a:ext cx="309638" cy="238183"/>
          </a:xfrm>
          <a:prstGeom prst="rect">
            <a:avLst/>
          </a:prstGeom>
          <a:noFill/>
          <a:ln/>
        </p:spPr>
        <p:txBody>
          <a:bodyPr wrap="square" lIns="0" tIns="0" rIns="0" bIns="0" rtlCol="0" anchor="ctr"/>
          <a:lstStyle/>
          <a:p>
            <a:pPr algn="ctr">
              <a:lnSpc>
                <a:spcPct val="110000"/>
              </a:lnSpc>
            </a:pPr>
            <a:r>
              <a:rPr lang="en-US" sz="1125" b="1" dirty="0">
                <a:solidFill>
                  <a:srgbClr val="FFFFFF"/>
                </a:solidFill>
                <a:latin typeface="MiSans" pitchFamily="34" charset="0"/>
                <a:ea typeface="MiSans" pitchFamily="34" charset="-122"/>
                <a:cs typeface="MiSans" pitchFamily="34" charset="-120"/>
              </a:rPr>
              <a:t>6</a:t>
            </a:r>
            <a:endParaRPr lang="en-US" sz="1600" dirty="0"/>
          </a:p>
        </p:txBody>
      </p:sp>
      <p:sp>
        <p:nvSpPr>
          <p:cNvPr id="102" name="Text 100"/>
          <p:cNvSpPr/>
          <p:nvPr/>
        </p:nvSpPr>
        <p:spPr>
          <a:xfrm>
            <a:off x="12528341" y="6202252"/>
            <a:ext cx="1560100" cy="285820"/>
          </a:xfrm>
          <a:prstGeom prst="rect">
            <a:avLst/>
          </a:prstGeom>
          <a:noFill/>
          <a:ln/>
        </p:spPr>
        <p:txBody>
          <a:bodyPr wrap="square" lIns="0" tIns="0" rIns="0" bIns="0" rtlCol="0" anchor="ctr"/>
          <a:lstStyle/>
          <a:p>
            <a:pPr>
              <a:lnSpc>
                <a:spcPct val="130000"/>
              </a:lnSpc>
            </a:pPr>
            <a:r>
              <a:rPr lang="en-US" sz="1500" dirty="0">
                <a:solidFill>
                  <a:srgbClr val="495057"/>
                </a:solidFill>
                <a:latin typeface="MiSans" pitchFamily="34" charset="0"/>
                <a:ea typeface="MiSans" pitchFamily="34" charset="-122"/>
                <a:cs typeface="MiSans" pitchFamily="34" charset="-120"/>
              </a:rPr>
              <a:t>florist shop (花店)</a:t>
            </a:r>
            <a:endParaRPr lang="en-US" sz="1600" dirty="0"/>
          </a:p>
        </p:txBody>
      </p:sp>
      <p:sp>
        <p:nvSpPr>
          <p:cNvPr id="103" name="Shape 101"/>
          <p:cNvSpPr/>
          <p:nvPr/>
        </p:nvSpPr>
        <p:spPr>
          <a:xfrm>
            <a:off x="12087702" y="6630982"/>
            <a:ext cx="3453656" cy="476366"/>
          </a:xfrm>
          <a:custGeom>
            <a:avLst/>
            <a:gdLst/>
            <a:ahLst/>
            <a:cxnLst/>
            <a:rect l="l" t="t" r="r" b="b"/>
            <a:pathLst>
              <a:path w="3453656" h="476366">
                <a:moveTo>
                  <a:pt x="23818" y="0"/>
                </a:moveTo>
                <a:lnTo>
                  <a:pt x="3406019" y="0"/>
                </a:lnTo>
                <a:cubicBezTo>
                  <a:pt x="3432328" y="0"/>
                  <a:pt x="3453656" y="21328"/>
                  <a:pt x="3453656" y="47637"/>
                </a:cubicBezTo>
                <a:lnTo>
                  <a:pt x="3453656" y="428730"/>
                </a:lnTo>
                <a:cubicBezTo>
                  <a:pt x="3453656" y="455039"/>
                  <a:pt x="3432328" y="476366"/>
                  <a:pt x="3406019" y="476366"/>
                </a:cubicBezTo>
                <a:lnTo>
                  <a:pt x="23818" y="476366"/>
                </a:lnTo>
                <a:cubicBezTo>
                  <a:pt x="10664" y="476366"/>
                  <a:pt x="0" y="465702"/>
                  <a:pt x="0" y="452548"/>
                </a:cubicBezTo>
                <a:lnTo>
                  <a:pt x="0" y="23818"/>
                </a:lnTo>
                <a:cubicBezTo>
                  <a:pt x="0" y="10673"/>
                  <a:pt x="10673" y="0"/>
                  <a:pt x="23818" y="0"/>
                </a:cubicBezTo>
                <a:close/>
              </a:path>
            </a:pathLst>
          </a:custGeom>
          <a:solidFill>
            <a:srgbClr val="A67B5C">
              <a:alpha val="10196"/>
            </a:srgbClr>
          </a:solidFill>
          <a:ln/>
        </p:spPr>
      </p:sp>
      <p:sp>
        <p:nvSpPr>
          <p:cNvPr id="104" name="Shape 102"/>
          <p:cNvSpPr/>
          <p:nvPr/>
        </p:nvSpPr>
        <p:spPr>
          <a:xfrm>
            <a:off x="12087702" y="6630982"/>
            <a:ext cx="23818" cy="476366"/>
          </a:xfrm>
          <a:custGeom>
            <a:avLst/>
            <a:gdLst/>
            <a:ahLst/>
            <a:cxnLst/>
            <a:rect l="l" t="t" r="r" b="b"/>
            <a:pathLst>
              <a:path w="23818" h="476366">
                <a:moveTo>
                  <a:pt x="23818" y="0"/>
                </a:moveTo>
                <a:lnTo>
                  <a:pt x="23818" y="0"/>
                </a:lnTo>
                <a:lnTo>
                  <a:pt x="23818" y="476366"/>
                </a:lnTo>
                <a:lnTo>
                  <a:pt x="23818" y="476366"/>
                </a:lnTo>
                <a:cubicBezTo>
                  <a:pt x="10664" y="476366"/>
                  <a:pt x="0" y="465702"/>
                  <a:pt x="0" y="452548"/>
                </a:cubicBezTo>
                <a:lnTo>
                  <a:pt x="0" y="23818"/>
                </a:lnTo>
                <a:cubicBezTo>
                  <a:pt x="0" y="10673"/>
                  <a:pt x="10673" y="0"/>
                  <a:pt x="23818" y="0"/>
                </a:cubicBezTo>
                <a:close/>
              </a:path>
            </a:pathLst>
          </a:custGeom>
          <a:solidFill>
            <a:srgbClr val="A67B5C"/>
          </a:solidFill>
          <a:ln/>
        </p:spPr>
      </p:sp>
      <p:sp>
        <p:nvSpPr>
          <p:cNvPr id="105" name="Shape 103"/>
          <p:cNvSpPr/>
          <p:nvPr/>
        </p:nvSpPr>
        <p:spPr>
          <a:xfrm>
            <a:off x="12194884" y="6750073"/>
            <a:ext cx="238183" cy="238183"/>
          </a:xfrm>
          <a:custGeom>
            <a:avLst/>
            <a:gdLst/>
            <a:ahLst/>
            <a:cxnLst/>
            <a:rect l="l" t="t" r="r" b="b"/>
            <a:pathLst>
              <a:path w="238183" h="238183">
                <a:moveTo>
                  <a:pt x="119092" y="0"/>
                </a:moveTo>
                <a:lnTo>
                  <a:pt x="119092" y="0"/>
                </a:lnTo>
                <a:cubicBezTo>
                  <a:pt x="184820" y="0"/>
                  <a:pt x="238183" y="53363"/>
                  <a:pt x="238183" y="119092"/>
                </a:cubicBezTo>
                <a:lnTo>
                  <a:pt x="238183" y="119092"/>
                </a:lnTo>
                <a:cubicBezTo>
                  <a:pt x="238183" y="184820"/>
                  <a:pt x="184820" y="238183"/>
                  <a:pt x="119092" y="238183"/>
                </a:cubicBezTo>
                <a:lnTo>
                  <a:pt x="119092" y="238183"/>
                </a:lnTo>
                <a:cubicBezTo>
                  <a:pt x="53363" y="238183"/>
                  <a:pt x="0" y="184820"/>
                  <a:pt x="0" y="119092"/>
                </a:cubicBezTo>
                <a:lnTo>
                  <a:pt x="0" y="119092"/>
                </a:lnTo>
                <a:cubicBezTo>
                  <a:pt x="0" y="53363"/>
                  <a:pt x="53363" y="0"/>
                  <a:pt x="119092" y="0"/>
                </a:cubicBezTo>
                <a:close/>
              </a:path>
            </a:pathLst>
          </a:custGeom>
          <a:solidFill>
            <a:srgbClr val="A67B5C"/>
          </a:solidFill>
          <a:ln/>
        </p:spPr>
      </p:sp>
      <p:sp>
        <p:nvSpPr>
          <p:cNvPr id="106" name="Text 104"/>
          <p:cNvSpPr/>
          <p:nvPr/>
        </p:nvSpPr>
        <p:spPr>
          <a:xfrm>
            <a:off x="12159157" y="6750073"/>
            <a:ext cx="309638" cy="238183"/>
          </a:xfrm>
          <a:prstGeom prst="rect">
            <a:avLst/>
          </a:prstGeom>
          <a:noFill/>
          <a:ln/>
        </p:spPr>
        <p:txBody>
          <a:bodyPr wrap="square" lIns="0" tIns="0" rIns="0" bIns="0" rtlCol="0" anchor="ctr"/>
          <a:lstStyle/>
          <a:p>
            <a:pPr algn="ctr">
              <a:lnSpc>
                <a:spcPct val="110000"/>
              </a:lnSpc>
            </a:pPr>
            <a:r>
              <a:rPr lang="en-US" sz="1125" b="1" dirty="0">
                <a:solidFill>
                  <a:srgbClr val="FFFFFF"/>
                </a:solidFill>
                <a:latin typeface="MiSans" pitchFamily="34" charset="0"/>
                <a:ea typeface="MiSans" pitchFamily="34" charset="-122"/>
                <a:cs typeface="MiSans" pitchFamily="34" charset="-120"/>
              </a:rPr>
              <a:t>7</a:t>
            </a:r>
            <a:endParaRPr lang="en-US" sz="1600" dirty="0"/>
          </a:p>
        </p:txBody>
      </p:sp>
      <p:sp>
        <p:nvSpPr>
          <p:cNvPr id="107" name="Text 105"/>
          <p:cNvSpPr/>
          <p:nvPr/>
        </p:nvSpPr>
        <p:spPr>
          <a:xfrm>
            <a:off x="12528341" y="6726255"/>
            <a:ext cx="1798283" cy="285820"/>
          </a:xfrm>
          <a:prstGeom prst="rect">
            <a:avLst/>
          </a:prstGeom>
          <a:noFill/>
          <a:ln/>
        </p:spPr>
        <p:txBody>
          <a:bodyPr wrap="square" lIns="0" tIns="0" rIns="0" bIns="0" rtlCol="0" anchor="ctr"/>
          <a:lstStyle/>
          <a:p>
            <a:pPr>
              <a:lnSpc>
                <a:spcPct val="130000"/>
              </a:lnSpc>
            </a:pPr>
            <a:r>
              <a:rPr lang="en-US" sz="1500" dirty="0">
                <a:solidFill>
                  <a:srgbClr val="495057"/>
                </a:solidFill>
                <a:latin typeface="MiSans" pitchFamily="34" charset="0"/>
                <a:ea typeface="MiSans" pitchFamily="34" charset="-122"/>
                <a:cs typeface="MiSans" pitchFamily="34" charset="-120"/>
              </a:rPr>
              <a:t>candy store (糖果店)</a:t>
            </a:r>
            <a:endParaRPr lang="en-US" sz="1600" dirty="0"/>
          </a:p>
        </p:txBody>
      </p:sp>
      <p:sp>
        <p:nvSpPr>
          <p:cNvPr id="108" name="Shape 106"/>
          <p:cNvSpPr/>
          <p:nvPr/>
        </p:nvSpPr>
        <p:spPr>
          <a:xfrm>
            <a:off x="12087702" y="7154985"/>
            <a:ext cx="3453656" cy="476366"/>
          </a:xfrm>
          <a:custGeom>
            <a:avLst/>
            <a:gdLst/>
            <a:ahLst/>
            <a:cxnLst/>
            <a:rect l="l" t="t" r="r" b="b"/>
            <a:pathLst>
              <a:path w="3453656" h="476366">
                <a:moveTo>
                  <a:pt x="23818" y="0"/>
                </a:moveTo>
                <a:lnTo>
                  <a:pt x="3406019" y="0"/>
                </a:lnTo>
                <a:cubicBezTo>
                  <a:pt x="3432328" y="0"/>
                  <a:pt x="3453656" y="21328"/>
                  <a:pt x="3453656" y="47637"/>
                </a:cubicBezTo>
                <a:lnTo>
                  <a:pt x="3453656" y="428730"/>
                </a:lnTo>
                <a:cubicBezTo>
                  <a:pt x="3453656" y="455039"/>
                  <a:pt x="3432328" y="476366"/>
                  <a:pt x="3406019" y="476366"/>
                </a:cubicBezTo>
                <a:lnTo>
                  <a:pt x="23818" y="476366"/>
                </a:lnTo>
                <a:cubicBezTo>
                  <a:pt x="10664" y="476366"/>
                  <a:pt x="0" y="465702"/>
                  <a:pt x="0" y="452548"/>
                </a:cubicBezTo>
                <a:lnTo>
                  <a:pt x="0" y="23818"/>
                </a:lnTo>
                <a:cubicBezTo>
                  <a:pt x="0" y="10673"/>
                  <a:pt x="10673" y="0"/>
                  <a:pt x="23818" y="0"/>
                </a:cubicBezTo>
                <a:close/>
              </a:path>
            </a:pathLst>
          </a:custGeom>
          <a:solidFill>
            <a:srgbClr val="A67B5C">
              <a:alpha val="10196"/>
            </a:srgbClr>
          </a:solidFill>
          <a:ln/>
        </p:spPr>
      </p:sp>
      <p:sp>
        <p:nvSpPr>
          <p:cNvPr id="109" name="Shape 107"/>
          <p:cNvSpPr/>
          <p:nvPr/>
        </p:nvSpPr>
        <p:spPr>
          <a:xfrm>
            <a:off x="12087702" y="7154985"/>
            <a:ext cx="23818" cy="476366"/>
          </a:xfrm>
          <a:custGeom>
            <a:avLst/>
            <a:gdLst/>
            <a:ahLst/>
            <a:cxnLst/>
            <a:rect l="l" t="t" r="r" b="b"/>
            <a:pathLst>
              <a:path w="23818" h="476366">
                <a:moveTo>
                  <a:pt x="23818" y="0"/>
                </a:moveTo>
                <a:lnTo>
                  <a:pt x="23818" y="0"/>
                </a:lnTo>
                <a:lnTo>
                  <a:pt x="23818" y="476366"/>
                </a:lnTo>
                <a:lnTo>
                  <a:pt x="23818" y="476366"/>
                </a:lnTo>
                <a:cubicBezTo>
                  <a:pt x="10664" y="476366"/>
                  <a:pt x="0" y="465702"/>
                  <a:pt x="0" y="452548"/>
                </a:cubicBezTo>
                <a:lnTo>
                  <a:pt x="0" y="23818"/>
                </a:lnTo>
                <a:cubicBezTo>
                  <a:pt x="0" y="10673"/>
                  <a:pt x="10673" y="0"/>
                  <a:pt x="23818" y="0"/>
                </a:cubicBezTo>
                <a:close/>
              </a:path>
            </a:pathLst>
          </a:custGeom>
          <a:solidFill>
            <a:srgbClr val="A67B5C"/>
          </a:solidFill>
          <a:ln/>
        </p:spPr>
      </p:sp>
      <p:sp>
        <p:nvSpPr>
          <p:cNvPr id="110" name="Shape 108"/>
          <p:cNvSpPr/>
          <p:nvPr/>
        </p:nvSpPr>
        <p:spPr>
          <a:xfrm>
            <a:off x="12194884" y="7274076"/>
            <a:ext cx="238183" cy="238183"/>
          </a:xfrm>
          <a:custGeom>
            <a:avLst/>
            <a:gdLst/>
            <a:ahLst/>
            <a:cxnLst/>
            <a:rect l="l" t="t" r="r" b="b"/>
            <a:pathLst>
              <a:path w="238183" h="238183">
                <a:moveTo>
                  <a:pt x="119092" y="0"/>
                </a:moveTo>
                <a:lnTo>
                  <a:pt x="119092" y="0"/>
                </a:lnTo>
                <a:cubicBezTo>
                  <a:pt x="184820" y="0"/>
                  <a:pt x="238183" y="53363"/>
                  <a:pt x="238183" y="119092"/>
                </a:cubicBezTo>
                <a:lnTo>
                  <a:pt x="238183" y="119092"/>
                </a:lnTo>
                <a:cubicBezTo>
                  <a:pt x="238183" y="184820"/>
                  <a:pt x="184820" y="238183"/>
                  <a:pt x="119092" y="238183"/>
                </a:cubicBezTo>
                <a:lnTo>
                  <a:pt x="119092" y="238183"/>
                </a:lnTo>
                <a:cubicBezTo>
                  <a:pt x="53363" y="238183"/>
                  <a:pt x="0" y="184820"/>
                  <a:pt x="0" y="119092"/>
                </a:cubicBezTo>
                <a:lnTo>
                  <a:pt x="0" y="119092"/>
                </a:lnTo>
                <a:cubicBezTo>
                  <a:pt x="0" y="53363"/>
                  <a:pt x="53363" y="0"/>
                  <a:pt x="119092" y="0"/>
                </a:cubicBezTo>
                <a:close/>
              </a:path>
            </a:pathLst>
          </a:custGeom>
          <a:solidFill>
            <a:srgbClr val="A67B5C"/>
          </a:solidFill>
          <a:ln/>
        </p:spPr>
      </p:sp>
      <p:sp>
        <p:nvSpPr>
          <p:cNvPr id="111" name="Text 109"/>
          <p:cNvSpPr/>
          <p:nvPr/>
        </p:nvSpPr>
        <p:spPr>
          <a:xfrm>
            <a:off x="12159157" y="7274076"/>
            <a:ext cx="309638" cy="238183"/>
          </a:xfrm>
          <a:prstGeom prst="rect">
            <a:avLst/>
          </a:prstGeom>
          <a:noFill/>
          <a:ln/>
        </p:spPr>
        <p:txBody>
          <a:bodyPr wrap="square" lIns="0" tIns="0" rIns="0" bIns="0" rtlCol="0" anchor="ctr"/>
          <a:lstStyle/>
          <a:p>
            <a:pPr algn="ctr">
              <a:lnSpc>
                <a:spcPct val="110000"/>
              </a:lnSpc>
            </a:pPr>
            <a:r>
              <a:rPr lang="en-US" sz="1125" b="1" dirty="0">
                <a:solidFill>
                  <a:srgbClr val="FFFFFF"/>
                </a:solidFill>
                <a:latin typeface="MiSans" pitchFamily="34" charset="0"/>
                <a:ea typeface="MiSans" pitchFamily="34" charset="-122"/>
                <a:cs typeface="MiSans" pitchFamily="34" charset="-120"/>
              </a:rPr>
              <a:t>8</a:t>
            </a:r>
            <a:endParaRPr lang="en-US" sz="1600" dirty="0"/>
          </a:p>
        </p:txBody>
      </p:sp>
      <p:sp>
        <p:nvSpPr>
          <p:cNvPr id="112" name="Text 110"/>
          <p:cNvSpPr/>
          <p:nvPr/>
        </p:nvSpPr>
        <p:spPr>
          <a:xfrm>
            <a:off x="12528341" y="7250258"/>
            <a:ext cx="2584287" cy="285820"/>
          </a:xfrm>
          <a:prstGeom prst="rect">
            <a:avLst/>
          </a:prstGeom>
          <a:noFill/>
          <a:ln/>
        </p:spPr>
        <p:txBody>
          <a:bodyPr wrap="square" lIns="0" tIns="0" rIns="0" bIns="0" rtlCol="0" anchor="ctr"/>
          <a:lstStyle/>
          <a:p>
            <a:pPr>
              <a:lnSpc>
                <a:spcPct val="130000"/>
              </a:lnSpc>
            </a:pPr>
            <a:r>
              <a:rPr lang="en-US" sz="1500" dirty="0">
                <a:solidFill>
                  <a:srgbClr val="495057"/>
                </a:solidFill>
                <a:latin typeface="MiSans" pitchFamily="34" charset="0"/>
                <a:ea typeface="MiSans" pitchFamily="34" charset="-122"/>
                <a:cs typeface="MiSans" pitchFamily="34" charset="-120"/>
              </a:rPr>
              <a:t>veterinarians office (兽医诊所)</a:t>
            </a:r>
            <a:endParaRPr lang="en-US" sz="1600" dirty="0"/>
          </a:p>
        </p:txBody>
      </p:sp>
      <p:sp>
        <p:nvSpPr>
          <p:cNvPr id="113" name="Shape 111"/>
          <p:cNvSpPr/>
          <p:nvPr/>
        </p:nvSpPr>
        <p:spPr>
          <a:xfrm>
            <a:off x="12087702" y="7678988"/>
            <a:ext cx="3453656" cy="476366"/>
          </a:xfrm>
          <a:custGeom>
            <a:avLst/>
            <a:gdLst/>
            <a:ahLst/>
            <a:cxnLst/>
            <a:rect l="l" t="t" r="r" b="b"/>
            <a:pathLst>
              <a:path w="3453656" h="476366">
                <a:moveTo>
                  <a:pt x="23818" y="0"/>
                </a:moveTo>
                <a:lnTo>
                  <a:pt x="3406019" y="0"/>
                </a:lnTo>
                <a:cubicBezTo>
                  <a:pt x="3432328" y="0"/>
                  <a:pt x="3453656" y="21328"/>
                  <a:pt x="3453656" y="47637"/>
                </a:cubicBezTo>
                <a:lnTo>
                  <a:pt x="3453656" y="428730"/>
                </a:lnTo>
                <a:cubicBezTo>
                  <a:pt x="3453656" y="455039"/>
                  <a:pt x="3432328" y="476366"/>
                  <a:pt x="3406019" y="476366"/>
                </a:cubicBezTo>
                <a:lnTo>
                  <a:pt x="23818" y="476366"/>
                </a:lnTo>
                <a:cubicBezTo>
                  <a:pt x="10664" y="476366"/>
                  <a:pt x="0" y="465702"/>
                  <a:pt x="0" y="452548"/>
                </a:cubicBezTo>
                <a:lnTo>
                  <a:pt x="0" y="23818"/>
                </a:lnTo>
                <a:cubicBezTo>
                  <a:pt x="0" y="10673"/>
                  <a:pt x="10673" y="0"/>
                  <a:pt x="23818" y="0"/>
                </a:cubicBezTo>
                <a:close/>
              </a:path>
            </a:pathLst>
          </a:custGeom>
          <a:solidFill>
            <a:srgbClr val="A67B5C">
              <a:alpha val="10196"/>
            </a:srgbClr>
          </a:solidFill>
          <a:ln/>
        </p:spPr>
      </p:sp>
      <p:sp>
        <p:nvSpPr>
          <p:cNvPr id="114" name="Shape 112"/>
          <p:cNvSpPr/>
          <p:nvPr/>
        </p:nvSpPr>
        <p:spPr>
          <a:xfrm>
            <a:off x="12087702" y="7678988"/>
            <a:ext cx="23818" cy="476366"/>
          </a:xfrm>
          <a:custGeom>
            <a:avLst/>
            <a:gdLst/>
            <a:ahLst/>
            <a:cxnLst/>
            <a:rect l="l" t="t" r="r" b="b"/>
            <a:pathLst>
              <a:path w="23818" h="476366">
                <a:moveTo>
                  <a:pt x="23818" y="0"/>
                </a:moveTo>
                <a:lnTo>
                  <a:pt x="23818" y="0"/>
                </a:lnTo>
                <a:lnTo>
                  <a:pt x="23818" y="476366"/>
                </a:lnTo>
                <a:lnTo>
                  <a:pt x="23818" y="476366"/>
                </a:lnTo>
                <a:cubicBezTo>
                  <a:pt x="10664" y="476366"/>
                  <a:pt x="0" y="465702"/>
                  <a:pt x="0" y="452548"/>
                </a:cubicBezTo>
                <a:lnTo>
                  <a:pt x="0" y="23818"/>
                </a:lnTo>
                <a:cubicBezTo>
                  <a:pt x="0" y="10673"/>
                  <a:pt x="10673" y="0"/>
                  <a:pt x="23818" y="0"/>
                </a:cubicBezTo>
                <a:close/>
              </a:path>
            </a:pathLst>
          </a:custGeom>
          <a:solidFill>
            <a:srgbClr val="A67B5C"/>
          </a:solidFill>
          <a:ln/>
        </p:spPr>
      </p:sp>
      <p:sp>
        <p:nvSpPr>
          <p:cNvPr id="115" name="Shape 113"/>
          <p:cNvSpPr/>
          <p:nvPr/>
        </p:nvSpPr>
        <p:spPr>
          <a:xfrm>
            <a:off x="12194884" y="7798079"/>
            <a:ext cx="238183" cy="238183"/>
          </a:xfrm>
          <a:custGeom>
            <a:avLst/>
            <a:gdLst/>
            <a:ahLst/>
            <a:cxnLst/>
            <a:rect l="l" t="t" r="r" b="b"/>
            <a:pathLst>
              <a:path w="238183" h="238183">
                <a:moveTo>
                  <a:pt x="119092" y="0"/>
                </a:moveTo>
                <a:lnTo>
                  <a:pt x="119092" y="0"/>
                </a:lnTo>
                <a:cubicBezTo>
                  <a:pt x="184820" y="0"/>
                  <a:pt x="238183" y="53363"/>
                  <a:pt x="238183" y="119092"/>
                </a:cubicBezTo>
                <a:lnTo>
                  <a:pt x="238183" y="119092"/>
                </a:lnTo>
                <a:cubicBezTo>
                  <a:pt x="238183" y="184820"/>
                  <a:pt x="184820" y="238183"/>
                  <a:pt x="119092" y="238183"/>
                </a:cubicBezTo>
                <a:lnTo>
                  <a:pt x="119092" y="238183"/>
                </a:lnTo>
                <a:cubicBezTo>
                  <a:pt x="53363" y="238183"/>
                  <a:pt x="0" y="184820"/>
                  <a:pt x="0" y="119092"/>
                </a:cubicBezTo>
                <a:lnTo>
                  <a:pt x="0" y="119092"/>
                </a:lnTo>
                <a:cubicBezTo>
                  <a:pt x="0" y="53363"/>
                  <a:pt x="53363" y="0"/>
                  <a:pt x="119092" y="0"/>
                </a:cubicBezTo>
                <a:close/>
              </a:path>
            </a:pathLst>
          </a:custGeom>
          <a:solidFill>
            <a:srgbClr val="A67B5C"/>
          </a:solidFill>
          <a:ln/>
        </p:spPr>
      </p:sp>
      <p:sp>
        <p:nvSpPr>
          <p:cNvPr id="116" name="Text 114"/>
          <p:cNvSpPr/>
          <p:nvPr/>
        </p:nvSpPr>
        <p:spPr>
          <a:xfrm>
            <a:off x="12159157" y="7798079"/>
            <a:ext cx="309638" cy="238183"/>
          </a:xfrm>
          <a:prstGeom prst="rect">
            <a:avLst/>
          </a:prstGeom>
          <a:noFill/>
          <a:ln/>
        </p:spPr>
        <p:txBody>
          <a:bodyPr wrap="square" lIns="0" tIns="0" rIns="0" bIns="0" rtlCol="0" anchor="ctr"/>
          <a:lstStyle/>
          <a:p>
            <a:pPr algn="ctr">
              <a:lnSpc>
                <a:spcPct val="110000"/>
              </a:lnSpc>
            </a:pPr>
            <a:r>
              <a:rPr lang="en-US" sz="1125" b="1" dirty="0">
                <a:solidFill>
                  <a:srgbClr val="FFFFFF"/>
                </a:solidFill>
                <a:latin typeface="MiSans" pitchFamily="34" charset="0"/>
                <a:ea typeface="MiSans" pitchFamily="34" charset="-122"/>
                <a:cs typeface="MiSans" pitchFamily="34" charset="-120"/>
              </a:rPr>
              <a:t>9</a:t>
            </a:r>
            <a:endParaRPr lang="en-US" sz="1600" dirty="0"/>
          </a:p>
        </p:txBody>
      </p:sp>
      <p:sp>
        <p:nvSpPr>
          <p:cNvPr id="117" name="Text 115"/>
          <p:cNvSpPr/>
          <p:nvPr/>
        </p:nvSpPr>
        <p:spPr>
          <a:xfrm>
            <a:off x="12528341" y="7774261"/>
            <a:ext cx="1845919" cy="285820"/>
          </a:xfrm>
          <a:prstGeom prst="rect">
            <a:avLst/>
          </a:prstGeom>
          <a:noFill/>
          <a:ln/>
        </p:spPr>
        <p:txBody>
          <a:bodyPr wrap="square" lIns="0" tIns="0" rIns="0" bIns="0" rtlCol="0" anchor="ctr"/>
          <a:lstStyle/>
          <a:p>
            <a:pPr>
              <a:lnSpc>
                <a:spcPct val="130000"/>
              </a:lnSpc>
            </a:pPr>
            <a:r>
              <a:rPr lang="en-US" sz="1500" dirty="0">
                <a:solidFill>
                  <a:srgbClr val="495057"/>
                </a:solidFill>
                <a:latin typeface="MiSans" pitchFamily="34" charset="0"/>
                <a:ea typeface="MiSans" pitchFamily="34" charset="-122"/>
                <a:cs typeface="MiSans" pitchFamily="34" charset="-120"/>
              </a:rPr>
              <a:t>bakery shop (面包店)</a:t>
            </a:r>
            <a:endParaRPr lang="en-US" sz="1600" dirty="0"/>
          </a:p>
        </p:txBody>
      </p:sp>
      <p:sp>
        <p:nvSpPr>
          <p:cNvPr id="118" name="Shape 116"/>
          <p:cNvSpPr/>
          <p:nvPr/>
        </p:nvSpPr>
        <p:spPr>
          <a:xfrm>
            <a:off x="12087702" y="8202990"/>
            <a:ext cx="3453656" cy="476366"/>
          </a:xfrm>
          <a:custGeom>
            <a:avLst/>
            <a:gdLst/>
            <a:ahLst/>
            <a:cxnLst/>
            <a:rect l="l" t="t" r="r" b="b"/>
            <a:pathLst>
              <a:path w="3453656" h="476366">
                <a:moveTo>
                  <a:pt x="23818" y="0"/>
                </a:moveTo>
                <a:lnTo>
                  <a:pt x="3406019" y="0"/>
                </a:lnTo>
                <a:cubicBezTo>
                  <a:pt x="3432328" y="0"/>
                  <a:pt x="3453656" y="21328"/>
                  <a:pt x="3453656" y="47637"/>
                </a:cubicBezTo>
                <a:lnTo>
                  <a:pt x="3453656" y="428730"/>
                </a:lnTo>
                <a:cubicBezTo>
                  <a:pt x="3453656" y="455039"/>
                  <a:pt x="3432328" y="476366"/>
                  <a:pt x="3406019" y="476366"/>
                </a:cubicBezTo>
                <a:lnTo>
                  <a:pt x="23818" y="476366"/>
                </a:lnTo>
                <a:cubicBezTo>
                  <a:pt x="10664" y="476366"/>
                  <a:pt x="0" y="465702"/>
                  <a:pt x="0" y="452548"/>
                </a:cubicBezTo>
                <a:lnTo>
                  <a:pt x="0" y="23818"/>
                </a:lnTo>
                <a:cubicBezTo>
                  <a:pt x="0" y="10673"/>
                  <a:pt x="10673" y="0"/>
                  <a:pt x="23818" y="0"/>
                </a:cubicBezTo>
                <a:close/>
              </a:path>
            </a:pathLst>
          </a:custGeom>
          <a:solidFill>
            <a:srgbClr val="A67B5C">
              <a:alpha val="10196"/>
            </a:srgbClr>
          </a:solidFill>
          <a:ln/>
        </p:spPr>
      </p:sp>
      <p:sp>
        <p:nvSpPr>
          <p:cNvPr id="119" name="Shape 117"/>
          <p:cNvSpPr/>
          <p:nvPr/>
        </p:nvSpPr>
        <p:spPr>
          <a:xfrm>
            <a:off x="12087702" y="8202990"/>
            <a:ext cx="23818" cy="476366"/>
          </a:xfrm>
          <a:custGeom>
            <a:avLst/>
            <a:gdLst/>
            <a:ahLst/>
            <a:cxnLst/>
            <a:rect l="l" t="t" r="r" b="b"/>
            <a:pathLst>
              <a:path w="23818" h="476366">
                <a:moveTo>
                  <a:pt x="23818" y="0"/>
                </a:moveTo>
                <a:lnTo>
                  <a:pt x="23818" y="0"/>
                </a:lnTo>
                <a:lnTo>
                  <a:pt x="23818" y="476366"/>
                </a:lnTo>
                <a:lnTo>
                  <a:pt x="23818" y="476366"/>
                </a:lnTo>
                <a:cubicBezTo>
                  <a:pt x="10664" y="476366"/>
                  <a:pt x="0" y="465702"/>
                  <a:pt x="0" y="452548"/>
                </a:cubicBezTo>
                <a:lnTo>
                  <a:pt x="0" y="23818"/>
                </a:lnTo>
                <a:cubicBezTo>
                  <a:pt x="0" y="10673"/>
                  <a:pt x="10673" y="0"/>
                  <a:pt x="23818" y="0"/>
                </a:cubicBezTo>
                <a:close/>
              </a:path>
            </a:pathLst>
          </a:custGeom>
          <a:solidFill>
            <a:srgbClr val="A67B5C"/>
          </a:solidFill>
          <a:ln/>
        </p:spPr>
      </p:sp>
      <p:sp>
        <p:nvSpPr>
          <p:cNvPr id="120" name="Shape 118"/>
          <p:cNvSpPr/>
          <p:nvPr/>
        </p:nvSpPr>
        <p:spPr>
          <a:xfrm>
            <a:off x="12194884" y="8322082"/>
            <a:ext cx="238183" cy="238183"/>
          </a:xfrm>
          <a:custGeom>
            <a:avLst/>
            <a:gdLst/>
            <a:ahLst/>
            <a:cxnLst/>
            <a:rect l="l" t="t" r="r" b="b"/>
            <a:pathLst>
              <a:path w="238183" h="238183">
                <a:moveTo>
                  <a:pt x="119092" y="0"/>
                </a:moveTo>
                <a:lnTo>
                  <a:pt x="119092" y="0"/>
                </a:lnTo>
                <a:cubicBezTo>
                  <a:pt x="184820" y="0"/>
                  <a:pt x="238183" y="53363"/>
                  <a:pt x="238183" y="119092"/>
                </a:cubicBezTo>
                <a:lnTo>
                  <a:pt x="238183" y="119092"/>
                </a:lnTo>
                <a:cubicBezTo>
                  <a:pt x="238183" y="184820"/>
                  <a:pt x="184820" y="238183"/>
                  <a:pt x="119092" y="238183"/>
                </a:cubicBezTo>
                <a:lnTo>
                  <a:pt x="119092" y="238183"/>
                </a:lnTo>
                <a:cubicBezTo>
                  <a:pt x="53363" y="238183"/>
                  <a:pt x="0" y="184820"/>
                  <a:pt x="0" y="119092"/>
                </a:cubicBezTo>
                <a:lnTo>
                  <a:pt x="0" y="119092"/>
                </a:lnTo>
                <a:cubicBezTo>
                  <a:pt x="0" y="53363"/>
                  <a:pt x="53363" y="0"/>
                  <a:pt x="119092" y="0"/>
                </a:cubicBezTo>
                <a:close/>
              </a:path>
            </a:pathLst>
          </a:custGeom>
          <a:solidFill>
            <a:srgbClr val="A67B5C"/>
          </a:solidFill>
          <a:ln/>
        </p:spPr>
      </p:sp>
      <p:sp>
        <p:nvSpPr>
          <p:cNvPr id="121" name="Text 119"/>
          <p:cNvSpPr/>
          <p:nvPr/>
        </p:nvSpPr>
        <p:spPr>
          <a:xfrm>
            <a:off x="12159157" y="8322082"/>
            <a:ext cx="309638" cy="238183"/>
          </a:xfrm>
          <a:prstGeom prst="rect">
            <a:avLst/>
          </a:prstGeom>
          <a:noFill/>
          <a:ln/>
        </p:spPr>
        <p:txBody>
          <a:bodyPr wrap="square" lIns="0" tIns="0" rIns="0" bIns="0" rtlCol="0" anchor="ctr"/>
          <a:lstStyle/>
          <a:p>
            <a:pPr algn="ctr">
              <a:lnSpc>
                <a:spcPct val="110000"/>
              </a:lnSpc>
            </a:pPr>
            <a:r>
              <a:rPr lang="en-US" sz="1125" b="1" dirty="0">
                <a:solidFill>
                  <a:srgbClr val="FFFFFF"/>
                </a:solidFill>
                <a:latin typeface="MiSans" pitchFamily="34" charset="0"/>
                <a:ea typeface="MiSans" pitchFamily="34" charset="-122"/>
                <a:cs typeface="MiSans" pitchFamily="34" charset="-120"/>
              </a:rPr>
              <a:t>10</a:t>
            </a:r>
            <a:endParaRPr lang="en-US" sz="1600" dirty="0"/>
          </a:p>
        </p:txBody>
      </p:sp>
      <p:sp>
        <p:nvSpPr>
          <p:cNvPr id="122" name="Text 120"/>
          <p:cNvSpPr/>
          <p:nvPr/>
        </p:nvSpPr>
        <p:spPr>
          <a:xfrm>
            <a:off x="12528341" y="8298264"/>
            <a:ext cx="1845919" cy="285820"/>
          </a:xfrm>
          <a:prstGeom prst="rect">
            <a:avLst/>
          </a:prstGeom>
          <a:noFill/>
          <a:ln/>
        </p:spPr>
        <p:txBody>
          <a:bodyPr wrap="square" lIns="0" tIns="0" rIns="0" bIns="0" rtlCol="0" anchor="ctr"/>
          <a:lstStyle/>
          <a:p>
            <a:pPr>
              <a:lnSpc>
                <a:spcPct val="130000"/>
              </a:lnSpc>
            </a:pPr>
            <a:r>
              <a:rPr lang="en-US" sz="1500" dirty="0">
                <a:solidFill>
                  <a:srgbClr val="495057"/>
                </a:solidFill>
                <a:latin typeface="MiSans" pitchFamily="34" charset="0"/>
                <a:ea typeface="MiSans" pitchFamily="34" charset="-122"/>
                <a:cs typeface="MiSans" pitchFamily="34" charset="-120"/>
              </a:rPr>
              <a:t>child's room (儿童房)</a:t>
            </a:r>
            <a:endParaRPr lang="en-US" sz="1600" dirty="0"/>
          </a:p>
        </p:txBody>
      </p:sp>
    </p:spTree>
  </p:cSld>
  <p:clrMapOvr>
    <a:masterClrMapping/>
  </p:clrMapOvr>
  <p:transition>
    <p:fade/>
    <p:spd val="med"/>
  </p:transition>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8F9FA"/>
        </a:solidFill>
      </p:bgPr>
    </p:bg>
    <p:spTree>
      <p:nvGrpSpPr>
        <p:cNvPr id="1" name=""/>
        <p:cNvGrpSpPr/>
        <p:nvPr/>
      </p:nvGrpSpPr>
      <p:grpSpPr>
        <a:xfrm>
          <a:off x="0" y="0"/>
          <a:ext cx="0" cy="0"/>
          <a:chOff x="0" y="0"/>
          <a:chExt cx="0" cy="0"/>
        </a:xfrm>
      </p:grpSpPr>
      <p:pic>
        <p:nvPicPr>
          <p:cNvPr id="2" name="Image 0" descr="https://kimi-web-img.moonshot.cn/img/easy-peasy.ai/3f382d73b2f5fe96f4efe7effcd2c64d85701d06.png">    </p:cNvPr>
          <p:cNvPicPr>
            <a:picLocks noChangeAspect="1"/>
          </p:cNvPicPr>
          <p:nvPr/>
        </p:nvPicPr>
        <p:blipFill>
          <a:blip r:embed="rId1">
            <a:alphaModFix amt="25000"/>
          </a:blip>
          <a:srcRect l="0" r="0" t="21875" b="21875"/>
          <a:stretch/>
        </p:blipFill>
        <p:spPr>
          <a:xfrm>
            <a:off x="0" y="0"/>
            <a:ext cx="16256000" cy="9144000"/>
          </a:xfrm>
          <a:prstGeom prst="roundRect">
            <a:avLst>
              <a:gd name="adj" fmla="val 0"/>
            </a:avLst>
          </a:prstGeom>
        </p:spPr>
      </p:pic>
      <p:sp>
        <p:nvSpPr>
          <p:cNvPr id="3" name="Shape 0"/>
          <p:cNvSpPr/>
          <p:nvPr/>
        </p:nvSpPr>
        <p:spPr>
          <a:xfrm>
            <a:off x="0" y="0"/>
            <a:ext cx="16256000" cy="9144000"/>
          </a:xfrm>
          <a:custGeom>
            <a:avLst/>
            <a:gdLst/>
            <a:ahLst/>
            <a:cxnLst/>
            <a:rect l="l" t="t" r="r" b="b"/>
            <a:pathLst>
              <a:path w="16256000" h="9144000">
                <a:moveTo>
                  <a:pt x="0" y="0"/>
                </a:moveTo>
                <a:lnTo>
                  <a:pt x="16256000" y="0"/>
                </a:lnTo>
                <a:lnTo>
                  <a:pt x="16256000" y="9144000"/>
                </a:lnTo>
                <a:lnTo>
                  <a:pt x="0" y="9144000"/>
                </a:lnTo>
                <a:lnTo>
                  <a:pt x="0" y="0"/>
                </a:lnTo>
                <a:close/>
              </a:path>
            </a:pathLst>
          </a:custGeom>
          <a:gradFill rotWithShape="1" flip="none">
            <a:gsLst>
              <a:gs pos="0">
                <a:srgbClr val="495057">
                  <a:alpha val="90000"/>
                </a:srgbClr>
              </a:gs>
              <a:gs pos="50000">
                <a:srgbClr val="495057">
                  <a:alpha val="70000"/>
                </a:srgbClr>
              </a:gs>
              <a:gs pos="100000">
                <a:srgbClr val="000000">
                  <a:alpha val="0"/>
                </a:srgbClr>
              </a:gs>
            </a:gsLst>
            <a:lin ang="0" scaled="1"/>
          </a:gradFill>
          <a:ln/>
        </p:spPr>
      </p:sp>
      <p:sp>
        <p:nvSpPr>
          <p:cNvPr id="4" name="Shape 1"/>
          <p:cNvSpPr/>
          <p:nvPr/>
        </p:nvSpPr>
        <p:spPr>
          <a:xfrm>
            <a:off x="508000" y="2179638"/>
            <a:ext cx="2463800" cy="711200"/>
          </a:xfrm>
          <a:custGeom>
            <a:avLst/>
            <a:gdLst/>
            <a:ahLst/>
            <a:cxnLst/>
            <a:rect l="l" t="t" r="r" b="b"/>
            <a:pathLst>
              <a:path w="2463800" h="711200">
                <a:moveTo>
                  <a:pt x="101602" y="0"/>
                </a:moveTo>
                <a:lnTo>
                  <a:pt x="2362198" y="0"/>
                </a:lnTo>
                <a:cubicBezTo>
                  <a:pt x="2418311" y="0"/>
                  <a:pt x="2463800" y="45489"/>
                  <a:pt x="2463800" y="101602"/>
                </a:cubicBezTo>
                <a:lnTo>
                  <a:pt x="2463800" y="609598"/>
                </a:lnTo>
                <a:cubicBezTo>
                  <a:pt x="2463800" y="665711"/>
                  <a:pt x="2418311" y="711200"/>
                  <a:pt x="2362198" y="711200"/>
                </a:cubicBezTo>
                <a:lnTo>
                  <a:pt x="101602" y="711200"/>
                </a:lnTo>
                <a:cubicBezTo>
                  <a:pt x="45489" y="711200"/>
                  <a:pt x="0" y="665711"/>
                  <a:pt x="0" y="609598"/>
                </a:cubicBezTo>
                <a:lnTo>
                  <a:pt x="0" y="101602"/>
                </a:lnTo>
                <a:cubicBezTo>
                  <a:pt x="0" y="45526"/>
                  <a:pt x="45526" y="0"/>
                  <a:pt x="101602" y="0"/>
                </a:cubicBezTo>
                <a:close/>
              </a:path>
            </a:pathLst>
          </a:custGeom>
          <a:solidFill>
            <a:srgbClr val="A67B5C">
              <a:alpha val="30196"/>
            </a:srgbClr>
          </a:solidFill>
          <a:ln/>
        </p:spPr>
      </p:sp>
      <p:sp>
        <p:nvSpPr>
          <p:cNvPr id="5" name="Text 2"/>
          <p:cNvSpPr/>
          <p:nvPr/>
        </p:nvSpPr>
        <p:spPr>
          <a:xfrm>
            <a:off x="812800" y="2332038"/>
            <a:ext cx="2006600" cy="406400"/>
          </a:xfrm>
          <a:prstGeom prst="rect">
            <a:avLst/>
          </a:prstGeom>
          <a:noFill/>
          <a:ln/>
        </p:spPr>
        <p:txBody>
          <a:bodyPr wrap="square" lIns="0" tIns="0" rIns="0" bIns="0" rtlCol="0" anchor="ctr"/>
          <a:lstStyle/>
          <a:p>
            <a:pPr>
              <a:lnSpc>
                <a:spcPct val="110000"/>
              </a:lnSpc>
            </a:pPr>
            <a:r>
              <a:rPr lang="en-US" sz="2400" b="1" spc="120" kern="0" dirty="0">
                <a:solidFill>
                  <a:srgbClr val="F8F9FA"/>
                </a:solidFill>
                <a:latin typeface="Quattrocento Sans" pitchFamily="34" charset="0"/>
                <a:ea typeface="Quattrocento Sans" pitchFamily="34" charset="-122"/>
                <a:cs typeface="Quattrocento Sans" pitchFamily="34" charset="-120"/>
              </a:rPr>
              <a:t>CHAPTER 04</a:t>
            </a:r>
            <a:endParaRPr lang="en-US" sz="1600" dirty="0"/>
          </a:p>
        </p:txBody>
      </p:sp>
      <p:sp>
        <p:nvSpPr>
          <p:cNvPr id="6" name="Text 3"/>
          <p:cNvSpPr/>
          <p:nvPr/>
        </p:nvSpPr>
        <p:spPr>
          <a:xfrm>
            <a:off x="508000" y="3297238"/>
            <a:ext cx="5029200" cy="2286000"/>
          </a:xfrm>
          <a:prstGeom prst="rect">
            <a:avLst/>
          </a:prstGeom>
          <a:noFill/>
          <a:ln/>
        </p:spPr>
        <p:txBody>
          <a:bodyPr wrap="square" lIns="0" tIns="0" rIns="0" bIns="0" rtlCol="0" anchor="ctr"/>
          <a:lstStyle/>
          <a:p>
            <a:pPr>
              <a:lnSpc>
                <a:spcPct val="100000"/>
              </a:lnSpc>
            </a:pPr>
            <a:r>
              <a:rPr lang="en-US" sz="7200" b="1" dirty="0">
                <a:solidFill>
                  <a:srgbClr val="F8F9FA"/>
                </a:solidFill>
                <a:latin typeface="Noto Sans SC" pitchFamily="34" charset="0"/>
                <a:ea typeface="Noto Sans SC" pitchFamily="34" charset="-122"/>
                <a:cs typeface="Noto Sans SC" pitchFamily="34" charset="-120"/>
              </a:rPr>
              <a:t>核心结论与</a:t>
            </a:r>
            <a:endParaRPr lang="en-US" sz="1600" dirty="0"/>
          </a:p>
          <a:p>
            <a:pPr>
              <a:lnSpc>
                <a:spcPct val="100000"/>
              </a:lnSpc>
            </a:pPr>
            <a:r>
              <a:rPr lang="en-US" sz="7200" b="1" dirty="0">
                <a:solidFill>
                  <a:srgbClr val="F8F9FA"/>
                </a:solidFill>
                <a:latin typeface="Noto Sans SC" pitchFamily="34" charset="0"/>
                <a:ea typeface="Noto Sans SC" pitchFamily="34" charset="-122"/>
                <a:cs typeface="Noto Sans SC" pitchFamily="34" charset="-120"/>
              </a:rPr>
              <a:t>展望</a:t>
            </a:r>
            <a:endParaRPr lang="en-US" sz="1600" dirty="0"/>
          </a:p>
        </p:txBody>
      </p:sp>
      <p:sp>
        <p:nvSpPr>
          <p:cNvPr id="7" name="Shape 4"/>
          <p:cNvSpPr/>
          <p:nvPr/>
        </p:nvSpPr>
        <p:spPr>
          <a:xfrm>
            <a:off x="508000" y="5888038"/>
            <a:ext cx="1625600" cy="50800"/>
          </a:xfrm>
          <a:custGeom>
            <a:avLst/>
            <a:gdLst/>
            <a:ahLst/>
            <a:cxnLst/>
            <a:rect l="l" t="t" r="r" b="b"/>
            <a:pathLst>
              <a:path w="1625600" h="50800">
                <a:moveTo>
                  <a:pt x="0" y="0"/>
                </a:moveTo>
                <a:lnTo>
                  <a:pt x="1625600" y="0"/>
                </a:lnTo>
                <a:lnTo>
                  <a:pt x="1625600" y="50800"/>
                </a:lnTo>
                <a:lnTo>
                  <a:pt x="0" y="50800"/>
                </a:lnTo>
                <a:lnTo>
                  <a:pt x="0" y="0"/>
                </a:lnTo>
                <a:close/>
              </a:path>
            </a:pathLst>
          </a:custGeom>
          <a:solidFill>
            <a:srgbClr val="A67B5C"/>
          </a:solidFill>
          <a:ln/>
        </p:spPr>
      </p:sp>
      <p:sp>
        <p:nvSpPr>
          <p:cNvPr id="8" name="Text 5"/>
          <p:cNvSpPr/>
          <p:nvPr/>
        </p:nvSpPr>
        <p:spPr>
          <a:xfrm>
            <a:off x="508000" y="6345238"/>
            <a:ext cx="4762500" cy="622300"/>
          </a:xfrm>
          <a:prstGeom prst="rect">
            <a:avLst/>
          </a:prstGeom>
          <a:noFill/>
          <a:ln/>
        </p:spPr>
        <p:txBody>
          <a:bodyPr wrap="square" lIns="0" tIns="0" rIns="0" bIns="0" rtlCol="0" anchor="ctr"/>
          <a:lstStyle/>
          <a:p>
            <a:pPr>
              <a:lnSpc>
                <a:spcPct val="140000"/>
              </a:lnSpc>
            </a:pPr>
            <a:r>
              <a:rPr lang="en-US" sz="3000" dirty="0">
                <a:solidFill>
                  <a:srgbClr val="F8F9FA">
                    <a:alpha val="80000"/>
                  </a:srgbClr>
                </a:solidFill>
                <a:latin typeface="Noto Sans SC" pitchFamily="34" charset="0"/>
                <a:ea typeface="Noto Sans SC" pitchFamily="34" charset="-122"/>
                <a:cs typeface="Noto Sans SC" pitchFamily="34" charset="-120"/>
              </a:rPr>
              <a:t>验证深度语义网络的有效性</a:t>
            </a:r>
            <a:endParaRPr lang="en-US" sz="1600" dirty="0"/>
          </a:p>
        </p:txBody>
      </p:sp>
    </p:spTree>
  </p:cSld>
  <p:clrMapOvr>
    <a:masterClrMapping/>
  </p:clrMapOvr>
  <p:transition>
    <p:fade/>
    <p:spd val="med"/>
  </p:transition>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8F9FA"/>
        </a:solidFill>
      </p:bgPr>
    </p:bg>
    <p:spTree>
      <p:nvGrpSpPr>
        <p:cNvPr id="1" name=""/>
        <p:cNvGrpSpPr/>
        <p:nvPr/>
      </p:nvGrpSpPr>
      <p:grpSpPr>
        <a:xfrm>
          <a:off x="0" y="0"/>
          <a:ext cx="0" cy="0"/>
          <a:chOff x="0" y="0"/>
          <a:chExt cx="0" cy="0"/>
        </a:xfrm>
      </p:grpSpPr>
      <p:sp>
        <p:nvSpPr>
          <p:cNvPr id="2" name="Shape 0"/>
          <p:cNvSpPr/>
          <p:nvPr/>
        </p:nvSpPr>
        <p:spPr>
          <a:xfrm>
            <a:off x="508000" y="558800"/>
            <a:ext cx="406400" cy="406400"/>
          </a:xfrm>
          <a:custGeom>
            <a:avLst/>
            <a:gdLst/>
            <a:ahLst/>
            <a:cxnLst/>
            <a:rect l="l" t="t" r="r" b="b"/>
            <a:pathLst>
              <a:path w="406400" h="406400">
                <a:moveTo>
                  <a:pt x="50800" y="0"/>
                </a:moveTo>
                <a:lnTo>
                  <a:pt x="355600" y="0"/>
                </a:lnTo>
                <a:cubicBezTo>
                  <a:pt x="383637" y="0"/>
                  <a:pt x="406400" y="22763"/>
                  <a:pt x="406400" y="50800"/>
                </a:cubicBezTo>
                <a:lnTo>
                  <a:pt x="406400" y="355600"/>
                </a:lnTo>
                <a:cubicBezTo>
                  <a:pt x="406400" y="383637"/>
                  <a:pt x="383637" y="406400"/>
                  <a:pt x="355600" y="406400"/>
                </a:cubicBezTo>
                <a:lnTo>
                  <a:pt x="50800" y="406400"/>
                </a:lnTo>
                <a:cubicBezTo>
                  <a:pt x="22763" y="406400"/>
                  <a:pt x="0" y="383637"/>
                  <a:pt x="0" y="355600"/>
                </a:cubicBezTo>
                <a:lnTo>
                  <a:pt x="0" y="50800"/>
                </a:lnTo>
                <a:cubicBezTo>
                  <a:pt x="0" y="22763"/>
                  <a:pt x="22763" y="0"/>
                  <a:pt x="50800" y="0"/>
                </a:cubicBezTo>
                <a:close/>
              </a:path>
            </a:pathLst>
          </a:custGeom>
          <a:solidFill>
            <a:srgbClr val="A67B5C"/>
          </a:solidFill>
          <a:ln/>
        </p:spPr>
      </p:sp>
      <p:sp>
        <p:nvSpPr>
          <p:cNvPr id="3" name="Text 1"/>
          <p:cNvSpPr/>
          <p:nvPr/>
        </p:nvSpPr>
        <p:spPr>
          <a:xfrm>
            <a:off x="586482" y="609600"/>
            <a:ext cx="355600" cy="304800"/>
          </a:xfrm>
          <a:prstGeom prst="rect">
            <a:avLst/>
          </a:prstGeom>
          <a:noFill/>
          <a:ln/>
        </p:spPr>
        <p:txBody>
          <a:bodyPr wrap="square" lIns="0" tIns="0" rIns="0" bIns="0" rtlCol="0" anchor="ctr"/>
          <a:lstStyle/>
          <a:p>
            <a:pPr>
              <a:lnSpc>
                <a:spcPct val="130000"/>
              </a:lnSpc>
            </a:pPr>
            <a:r>
              <a:rPr lang="en-US" sz="1600" b="1" dirty="0">
                <a:solidFill>
                  <a:srgbClr val="F8F9FA"/>
                </a:solidFill>
                <a:latin typeface="Liter" pitchFamily="34" charset="0"/>
                <a:ea typeface="Liter" pitchFamily="34" charset="-122"/>
                <a:cs typeface="Liter" pitchFamily="34" charset="-120"/>
              </a:rPr>
              <a:t>04</a:t>
            </a:r>
            <a:endParaRPr lang="en-US" sz="1600" dirty="0"/>
          </a:p>
        </p:txBody>
      </p:sp>
      <p:sp>
        <p:nvSpPr>
          <p:cNvPr id="4" name="Text 2"/>
          <p:cNvSpPr/>
          <p:nvPr/>
        </p:nvSpPr>
        <p:spPr>
          <a:xfrm>
            <a:off x="1066800" y="508000"/>
            <a:ext cx="2057400" cy="508000"/>
          </a:xfrm>
          <a:prstGeom prst="rect">
            <a:avLst/>
          </a:prstGeom>
          <a:noFill/>
          <a:ln/>
        </p:spPr>
        <p:txBody>
          <a:bodyPr wrap="square" lIns="0" tIns="0" rIns="0" bIns="0" rtlCol="0" anchor="ctr"/>
          <a:lstStyle/>
          <a:p>
            <a:pPr>
              <a:lnSpc>
                <a:spcPct val="90000"/>
              </a:lnSpc>
            </a:pPr>
            <a:r>
              <a:rPr lang="en-US" sz="3600" b="1" dirty="0">
                <a:solidFill>
                  <a:srgbClr val="495057"/>
                </a:solidFill>
                <a:latin typeface="Noto Sans SC" pitchFamily="34" charset="0"/>
                <a:ea typeface="Noto Sans SC" pitchFamily="34" charset="-122"/>
                <a:cs typeface="Noto Sans SC" pitchFamily="34" charset="-120"/>
              </a:rPr>
              <a:t>核心结论</a:t>
            </a:r>
            <a:endParaRPr lang="en-US" sz="1600" dirty="0"/>
          </a:p>
        </p:txBody>
      </p:sp>
      <p:sp>
        <p:nvSpPr>
          <p:cNvPr id="5" name="Shape 3"/>
          <p:cNvSpPr/>
          <p:nvPr/>
        </p:nvSpPr>
        <p:spPr>
          <a:xfrm>
            <a:off x="508000" y="1117600"/>
            <a:ext cx="1016000" cy="50800"/>
          </a:xfrm>
          <a:custGeom>
            <a:avLst/>
            <a:gdLst/>
            <a:ahLst/>
            <a:cxnLst/>
            <a:rect l="l" t="t" r="r" b="b"/>
            <a:pathLst>
              <a:path w="1016000" h="50800">
                <a:moveTo>
                  <a:pt x="0" y="0"/>
                </a:moveTo>
                <a:lnTo>
                  <a:pt x="1016000" y="0"/>
                </a:lnTo>
                <a:lnTo>
                  <a:pt x="1016000" y="50800"/>
                </a:lnTo>
                <a:lnTo>
                  <a:pt x="0" y="50800"/>
                </a:lnTo>
                <a:lnTo>
                  <a:pt x="0" y="0"/>
                </a:lnTo>
                <a:close/>
              </a:path>
            </a:pathLst>
          </a:custGeom>
          <a:solidFill>
            <a:srgbClr val="A67B5C"/>
          </a:solidFill>
          <a:ln/>
        </p:spPr>
      </p:sp>
      <p:sp>
        <p:nvSpPr>
          <p:cNvPr id="6" name="Shape 4"/>
          <p:cNvSpPr/>
          <p:nvPr/>
        </p:nvSpPr>
        <p:spPr>
          <a:xfrm>
            <a:off x="508000" y="1422400"/>
            <a:ext cx="15240000" cy="1473200"/>
          </a:xfrm>
          <a:custGeom>
            <a:avLst/>
            <a:gdLst/>
            <a:ahLst/>
            <a:cxnLst/>
            <a:rect l="l" t="t" r="r" b="b"/>
            <a:pathLst>
              <a:path w="15240000" h="1473200">
                <a:moveTo>
                  <a:pt x="101607" y="0"/>
                </a:moveTo>
                <a:lnTo>
                  <a:pt x="15138393" y="0"/>
                </a:lnTo>
                <a:cubicBezTo>
                  <a:pt x="15194509" y="0"/>
                  <a:pt x="15240000" y="45491"/>
                  <a:pt x="15240000" y="101607"/>
                </a:cubicBezTo>
                <a:lnTo>
                  <a:pt x="15240000" y="1371593"/>
                </a:lnTo>
                <a:cubicBezTo>
                  <a:pt x="15240000" y="1427709"/>
                  <a:pt x="15194509" y="1473200"/>
                  <a:pt x="15138393" y="1473200"/>
                </a:cubicBezTo>
                <a:lnTo>
                  <a:pt x="101607" y="1473200"/>
                </a:lnTo>
                <a:cubicBezTo>
                  <a:pt x="45491" y="1473200"/>
                  <a:pt x="0" y="1427709"/>
                  <a:pt x="0" y="1371593"/>
                </a:cubicBezTo>
                <a:lnTo>
                  <a:pt x="0" y="101607"/>
                </a:lnTo>
                <a:cubicBezTo>
                  <a:pt x="0" y="45528"/>
                  <a:pt x="45528" y="0"/>
                  <a:pt x="101607" y="0"/>
                </a:cubicBezTo>
                <a:close/>
              </a:path>
            </a:pathLst>
          </a:custGeom>
          <a:gradFill rotWithShape="1" flip="none">
            <a:gsLst>
              <a:gs pos="0">
                <a:srgbClr val="A67B5C"/>
              </a:gs>
              <a:gs pos="100000">
                <a:srgbClr val="A67B5C">
                  <a:alpha val="80000"/>
                </a:srgbClr>
              </a:gs>
            </a:gsLst>
            <a:lin ang="0" scaled="1"/>
          </a:gradFill>
          <a:ln/>
          <a:effectLst>
            <a:outerShdw sx="100000" sy="100000" kx="0" ky="0" algn="bl" rotWithShape="0" blurRad="190500" dist="127000" dir="5400000">
              <a:srgbClr val="000000">
                <a:alpha val="10196"/>
              </a:srgbClr>
            </a:outerShdw>
          </a:effectLst>
        </p:spPr>
      </p:sp>
      <p:sp>
        <p:nvSpPr>
          <p:cNvPr id="7" name="Shape 5"/>
          <p:cNvSpPr/>
          <p:nvPr/>
        </p:nvSpPr>
        <p:spPr>
          <a:xfrm>
            <a:off x="812800" y="1752600"/>
            <a:ext cx="812800" cy="812800"/>
          </a:xfrm>
          <a:custGeom>
            <a:avLst/>
            <a:gdLst/>
            <a:ahLst/>
            <a:cxnLst/>
            <a:rect l="l" t="t" r="r" b="b"/>
            <a:pathLst>
              <a:path w="812800" h="812800">
                <a:moveTo>
                  <a:pt x="406400" y="0"/>
                </a:moveTo>
                <a:lnTo>
                  <a:pt x="406400" y="0"/>
                </a:lnTo>
                <a:cubicBezTo>
                  <a:pt x="630698" y="0"/>
                  <a:pt x="812800" y="182102"/>
                  <a:pt x="812800" y="406400"/>
                </a:cubicBezTo>
                <a:lnTo>
                  <a:pt x="812800" y="406400"/>
                </a:lnTo>
                <a:cubicBezTo>
                  <a:pt x="812800" y="630698"/>
                  <a:pt x="630698" y="812800"/>
                  <a:pt x="406400" y="812800"/>
                </a:cubicBezTo>
                <a:lnTo>
                  <a:pt x="406400" y="812800"/>
                </a:lnTo>
                <a:cubicBezTo>
                  <a:pt x="182102" y="812800"/>
                  <a:pt x="0" y="630698"/>
                  <a:pt x="0" y="406400"/>
                </a:cubicBezTo>
                <a:lnTo>
                  <a:pt x="0" y="406400"/>
                </a:lnTo>
                <a:cubicBezTo>
                  <a:pt x="0" y="182102"/>
                  <a:pt x="182102" y="0"/>
                  <a:pt x="406400" y="0"/>
                </a:cubicBezTo>
                <a:close/>
              </a:path>
            </a:pathLst>
          </a:custGeom>
          <a:solidFill>
            <a:srgbClr val="FFFFFF">
              <a:alpha val="20000"/>
            </a:srgbClr>
          </a:solidFill>
          <a:ln/>
        </p:spPr>
      </p:sp>
      <p:sp>
        <p:nvSpPr>
          <p:cNvPr id="8" name="Shape 6"/>
          <p:cNvSpPr/>
          <p:nvPr/>
        </p:nvSpPr>
        <p:spPr>
          <a:xfrm>
            <a:off x="1031875" y="1968500"/>
            <a:ext cx="381000" cy="381000"/>
          </a:xfrm>
          <a:custGeom>
            <a:avLst/>
            <a:gdLst/>
            <a:ahLst/>
            <a:cxnLst/>
            <a:rect l="l" t="t" r="r" b="b"/>
            <a:pathLst>
              <a:path w="381000" h="381000">
                <a:moveTo>
                  <a:pt x="190500" y="381000"/>
                </a:moveTo>
                <a:cubicBezTo>
                  <a:pt x="295640" y="381000"/>
                  <a:pt x="381000" y="295640"/>
                  <a:pt x="381000" y="190500"/>
                </a:cubicBezTo>
                <a:cubicBezTo>
                  <a:pt x="381000" y="85360"/>
                  <a:pt x="295640" y="0"/>
                  <a:pt x="190500" y="0"/>
                </a:cubicBezTo>
                <a:cubicBezTo>
                  <a:pt x="85360" y="0"/>
                  <a:pt x="0" y="85360"/>
                  <a:pt x="0" y="190500"/>
                </a:cubicBezTo>
                <a:cubicBezTo>
                  <a:pt x="0" y="295640"/>
                  <a:pt x="85360" y="381000"/>
                  <a:pt x="190500" y="381000"/>
                </a:cubicBezTo>
                <a:close/>
                <a:moveTo>
                  <a:pt x="253305" y="158279"/>
                </a:moveTo>
                <a:lnTo>
                  <a:pt x="193774" y="253529"/>
                </a:lnTo>
                <a:cubicBezTo>
                  <a:pt x="190649" y="258514"/>
                  <a:pt x="185291" y="261640"/>
                  <a:pt x="179412" y="261938"/>
                </a:cubicBezTo>
                <a:cubicBezTo>
                  <a:pt x="173534" y="262235"/>
                  <a:pt x="167878" y="259556"/>
                  <a:pt x="164381" y="254794"/>
                </a:cubicBezTo>
                <a:lnTo>
                  <a:pt x="128662" y="207169"/>
                </a:lnTo>
                <a:cubicBezTo>
                  <a:pt x="122709" y="199281"/>
                  <a:pt x="124346" y="188119"/>
                  <a:pt x="132234" y="182166"/>
                </a:cubicBezTo>
                <a:cubicBezTo>
                  <a:pt x="140122" y="176212"/>
                  <a:pt x="151284" y="177850"/>
                  <a:pt x="157237" y="185738"/>
                </a:cubicBezTo>
                <a:lnTo>
                  <a:pt x="177329" y="212527"/>
                </a:lnTo>
                <a:lnTo>
                  <a:pt x="223019" y="139378"/>
                </a:lnTo>
                <a:cubicBezTo>
                  <a:pt x="228228" y="131043"/>
                  <a:pt x="239241" y="128439"/>
                  <a:pt x="247650" y="133722"/>
                </a:cubicBezTo>
                <a:cubicBezTo>
                  <a:pt x="256059" y="139005"/>
                  <a:pt x="258589" y="149944"/>
                  <a:pt x="253305" y="158353"/>
                </a:cubicBezTo>
                <a:close/>
              </a:path>
            </a:pathLst>
          </a:custGeom>
          <a:solidFill>
            <a:srgbClr val="FFFFFF"/>
          </a:solidFill>
          <a:ln/>
        </p:spPr>
      </p:sp>
      <p:sp>
        <p:nvSpPr>
          <p:cNvPr id="9" name="Text 7"/>
          <p:cNvSpPr/>
          <p:nvPr/>
        </p:nvSpPr>
        <p:spPr>
          <a:xfrm>
            <a:off x="1828800" y="1727200"/>
            <a:ext cx="10883900" cy="406400"/>
          </a:xfrm>
          <a:prstGeom prst="rect">
            <a:avLst/>
          </a:prstGeom>
          <a:noFill/>
          <a:ln/>
        </p:spPr>
        <p:txBody>
          <a:bodyPr wrap="square" lIns="0" tIns="0" rIns="0" bIns="0" rtlCol="0" anchor="ctr"/>
          <a:lstStyle/>
          <a:p>
            <a:pPr>
              <a:lnSpc>
                <a:spcPct val="110000"/>
              </a:lnSpc>
            </a:pPr>
            <a:r>
              <a:rPr lang="en-US" sz="2400" b="1" dirty="0">
                <a:solidFill>
                  <a:srgbClr val="FFFFFF"/>
                </a:solidFill>
                <a:latin typeface="Noto Sans SC" pitchFamily="34" charset="0"/>
                <a:ea typeface="Noto Sans SC" pitchFamily="34" charset="-122"/>
                <a:cs typeface="Noto Sans SC" pitchFamily="34" charset="-120"/>
              </a:rPr>
              <a:t>复现工作总结</a:t>
            </a:r>
            <a:endParaRPr lang="en-US" sz="1600" dirty="0"/>
          </a:p>
        </p:txBody>
      </p:sp>
      <p:sp>
        <p:nvSpPr>
          <p:cNvPr id="10" name="Text 8"/>
          <p:cNvSpPr/>
          <p:nvPr/>
        </p:nvSpPr>
        <p:spPr>
          <a:xfrm>
            <a:off x="1828800" y="2235200"/>
            <a:ext cx="10845800" cy="355600"/>
          </a:xfrm>
          <a:prstGeom prst="rect">
            <a:avLst/>
          </a:prstGeom>
          <a:noFill/>
          <a:ln/>
        </p:spPr>
        <p:txBody>
          <a:bodyPr wrap="square" lIns="0" tIns="0" rIns="0" bIns="0" rtlCol="0" anchor="ctr"/>
          <a:lstStyle/>
          <a:p>
            <a:pPr>
              <a:lnSpc>
                <a:spcPct val="130000"/>
              </a:lnSpc>
            </a:pPr>
            <a:r>
              <a:rPr lang="en-US" sz="1800" dirty="0">
                <a:solidFill>
                  <a:srgbClr val="FFFFFF"/>
                </a:solidFill>
                <a:latin typeface="MiSans" pitchFamily="34" charset="0"/>
                <a:ea typeface="MiSans" pitchFamily="34" charset="-122"/>
                <a:cs typeface="MiSans" pitchFamily="34" charset="-120"/>
              </a:rPr>
              <a:t>通过在MVSA-Single和MVSA-Multi两个数据集上的实验验证，成功验证MultiSentiNet模型的有效性与鲁棒性</a:t>
            </a:r>
            <a:endParaRPr lang="en-US" sz="1600" dirty="0"/>
          </a:p>
        </p:txBody>
      </p:sp>
      <p:sp>
        <p:nvSpPr>
          <p:cNvPr id="11" name="Shape 9"/>
          <p:cNvSpPr/>
          <p:nvPr/>
        </p:nvSpPr>
        <p:spPr>
          <a:xfrm>
            <a:off x="508000" y="3098800"/>
            <a:ext cx="4940300" cy="4089400"/>
          </a:xfrm>
          <a:custGeom>
            <a:avLst/>
            <a:gdLst/>
            <a:ahLst/>
            <a:cxnLst/>
            <a:rect l="l" t="t" r="r" b="b"/>
            <a:pathLst>
              <a:path w="4940300" h="4089400">
                <a:moveTo>
                  <a:pt x="101581" y="0"/>
                </a:moveTo>
                <a:lnTo>
                  <a:pt x="4838719" y="0"/>
                </a:lnTo>
                <a:cubicBezTo>
                  <a:pt x="4894821" y="0"/>
                  <a:pt x="4940300" y="45479"/>
                  <a:pt x="4940300" y="101581"/>
                </a:cubicBezTo>
                <a:lnTo>
                  <a:pt x="4940300" y="3987819"/>
                </a:lnTo>
                <a:cubicBezTo>
                  <a:pt x="4940300" y="4043921"/>
                  <a:pt x="4894821" y="4089400"/>
                  <a:pt x="4838719" y="4089400"/>
                </a:cubicBezTo>
                <a:lnTo>
                  <a:pt x="101581" y="4089400"/>
                </a:lnTo>
                <a:cubicBezTo>
                  <a:pt x="45479" y="4089400"/>
                  <a:pt x="0" y="4043921"/>
                  <a:pt x="0" y="3987819"/>
                </a:cubicBezTo>
                <a:lnTo>
                  <a:pt x="0" y="101581"/>
                </a:lnTo>
                <a:cubicBezTo>
                  <a:pt x="0" y="45517"/>
                  <a:pt x="45517" y="0"/>
                  <a:pt x="101581" y="0"/>
                </a:cubicBezTo>
                <a:close/>
              </a:path>
            </a:pathLst>
          </a:custGeom>
          <a:solidFill>
            <a:srgbClr val="FFFFFF"/>
          </a:solidFill>
          <a:ln/>
          <a:effectLst>
            <a:outerShdw sx="100000" sy="100000" kx="0" ky="0" algn="bl" rotWithShape="0" blurRad="190500" dist="127000" dir="5400000">
              <a:srgbClr val="000000">
                <a:alpha val="10196"/>
              </a:srgbClr>
            </a:outerShdw>
          </a:effectLst>
        </p:spPr>
      </p:sp>
      <p:sp>
        <p:nvSpPr>
          <p:cNvPr id="12" name="Shape 10"/>
          <p:cNvSpPr/>
          <p:nvPr/>
        </p:nvSpPr>
        <p:spPr>
          <a:xfrm>
            <a:off x="812800" y="3403600"/>
            <a:ext cx="711200" cy="711200"/>
          </a:xfrm>
          <a:custGeom>
            <a:avLst/>
            <a:gdLst/>
            <a:ahLst/>
            <a:cxnLst/>
            <a:rect l="l" t="t" r="r" b="b"/>
            <a:pathLst>
              <a:path w="711200" h="711200">
                <a:moveTo>
                  <a:pt x="355600" y="0"/>
                </a:moveTo>
                <a:lnTo>
                  <a:pt x="355600" y="0"/>
                </a:lnTo>
                <a:cubicBezTo>
                  <a:pt x="551861" y="0"/>
                  <a:pt x="711200" y="159339"/>
                  <a:pt x="711200" y="355600"/>
                </a:cubicBezTo>
                <a:lnTo>
                  <a:pt x="711200" y="355600"/>
                </a:lnTo>
                <a:cubicBezTo>
                  <a:pt x="711200" y="551861"/>
                  <a:pt x="551861" y="711200"/>
                  <a:pt x="355600" y="711200"/>
                </a:cubicBezTo>
                <a:lnTo>
                  <a:pt x="355600" y="711200"/>
                </a:lnTo>
                <a:cubicBezTo>
                  <a:pt x="159339" y="711200"/>
                  <a:pt x="0" y="551861"/>
                  <a:pt x="0" y="355600"/>
                </a:cubicBezTo>
                <a:lnTo>
                  <a:pt x="0" y="355600"/>
                </a:lnTo>
                <a:cubicBezTo>
                  <a:pt x="0" y="159339"/>
                  <a:pt x="159339" y="0"/>
                  <a:pt x="355600" y="0"/>
                </a:cubicBezTo>
                <a:close/>
              </a:path>
            </a:pathLst>
          </a:custGeom>
          <a:solidFill>
            <a:srgbClr val="A67B5C"/>
          </a:solidFill>
          <a:ln/>
        </p:spPr>
      </p:sp>
      <p:sp>
        <p:nvSpPr>
          <p:cNvPr id="13" name="Text 11"/>
          <p:cNvSpPr/>
          <p:nvPr/>
        </p:nvSpPr>
        <p:spPr>
          <a:xfrm>
            <a:off x="1092200" y="3530600"/>
            <a:ext cx="342900" cy="457200"/>
          </a:xfrm>
          <a:prstGeom prst="rect">
            <a:avLst/>
          </a:prstGeom>
          <a:noFill/>
          <a:ln/>
        </p:spPr>
        <p:txBody>
          <a:bodyPr wrap="square" lIns="0" tIns="0" rIns="0" bIns="0" rtlCol="0" anchor="ctr"/>
          <a:lstStyle/>
          <a:p>
            <a:pPr>
              <a:lnSpc>
                <a:spcPct val="100000"/>
              </a:lnSpc>
            </a:pPr>
            <a:r>
              <a:rPr lang="en-US" sz="3000" b="1" dirty="0">
                <a:solidFill>
                  <a:srgbClr val="FFFFFF"/>
                </a:solidFill>
                <a:latin typeface="Liter" pitchFamily="34" charset="0"/>
                <a:ea typeface="Liter" pitchFamily="34" charset="-122"/>
                <a:cs typeface="Liter" pitchFamily="34" charset="-120"/>
              </a:rPr>
              <a:t>1</a:t>
            </a:r>
            <a:endParaRPr lang="en-US" sz="1600" dirty="0"/>
          </a:p>
        </p:txBody>
      </p:sp>
      <p:sp>
        <p:nvSpPr>
          <p:cNvPr id="14" name="Text 12"/>
          <p:cNvSpPr/>
          <p:nvPr/>
        </p:nvSpPr>
        <p:spPr>
          <a:xfrm>
            <a:off x="1676400" y="3581400"/>
            <a:ext cx="2667000" cy="355600"/>
          </a:xfrm>
          <a:prstGeom prst="rect">
            <a:avLst/>
          </a:prstGeom>
          <a:noFill/>
          <a:ln/>
        </p:spPr>
        <p:txBody>
          <a:bodyPr wrap="square" lIns="0" tIns="0" rIns="0" bIns="0" rtlCol="0" anchor="ctr"/>
          <a:lstStyle/>
          <a:p>
            <a:pPr>
              <a:lnSpc>
                <a:spcPct val="120000"/>
              </a:lnSpc>
            </a:pPr>
            <a:r>
              <a:rPr lang="en-US" sz="2000" b="1" dirty="0">
                <a:solidFill>
                  <a:srgbClr val="495057"/>
                </a:solidFill>
                <a:latin typeface="Noto Sans SC" pitchFamily="34" charset="0"/>
                <a:ea typeface="Noto Sans SC" pitchFamily="34" charset="-122"/>
                <a:cs typeface="Noto Sans SC" pitchFamily="34" charset="-120"/>
              </a:rPr>
              <a:t>视觉语义特征的有效性</a:t>
            </a:r>
            <a:endParaRPr lang="en-US" sz="1600" dirty="0"/>
          </a:p>
        </p:txBody>
      </p:sp>
      <p:sp>
        <p:nvSpPr>
          <p:cNvPr id="15" name="Text 13"/>
          <p:cNvSpPr/>
          <p:nvPr/>
        </p:nvSpPr>
        <p:spPr>
          <a:xfrm>
            <a:off x="812800" y="4318000"/>
            <a:ext cx="4432300" cy="1752600"/>
          </a:xfrm>
          <a:prstGeom prst="rect">
            <a:avLst/>
          </a:prstGeom>
          <a:noFill/>
          <a:ln/>
        </p:spPr>
        <p:txBody>
          <a:bodyPr wrap="square" lIns="0" tIns="0" rIns="0" bIns="0" rtlCol="0" anchor="ctr"/>
          <a:lstStyle/>
          <a:p>
            <a:pPr>
              <a:lnSpc>
                <a:spcPct val="140000"/>
              </a:lnSpc>
            </a:pPr>
            <a:r>
              <a:rPr lang="en-US" sz="1600" dirty="0">
                <a:solidFill>
                  <a:srgbClr val="495057">
                    <a:alpha val="80000"/>
                  </a:srgbClr>
                </a:solidFill>
                <a:latin typeface="MiSans" pitchFamily="34" charset="0"/>
                <a:ea typeface="MiSans" pitchFamily="34" charset="-122"/>
                <a:cs typeface="MiSans" pitchFamily="34" charset="-120"/>
              </a:rPr>
              <a:t>从图像中提取</a:t>
            </a:r>
            <a:pPr>
              <a:lnSpc>
                <a:spcPct val="140000"/>
              </a:lnSpc>
            </a:pPr>
            <a:r>
              <a:rPr lang="en-US" sz="1600" b="1" dirty="0">
                <a:solidFill>
                  <a:srgbClr val="A67B5C"/>
                </a:solidFill>
                <a:latin typeface="MiSans" pitchFamily="34" charset="0"/>
                <a:ea typeface="MiSans" pitchFamily="34" charset="-122"/>
                <a:cs typeface="MiSans" pitchFamily="34" charset="-120"/>
              </a:rPr>
              <a:t>对象和场景</a:t>
            </a:r>
            <a:pPr>
              <a:lnSpc>
                <a:spcPct val="140000"/>
              </a:lnSpc>
            </a:pPr>
            <a:r>
              <a:rPr lang="en-US" sz="1600" dirty="0">
                <a:solidFill>
                  <a:srgbClr val="495057">
                    <a:alpha val="80000"/>
                  </a:srgbClr>
                </a:solidFill>
                <a:latin typeface="MiSans" pitchFamily="34" charset="0"/>
                <a:ea typeface="MiSans" pitchFamily="34" charset="-122"/>
                <a:cs typeface="MiSans" pitchFamily="34" charset="-120"/>
              </a:rPr>
              <a:t>等深层语义信息，相比传统低级视觉特征，能为情感分析提供更具解释力的背景补充。</a:t>
            </a:r>
            <a:endParaRPr lang="en-US" sz="1600" dirty="0"/>
          </a:p>
        </p:txBody>
      </p:sp>
      <p:sp>
        <p:nvSpPr>
          <p:cNvPr id="16" name="Shape 14"/>
          <p:cNvSpPr/>
          <p:nvPr/>
        </p:nvSpPr>
        <p:spPr>
          <a:xfrm>
            <a:off x="812800" y="6273800"/>
            <a:ext cx="4330700" cy="609600"/>
          </a:xfrm>
          <a:custGeom>
            <a:avLst/>
            <a:gdLst/>
            <a:ahLst/>
            <a:cxnLst/>
            <a:rect l="l" t="t" r="r" b="b"/>
            <a:pathLst>
              <a:path w="4330700" h="609600">
                <a:moveTo>
                  <a:pt x="101602" y="0"/>
                </a:moveTo>
                <a:lnTo>
                  <a:pt x="4229098" y="0"/>
                </a:lnTo>
                <a:cubicBezTo>
                  <a:pt x="4285211" y="0"/>
                  <a:pt x="4330700" y="45489"/>
                  <a:pt x="4330700" y="101602"/>
                </a:cubicBezTo>
                <a:lnTo>
                  <a:pt x="4330700" y="507998"/>
                </a:lnTo>
                <a:cubicBezTo>
                  <a:pt x="4330700" y="564111"/>
                  <a:pt x="4285211" y="609600"/>
                  <a:pt x="4229098" y="609600"/>
                </a:cubicBezTo>
                <a:lnTo>
                  <a:pt x="101602" y="609600"/>
                </a:lnTo>
                <a:cubicBezTo>
                  <a:pt x="45489" y="609600"/>
                  <a:pt x="0" y="564111"/>
                  <a:pt x="0" y="507998"/>
                </a:cubicBezTo>
                <a:lnTo>
                  <a:pt x="0" y="101602"/>
                </a:lnTo>
                <a:cubicBezTo>
                  <a:pt x="0" y="45526"/>
                  <a:pt x="45526" y="0"/>
                  <a:pt x="101602" y="0"/>
                </a:cubicBezTo>
                <a:close/>
              </a:path>
            </a:pathLst>
          </a:custGeom>
          <a:solidFill>
            <a:srgbClr val="A67B5C">
              <a:alpha val="10196"/>
            </a:srgbClr>
          </a:solidFill>
          <a:ln/>
        </p:spPr>
      </p:sp>
      <p:sp>
        <p:nvSpPr>
          <p:cNvPr id="17" name="Text 15"/>
          <p:cNvSpPr/>
          <p:nvPr/>
        </p:nvSpPr>
        <p:spPr>
          <a:xfrm>
            <a:off x="914400" y="6426200"/>
            <a:ext cx="4127500" cy="304800"/>
          </a:xfrm>
          <a:prstGeom prst="rect">
            <a:avLst/>
          </a:prstGeom>
          <a:noFill/>
          <a:ln/>
        </p:spPr>
        <p:txBody>
          <a:bodyPr wrap="square" lIns="0" tIns="0" rIns="0" bIns="0" rtlCol="0" anchor="ctr"/>
          <a:lstStyle/>
          <a:p>
            <a:pPr algn="ctr">
              <a:lnSpc>
                <a:spcPct val="130000"/>
              </a:lnSpc>
            </a:pPr>
            <a:r>
              <a:rPr lang="en-US" sz="1600" b="1" dirty="0">
                <a:solidFill>
                  <a:srgbClr val="495057"/>
                </a:solidFill>
                <a:latin typeface="Quattrocento Sans" pitchFamily="34" charset="0"/>
                <a:ea typeface="Quattrocento Sans" pitchFamily="34" charset="-122"/>
                <a:cs typeface="Quattrocento Sans" pitchFamily="34" charset="-120"/>
              </a:rPr>
              <a:t>Scene: 67.69% vs SentiBank: 55.02%</a:t>
            </a:r>
            <a:endParaRPr lang="en-US" sz="1600" dirty="0"/>
          </a:p>
        </p:txBody>
      </p:sp>
      <p:sp>
        <p:nvSpPr>
          <p:cNvPr id="18" name="Shape 16"/>
          <p:cNvSpPr/>
          <p:nvPr/>
        </p:nvSpPr>
        <p:spPr>
          <a:xfrm>
            <a:off x="5655667" y="3098800"/>
            <a:ext cx="4940300" cy="4089400"/>
          </a:xfrm>
          <a:custGeom>
            <a:avLst/>
            <a:gdLst/>
            <a:ahLst/>
            <a:cxnLst/>
            <a:rect l="l" t="t" r="r" b="b"/>
            <a:pathLst>
              <a:path w="4940300" h="4089400">
                <a:moveTo>
                  <a:pt x="101581" y="0"/>
                </a:moveTo>
                <a:lnTo>
                  <a:pt x="4838719" y="0"/>
                </a:lnTo>
                <a:cubicBezTo>
                  <a:pt x="4894821" y="0"/>
                  <a:pt x="4940300" y="45479"/>
                  <a:pt x="4940300" y="101581"/>
                </a:cubicBezTo>
                <a:lnTo>
                  <a:pt x="4940300" y="3987819"/>
                </a:lnTo>
                <a:cubicBezTo>
                  <a:pt x="4940300" y="4043921"/>
                  <a:pt x="4894821" y="4089400"/>
                  <a:pt x="4838719" y="4089400"/>
                </a:cubicBezTo>
                <a:lnTo>
                  <a:pt x="101581" y="4089400"/>
                </a:lnTo>
                <a:cubicBezTo>
                  <a:pt x="45479" y="4089400"/>
                  <a:pt x="0" y="4043921"/>
                  <a:pt x="0" y="3987819"/>
                </a:cubicBezTo>
                <a:lnTo>
                  <a:pt x="0" y="101581"/>
                </a:lnTo>
                <a:cubicBezTo>
                  <a:pt x="0" y="45517"/>
                  <a:pt x="45517" y="0"/>
                  <a:pt x="101581" y="0"/>
                </a:cubicBezTo>
                <a:close/>
              </a:path>
            </a:pathLst>
          </a:custGeom>
          <a:solidFill>
            <a:srgbClr val="FFFFFF"/>
          </a:solidFill>
          <a:ln/>
          <a:effectLst>
            <a:outerShdw sx="100000" sy="100000" kx="0" ky="0" algn="bl" rotWithShape="0" blurRad="190500" dist="127000" dir="5400000">
              <a:srgbClr val="000000">
                <a:alpha val="10196"/>
              </a:srgbClr>
            </a:outerShdw>
          </a:effectLst>
        </p:spPr>
      </p:sp>
      <p:sp>
        <p:nvSpPr>
          <p:cNvPr id="19" name="Shape 17"/>
          <p:cNvSpPr/>
          <p:nvPr/>
        </p:nvSpPr>
        <p:spPr>
          <a:xfrm>
            <a:off x="5960467" y="3403600"/>
            <a:ext cx="711200" cy="711200"/>
          </a:xfrm>
          <a:custGeom>
            <a:avLst/>
            <a:gdLst/>
            <a:ahLst/>
            <a:cxnLst/>
            <a:rect l="l" t="t" r="r" b="b"/>
            <a:pathLst>
              <a:path w="711200" h="711200">
                <a:moveTo>
                  <a:pt x="355600" y="0"/>
                </a:moveTo>
                <a:lnTo>
                  <a:pt x="355600" y="0"/>
                </a:lnTo>
                <a:cubicBezTo>
                  <a:pt x="551861" y="0"/>
                  <a:pt x="711200" y="159339"/>
                  <a:pt x="711200" y="355600"/>
                </a:cubicBezTo>
                <a:lnTo>
                  <a:pt x="711200" y="355600"/>
                </a:lnTo>
                <a:cubicBezTo>
                  <a:pt x="711200" y="551861"/>
                  <a:pt x="551861" y="711200"/>
                  <a:pt x="355600" y="711200"/>
                </a:cubicBezTo>
                <a:lnTo>
                  <a:pt x="355600" y="711200"/>
                </a:lnTo>
                <a:cubicBezTo>
                  <a:pt x="159339" y="711200"/>
                  <a:pt x="0" y="551861"/>
                  <a:pt x="0" y="355600"/>
                </a:cubicBezTo>
                <a:lnTo>
                  <a:pt x="0" y="355600"/>
                </a:lnTo>
                <a:cubicBezTo>
                  <a:pt x="0" y="159339"/>
                  <a:pt x="159339" y="0"/>
                  <a:pt x="355600" y="0"/>
                </a:cubicBezTo>
                <a:close/>
              </a:path>
            </a:pathLst>
          </a:custGeom>
          <a:solidFill>
            <a:srgbClr val="495057"/>
          </a:solidFill>
          <a:ln/>
        </p:spPr>
      </p:sp>
      <p:sp>
        <p:nvSpPr>
          <p:cNvPr id="20" name="Text 18"/>
          <p:cNvSpPr/>
          <p:nvPr/>
        </p:nvSpPr>
        <p:spPr>
          <a:xfrm>
            <a:off x="6205339" y="3530600"/>
            <a:ext cx="406400" cy="457200"/>
          </a:xfrm>
          <a:prstGeom prst="rect">
            <a:avLst/>
          </a:prstGeom>
          <a:noFill/>
          <a:ln/>
        </p:spPr>
        <p:txBody>
          <a:bodyPr wrap="square" lIns="0" tIns="0" rIns="0" bIns="0" rtlCol="0" anchor="ctr"/>
          <a:lstStyle/>
          <a:p>
            <a:pPr>
              <a:lnSpc>
                <a:spcPct val="100000"/>
              </a:lnSpc>
            </a:pPr>
            <a:r>
              <a:rPr lang="en-US" sz="3000" b="1" dirty="0">
                <a:solidFill>
                  <a:srgbClr val="FFFFFF"/>
                </a:solidFill>
                <a:latin typeface="Liter" pitchFamily="34" charset="0"/>
                <a:ea typeface="Liter" pitchFamily="34" charset="-122"/>
                <a:cs typeface="Liter" pitchFamily="34" charset="-120"/>
              </a:rPr>
              <a:t>2</a:t>
            </a:r>
            <a:endParaRPr lang="en-US" sz="1600" dirty="0"/>
          </a:p>
        </p:txBody>
      </p:sp>
      <p:sp>
        <p:nvSpPr>
          <p:cNvPr id="21" name="Text 19"/>
          <p:cNvSpPr/>
          <p:nvPr/>
        </p:nvSpPr>
        <p:spPr>
          <a:xfrm>
            <a:off x="6824067" y="3581400"/>
            <a:ext cx="2921000" cy="355600"/>
          </a:xfrm>
          <a:prstGeom prst="rect">
            <a:avLst/>
          </a:prstGeom>
          <a:noFill/>
          <a:ln/>
        </p:spPr>
        <p:txBody>
          <a:bodyPr wrap="square" lIns="0" tIns="0" rIns="0" bIns="0" rtlCol="0" anchor="ctr"/>
          <a:lstStyle/>
          <a:p>
            <a:pPr>
              <a:lnSpc>
                <a:spcPct val="120000"/>
              </a:lnSpc>
            </a:pPr>
            <a:r>
              <a:rPr lang="en-US" sz="2000" b="1" dirty="0">
                <a:solidFill>
                  <a:srgbClr val="495057"/>
                </a:solidFill>
                <a:latin typeface="Noto Sans SC" pitchFamily="34" charset="0"/>
                <a:ea typeface="Noto Sans SC" pitchFamily="34" charset="-122"/>
                <a:cs typeface="Noto Sans SC" pitchFamily="34" charset="-120"/>
              </a:rPr>
              <a:t>视觉引导注意力的鲁棒性</a:t>
            </a:r>
            <a:endParaRPr lang="en-US" sz="1600" dirty="0"/>
          </a:p>
        </p:txBody>
      </p:sp>
      <p:sp>
        <p:nvSpPr>
          <p:cNvPr id="22" name="Text 20"/>
          <p:cNvSpPr/>
          <p:nvPr/>
        </p:nvSpPr>
        <p:spPr>
          <a:xfrm>
            <a:off x="5960467" y="4318000"/>
            <a:ext cx="4432300" cy="1447800"/>
          </a:xfrm>
          <a:prstGeom prst="rect">
            <a:avLst/>
          </a:prstGeom>
          <a:noFill/>
          <a:ln/>
        </p:spPr>
        <p:txBody>
          <a:bodyPr wrap="square" lIns="0" tIns="0" rIns="0" bIns="0" rtlCol="0" anchor="ctr"/>
          <a:lstStyle/>
          <a:p>
            <a:pPr>
              <a:lnSpc>
                <a:spcPct val="140000"/>
              </a:lnSpc>
            </a:pPr>
            <a:r>
              <a:rPr lang="en-US" sz="1600" dirty="0">
                <a:solidFill>
                  <a:srgbClr val="495057">
                    <a:alpha val="80000"/>
                  </a:srgbClr>
                </a:solidFill>
                <a:latin typeface="MiSans" pitchFamily="34" charset="0"/>
                <a:ea typeface="MiSans" pitchFamily="34" charset="-122"/>
                <a:cs typeface="MiSans" pitchFamily="34" charset="-120"/>
              </a:rPr>
              <a:t>通过引入图像语义引导文本LSTM的注意力分配，模型能有效聚焦于推文中具有强烈情感色彩的关键词汇，显著提升识别精度。</a:t>
            </a:r>
            <a:endParaRPr lang="en-US" sz="1600" dirty="0"/>
          </a:p>
        </p:txBody>
      </p:sp>
      <p:sp>
        <p:nvSpPr>
          <p:cNvPr id="23" name="Shape 21"/>
          <p:cNvSpPr/>
          <p:nvPr/>
        </p:nvSpPr>
        <p:spPr>
          <a:xfrm>
            <a:off x="5960467" y="5969000"/>
            <a:ext cx="4330700" cy="914400"/>
          </a:xfrm>
          <a:custGeom>
            <a:avLst/>
            <a:gdLst/>
            <a:ahLst/>
            <a:cxnLst/>
            <a:rect l="l" t="t" r="r" b="b"/>
            <a:pathLst>
              <a:path w="4330700" h="914400">
                <a:moveTo>
                  <a:pt x="101599" y="0"/>
                </a:moveTo>
                <a:lnTo>
                  <a:pt x="4229101" y="0"/>
                </a:lnTo>
                <a:cubicBezTo>
                  <a:pt x="4285213" y="0"/>
                  <a:pt x="4330700" y="45487"/>
                  <a:pt x="4330700" y="101599"/>
                </a:cubicBezTo>
                <a:lnTo>
                  <a:pt x="4330700" y="812801"/>
                </a:lnTo>
                <a:cubicBezTo>
                  <a:pt x="4330700" y="868913"/>
                  <a:pt x="4285213" y="914400"/>
                  <a:pt x="4229101" y="914400"/>
                </a:cubicBezTo>
                <a:lnTo>
                  <a:pt x="101599" y="914400"/>
                </a:lnTo>
                <a:cubicBezTo>
                  <a:pt x="45487" y="914400"/>
                  <a:pt x="0" y="868913"/>
                  <a:pt x="0" y="812801"/>
                </a:cubicBezTo>
                <a:lnTo>
                  <a:pt x="0" y="101599"/>
                </a:lnTo>
                <a:cubicBezTo>
                  <a:pt x="0" y="45525"/>
                  <a:pt x="45525" y="0"/>
                  <a:pt x="101599" y="0"/>
                </a:cubicBezTo>
                <a:close/>
              </a:path>
            </a:pathLst>
          </a:custGeom>
          <a:solidFill>
            <a:srgbClr val="495057">
              <a:alpha val="10196"/>
            </a:srgbClr>
          </a:solidFill>
          <a:ln/>
        </p:spPr>
      </p:sp>
      <p:sp>
        <p:nvSpPr>
          <p:cNvPr id="24" name="Text 22"/>
          <p:cNvSpPr/>
          <p:nvPr/>
        </p:nvSpPr>
        <p:spPr>
          <a:xfrm>
            <a:off x="6062067" y="6121400"/>
            <a:ext cx="4127500" cy="609600"/>
          </a:xfrm>
          <a:prstGeom prst="rect">
            <a:avLst/>
          </a:prstGeom>
          <a:noFill/>
          <a:ln/>
        </p:spPr>
        <p:txBody>
          <a:bodyPr wrap="square" lIns="0" tIns="0" rIns="0" bIns="0" rtlCol="0" anchor="ctr"/>
          <a:lstStyle/>
          <a:p>
            <a:pPr algn="ctr">
              <a:lnSpc>
                <a:spcPct val="130000"/>
              </a:lnSpc>
            </a:pPr>
            <a:r>
              <a:rPr lang="en-US" sz="1600" b="1" dirty="0">
                <a:solidFill>
                  <a:srgbClr val="495057"/>
                </a:solidFill>
                <a:latin typeface="Quattrocento Sans" pitchFamily="34" charset="0"/>
                <a:ea typeface="Quattrocento Sans" pitchFamily="34" charset="-122"/>
                <a:cs typeface="Quattrocento Sans" pitchFamily="34" charset="-120"/>
              </a:rPr>
              <a:t>MultiSentiNet-Att: 68.86% &gt; LSTM-Avg: 65.69%</a:t>
            </a:r>
            <a:endParaRPr lang="en-US" sz="1600" dirty="0"/>
          </a:p>
        </p:txBody>
      </p:sp>
      <p:sp>
        <p:nvSpPr>
          <p:cNvPr id="25" name="Shape 23"/>
          <p:cNvSpPr/>
          <p:nvPr/>
        </p:nvSpPr>
        <p:spPr>
          <a:xfrm>
            <a:off x="10803434" y="3098800"/>
            <a:ext cx="4940300" cy="4089400"/>
          </a:xfrm>
          <a:custGeom>
            <a:avLst/>
            <a:gdLst/>
            <a:ahLst/>
            <a:cxnLst/>
            <a:rect l="l" t="t" r="r" b="b"/>
            <a:pathLst>
              <a:path w="4940300" h="4089400">
                <a:moveTo>
                  <a:pt x="101581" y="0"/>
                </a:moveTo>
                <a:lnTo>
                  <a:pt x="4838719" y="0"/>
                </a:lnTo>
                <a:cubicBezTo>
                  <a:pt x="4894821" y="0"/>
                  <a:pt x="4940300" y="45479"/>
                  <a:pt x="4940300" y="101581"/>
                </a:cubicBezTo>
                <a:lnTo>
                  <a:pt x="4940300" y="3987819"/>
                </a:lnTo>
                <a:cubicBezTo>
                  <a:pt x="4940300" y="4043921"/>
                  <a:pt x="4894821" y="4089400"/>
                  <a:pt x="4838719" y="4089400"/>
                </a:cubicBezTo>
                <a:lnTo>
                  <a:pt x="101581" y="4089400"/>
                </a:lnTo>
                <a:cubicBezTo>
                  <a:pt x="45479" y="4089400"/>
                  <a:pt x="0" y="4043921"/>
                  <a:pt x="0" y="3987819"/>
                </a:cubicBezTo>
                <a:lnTo>
                  <a:pt x="0" y="101581"/>
                </a:lnTo>
                <a:cubicBezTo>
                  <a:pt x="0" y="45517"/>
                  <a:pt x="45517" y="0"/>
                  <a:pt x="101581" y="0"/>
                </a:cubicBezTo>
                <a:close/>
              </a:path>
            </a:pathLst>
          </a:custGeom>
          <a:solidFill>
            <a:srgbClr val="FFFFFF"/>
          </a:solidFill>
          <a:ln/>
          <a:effectLst>
            <a:outerShdw sx="100000" sy="100000" kx="0" ky="0" algn="bl" rotWithShape="0" blurRad="190500" dist="127000" dir="5400000">
              <a:srgbClr val="000000">
                <a:alpha val="10196"/>
              </a:srgbClr>
            </a:outerShdw>
          </a:effectLst>
        </p:spPr>
      </p:sp>
      <p:sp>
        <p:nvSpPr>
          <p:cNvPr id="26" name="Shape 24"/>
          <p:cNvSpPr/>
          <p:nvPr/>
        </p:nvSpPr>
        <p:spPr>
          <a:xfrm>
            <a:off x="11108234" y="3403600"/>
            <a:ext cx="711200" cy="711200"/>
          </a:xfrm>
          <a:custGeom>
            <a:avLst/>
            <a:gdLst/>
            <a:ahLst/>
            <a:cxnLst/>
            <a:rect l="l" t="t" r="r" b="b"/>
            <a:pathLst>
              <a:path w="711200" h="711200">
                <a:moveTo>
                  <a:pt x="355600" y="0"/>
                </a:moveTo>
                <a:lnTo>
                  <a:pt x="355600" y="0"/>
                </a:lnTo>
                <a:cubicBezTo>
                  <a:pt x="551861" y="0"/>
                  <a:pt x="711200" y="159339"/>
                  <a:pt x="711200" y="355600"/>
                </a:cubicBezTo>
                <a:lnTo>
                  <a:pt x="711200" y="355600"/>
                </a:lnTo>
                <a:cubicBezTo>
                  <a:pt x="711200" y="551861"/>
                  <a:pt x="551861" y="711200"/>
                  <a:pt x="355600" y="711200"/>
                </a:cubicBezTo>
                <a:lnTo>
                  <a:pt x="355600" y="711200"/>
                </a:lnTo>
                <a:cubicBezTo>
                  <a:pt x="159339" y="711200"/>
                  <a:pt x="0" y="551861"/>
                  <a:pt x="0" y="355600"/>
                </a:cubicBezTo>
                <a:lnTo>
                  <a:pt x="0" y="355600"/>
                </a:lnTo>
                <a:cubicBezTo>
                  <a:pt x="0" y="159339"/>
                  <a:pt x="159339" y="0"/>
                  <a:pt x="355600" y="0"/>
                </a:cubicBezTo>
                <a:close/>
              </a:path>
            </a:pathLst>
          </a:custGeom>
          <a:solidFill>
            <a:srgbClr val="A67B5C"/>
          </a:solidFill>
          <a:ln/>
        </p:spPr>
      </p:sp>
      <p:sp>
        <p:nvSpPr>
          <p:cNvPr id="27" name="Text 25"/>
          <p:cNvSpPr/>
          <p:nvPr/>
        </p:nvSpPr>
        <p:spPr>
          <a:xfrm>
            <a:off x="11351419" y="3530600"/>
            <a:ext cx="419100" cy="457200"/>
          </a:xfrm>
          <a:prstGeom prst="rect">
            <a:avLst/>
          </a:prstGeom>
          <a:noFill/>
          <a:ln/>
        </p:spPr>
        <p:txBody>
          <a:bodyPr wrap="square" lIns="0" tIns="0" rIns="0" bIns="0" rtlCol="0" anchor="ctr"/>
          <a:lstStyle/>
          <a:p>
            <a:pPr>
              <a:lnSpc>
                <a:spcPct val="100000"/>
              </a:lnSpc>
            </a:pPr>
            <a:r>
              <a:rPr lang="en-US" sz="3000" b="1" dirty="0">
                <a:solidFill>
                  <a:srgbClr val="FFFFFF"/>
                </a:solidFill>
                <a:latin typeface="Liter" pitchFamily="34" charset="0"/>
                <a:ea typeface="Liter" pitchFamily="34" charset="-122"/>
                <a:cs typeface="Liter" pitchFamily="34" charset="-120"/>
              </a:rPr>
              <a:t>3</a:t>
            </a:r>
            <a:endParaRPr lang="en-US" sz="1600" dirty="0"/>
          </a:p>
        </p:txBody>
      </p:sp>
      <p:sp>
        <p:nvSpPr>
          <p:cNvPr id="28" name="Text 26"/>
          <p:cNvSpPr/>
          <p:nvPr/>
        </p:nvSpPr>
        <p:spPr>
          <a:xfrm>
            <a:off x="11971834" y="3581400"/>
            <a:ext cx="2413000" cy="355600"/>
          </a:xfrm>
          <a:prstGeom prst="rect">
            <a:avLst/>
          </a:prstGeom>
          <a:noFill/>
          <a:ln/>
        </p:spPr>
        <p:txBody>
          <a:bodyPr wrap="square" lIns="0" tIns="0" rIns="0" bIns="0" rtlCol="0" anchor="ctr"/>
          <a:lstStyle/>
          <a:p>
            <a:pPr>
              <a:lnSpc>
                <a:spcPct val="120000"/>
              </a:lnSpc>
            </a:pPr>
            <a:r>
              <a:rPr lang="en-US" sz="2000" b="1" dirty="0">
                <a:solidFill>
                  <a:srgbClr val="495057"/>
                </a:solidFill>
                <a:latin typeface="Noto Sans SC" pitchFamily="34" charset="0"/>
                <a:ea typeface="Noto Sans SC" pitchFamily="34" charset="-122"/>
                <a:cs typeface="Noto Sans SC" pitchFamily="34" charset="-120"/>
              </a:rPr>
              <a:t>多模态聚合的优越性</a:t>
            </a:r>
            <a:endParaRPr lang="en-US" sz="1600" dirty="0"/>
          </a:p>
        </p:txBody>
      </p:sp>
      <p:sp>
        <p:nvSpPr>
          <p:cNvPr id="29" name="Text 27"/>
          <p:cNvSpPr/>
          <p:nvPr/>
        </p:nvSpPr>
        <p:spPr>
          <a:xfrm>
            <a:off x="11108234" y="4318000"/>
            <a:ext cx="4432300" cy="1752600"/>
          </a:xfrm>
          <a:prstGeom prst="rect">
            <a:avLst/>
          </a:prstGeom>
          <a:noFill/>
          <a:ln/>
        </p:spPr>
        <p:txBody>
          <a:bodyPr wrap="square" lIns="0" tIns="0" rIns="0" bIns="0" rtlCol="0" anchor="ctr"/>
          <a:lstStyle/>
          <a:p>
            <a:pPr>
              <a:lnSpc>
                <a:spcPct val="140000"/>
              </a:lnSpc>
            </a:pPr>
            <a:r>
              <a:rPr lang="en-US" sz="1600" dirty="0">
                <a:solidFill>
                  <a:srgbClr val="495057">
                    <a:alpha val="80000"/>
                  </a:srgbClr>
                </a:solidFill>
                <a:latin typeface="MiSans" pitchFamily="34" charset="0"/>
                <a:ea typeface="MiSans" pitchFamily="34" charset="-122"/>
                <a:cs typeface="MiSans" pitchFamily="34" charset="-120"/>
              </a:rPr>
              <a:t>融合文本+对象+场景的三元特征模型在各项指标上均优于单模态模型及简单特征拼接模型，验证了MultiSentiNet架构的先进性。</a:t>
            </a:r>
            <a:endParaRPr lang="en-US" sz="1600" dirty="0"/>
          </a:p>
        </p:txBody>
      </p:sp>
      <p:sp>
        <p:nvSpPr>
          <p:cNvPr id="30" name="Shape 28"/>
          <p:cNvSpPr/>
          <p:nvPr/>
        </p:nvSpPr>
        <p:spPr>
          <a:xfrm>
            <a:off x="11108234" y="6273800"/>
            <a:ext cx="4330700" cy="609600"/>
          </a:xfrm>
          <a:custGeom>
            <a:avLst/>
            <a:gdLst/>
            <a:ahLst/>
            <a:cxnLst/>
            <a:rect l="l" t="t" r="r" b="b"/>
            <a:pathLst>
              <a:path w="4330700" h="609600">
                <a:moveTo>
                  <a:pt x="101602" y="0"/>
                </a:moveTo>
                <a:lnTo>
                  <a:pt x="4229098" y="0"/>
                </a:lnTo>
                <a:cubicBezTo>
                  <a:pt x="4285211" y="0"/>
                  <a:pt x="4330700" y="45489"/>
                  <a:pt x="4330700" y="101602"/>
                </a:cubicBezTo>
                <a:lnTo>
                  <a:pt x="4330700" y="507998"/>
                </a:lnTo>
                <a:cubicBezTo>
                  <a:pt x="4330700" y="564111"/>
                  <a:pt x="4285211" y="609600"/>
                  <a:pt x="4229098" y="609600"/>
                </a:cubicBezTo>
                <a:lnTo>
                  <a:pt x="101602" y="609600"/>
                </a:lnTo>
                <a:cubicBezTo>
                  <a:pt x="45489" y="609600"/>
                  <a:pt x="0" y="564111"/>
                  <a:pt x="0" y="507998"/>
                </a:cubicBezTo>
                <a:lnTo>
                  <a:pt x="0" y="101602"/>
                </a:lnTo>
                <a:cubicBezTo>
                  <a:pt x="0" y="45526"/>
                  <a:pt x="45526" y="0"/>
                  <a:pt x="101602" y="0"/>
                </a:cubicBezTo>
                <a:close/>
              </a:path>
            </a:pathLst>
          </a:custGeom>
          <a:solidFill>
            <a:srgbClr val="A67B5C">
              <a:alpha val="10196"/>
            </a:srgbClr>
          </a:solidFill>
          <a:ln/>
        </p:spPr>
      </p:sp>
      <p:sp>
        <p:nvSpPr>
          <p:cNvPr id="31" name="Text 29"/>
          <p:cNvSpPr/>
          <p:nvPr/>
        </p:nvSpPr>
        <p:spPr>
          <a:xfrm>
            <a:off x="11209834" y="6426200"/>
            <a:ext cx="4127500" cy="304800"/>
          </a:xfrm>
          <a:prstGeom prst="rect">
            <a:avLst/>
          </a:prstGeom>
          <a:noFill/>
          <a:ln/>
        </p:spPr>
        <p:txBody>
          <a:bodyPr wrap="square" lIns="0" tIns="0" rIns="0" bIns="0" rtlCol="0" anchor="ctr"/>
          <a:lstStyle/>
          <a:p>
            <a:pPr algn="ctr">
              <a:lnSpc>
                <a:spcPct val="130000"/>
              </a:lnSpc>
            </a:pPr>
            <a:r>
              <a:rPr lang="en-US" sz="1600" b="1" dirty="0">
                <a:solidFill>
                  <a:srgbClr val="495057"/>
                </a:solidFill>
                <a:latin typeface="MiSans" pitchFamily="34" charset="0"/>
                <a:ea typeface="MiSans" pitchFamily="34" charset="-122"/>
                <a:cs typeface="MiSans" pitchFamily="34" charset="-120"/>
              </a:rPr>
              <a:t>MultiSentiNet &gt; CNN-Multi &gt; 单模态</a:t>
            </a:r>
            <a:endParaRPr lang="en-US" sz="1600" dirty="0"/>
          </a:p>
        </p:txBody>
      </p:sp>
      <p:sp>
        <p:nvSpPr>
          <p:cNvPr id="32" name="Shape 30"/>
          <p:cNvSpPr/>
          <p:nvPr/>
        </p:nvSpPr>
        <p:spPr>
          <a:xfrm>
            <a:off x="508000" y="7391400"/>
            <a:ext cx="15240000" cy="1244600"/>
          </a:xfrm>
          <a:custGeom>
            <a:avLst/>
            <a:gdLst/>
            <a:ahLst/>
            <a:cxnLst/>
            <a:rect l="l" t="t" r="r" b="b"/>
            <a:pathLst>
              <a:path w="15240000" h="1244600">
                <a:moveTo>
                  <a:pt x="101597" y="0"/>
                </a:moveTo>
                <a:lnTo>
                  <a:pt x="15138403" y="0"/>
                </a:lnTo>
                <a:cubicBezTo>
                  <a:pt x="15194514" y="0"/>
                  <a:pt x="15240000" y="45486"/>
                  <a:pt x="15240000" y="101597"/>
                </a:cubicBezTo>
                <a:lnTo>
                  <a:pt x="15240000" y="1143003"/>
                </a:lnTo>
                <a:cubicBezTo>
                  <a:pt x="15240000" y="1199114"/>
                  <a:pt x="15194514" y="1244600"/>
                  <a:pt x="15138403" y="1244600"/>
                </a:cubicBezTo>
                <a:lnTo>
                  <a:pt x="101597" y="1244600"/>
                </a:lnTo>
                <a:cubicBezTo>
                  <a:pt x="45486" y="1244600"/>
                  <a:pt x="0" y="1199114"/>
                  <a:pt x="0" y="1143003"/>
                </a:cubicBezTo>
                <a:lnTo>
                  <a:pt x="0" y="101597"/>
                </a:lnTo>
                <a:cubicBezTo>
                  <a:pt x="0" y="45524"/>
                  <a:pt x="45524" y="0"/>
                  <a:pt x="101597" y="0"/>
                </a:cubicBezTo>
                <a:close/>
              </a:path>
            </a:pathLst>
          </a:custGeom>
          <a:gradFill rotWithShape="1" flip="none">
            <a:gsLst>
              <a:gs pos="0">
                <a:srgbClr val="495057">
                  <a:alpha val="10000"/>
                </a:srgbClr>
              </a:gs>
              <a:gs pos="100000">
                <a:srgbClr val="A67B5C">
                  <a:alpha val="10000"/>
                </a:srgbClr>
              </a:gs>
            </a:gsLst>
            <a:lin ang="0" scaled="1"/>
          </a:gradFill>
          <a:ln/>
        </p:spPr>
      </p:sp>
      <p:sp>
        <p:nvSpPr>
          <p:cNvPr id="33" name="Shape 31"/>
          <p:cNvSpPr/>
          <p:nvPr/>
        </p:nvSpPr>
        <p:spPr>
          <a:xfrm>
            <a:off x="762000" y="7708900"/>
            <a:ext cx="609600" cy="609600"/>
          </a:xfrm>
          <a:custGeom>
            <a:avLst/>
            <a:gdLst/>
            <a:ahLst/>
            <a:cxnLst/>
            <a:rect l="l" t="t" r="r" b="b"/>
            <a:pathLst>
              <a:path w="609600" h="609600">
                <a:moveTo>
                  <a:pt x="304800" y="0"/>
                </a:moveTo>
                <a:lnTo>
                  <a:pt x="304800" y="0"/>
                </a:lnTo>
                <a:cubicBezTo>
                  <a:pt x="473024" y="0"/>
                  <a:pt x="609600" y="136576"/>
                  <a:pt x="609600" y="304800"/>
                </a:cubicBezTo>
                <a:lnTo>
                  <a:pt x="609600" y="304800"/>
                </a:lnTo>
                <a:cubicBezTo>
                  <a:pt x="609600" y="473024"/>
                  <a:pt x="473024" y="609600"/>
                  <a:pt x="304800" y="609600"/>
                </a:cubicBezTo>
                <a:lnTo>
                  <a:pt x="304800" y="609600"/>
                </a:lnTo>
                <a:cubicBezTo>
                  <a:pt x="136576" y="609600"/>
                  <a:pt x="0" y="473024"/>
                  <a:pt x="0" y="304800"/>
                </a:cubicBezTo>
                <a:lnTo>
                  <a:pt x="0" y="304800"/>
                </a:lnTo>
                <a:cubicBezTo>
                  <a:pt x="0" y="136576"/>
                  <a:pt x="136576" y="0"/>
                  <a:pt x="304800" y="0"/>
                </a:cubicBezTo>
                <a:close/>
              </a:path>
            </a:pathLst>
          </a:custGeom>
          <a:solidFill>
            <a:srgbClr val="A67B5C"/>
          </a:solidFill>
          <a:ln/>
        </p:spPr>
      </p:sp>
      <p:sp>
        <p:nvSpPr>
          <p:cNvPr id="34" name="Shape 32"/>
          <p:cNvSpPr/>
          <p:nvPr/>
        </p:nvSpPr>
        <p:spPr>
          <a:xfrm>
            <a:off x="939800" y="7886700"/>
            <a:ext cx="254000" cy="254000"/>
          </a:xfrm>
          <a:custGeom>
            <a:avLst/>
            <a:gdLst/>
            <a:ahLst/>
            <a:cxnLst/>
            <a:rect l="l" t="t" r="r" b="b"/>
            <a:pathLst>
              <a:path w="254000" h="254000">
                <a:moveTo>
                  <a:pt x="71586" y="0"/>
                </a:moveTo>
                <a:lnTo>
                  <a:pt x="182711" y="0"/>
                </a:lnTo>
                <a:cubicBezTo>
                  <a:pt x="195858" y="0"/>
                  <a:pt x="206573" y="10815"/>
                  <a:pt x="206077" y="23912"/>
                </a:cubicBezTo>
                <a:cubicBezTo>
                  <a:pt x="205978" y="26541"/>
                  <a:pt x="205879" y="29170"/>
                  <a:pt x="205730" y="31750"/>
                </a:cubicBezTo>
                <a:lnTo>
                  <a:pt x="230336" y="31750"/>
                </a:lnTo>
                <a:cubicBezTo>
                  <a:pt x="243284" y="31750"/>
                  <a:pt x="254695" y="42466"/>
                  <a:pt x="253702" y="56455"/>
                </a:cubicBezTo>
                <a:cubicBezTo>
                  <a:pt x="249982" y="107900"/>
                  <a:pt x="223689" y="136178"/>
                  <a:pt x="195163" y="150961"/>
                </a:cubicBezTo>
                <a:cubicBezTo>
                  <a:pt x="187325" y="155029"/>
                  <a:pt x="179338" y="158055"/>
                  <a:pt x="171748" y="160288"/>
                </a:cubicBezTo>
                <a:cubicBezTo>
                  <a:pt x="161727" y="174476"/>
                  <a:pt x="151309" y="181967"/>
                  <a:pt x="143024" y="185986"/>
                </a:cubicBezTo>
                <a:lnTo>
                  <a:pt x="143024" y="222250"/>
                </a:lnTo>
                <a:lnTo>
                  <a:pt x="174774" y="222250"/>
                </a:lnTo>
                <a:cubicBezTo>
                  <a:pt x="183555" y="222250"/>
                  <a:pt x="190649" y="229344"/>
                  <a:pt x="190649" y="238125"/>
                </a:cubicBezTo>
                <a:cubicBezTo>
                  <a:pt x="190649" y="246906"/>
                  <a:pt x="183555" y="254000"/>
                  <a:pt x="174774" y="254000"/>
                </a:cubicBezTo>
                <a:lnTo>
                  <a:pt x="79524" y="254000"/>
                </a:lnTo>
                <a:cubicBezTo>
                  <a:pt x="70743" y="254000"/>
                  <a:pt x="63649" y="246906"/>
                  <a:pt x="63649" y="238125"/>
                </a:cubicBezTo>
                <a:cubicBezTo>
                  <a:pt x="63649" y="229344"/>
                  <a:pt x="70743" y="222250"/>
                  <a:pt x="79524" y="222250"/>
                </a:cubicBezTo>
                <a:lnTo>
                  <a:pt x="111274" y="222250"/>
                </a:lnTo>
                <a:lnTo>
                  <a:pt x="111274" y="185986"/>
                </a:lnTo>
                <a:cubicBezTo>
                  <a:pt x="103336" y="182166"/>
                  <a:pt x="93464" y="175071"/>
                  <a:pt x="83840" y="162024"/>
                </a:cubicBezTo>
                <a:cubicBezTo>
                  <a:pt x="74712" y="159643"/>
                  <a:pt x="64790" y="156021"/>
                  <a:pt x="55116" y="150564"/>
                </a:cubicBezTo>
                <a:cubicBezTo>
                  <a:pt x="28277" y="135533"/>
                  <a:pt x="4068" y="107206"/>
                  <a:pt x="595" y="56356"/>
                </a:cubicBezTo>
                <a:cubicBezTo>
                  <a:pt x="-347" y="42416"/>
                  <a:pt x="11013" y="31700"/>
                  <a:pt x="23961" y="31700"/>
                </a:cubicBezTo>
                <a:lnTo>
                  <a:pt x="48568" y="31700"/>
                </a:lnTo>
                <a:cubicBezTo>
                  <a:pt x="48419" y="29121"/>
                  <a:pt x="48320" y="26541"/>
                  <a:pt x="48220" y="23862"/>
                </a:cubicBezTo>
                <a:cubicBezTo>
                  <a:pt x="47724" y="10716"/>
                  <a:pt x="58440" y="-50"/>
                  <a:pt x="71586" y="-50"/>
                </a:cubicBezTo>
                <a:close/>
                <a:moveTo>
                  <a:pt x="50354" y="55563"/>
                </a:moveTo>
                <a:lnTo>
                  <a:pt x="24358" y="55563"/>
                </a:lnTo>
                <a:cubicBezTo>
                  <a:pt x="27434" y="97582"/>
                  <a:pt x="46732" y="118616"/>
                  <a:pt x="66625" y="129778"/>
                </a:cubicBezTo>
                <a:cubicBezTo>
                  <a:pt x="59482" y="111274"/>
                  <a:pt x="53578" y="87114"/>
                  <a:pt x="50354" y="55563"/>
                </a:cubicBezTo>
                <a:close/>
                <a:moveTo>
                  <a:pt x="188516" y="127397"/>
                </a:moveTo>
                <a:cubicBezTo>
                  <a:pt x="208607" y="115590"/>
                  <a:pt x="226764" y="94605"/>
                  <a:pt x="229840" y="55563"/>
                </a:cubicBezTo>
                <a:lnTo>
                  <a:pt x="203895" y="55563"/>
                </a:lnTo>
                <a:cubicBezTo>
                  <a:pt x="200819" y="85775"/>
                  <a:pt x="195263" y="109240"/>
                  <a:pt x="188516" y="127397"/>
                </a:cubicBezTo>
                <a:close/>
              </a:path>
            </a:pathLst>
          </a:custGeom>
          <a:solidFill>
            <a:srgbClr val="FFFFFF"/>
          </a:solidFill>
          <a:ln/>
        </p:spPr>
      </p:sp>
      <p:sp>
        <p:nvSpPr>
          <p:cNvPr id="35" name="Text 33"/>
          <p:cNvSpPr/>
          <p:nvPr/>
        </p:nvSpPr>
        <p:spPr>
          <a:xfrm>
            <a:off x="1524000" y="7645400"/>
            <a:ext cx="11506200" cy="355600"/>
          </a:xfrm>
          <a:prstGeom prst="rect">
            <a:avLst/>
          </a:prstGeom>
          <a:noFill/>
          <a:ln/>
        </p:spPr>
        <p:txBody>
          <a:bodyPr wrap="square" lIns="0" tIns="0" rIns="0" bIns="0" rtlCol="0" anchor="ctr"/>
          <a:lstStyle/>
          <a:p>
            <a:pPr>
              <a:lnSpc>
                <a:spcPct val="120000"/>
              </a:lnSpc>
            </a:pPr>
            <a:r>
              <a:rPr lang="en-US" sz="2000" b="1" dirty="0">
                <a:solidFill>
                  <a:srgbClr val="495057"/>
                </a:solidFill>
                <a:latin typeface="Noto Sans SC" pitchFamily="34" charset="0"/>
                <a:ea typeface="Noto Sans SC" pitchFamily="34" charset="-122"/>
                <a:cs typeface="Noto Sans SC" pitchFamily="34" charset="-120"/>
              </a:rPr>
              <a:t>复现成果</a:t>
            </a:r>
            <a:endParaRPr lang="en-US" sz="1600" dirty="0"/>
          </a:p>
        </p:txBody>
      </p:sp>
      <p:sp>
        <p:nvSpPr>
          <p:cNvPr id="36" name="Text 34"/>
          <p:cNvSpPr/>
          <p:nvPr/>
        </p:nvSpPr>
        <p:spPr>
          <a:xfrm>
            <a:off x="1524000" y="8051800"/>
            <a:ext cx="11480800" cy="330200"/>
          </a:xfrm>
          <a:prstGeom prst="rect">
            <a:avLst/>
          </a:prstGeom>
          <a:noFill/>
          <a:ln/>
        </p:spPr>
        <p:txBody>
          <a:bodyPr wrap="square" lIns="0" tIns="0" rIns="0" bIns="0" rtlCol="0" anchor="ctr"/>
          <a:lstStyle/>
          <a:p>
            <a:pPr>
              <a:lnSpc>
                <a:spcPct val="140000"/>
              </a:lnSpc>
            </a:pPr>
            <a:r>
              <a:rPr lang="en-US" sz="1600" dirty="0">
                <a:solidFill>
                  <a:srgbClr val="495057">
                    <a:alpha val="80000"/>
                  </a:srgbClr>
                </a:solidFill>
                <a:latin typeface="MiSans" pitchFamily="34" charset="0"/>
                <a:ea typeface="MiSans" pitchFamily="34" charset="-122"/>
                <a:cs typeface="MiSans" pitchFamily="34" charset="-120"/>
              </a:rPr>
              <a:t>复现实验成功达到原论文预期性能。尽管在硬件随机种子和预训练权重上存在细微差异，但模型的提升趋势与原论文高度一致。</a:t>
            </a:r>
            <a:endParaRPr lang="en-US" sz="1600" dirty="0"/>
          </a:p>
        </p:txBody>
      </p:sp>
    </p:spTree>
  </p:cSld>
  <p:clrMapOvr>
    <a:masterClrMapping/>
  </p:clrMapOvr>
  <p:transition>
    <p:fade/>
    <p:spd val="med"/>
  </p:transition>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8F9FA"/>
        </a:solidFill>
      </p:bgPr>
    </p:bg>
    <p:spTree>
      <p:nvGrpSpPr>
        <p:cNvPr id="1" name=""/>
        <p:cNvGrpSpPr/>
        <p:nvPr/>
      </p:nvGrpSpPr>
      <p:grpSpPr>
        <a:xfrm>
          <a:off x="0" y="0"/>
          <a:ext cx="0" cy="0"/>
          <a:chOff x="0" y="0"/>
          <a:chExt cx="0" cy="0"/>
        </a:xfrm>
      </p:grpSpPr>
      <p:pic>
        <p:nvPicPr>
          <p:cNvPr id="2" name="Image 0" descr="https://kimi-web-img.moonshot.cn/img/www.researchgate.net/10879c712442c8197e4d257067dd3d6feb8285c1.png">    </p:cNvPr>
          <p:cNvPicPr>
            <a:picLocks noChangeAspect="1"/>
          </p:cNvPicPr>
          <p:nvPr/>
        </p:nvPicPr>
        <p:blipFill>
          <a:blip r:embed="rId1">
            <a:alphaModFix amt="20000"/>
          </a:blip>
          <a:srcRect l="20928" r="20928" t="0" b="0"/>
          <a:stretch/>
        </p:blipFill>
        <p:spPr>
          <a:xfrm>
            <a:off x="0" y="0"/>
            <a:ext cx="16256000" cy="9144000"/>
          </a:xfrm>
          <a:prstGeom prst="roundRect">
            <a:avLst>
              <a:gd name="adj" fmla="val 0"/>
            </a:avLst>
          </a:prstGeom>
        </p:spPr>
      </p:pic>
      <p:sp>
        <p:nvSpPr>
          <p:cNvPr id="3" name="Shape 0"/>
          <p:cNvSpPr/>
          <p:nvPr/>
        </p:nvSpPr>
        <p:spPr>
          <a:xfrm>
            <a:off x="0" y="0"/>
            <a:ext cx="16256000" cy="9144000"/>
          </a:xfrm>
          <a:custGeom>
            <a:avLst/>
            <a:gdLst/>
            <a:ahLst/>
            <a:cxnLst/>
            <a:rect l="l" t="t" r="r" b="b"/>
            <a:pathLst>
              <a:path w="16256000" h="9144000">
                <a:moveTo>
                  <a:pt x="0" y="0"/>
                </a:moveTo>
                <a:lnTo>
                  <a:pt x="16256000" y="0"/>
                </a:lnTo>
                <a:lnTo>
                  <a:pt x="16256000" y="9144000"/>
                </a:lnTo>
                <a:lnTo>
                  <a:pt x="0" y="9144000"/>
                </a:lnTo>
                <a:lnTo>
                  <a:pt x="0" y="0"/>
                </a:lnTo>
                <a:close/>
              </a:path>
            </a:pathLst>
          </a:custGeom>
          <a:gradFill rotWithShape="1" flip="none">
            <a:gsLst>
              <a:gs pos="0">
                <a:srgbClr val="495057">
                  <a:alpha val="95000"/>
                </a:srgbClr>
              </a:gs>
              <a:gs pos="50000">
                <a:srgbClr val="495057">
                  <a:alpha val="85000"/>
                </a:srgbClr>
              </a:gs>
              <a:gs pos="100000">
                <a:srgbClr val="A67B5C">
                  <a:alpha val="70000"/>
                </a:srgbClr>
              </a:gs>
            </a:gsLst>
            <a:lin ang="2700000" scaled="1"/>
          </a:gradFill>
          <a:ln/>
        </p:spPr>
      </p:sp>
      <p:sp>
        <p:nvSpPr>
          <p:cNvPr id="4" name="Shape 1"/>
          <p:cNvSpPr/>
          <p:nvPr/>
        </p:nvSpPr>
        <p:spPr>
          <a:xfrm>
            <a:off x="508000" y="323850"/>
            <a:ext cx="2565400" cy="508000"/>
          </a:xfrm>
          <a:custGeom>
            <a:avLst/>
            <a:gdLst/>
            <a:ahLst/>
            <a:cxnLst/>
            <a:rect l="l" t="t" r="r" b="b"/>
            <a:pathLst>
              <a:path w="2565400" h="508000">
                <a:moveTo>
                  <a:pt x="50800" y="0"/>
                </a:moveTo>
                <a:lnTo>
                  <a:pt x="2514600" y="0"/>
                </a:lnTo>
                <a:cubicBezTo>
                  <a:pt x="2542637" y="0"/>
                  <a:pt x="2565400" y="22763"/>
                  <a:pt x="2565400" y="50800"/>
                </a:cubicBezTo>
                <a:lnTo>
                  <a:pt x="2565400" y="457200"/>
                </a:lnTo>
                <a:cubicBezTo>
                  <a:pt x="2565400" y="485237"/>
                  <a:pt x="2542637" y="508000"/>
                  <a:pt x="2514600" y="508000"/>
                </a:cubicBezTo>
                <a:lnTo>
                  <a:pt x="50800" y="508000"/>
                </a:lnTo>
                <a:cubicBezTo>
                  <a:pt x="22763" y="508000"/>
                  <a:pt x="0" y="485237"/>
                  <a:pt x="0" y="457200"/>
                </a:cubicBezTo>
                <a:lnTo>
                  <a:pt x="0" y="50800"/>
                </a:lnTo>
                <a:cubicBezTo>
                  <a:pt x="0" y="22763"/>
                  <a:pt x="22763" y="0"/>
                  <a:pt x="50800" y="0"/>
                </a:cubicBezTo>
                <a:close/>
              </a:path>
            </a:pathLst>
          </a:custGeom>
          <a:solidFill>
            <a:srgbClr val="A67B5C">
              <a:alpha val="30196"/>
            </a:srgbClr>
          </a:solidFill>
          <a:ln/>
        </p:spPr>
      </p:sp>
      <p:sp>
        <p:nvSpPr>
          <p:cNvPr id="5" name="Text 2"/>
          <p:cNvSpPr/>
          <p:nvPr/>
        </p:nvSpPr>
        <p:spPr>
          <a:xfrm>
            <a:off x="762000" y="425450"/>
            <a:ext cx="2159000" cy="304800"/>
          </a:xfrm>
          <a:prstGeom prst="rect">
            <a:avLst/>
          </a:prstGeom>
          <a:noFill/>
          <a:ln/>
        </p:spPr>
        <p:txBody>
          <a:bodyPr wrap="square" lIns="0" tIns="0" rIns="0" bIns="0" rtlCol="0" anchor="ctr"/>
          <a:lstStyle/>
          <a:p>
            <a:pPr>
              <a:lnSpc>
                <a:spcPct val="130000"/>
              </a:lnSpc>
            </a:pPr>
            <a:r>
              <a:rPr lang="en-US" sz="1600" b="1" spc="80" kern="0" dirty="0">
                <a:solidFill>
                  <a:srgbClr val="F8F9FA"/>
                </a:solidFill>
                <a:latin typeface="Quattrocento Sans" pitchFamily="34" charset="0"/>
                <a:ea typeface="Quattrocento Sans" pitchFamily="34" charset="-122"/>
                <a:cs typeface="Quattrocento Sans" pitchFamily="34" charset="-120"/>
              </a:rPr>
              <a:t>FUTURE DIRECTIONS</a:t>
            </a:r>
            <a:endParaRPr lang="en-US" sz="1600" dirty="0"/>
          </a:p>
        </p:txBody>
      </p:sp>
      <p:sp>
        <p:nvSpPr>
          <p:cNvPr id="6" name="Text 3"/>
          <p:cNvSpPr/>
          <p:nvPr/>
        </p:nvSpPr>
        <p:spPr>
          <a:xfrm>
            <a:off x="508000" y="1035050"/>
            <a:ext cx="15621000" cy="762000"/>
          </a:xfrm>
          <a:prstGeom prst="rect">
            <a:avLst/>
          </a:prstGeom>
          <a:noFill/>
          <a:ln/>
        </p:spPr>
        <p:txBody>
          <a:bodyPr wrap="square" lIns="0" tIns="0" rIns="0" bIns="0" rtlCol="0" anchor="ctr"/>
          <a:lstStyle/>
          <a:p>
            <a:pPr>
              <a:lnSpc>
                <a:spcPct val="80000"/>
              </a:lnSpc>
            </a:pPr>
            <a:r>
              <a:rPr lang="en-US" sz="6000" b="1" dirty="0">
                <a:solidFill>
                  <a:srgbClr val="F8F9FA"/>
                </a:solidFill>
                <a:latin typeface="Noto Sans SC" pitchFamily="34" charset="0"/>
                <a:ea typeface="Noto Sans SC" pitchFamily="34" charset="-122"/>
                <a:cs typeface="Noto Sans SC" pitchFamily="34" charset="-120"/>
              </a:rPr>
              <a:t>未来展望</a:t>
            </a:r>
            <a:endParaRPr lang="en-US" sz="1600" dirty="0"/>
          </a:p>
        </p:txBody>
      </p:sp>
      <p:sp>
        <p:nvSpPr>
          <p:cNvPr id="7" name="Shape 4"/>
          <p:cNvSpPr/>
          <p:nvPr/>
        </p:nvSpPr>
        <p:spPr>
          <a:xfrm>
            <a:off x="508000" y="2000250"/>
            <a:ext cx="1625600" cy="50800"/>
          </a:xfrm>
          <a:custGeom>
            <a:avLst/>
            <a:gdLst/>
            <a:ahLst/>
            <a:cxnLst/>
            <a:rect l="l" t="t" r="r" b="b"/>
            <a:pathLst>
              <a:path w="1625600" h="50800">
                <a:moveTo>
                  <a:pt x="0" y="0"/>
                </a:moveTo>
                <a:lnTo>
                  <a:pt x="1625600" y="0"/>
                </a:lnTo>
                <a:lnTo>
                  <a:pt x="1625600" y="50800"/>
                </a:lnTo>
                <a:lnTo>
                  <a:pt x="0" y="50800"/>
                </a:lnTo>
                <a:lnTo>
                  <a:pt x="0" y="0"/>
                </a:lnTo>
                <a:close/>
              </a:path>
            </a:pathLst>
          </a:custGeom>
          <a:solidFill>
            <a:srgbClr val="A67B5C"/>
          </a:solidFill>
          <a:ln/>
        </p:spPr>
      </p:sp>
      <p:sp>
        <p:nvSpPr>
          <p:cNvPr id="8" name="Shape 5"/>
          <p:cNvSpPr/>
          <p:nvPr/>
        </p:nvSpPr>
        <p:spPr>
          <a:xfrm>
            <a:off x="514350" y="2463800"/>
            <a:ext cx="4864100" cy="2705100"/>
          </a:xfrm>
          <a:custGeom>
            <a:avLst/>
            <a:gdLst/>
            <a:ahLst/>
            <a:cxnLst/>
            <a:rect l="l" t="t" r="r" b="b"/>
            <a:pathLst>
              <a:path w="4864100" h="2705100">
                <a:moveTo>
                  <a:pt x="101604" y="0"/>
                </a:moveTo>
                <a:lnTo>
                  <a:pt x="4762496" y="0"/>
                </a:lnTo>
                <a:cubicBezTo>
                  <a:pt x="4818611" y="0"/>
                  <a:pt x="4864100" y="45489"/>
                  <a:pt x="4864100" y="101604"/>
                </a:cubicBezTo>
                <a:lnTo>
                  <a:pt x="4864100" y="2603496"/>
                </a:lnTo>
                <a:cubicBezTo>
                  <a:pt x="4864100" y="2659611"/>
                  <a:pt x="4818611" y="2705100"/>
                  <a:pt x="4762496" y="2705100"/>
                </a:cubicBezTo>
                <a:lnTo>
                  <a:pt x="101604" y="2705100"/>
                </a:lnTo>
                <a:cubicBezTo>
                  <a:pt x="45489" y="2705100"/>
                  <a:pt x="0" y="2659611"/>
                  <a:pt x="0" y="2603496"/>
                </a:cubicBezTo>
                <a:lnTo>
                  <a:pt x="0" y="101604"/>
                </a:lnTo>
                <a:cubicBezTo>
                  <a:pt x="0" y="45489"/>
                  <a:pt x="45489" y="0"/>
                  <a:pt x="101604" y="0"/>
                </a:cubicBezTo>
                <a:close/>
              </a:path>
            </a:pathLst>
          </a:custGeom>
          <a:solidFill>
            <a:srgbClr val="FFFFFF">
              <a:alpha val="10196"/>
            </a:srgbClr>
          </a:solidFill>
          <a:ln w="12700">
            <a:solidFill>
              <a:srgbClr val="FFFFFF">
                <a:alpha val="20000"/>
              </a:srgbClr>
            </a:solidFill>
            <a:prstDash val="solid"/>
          </a:ln>
        </p:spPr>
      </p:sp>
      <p:sp>
        <p:nvSpPr>
          <p:cNvPr id="9" name="Shape 6"/>
          <p:cNvSpPr/>
          <p:nvPr/>
        </p:nvSpPr>
        <p:spPr>
          <a:xfrm>
            <a:off x="825500" y="2774950"/>
            <a:ext cx="711200" cy="711200"/>
          </a:xfrm>
          <a:custGeom>
            <a:avLst/>
            <a:gdLst/>
            <a:ahLst/>
            <a:cxnLst/>
            <a:rect l="l" t="t" r="r" b="b"/>
            <a:pathLst>
              <a:path w="711200" h="711200">
                <a:moveTo>
                  <a:pt x="355600" y="0"/>
                </a:moveTo>
                <a:lnTo>
                  <a:pt x="355600" y="0"/>
                </a:lnTo>
                <a:cubicBezTo>
                  <a:pt x="551861" y="0"/>
                  <a:pt x="711200" y="159339"/>
                  <a:pt x="711200" y="355600"/>
                </a:cubicBezTo>
                <a:lnTo>
                  <a:pt x="711200" y="355600"/>
                </a:lnTo>
                <a:cubicBezTo>
                  <a:pt x="711200" y="551861"/>
                  <a:pt x="551861" y="711200"/>
                  <a:pt x="355600" y="711200"/>
                </a:cubicBezTo>
                <a:lnTo>
                  <a:pt x="355600" y="711200"/>
                </a:lnTo>
                <a:cubicBezTo>
                  <a:pt x="159339" y="711200"/>
                  <a:pt x="0" y="551861"/>
                  <a:pt x="0" y="355600"/>
                </a:cubicBezTo>
                <a:lnTo>
                  <a:pt x="0" y="355600"/>
                </a:lnTo>
                <a:cubicBezTo>
                  <a:pt x="0" y="159339"/>
                  <a:pt x="159339" y="0"/>
                  <a:pt x="355600" y="0"/>
                </a:cubicBezTo>
                <a:close/>
              </a:path>
            </a:pathLst>
          </a:custGeom>
          <a:solidFill>
            <a:srgbClr val="A67B5C">
              <a:alpha val="30196"/>
            </a:srgbClr>
          </a:solidFill>
          <a:ln/>
        </p:spPr>
      </p:sp>
      <p:sp>
        <p:nvSpPr>
          <p:cNvPr id="10" name="Shape 7"/>
          <p:cNvSpPr/>
          <p:nvPr/>
        </p:nvSpPr>
        <p:spPr>
          <a:xfrm>
            <a:off x="1028700" y="2978150"/>
            <a:ext cx="304800" cy="304800"/>
          </a:xfrm>
          <a:custGeom>
            <a:avLst/>
            <a:gdLst/>
            <a:ahLst/>
            <a:cxnLst/>
            <a:rect l="l" t="t" r="r" b="b"/>
            <a:pathLst>
              <a:path w="304800" h="304800">
                <a:moveTo>
                  <a:pt x="76200" y="190500"/>
                </a:moveTo>
                <a:lnTo>
                  <a:pt x="14585" y="190500"/>
                </a:lnTo>
                <a:cubicBezTo>
                  <a:pt x="-238" y="190500"/>
                  <a:pt x="-9346" y="174367"/>
                  <a:pt x="-1726" y="161627"/>
                </a:cubicBezTo>
                <a:lnTo>
                  <a:pt x="29766" y="109121"/>
                </a:lnTo>
                <a:cubicBezTo>
                  <a:pt x="34945" y="100489"/>
                  <a:pt x="44232" y="95250"/>
                  <a:pt x="54293" y="95250"/>
                </a:cubicBezTo>
                <a:lnTo>
                  <a:pt x="110847" y="95250"/>
                </a:lnTo>
                <a:cubicBezTo>
                  <a:pt x="156150" y="18514"/>
                  <a:pt x="223718" y="14645"/>
                  <a:pt x="268903" y="21253"/>
                </a:cubicBezTo>
                <a:cubicBezTo>
                  <a:pt x="276523" y="22384"/>
                  <a:pt x="282476" y="28337"/>
                  <a:pt x="283547" y="35897"/>
                </a:cubicBezTo>
                <a:cubicBezTo>
                  <a:pt x="290155" y="81082"/>
                  <a:pt x="286286" y="148650"/>
                  <a:pt x="209550" y="193953"/>
                </a:cubicBezTo>
                <a:lnTo>
                  <a:pt x="209550" y="250508"/>
                </a:lnTo>
                <a:cubicBezTo>
                  <a:pt x="209550" y="260568"/>
                  <a:pt x="204311" y="269855"/>
                  <a:pt x="195679" y="275034"/>
                </a:cubicBezTo>
                <a:lnTo>
                  <a:pt x="143173" y="306526"/>
                </a:lnTo>
                <a:cubicBezTo>
                  <a:pt x="130493" y="314146"/>
                  <a:pt x="114300" y="304979"/>
                  <a:pt x="114300" y="290215"/>
                </a:cubicBezTo>
                <a:lnTo>
                  <a:pt x="114300" y="228600"/>
                </a:lnTo>
                <a:cubicBezTo>
                  <a:pt x="114300" y="207585"/>
                  <a:pt x="97215" y="190500"/>
                  <a:pt x="76200" y="190500"/>
                </a:cubicBezTo>
                <a:lnTo>
                  <a:pt x="76140" y="190500"/>
                </a:lnTo>
                <a:close/>
                <a:moveTo>
                  <a:pt x="238125" y="95250"/>
                </a:moveTo>
                <a:cubicBezTo>
                  <a:pt x="238125" y="79479"/>
                  <a:pt x="225321" y="66675"/>
                  <a:pt x="209550" y="66675"/>
                </a:cubicBezTo>
                <a:cubicBezTo>
                  <a:pt x="193779" y="66675"/>
                  <a:pt x="180975" y="79479"/>
                  <a:pt x="180975" y="95250"/>
                </a:cubicBezTo>
                <a:cubicBezTo>
                  <a:pt x="180975" y="111021"/>
                  <a:pt x="193779" y="123825"/>
                  <a:pt x="209550" y="123825"/>
                </a:cubicBezTo>
                <a:cubicBezTo>
                  <a:pt x="225321" y="123825"/>
                  <a:pt x="238125" y="111021"/>
                  <a:pt x="238125" y="95250"/>
                </a:cubicBezTo>
                <a:close/>
              </a:path>
            </a:pathLst>
          </a:custGeom>
          <a:solidFill>
            <a:srgbClr val="FFFFFF"/>
          </a:solidFill>
          <a:ln/>
        </p:spPr>
      </p:sp>
      <p:sp>
        <p:nvSpPr>
          <p:cNvPr id="11" name="Text 8"/>
          <p:cNvSpPr/>
          <p:nvPr/>
        </p:nvSpPr>
        <p:spPr>
          <a:xfrm>
            <a:off x="825500" y="3689350"/>
            <a:ext cx="4368800" cy="355600"/>
          </a:xfrm>
          <a:prstGeom prst="rect">
            <a:avLst/>
          </a:prstGeom>
          <a:noFill/>
          <a:ln/>
        </p:spPr>
        <p:txBody>
          <a:bodyPr wrap="square" lIns="0" tIns="0" rIns="0" bIns="0" rtlCol="0" anchor="ctr"/>
          <a:lstStyle/>
          <a:p>
            <a:pPr>
              <a:lnSpc>
                <a:spcPct val="120000"/>
              </a:lnSpc>
            </a:pPr>
            <a:r>
              <a:rPr lang="en-US" sz="2000" b="1" dirty="0">
                <a:solidFill>
                  <a:srgbClr val="FFFFFF"/>
                </a:solidFill>
                <a:latin typeface="Noto Sans SC" pitchFamily="34" charset="0"/>
                <a:ea typeface="Noto Sans SC" pitchFamily="34" charset="-122"/>
                <a:cs typeface="Noto Sans SC" pitchFamily="34" charset="-120"/>
              </a:rPr>
              <a:t>视觉大模型集成</a:t>
            </a:r>
            <a:endParaRPr lang="en-US" sz="1600" dirty="0"/>
          </a:p>
        </p:txBody>
      </p:sp>
      <p:sp>
        <p:nvSpPr>
          <p:cNvPr id="12" name="Text 9"/>
          <p:cNvSpPr/>
          <p:nvPr/>
        </p:nvSpPr>
        <p:spPr>
          <a:xfrm>
            <a:off x="825500" y="4197350"/>
            <a:ext cx="4343400" cy="660400"/>
          </a:xfrm>
          <a:prstGeom prst="rect">
            <a:avLst/>
          </a:prstGeom>
          <a:noFill/>
          <a:ln/>
        </p:spPr>
        <p:txBody>
          <a:bodyPr wrap="square" lIns="0" tIns="0" rIns="0" bIns="0" rtlCol="0" anchor="ctr"/>
          <a:lstStyle/>
          <a:p>
            <a:pPr>
              <a:lnSpc>
                <a:spcPct val="140000"/>
              </a:lnSpc>
            </a:pPr>
            <a:r>
              <a:rPr lang="en-US" sz="1600" dirty="0">
                <a:solidFill>
                  <a:srgbClr val="F8F9FA">
                    <a:alpha val="80000"/>
                  </a:srgbClr>
                </a:solidFill>
                <a:latin typeface="MiSans" pitchFamily="34" charset="0"/>
                <a:ea typeface="MiSans" pitchFamily="34" charset="-122"/>
                <a:cs typeface="MiSans" pitchFamily="34" charset="-120"/>
              </a:rPr>
              <a:t>探索将CLIP等更先进的视觉大模型引入框架，提升跨模态语义对齐深度。</a:t>
            </a:r>
            <a:endParaRPr lang="en-US" sz="1600" dirty="0"/>
          </a:p>
        </p:txBody>
      </p:sp>
      <p:sp>
        <p:nvSpPr>
          <p:cNvPr id="13" name="Shape 10"/>
          <p:cNvSpPr/>
          <p:nvPr/>
        </p:nvSpPr>
        <p:spPr>
          <a:xfrm>
            <a:off x="5695950" y="2463800"/>
            <a:ext cx="4864100" cy="2705100"/>
          </a:xfrm>
          <a:custGeom>
            <a:avLst/>
            <a:gdLst/>
            <a:ahLst/>
            <a:cxnLst/>
            <a:rect l="l" t="t" r="r" b="b"/>
            <a:pathLst>
              <a:path w="4864100" h="2705100">
                <a:moveTo>
                  <a:pt x="101604" y="0"/>
                </a:moveTo>
                <a:lnTo>
                  <a:pt x="4762496" y="0"/>
                </a:lnTo>
                <a:cubicBezTo>
                  <a:pt x="4818611" y="0"/>
                  <a:pt x="4864100" y="45489"/>
                  <a:pt x="4864100" y="101604"/>
                </a:cubicBezTo>
                <a:lnTo>
                  <a:pt x="4864100" y="2603496"/>
                </a:lnTo>
                <a:cubicBezTo>
                  <a:pt x="4864100" y="2659611"/>
                  <a:pt x="4818611" y="2705100"/>
                  <a:pt x="4762496" y="2705100"/>
                </a:cubicBezTo>
                <a:lnTo>
                  <a:pt x="101604" y="2705100"/>
                </a:lnTo>
                <a:cubicBezTo>
                  <a:pt x="45489" y="2705100"/>
                  <a:pt x="0" y="2659611"/>
                  <a:pt x="0" y="2603496"/>
                </a:cubicBezTo>
                <a:lnTo>
                  <a:pt x="0" y="101604"/>
                </a:lnTo>
                <a:cubicBezTo>
                  <a:pt x="0" y="45489"/>
                  <a:pt x="45489" y="0"/>
                  <a:pt x="101604" y="0"/>
                </a:cubicBezTo>
                <a:close/>
              </a:path>
            </a:pathLst>
          </a:custGeom>
          <a:solidFill>
            <a:srgbClr val="FFFFFF">
              <a:alpha val="10196"/>
            </a:srgbClr>
          </a:solidFill>
          <a:ln w="12700">
            <a:solidFill>
              <a:srgbClr val="FFFFFF">
                <a:alpha val="20000"/>
              </a:srgbClr>
            </a:solidFill>
            <a:prstDash val="solid"/>
          </a:ln>
        </p:spPr>
      </p:sp>
      <p:sp>
        <p:nvSpPr>
          <p:cNvPr id="14" name="Shape 11"/>
          <p:cNvSpPr/>
          <p:nvPr/>
        </p:nvSpPr>
        <p:spPr>
          <a:xfrm>
            <a:off x="6007100" y="2774950"/>
            <a:ext cx="711200" cy="711200"/>
          </a:xfrm>
          <a:custGeom>
            <a:avLst/>
            <a:gdLst/>
            <a:ahLst/>
            <a:cxnLst/>
            <a:rect l="l" t="t" r="r" b="b"/>
            <a:pathLst>
              <a:path w="711200" h="711200">
                <a:moveTo>
                  <a:pt x="355600" y="0"/>
                </a:moveTo>
                <a:lnTo>
                  <a:pt x="355600" y="0"/>
                </a:lnTo>
                <a:cubicBezTo>
                  <a:pt x="551861" y="0"/>
                  <a:pt x="711200" y="159339"/>
                  <a:pt x="711200" y="355600"/>
                </a:cubicBezTo>
                <a:lnTo>
                  <a:pt x="711200" y="355600"/>
                </a:lnTo>
                <a:cubicBezTo>
                  <a:pt x="711200" y="551861"/>
                  <a:pt x="551861" y="711200"/>
                  <a:pt x="355600" y="711200"/>
                </a:cubicBezTo>
                <a:lnTo>
                  <a:pt x="355600" y="711200"/>
                </a:lnTo>
                <a:cubicBezTo>
                  <a:pt x="159339" y="711200"/>
                  <a:pt x="0" y="551861"/>
                  <a:pt x="0" y="355600"/>
                </a:cubicBezTo>
                <a:lnTo>
                  <a:pt x="0" y="355600"/>
                </a:lnTo>
                <a:cubicBezTo>
                  <a:pt x="0" y="159339"/>
                  <a:pt x="159339" y="0"/>
                  <a:pt x="355600" y="0"/>
                </a:cubicBezTo>
                <a:close/>
              </a:path>
            </a:pathLst>
          </a:custGeom>
          <a:solidFill>
            <a:srgbClr val="A67B5C">
              <a:alpha val="30196"/>
            </a:srgbClr>
          </a:solidFill>
          <a:ln/>
        </p:spPr>
      </p:sp>
      <p:sp>
        <p:nvSpPr>
          <p:cNvPr id="15" name="Shape 12"/>
          <p:cNvSpPr/>
          <p:nvPr/>
        </p:nvSpPr>
        <p:spPr>
          <a:xfrm>
            <a:off x="6210300" y="2978150"/>
            <a:ext cx="304800" cy="304800"/>
          </a:xfrm>
          <a:custGeom>
            <a:avLst/>
            <a:gdLst/>
            <a:ahLst/>
            <a:cxnLst/>
            <a:rect l="l" t="t" r="r" b="b"/>
            <a:pathLst>
              <a:path w="304800" h="304800">
                <a:moveTo>
                  <a:pt x="138410" y="3096"/>
                </a:moveTo>
                <a:cubicBezTo>
                  <a:pt x="147280" y="-1012"/>
                  <a:pt x="157520" y="-1012"/>
                  <a:pt x="166390" y="3096"/>
                </a:cubicBezTo>
                <a:lnTo>
                  <a:pt x="296525" y="63222"/>
                </a:lnTo>
                <a:cubicBezTo>
                  <a:pt x="301585" y="65544"/>
                  <a:pt x="304800" y="70604"/>
                  <a:pt x="304800" y="76200"/>
                </a:cubicBezTo>
                <a:cubicBezTo>
                  <a:pt x="304800" y="81796"/>
                  <a:pt x="301585" y="86856"/>
                  <a:pt x="296525" y="89178"/>
                </a:cubicBezTo>
                <a:lnTo>
                  <a:pt x="166390" y="149304"/>
                </a:lnTo>
                <a:cubicBezTo>
                  <a:pt x="157520" y="153412"/>
                  <a:pt x="147280" y="153412"/>
                  <a:pt x="138410" y="149304"/>
                </a:cubicBezTo>
                <a:lnTo>
                  <a:pt x="8275" y="89178"/>
                </a:lnTo>
                <a:cubicBezTo>
                  <a:pt x="3215" y="86797"/>
                  <a:pt x="0" y="81736"/>
                  <a:pt x="0" y="76200"/>
                </a:cubicBezTo>
                <a:cubicBezTo>
                  <a:pt x="0" y="70664"/>
                  <a:pt x="3215" y="65544"/>
                  <a:pt x="8275" y="63222"/>
                </a:cubicBezTo>
                <a:lnTo>
                  <a:pt x="138410" y="3096"/>
                </a:lnTo>
                <a:close/>
                <a:moveTo>
                  <a:pt x="28635" y="130016"/>
                </a:moveTo>
                <a:lnTo>
                  <a:pt x="126444" y="175200"/>
                </a:lnTo>
                <a:cubicBezTo>
                  <a:pt x="142935" y="182820"/>
                  <a:pt x="161925" y="182820"/>
                  <a:pt x="178415" y="175200"/>
                </a:cubicBezTo>
                <a:lnTo>
                  <a:pt x="276225" y="130016"/>
                </a:lnTo>
                <a:lnTo>
                  <a:pt x="296525" y="139422"/>
                </a:lnTo>
                <a:cubicBezTo>
                  <a:pt x="301585" y="141744"/>
                  <a:pt x="304800" y="146804"/>
                  <a:pt x="304800" y="152400"/>
                </a:cubicBezTo>
                <a:cubicBezTo>
                  <a:pt x="304800" y="157996"/>
                  <a:pt x="301585" y="163056"/>
                  <a:pt x="296525" y="165378"/>
                </a:cubicBezTo>
                <a:lnTo>
                  <a:pt x="166390" y="225504"/>
                </a:lnTo>
                <a:cubicBezTo>
                  <a:pt x="157520" y="229612"/>
                  <a:pt x="147280" y="229612"/>
                  <a:pt x="138410" y="225504"/>
                </a:cubicBezTo>
                <a:lnTo>
                  <a:pt x="8275" y="165378"/>
                </a:lnTo>
                <a:cubicBezTo>
                  <a:pt x="3215" y="162997"/>
                  <a:pt x="0" y="157936"/>
                  <a:pt x="0" y="152400"/>
                </a:cubicBezTo>
                <a:cubicBezTo>
                  <a:pt x="0" y="146864"/>
                  <a:pt x="3215" y="141744"/>
                  <a:pt x="8275" y="139422"/>
                </a:cubicBezTo>
                <a:lnTo>
                  <a:pt x="28575" y="130016"/>
                </a:lnTo>
                <a:close/>
                <a:moveTo>
                  <a:pt x="8275" y="215622"/>
                </a:moveTo>
                <a:lnTo>
                  <a:pt x="28575" y="206216"/>
                </a:lnTo>
                <a:lnTo>
                  <a:pt x="126385" y="251400"/>
                </a:lnTo>
                <a:cubicBezTo>
                  <a:pt x="142875" y="259020"/>
                  <a:pt x="161865" y="259020"/>
                  <a:pt x="178356" y="251400"/>
                </a:cubicBezTo>
                <a:lnTo>
                  <a:pt x="276165" y="206216"/>
                </a:lnTo>
                <a:lnTo>
                  <a:pt x="296466" y="215622"/>
                </a:lnTo>
                <a:cubicBezTo>
                  <a:pt x="301526" y="217944"/>
                  <a:pt x="304740" y="223004"/>
                  <a:pt x="304740" y="228600"/>
                </a:cubicBezTo>
                <a:cubicBezTo>
                  <a:pt x="304740" y="234196"/>
                  <a:pt x="301526" y="239256"/>
                  <a:pt x="296466" y="241578"/>
                </a:cubicBezTo>
                <a:lnTo>
                  <a:pt x="166330" y="301704"/>
                </a:lnTo>
                <a:cubicBezTo>
                  <a:pt x="157460" y="305812"/>
                  <a:pt x="147221" y="305812"/>
                  <a:pt x="138351" y="301704"/>
                </a:cubicBezTo>
                <a:lnTo>
                  <a:pt x="8275" y="241578"/>
                </a:lnTo>
                <a:cubicBezTo>
                  <a:pt x="3215" y="239197"/>
                  <a:pt x="0" y="234136"/>
                  <a:pt x="0" y="228600"/>
                </a:cubicBezTo>
                <a:cubicBezTo>
                  <a:pt x="0" y="223064"/>
                  <a:pt x="3215" y="217944"/>
                  <a:pt x="8275" y="215622"/>
                </a:cubicBezTo>
                <a:close/>
              </a:path>
            </a:pathLst>
          </a:custGeom>
          <a:solidFill>
            <a:srgbClr val="FFFFFF"/>
          </a:solidFill>
          <a:ln/>
        </p:spPr>
      </p:sp>
      <p:sp>
        <p:nvSpPr>
          <p:cNvPr id="16" name="Text 13"/>
          <p:cNvSpPr/>
          <p:nvPr/>
        </p:nvSpPr>
        <p:spPr>
          <a:xfrm>
            <a:off x="6007100" y="3689350"/>
            <a:ext cx="4368800" cy="355600"/>
          </a:xfrm>
          <a:prstGeom prst="rect">
            <a:avLst/>
          </a:prstGeom>
          <a:noFill/>
          <a:ln/>
        </p:spPr>
        <p:txBody>
          <a:bodyPr wrap="square" lIns="0" tIns="0" rIns="0" bIns="0" rtlCol="0" anchor="ctr"/>
          <a:lstStyle/>
          <a:p>
            <a:pPr>
              <a:lnSpc>
                <a:spcPct val="120000"/>
              </a:lnSpc>
            </a:pPr>
            <a:r>
              <a:rPr lang="en-US" sz="2000" b="1" dirty="0">
                <a:solidFill>
                  <a:srgbClr val="FFFFFF"/>
                </a:solidFill>
                <a:latin typeface="Noto Sans SC" pitchFamily="34" charset="0"/>
                <a:ea typeface="Noto Sans SC" pitchFamily="34" charset="-122"/>
                <a:cs typeface="Noto Sans SC" pitchFamily="34" charset="-120"/>
              </a:rPr>
              <a:t>Transformer架构</a:t>
            </a:r>
            <a:endParaRPr lang="en-US" sz="1600" dirty="0"/>
          </a:p>
        </p:txBody>
      </p:sp>
      <p:sp>
        <p:nvSpPr>
          <p:cNvPr id="17" name="Text 14"/>
          <p:cNvSpPr/>
          <p:nvPr/>
        </p:nvSpPr>
        <p:spPr>
          <a:xfrm>
            <a:off x="6007100" y="4197350"/>
            <a:ext cx="4343400" cy="660400"/>
          </a:xfrm>
          <a:prstGeom prst="rect">
            <a:avLst/>
          </a:prstGeom>
          <a:noFill/>
          <a:ln/>
        </p:spPr>
        <p:txBody>
          <a:bodyPr wrap="square" lIns="0" tIns="0" rIns="0" bIns="0" rtlCol="0" anchor="ctr"/>
          <a:lstStyle/>
          <a:p>
            <a:pPr>
              <a:lnSpc>
                <a:spcPct val="140000"/>
              </a:lnSpc>
            </a:pPr>
            <a:r>
              <a:rPr lang="en-US" sz="1600" dirty="0">
                <a:solidFill>
                  <a:srgbClr val="F8F9FA">
                    <a:alpha val="80000"/>
                  </a:srgbClr>
                </a:solidFill>
                <a:latin typeface="MiSans" pitchFamily="34" charset="0"/>
                <a:ea typeface="MiSans" pitchFamily="34" charset="-122"/>
                <a:cs typeface="MiSans" pitchFamily="34" charset="-120"/>
              </a:rPr>
              <a:t>尝试用Transformer替代LSTM，捕捉更长距离的文本依赖关系，提升模型表达能力。</a:t>
            </a:r>
            <a:endParaRPr lang="en-US" sz="1600" dirty="0"/>
          </a:p>
        </p:txBody>
      </p:sp>
      <p:sp>
        <p:nvSpPr>
          <p:cNvPr id="18" name="Shape 15"/>
          <p:cNvSpPr/>
          <p:nvPr/>
        </p:nvSpPr>
        <p:spPr>
          <a:xfrm>
            <a:off x="10877550" y="2463800"/>
            <a:ext cx="4864100" cy="2705100"/>
          </a:xfrm>
          <a:custGeom>
            <a:avLst/>
            <a:gdLst/>
            <a:ahLst/>
            <a:cxnLst/>
            <a:rect l="l" t="t" r="r" b="b"/>
            <a:pathLst>
              <a:path w="4864100" h="2705100">
                <a:moveTo>
                  <a:pt x="101604" y="0"/>
                </a:moveTo>
                <a:lnTo>
                  <a:pt x="4762496" y="0"/>
                </a:lnTo>
                <a:cubicBezTo>
                  <a:pt x="4818611" y="0"/>
                  <a:pt x="4864100" y="45489"/>
                  <a:pt x="4864100" y="101604"/>
                </a:cubicBezTo>
                <a:lnTo>
                  <a:pt x="4864100" y="2603496"/>
                </a:lnTo>
                <a:cubicBezTo>
                  <a:pt x="4864100" y="2659611"/>
                  <a:pt x="4818611" y="2705100"/>
                  <a:pt x="4762496" y="2705100"/>
                </a:cubicBezTo>
                <a:lnTo>
                  <a:pt x="101604" y="2705100"/>
                </a:lnTo>
                <a:cubicBezTo>
                  <a:pt x="45489" y="2705100"/>
                  <a:pt x="0" y="2659611"/>
                  <a:pt x="0" y="2603496"/>
                </a:cubicBezTo>
                <a:lnTo>
                  <a:pt x="0" y="101604"/>
                </a:lnTo>
                <a:cubicBezTo>
                  <a:pt x="0" y="45489"/>
                  <a:pt x="45489" y="0"/>
                  <a:pt x="101604" y="0"/>
                </a:cubicBezTo>
                <a:close/>
              </a:path>
            </a:pathLst>
          </a:custGeom>
          <a:solidFill>
            <a:srgbClr val="FFFFFF">
              <a:alpha val="10196"/>
            </a:srgbClr>
          </a:solidFill>
          <a:ln w="12700">
            <a:solidFill>
              <a:srgbClr val="FFFFFF">
                <a:alpha val="20000"/>
              </a:srgbClr>
            </a:solidFill>
            <a:prstDash val="solid"/>
          </a:ln>
        </p:spPr>
      </p:sp>
      <p:sp>
        <p:nvSpPr>
          <p:cNvPr id="19" name="Shape 16"/>
          <p:cNvSpPr/>
          <p:nvPr/>
        </p:nvSpPr>
        <p:spPr>
          <a:xfrm>
            <a:off x="11188700" y="2774950"/>
            <a:ext cx="711200" cy="711200"/>
          </a:xfrm>
          <a:custGeom>
            <a:avLst/>
            <a:gdLst/>
            <a:ahLst/>
            <a:cxnLst/>
            <a:rect l="l" t="t" r="r" b="b"/>
            <a:pathLst>
              <a:path w="711200" h="711200">
                <a:moveTo>
                  <a:pt x="355600" y="0"/>
                </a:moveTo>
                <a:lnTo>
                  <a:pt x="355600" y="0"/>
                </a:lnTo>
                <a:cubicBezTo>
                  <a:pt x="551861" y="0"/>
                  <a:pt x="711200" y="159339"/>
                  <a:pt x="711200" y="355600"/>
                </a:cubicBezTo>
                <a:lnTo>
                  <a:pt x="711200" y="355600"/>
                </a:lnTo>
                <a:cubicBezTo>
                  <a:pt x="711200" y="551861"/>
                  <a:pt x="551861" y="711200"/>
                  <a:pt x="355600" y="711200"/>
                </a:cubicBezTo>
                <a:lnTo>
                  <a:pt x="355600" y="711200"/>
                </a:lnTo>
                <a:cubicBezTo>
                  <a:pt x="159339" y="711200"/>
                  <a:pt x="0" y="551861"/>
                  <a:pt x="0" y="355600"/>
                </a:cubicBezTo>
                <a:lnTo>
                  <a:pt x="0" y="355600"/>
                </a:lnTo>
                <a:cubicBezTo>
                  <a:pt x="0" y="159339"/>
                  <a:pt x="159339" y="0"/>
                  <a:pt x="355600" y="0"/>
                </a:cubicBezTo>
                <a:close/>
              </a:path>
            </a:pathLst>
          </a:custGeom>
          <a:solidFill>
            <a:srgbClr val="A67B5C">
              <a:alpha val="30196"/>
            </a:srgbClr>
          </a:solidFill>
          <a:ln/>
        </p:spPr>
      </p:sp>
      <p:sp>
        <p:nvSpPr>
          <p:cNvPr id="20" name="Shape 17"/>
          <p:cNvSpPr/>
          <p:nvPr/>
        </p:nvSpPr>
        <p:spPr>
          <a:xfrm>
            <a:off x="11391900" y="2978150"/>
            <a:ext cx="304800" cy="304800"/>
          </a:xfrm>
          <a:custGeom>
            <a:avLst/>
            <a:gdLst/>
            <a:ahLst/>
            <a:cxnLst/>
            <a:rect l="l" t="t" r="r" b="b"/>
            <a:pathLst>
              <a:path w="304800" h="304800">
                <a:moveTo>
                  <a:pt x="209490" y="166688"/>
                </a:moveTo>
                <a:lnTo>
                  <a:pt x="95845" y="166688"/>
                </a:lnTo>
                <a:cubicBezTo>
                  <a:pt x="97572" y="205085"/>
                  <a:pt x="106085" y="240447"/>
                  <a:pt x="118170" y="266343"/>
                </a:cubicBezTo>
                <a:cubicBezTo>
                  <a:pt x="124956" y="280928"/>
                  <a:pt x="132278" y="291227"/>
                  <a:pt x="139065" y="297537"/>
                </a:cubicBezTo>
                <a:cubicBezTo>
                  <a:pt x="145733" y="303788"/>
                  <a:pt x="150316" y="304800"/>
                  <a:pt x="152698" y="304800"/>
                </a:cubicBezTo>
                <a:cubicBezTo>
                  <a:pt x="155079" y="304800"/>
                  <a:pt x="159663" y="303788"/>
                  <a:pt x="166330" y="297537"/>
                </a:cubicBezTo>
                <a:cubicBezTo>
                  <a:pt x="173117" y="291227"/>
                  <a:pt x="180439" y="280868"/>
                  <a:pt x="187226" y="266343"/>
                </a:cubicBezTo>
                <a:cubicBezTo>
                  <a:pt x="199311" y="240447"/>
                  <a:pt x="207824" y="205085"/>
                  <a:pt x="209550" y="166688"/>
                </a:cubicBezTo>
                <a:close/>
                <a:moveTo>
                  <a:pt x="95786" y="138113"/>
                </a:moveTo>
                <a:lnTo>
                  <a:pt x="209431" y="138113"/>
                </a:lnTo>
                <a:cubicBezTo>
                  <a:pt x="207764" y="99715"/>
                  <a:pt x="199251" y="64353"/>
                  <a:pt x="187166" y="38457"/>
                </a:cubicBezTo>
                <a:cubicBezTo>
                  <a:pt x="180380" y="23932"/>
                  <a:pt x="173057" y="13573"/>
                  <a:pt x="166271" y="7263"/>
                </a:cubicBezTo>
                <a:cubicBezTo>
                  <a:pt x="159603" y="1012"/>
                  <a:pt x="155019" y="0"/>
                  <a:pt x="152638" y="0"/>
                </a:cubicBezTo>
                <a:cubicBezTo>
                  <a:pt x="150257" y="0"/>
                  <a:pt x="145673" y="1012"/>
                  <a:pt x="139005" y="7263"/>
                </a:cubicBezTo>
                <a:cubicBezTo>
                  <a:pt x="132219" y="13573"/>
                  <a:pt x="124897" y="23932"/>
                  <a:pt x="118110" y="38457"/>
                </a:cubicBezTo>
                <a:cubicBezTo>
                  <a:pt x="106025" y="64353"/>
                  <a:pt x="97512" y="99715"/>
                  <a:pt x="95786" y="138113"/>
                </a:cubicBezTo>
                <a:close/>
                <a:moveTo>
                  <a:pt x="67211" y="138113"/>
                </a:moveTo>
                <a:cubicBezTo>
                  <a:pt x="69294" y="87154"/>
                  <a:pt x="82451" y="39826"/>
                  <a:pt x="101679" y="8751"/>
                </a:cubicBezTo>
                <a:cubicBezTo>
                  <a:pt x="46851" y="28158"/>
                  <a:pt x="6489" y="78105"/>
                  <a:pt x="893" y="138113"/>
                </a:cubicBezTo>
                <a:lnTo>
                  <a:pt x="67211" y="138113"/>
                </a:lnTo>
                <a:close/>
                <a:moveTo>
                  <a:pt x="893" y="166688"/>
                </a:moveTo>
                <a:cubicBezTo>
                  <a:pt x="6489" y="226695"/>
                  <a:pt x="46851" y="276642"/>
                  <a:pt x="101679" y="296049"/>
                </a:cubicBezTo>
                <a:cubicBezTo>
                  <a:pt x="82451" y="264974"/>
                  <a:pt x="69294" y="217646"/>
                  <a:pt x="67211" y="166688"/>
                </a:cubicBezTo>
                <a:lnTo>
                  <a:pt x="893" y="166688"/>
                </a:lnTo>
                <a:close/>
                <a:moveTo>
                  <a:pt x="238065" y="166688"/>
                </a:moveTo>
                <a:cubicBezTo>
                  <a:pt x="235982" y="217646"/>
                  <a:pt x="222825" y="264974"/>
                  <a:pt x="203597" y="296049"/>
                </a:cubicBezTo>
                <a:cubicBezTo>
                  <a:pt x="258425" y="276582"/>
                  <a:pt x="298787" y="226695"/>
                  <a:pt x="304383" y="166688"/>
                </a:cubicBezTo>
                <a:lnTo>
                  <a:pt x="238065" y="166688"/>
                </a:lnTo>
                <a:close/>
                <a:moveTo>
                  <a:pt x="304383" y="138113"/>
                </a:moveTo>
                <a:cubicBezTo>
                  <a:pt x="298787" y="78105"/>
                  <a:pt x="258425" y="28158"/>
                  <a:pt x="203597" y="8751"/>
                </a:cubicBezTo>
                <a:cubicBezTo>
                  <a:pt x="222825" y="39826"/>
                  <a:pt x="235982" y="87154"/>
                  <a:pt x="238065" y="138113"/>
                </a:cubicBezTo>
                <a:lnTo>
                  <a:pt x="304383" y="138113"/>
                </a:lnTo>
                <a:close/>
              </a:path>
            </a:pathLst>
          </a:custGeom>
          <a:solidFill>
            <a:srgbClr val="FFFFFF"/>
          </a:solidFill>
          <a:ln/>
        </p:spPr>
      </p:sp>
      <p:sp>
        <p:nvSpPr>
          <p:cNvPr id="21" name="Text 18"/>
          <p:cNvSpPr/>
          <p:nvPr/>
        </p:nvSpPr>
        <p:spPr>
          <a:xfrm>
            <a:off x="11188700" y="3689350"/>
            <a:ext cx="4368800" cy="355600"/>
          </a:xfrm>
          <a:prstGeom prst="rect">
            <a:avLst/>
          </a:prstGeom>
          <a:noFill/>
          <a:ln/>
        </p:spPr>
        <p:txBody>
          <a:bodyPr wrap="square" lIns="0" tIns="0" rIns="0" bIns="0" rtlCol="0" anchor="ctr"/>
          <a:lstStyle/>
          <a:p>
            <a:pPr>
              <a:lnSpc>
                <a:spcPct val="120000"/>
              </a:lnSpc>
            </a:pPr>
            <a:r>
              <a:rPr lang="en-US" sz="2000" b="1" dirty="0">
                <a:solidFill>
                  <a:srgbClr val="FFFFFF"/>
                </a:solidFill>
                <a:latin typeface="Noto Sans SC" pitchFamily="34" charset="0"/>
                <a:ea typeface="Noto Sans SC" pitchFamily="34" charset="-122"/>
                <a:cs typeface="Noto Sans SC" pitchFamily="34" charset="-120"/>
              </a:rPr>
              <a:t>跨平台泛化</a:t>
            </a:r>
            <a:endParaRPr lang="en-US" sz="1600" dirty="0"/>
          </a:p>
        </p:txBody>
      </p:sp>
      <p:sp>
        <p:nvSpPr>
          <p:cNvPr id="22" name="Text 19"/>
          <p:cNvSpPr/>
          <p:nvPr/>
        </p:nvSpPr>
        <p:spPr>
          <a:xfrm>
            <a:off x="11188700" y="4197350"/>
            <a:ext cx="4343400" cy="660400"/>
          </a:xfrm>
          <a:prstGeom prst="rect">
            <a:avLst/>
          </a:prstGeom>
          <a:noFill/>
          <a:ln/>
        </p:spPr>
        <p:txBody>
          <a:bodyPr wrap="square" lIns="0" tIns="0" rIns="0" bIns="0" rtlCol="0" anchor="ctr"/>
          <a:lstStyle/>
          <a:p>
            <a:pPr>
              <a:lnSpc>
                <a:spcPct val="140000"/>
              </a:lnSpc>
            </a:pPr>
            <a:r>
              <a:rPr lang="en-US" sz="1600" dirty="0">
                <a:solidFill>
                  <a:srgbClr val="F8F9FA">
                    <a:alpha val="80000"/>
                  </a:srgbClr>
                </a:solidFill>
                <a:latin typeface="MiSans" pitchFamily="34" charset="0"/>
                <a:ea typeface="MiSans" pitchFamily="34" charset="-122"/>
                <a:cs typeface="MiSans" pitchFamily="34" charset="-120"/>
              </a:rPr>
              <a:t>扩展至微博、抖音等更多平台，验证模型在不同文化和语言环境下的泛化能力。</a:t>
            </a:r>
            <a:endParaRPr lang="en-US" sz="1600" dirty="0"/>
          </a:p>
        </p:txBody>
      </p:sp>
      <p:sp>
        <p:nvSpPr>
          <p:cNvPr id="23" name="Shape 20"/>
          <p:cNvSpPr/>
          <p:nvPr/>
        </p:nvSpPr>
        <p:spPr>
          <a:xfrm>
            <a:off x="514350" y="5588000"/>
            <a:ext cx="15227300" cy="1955800"/>
          </a:xfrm>
          <a:custGeom>
            <a:avLst/>
            <a:gdLst/>
            <a:ahLst/>
            <a:cxnLst/>
            <a:rect l="l" t="t" r="r" b="b"/>
            <a:pathLst>
              <a:path w="15227300" h="1955800">
                <a:moveTo>
                  <a:pt x="101604" y="0"/>
                </a:moveTo>
                <a:lnTo>
                  <a:pt x="15125696" y="0"/>
                </a:lnTo>
                <a:cubicBezTo>
                  <a:pt x="15181810" y="0"/>
                  <a:pt x="15227300" y="45490"/>
                  <a:pt x="15227300" y="101604"/>
                </a:cubicBezTo>
                <a:lnTo>
                  <a:pt x="15227300" y="1854196"/>
                </a:lnTo>
                <a:cubicBezTo>
                  <a:pt x="15227300" y="1910310"/>
                  <a:pt x="15181810" y="1955800"/>
                  <a:pt x="15125696" y="1955800"/>
                </a:cubicBezTo>
                <a:lnTo>
                  <a:pt x="101604" y="1955800"/>
                </a:lnTo>
                <a:cubicBezTo>
                  <a:pt x="45490" y="1955800"/>
                  <a:pt x="0" y="1910310"/>
                  <a:pt x="0" y="1854196"/>
                </a:cubicBezTo>
                <a:lnTo>
                  <a:pt x="0" y="101604"/>
                </a:lnTo>
                <a:cubicBezTo>
                  <a:pt x="0" y="45527"/>
                  <a:pt x="45527" y="0"/>
                  <a:pt x="101604" y="0"/>
                </a:cubicBezTo>
                <a:close/>
              </a:path>
            </a:pathLst>
          </a:custGeom>
          <a:solidFill>
            <a:srgbClr val="FFFFFF">
              <a:alpha val="10196"/>
            </a:srgbClr>
          </a:solidFill>
          <a:ln w="12700">
            <a:solidFill>
              <a:srgbClr val="FFFFFF">
                <a:alpha val="20000"/>
              </a:srgbClr>
            </a:solidFill>
            <a:prstDash val="solid"/>
          </a:ln>
        </p:spPr>
      </p:sp>
      <p:sp>
        <p:nvSpPr>
          <p:cNvPr id="24" name="Shape 21"/>
          <p:cNvSpPr/>
          <p:nvPr/>
        </p:nvSpPr>
        <p:spPr>
          <a:xfrm>
            <a:off x="825500" y="5899150"/>
            <a:ext cx="711200" cy="711200"/>
          </a:xfrm>
          <a:custGeom>
            <a:avLst/>
            <a:gdLst/>
            <a:ahLst/>
            <a:cxnLst/>
            <a:rect l="l" t="t" r="r" b="b"/>
            <a:pathLst>
              <a:path w="711200" h="711200">
                <a:moveTo>
                  <a:pt x="355600" y="0"/>
                </a:moveTo>
                <a:lnTo>
                  <a:pt x="355600" y="0"/>
                </a:lnTo>
                <a:cubicBezTo>
                  <a:pt x="551861" y="0"/>
                  <a:pt x="711200" y="159339"/>
                  <a:pt x="711200" y="355600"/>
                </a:cubicBezTo>
                <a:lnTo>
                  <a:pt x="711200" y="355600"/>
                </a:lnTo>
                <a:cubicBezTo>
                  <a:pt x="711200" y="551861"/>
                  <a:pt x="551861" y="711200"/>
                  <a:pt x="355600" y="711200"/>
                </a:cubicBezTo>
                <a:lnTo>
                  <a:pt x="355600" y="711200"/>
                </a:lnTo>
                <a:cubicBezTo>
                  <a:pt x="159339" y="711200"/>
                  <a:pt x="0" y="551861"/>
                  <a:pt x="0" y="355600"/>
                </a:cubicBezTo>
                <a:lnTo>
                  <a:pt x="0" y="355600"/>
                </a:lnTo>
                <a:cubicBezTo>
                  <a:pt x="0" y="159339"/>
                  <a:pt x="159339" y="0"/>
                  <a:pt x="355600" y="0"/>
                </a:cubicBezTo>
                <a:close/>
              </a:path>
            </a:pathLst>
          </a:custGeom>
          <a:solidFill>
            <a:srgbClr val="A67B5C">
              <a:alpha val="30196"/>
            </a:srgbClr>
          </a:solidFill>
          <a:ln/>
        </p:spPr>
      </p:sp>
      <p:sp>
        <p:nvSpPr>
          <p:cNvPr id="25" name="Shape 22"/>
          <p:cNvSpPr/>
          <p:nvPr/>
        </p:nvSpPr>
        <p:spPr>
          <a:xfrm>
            <a:off x="1047750" y="6102350"/>
            <a:ext cx="266700" cy="304800"/>
          </a:xfrm>
          <a:custGeom>
            <a:avLst/>
            <a:gdLst/>
            <a:ahLst/>
            <a:cxnLst/>
            <a:rect l="l" t="t" r="r" b="b"/>
            <a:pathLst>
              <a:path w="266700" h="304800">
                <a:moveTo>
                  <a:pt x="0" y="128588"/>
                </a:moveTo>
                <a:cubicBezTo>
                  <a:pt x="0" y="89118"/>
                  <a:pt x="31968" y="57150"/>
                  <a:pt x="71438" y="57150"/>
                </a:cubicBezTo>
                <a:lnTo>
                  <a:pt x="76200" y="57150"/>
                </a:lnTo>
                <a:cubicBezTo>
                  <a:pt x="86737" y="57150"/>
                  <a:pt x="95250" y="65663"/>
                  <a:pt x="95250" y="76200"/>
                </a:cubicBezTo>
                <a:cubicBezTo>
                  <a:pt x="95250" y="86737"/>
                  <a:pt x="86737" y="95250"/>
                  <a:pt x="76200" y="95250"/>
                </a:cubicBezTo>
                <a:lnTo>
                  <a:pt x="71438" y="95250"/>
                </a:lnTo>
                <a:cubicBezTo>
                  <a:pt x="53042" y="95250"/>
                  <a:pt x="38100" y="110192"/>
                  <a:pt x="38100" y="128588"/>
                </a:cubicBezTo>
                <a:lnTo>
                  <a:pt x="38100" y="133350"/>
                </a:lnTo>
                <a:lnTo>
                  <a:pt x="76200" y="133350"/>
                </a:lnTo>
                <a:cubicBezTo>
                  <a:pt x="97215" y="133350"/>
                  <a:pt x="114300" y="150435"/>
                  <a:pt x="114300" y="171450"/>
                </a:cubicBezTo>
                <a:lnTo>
                  <a:pt x="114300" y="209550"/>
                </a:lnTo>
                <a:cubicBezTo>
                  <a:pt x="114300" y="230565"/>
                  <a:pt x="97215" y="247650"/>
                  <a:pt x="76200" y="247650"/>
                </a:cubicBezTo>
                <a:lnTo>
                  <a:pt x="38100" y="247650"/>
                </a:lnTo>
                <a:cubicBezTo>
                  <a:pt x="17085" y="247650"/>
                  <a:pt x="0" y="230565"/>
                  <a:pt x="0" y="209550"/>
                </a:cubicBezTo>
                <a:lnTo>
                  <a:pt x="0" y="128588"/>
                </a:lnTo>
                <a:close/>
                <a:moveTo>
                  <a:pt x="152400" y="128588"/>
                </a:moveTo>
                <a:cubicBezTo>
                  <a:pt x="152400" y="89118"/>
                  <a:pt x="184368" y="57150"/>
                  <a:pt x="223838" y="57150"/>
                </a:cubicBezTo>
                <a:lnTo>
                  <a:pt x="228600" y="57150"/>
                </a:lnTo>
                <a:cubicBezTo>
                  <a:pt x="239137" y="57150"/>
                  <a:pt x="247650" y="65663"/>
                  <a:pt x="247650" y="76200"/>
                </a:cubicBezTo>
                <a:cubicBezTo>
                  <a:pt x="247650" y="86737"/>
                  <a:pt x="239137" y="95250"/>
                  <a:pt x="228600" y="95250"/>
                </a:cubicBezTo>
                <a:lnTo>
                  <a:pt x="223838" y="95250"/>
                </a:lnTo>
                <a:cubicBezTo>
                  <a:pt x="205442" y="95250"/>
                  <a:pt x="190500" y="110192"/>
                  <a:pt x="190500" y="128588"/>
                </a:cubicBezTo>
                <a:lnTo>
                  <a:pt x="190500" y="133350"/>
                </a:lnTo>
                <a:lnTo>
                  <a:pt x="228600" y="133350"/>
                </a:lnTo>
                <a:cubicBezTo>
                  <a:pt x="249615" y="133350"/>
                  <a:pt x="266700" y="150435"/>
                  <a:pt x="266700" y="171450"/>
                </a:cubicBezTo>
                <a:lnTo>
                  <a:pt x="266700" y="209550"/>
                </a:lnTo>
                <a:cubicBezTo>
                  <a:pt x="266700" y="230565"/>
                  <a:pt x="249615" y="247650"/>
                  <a:pt x="228600" y="247650"/>
                </a:cubicBezTo>
                <a:lnTo>
                  <a:pt x="190500" y="247650"/>
                </a:lnTo>
                <a:cubicBezTo>
                  <a:pt x="169485" y="247650"/>
                  <a:pt x="152400" y="230565"/>
                  <a:pt x="152400" y="209550"/>
                </a:cubicBezTo>
                <a:lnTo>
                  <a:pt x="152400" y="128588"/>
                </a:lnTo>
                <a:close/>
              </a:path>
            </a:pathLst>
          </a:custGeom>
          <a:solidFill>
            <a:srgbClr val="FFFFFF"/>
          </a:solidFill>
          <a:ln/>
        </p:spPr>
      </p:sp>
      <p:sp>
        <p:nvSpPr>
          <p:cNvPr id="26" name="Text 23"/>
          <p:cNvSpPr/>
          <p:nvPr/>
        </p:nvSpPr>
        <p:spPr>
          <a:xfrm>
            <a:off x="1739900" y="5899150"/>
            <a:ext cx="13817600" cy="825500"/>
          </a:xfrm>
          <a:prstGeom prst="rect">
            <a:avLst/>
          </a:prstGeom>
          <a:noFill/>
          <a:ln/>
        </p:spPr>
        <p:txBody>
          <a:bodyPr wrap="square" lIns="0" tIns="0" rIns="0" bIns="0" rtlCol="0" anchor="ctr"/>
          <a:lstStyle/>
          <a:p>
            <a:pPr>
              <a:lnSpc>
                <a:spcPct val="140000"/>
              </a:lnSpc>
            </a:pPr>
            <a:r>
              <a:rPr lang="en-US" sz="2000" dirty="0">
                <a:solidFill>
                  <a:srgbClr val="F8F9FA"/>
                </a:solidFill>
                <a:latin typeface="Noto Sans SC" pitchFamily="34" charset="0"/>
                <a:ea typeface="Noto Sans SC" pitchFamily="34" charset="-122"/>
                <a:cs typeface="Noto Sans SC" pitchFamily="34" charset="-120"/>
              </a:rPr>
              <a:t>多模态情感分析是理解人类情感表达的关键技术。通过融合视觉语义特征与文本信息，我们能够更准确地捕捉社交媒体用户背后的真实情感。</a:t>
            </a:r>
            <a:endParaRPr lang="en-US" sz="1600" dirty="0"/>
          </a:p>
        </p:txBody>
      </p:sp>
      <p:sp>
        <p:nvSpPr>
          <p:cNvPr id="27" name="Text 24"/>
          <p:cNvSpPr/>
          <p:nvPr/>
        </p:nvSpPr>
        <p:spPr>
          <a:xfrm>
            <a:off x="1739900" y="6877050"/>
            <a:ext cx="13804900" cy="355600"/>
          </a:xfrm>
          <a:prstGeom prst="rect">
            <a:avLst/>
          </a:prstGeom>
          <a:noFill/>
          <a:ln/>
        </p:spPr>
        <p:txBody>
          <a:bodyPr wrap="square" lIns="0" tIns="0" rIns="0" bIns="0" rtlCol="0" anchor="ctr"/>
          <a:lstStyle/>
          <a:p>
            <a:pPr>
              <a:lnSpc>
                <a:spcPct val="130000"/>
              </a:lnSpc>
            </a:pPr>
            <a:r>
              <a:rPr lang="en-US" sz="1800" dirty="0">
                <a:solidFill>
                  <a:srgbClr val="F8F9FA">
                    <a:alpha val="80000"/>
                  </a:srgbClr>
                </a:solidFill>
                <a:latin typeface="MiSans" pitchFamily="34" charset="0"/>
                <a:ea typeface="MiSans" pitchFamily="34" charset="-122"/>
                <a:cs typeface="MiSans" pitchFamily="34" charset="-120"/>
              </a:rPr>
              <a:t>—— 期待未来更精准、更智能的情感分析系统</a:t>
            </a:r>
            <a:endParaRPr lang="en-US" sz="1600" dirty="0"/>
          </a:p>
        </p:txBody>
      </p:sp>
      <p:sp>
        <p:nvSpPr>
          <p:cNvPr id="28" name="Shape 25"/>
          <p:cNvSpPr/>
          <p:nvPr/>
        </p:nvSpPr>
        <p:spPr>
          <a:xfrm>
            <a:off x="6769100" y="7956550"/>
            <a:ext cx="2717800" cy="863600"/>
          </a:xfrm>
          <a:custGeom>
            <a:avLst/>
            <a:gdLst/>
            <a:ahLst/>
            <a:cxnLst/>
            <a:rect l="l" t="t" r="r" b="b"/>
            <a:pathLst>
              <a:path w="2717800" h="863600">
                <a:moveTo>
                  <a:pt x="101603" y="0"/>
                </a:moveTo>
                <a:lnTo>
                  <a:pt x="2616197" y="0"/>
                </a:lnTo>
                <a:cubicBezTo>
                  <a:pt x="2672311" y="0"/>
                  <a:pt x="2717800" y="45489"/>
                  <a:pt x="2717800" y="101603"/>
                </a:cubicBezTo>
                <a:lnTo>
                  <a:pt x="2717800" y="761997"/>
                </a:lnTo>
                <a:cubicBezTo>
                  <a:pt x="2717800" y="818111"/>
                  <a:pt x="2672311" y="863600"/>
                  <a:pt x="2616197" y="863600"/>
                </a:cubicBezTo>
                <a:lnTo>
                  <a:pt x="101603" y="863600"/>
                </a:lnTo>
                <a:cubicBezTo>
                  <a:pt x="45527" y="863600"/>
                  <a:pt x="0" y="818073"/>
                  <a:pt x="0" y="761997"/>
                </a:cubicBezTo>
                <a:lnTo>
                  <a:pt x="0" y="101603"/>
                </a:lnTo>
                <a:cubicBezTo>
                  <a:pt x="0" y="45527"/>
                  <a:pt x="45527" y="0"/>
                  <a:pt x="101603" y="0"/>
                </a:cubicBezTo>
                <a:close/>
              </a:path>
            </a:pathLst>
          </a:custGeom>
          <a:solidFill>
            <a:srgbClr val="A67B5C"/>
          </a:solidFill>
          <a:ln/>
        </p:spPr>
      </p:sp>
      <p:sp>
        <p:nvSpPr>
          <p:cNvPr id="29" name="Text 26"/>
          <p:cNvSpPr/>
          <p:nvPr/>
        </p:nvSpPr>
        <p:spPr>
          <a:xfrm>
            <a:off x="7080250" y="8159750"/>
            <a:ext cx="2095500" cy="457200"/>
          </a:xfrm>
          <a:prstGeom prst="rect">
            <a:avLst/>
          </a:prstGeom>
          <a:noFill/>
          <a:ln/>
        </p:spPr>
        <p:txBody>
          <a:bodyPr wrap="square" lIns="0" tIns="0" rIns="0" bIns="0" rtlCol="0" anchor="ctr"/>
          <a:lstStyle/>
          <a:p>
            <a:pPr algn="ctr">
              <a:lnSpc>
                <a:spcPct val="100000"/>
              </a:lnSpc>
            </a:pPr>
            <a:r>
              <a:rPr lang="en-US" sz="3000" b="1" dirty="0">
                <a:solidFill>
                  <a:srgbClr val="FFFFFF"/>
                </a:solidFill>
                <a:latin typeface="Noto Sans SC" pitchFamily="34" charset="0"/>
                <a:ea typeface="Noto Sans SC" pitchFamily="34" charset="-122"/>
                <a:cs typeface="Noto Sans SC" pitchFamily="34" charset="-120"/>
              </a:rPr>
              <a:t>感谢聆听！</a:t>
            </a:r>
            <a:endParaRPr lang="en-US" sz="1600" dirty="0"/>
          </a:p>
        </p:txBody>
      </p:sp>
    </p:spTree>
  </p:cSld>
  <p:clrMapOvr>
    <a:masterClrMapping/>
  </p:clrMapOvr>
  <p:transition>
    <p:fade/>
    <p:spd val="med"/>
  </p:transition>
</p:sld>
</file>

<file path=ppt/theme/theme1.xml><?xml version="1.0" encoding="utf-8"?>
<a:theme xmlns:a="http://schemas.openxmlformats.org/drawingml/2006/main" name="Custom Theme">
  <a:themeElements>
    <a:clrScheme name="Custom">
      <a:dk1>
        <a:srgbClr val="000000"/>
      </a:dk1>
      <a:lt1>
        <a:srgbClr val="ffffff"/>
      </a:lt1>
      <a:dk2>
        <a:srgbClr val="333333"/>
      </a:dk2>
      <a:lt2>
        <a:srgbClr val="eeeeee"/>
      </a:lt2>
      <a:accent1>
        <a:srgbClr val="8daac2"/>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Moonshot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MultiSentiNet：一种用于多模态情感分析的深度语义网络</dc:title>
  <dc:subject>MultiSentiNet：一种用于多模态情感分析的深度语义网络</dc:subject>
  <dc:creator>Kimi</dc:creator>
  <cp:lastModifiedBy>Kimi</cp:lastModifiedBy>
  <cp:revision>1</cp:revision>
  <dcterms:created xsi:type="dcterms:W3CDTF">2025-12-30T11:43:36Z</dcterms:created>
  <dcterms:modified xsi:type="dcterms:W3CDTF">2025-12-30T11:43:36Z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4" name="AIGC">
    <vt:lpwstr>{"Label":"MultiSentiNet：一种用于多模态情感分析的深度语义网络","ContentProducer":"001191110108MACG2KBH8F10000","ProduceID":"19b6ef07-6dc2-81e6-8000-00007e3e69af","ReservedCode1":"","ContentPropagator":"001191110108MACG2KBH8F20000","PropagateID":"19b6ef07-6dc2-81e6-8000-00007e3e69af","ReservedCode2":""}</vt:lpwstr>
  </property>
</Properties>
</file>